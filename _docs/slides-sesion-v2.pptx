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9.svg" ContentType="image/svg+xml"/>
  <Override PartName="/ppt/media/lucide-calendar-clock.svg" ContentType="image/svg+xml"/>
  <Override PartName="/ppt/media/lucide-car-front.svg" ContentType="image/svg+xml"/>
  <Override PartName="/ppt/media/lucide-coins.svg" ContentType="image/svg+xml"/>
  <Override PartName="/ppt/media/lucide-messages-square.svg" ContentType="image/svg+xml"/>
  <Override PartName="/ppt/media/lucide-timer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0"/>
  </p:notesMasterIdLst>
  <p:sldIdLst>
    <p:sldId id="346" r:id="rId34"/>
    <p:sldId id="347" r:id="rId33"/>
    <p:sldId id="348" r:id="rId32"/>
    <p:sldId id="349" r:id="rId31"/>
    <p:sldId id="350" r:id="rId30"/>
    <p:sldId id="351" r:id="rId29"/>
    <p:sldId id="352" r:id="rId46"/>
    <p:sldId id="353" r:id="rId47"/>
    <p:sldId id="354" r:id="rId48"/>
    <p:sldId id="355" r:id="rId49"/>
    <p:sldId id="356" r:id="rId50"/>
    <p:sldId id="357" r:id="rId51"/>
    <p:sldId id="358" r:id="rId52"/>
    <p:sldId id="359" r:id="rId53"/>
    <p:sldId id="360" r:id="rId54"/>
    <p:sldId id="361" r:id="rId55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89C6FF98-81ED-034E-9588-A48C8AA225D9}">
          <p14:sldIdLst>
            <p14:sldId id="260"/>
            <p14:sldId id="338"/>
            <p14:sldId id="339"/>
            <p14:sldId id="34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Dividers" id="{24B111D2-AE71-F24D-8B77-253923057E62}">
          <p14:sldIdLst>
            <p14:sldId id="275"/>
            <p14:sldId id="276"/>
            <p14:sldId id="277"/>
            <p14:sldId id="278"/>
            <p14:sldId id="279"/>
            <p14:sldId id="280"/>
            <p14:sldId id="269"/>
            <p14:sldId id="294"/>
            <p14:sldId id="270"/>
            <p14:sldId id="271"/>
            <p14:sldId id="272"/>
            <p14:sldId id="273"/>
          </p14:sldIdLst>
        </p14:section>
        <p14:section name="Text with icons" id="{F9C27FBD-AE21-4240-B0EB-4EB98191871A}">
          <p14:sldIdLst>
            <p14:sldId id="341"/>
            <p14:sldId id="342"/>
            <p14:sldId id="343"/>
          </p14:sldIdLst>
        </p14:section>
        <p14:section name="Color background examples" id="{0DB13114-5B30-C94F-BB34-DD1C36B9759A}">
          <p14:sldIdLst>
            <p14:sldId id="348"/>
            <p14:sldId id="349"/>
            <p14:sldId id="350"/>
            <p14:sldId id="351"/>
          </p14:sldIdLst>
        </p14:section>
        <p14:section name="Icons" id="{E57AE0B5-2D22-3B4E-900D-32E0443C9C6A}">
          <p14:sldIdLst>
            <p14:sldId id="344"/>
            <p14:sldId id="345"/>
            <p14:sldId id="346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DFF"/>
    <a:srgbClr val="82C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FE477-DB6E-B14F-8B3D-2C8E06DF5C8C}" v="12" dt="2026-03-18T15:35:44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9" Type="http://schemas.openxmlformats.org/officeDocument/2006/relationships/slide" Target="slides/slide6.xml"/><Relationship Id="rId30" Type="http://schemas.openxmlformats.org/officeDocument/2006/relationships/slide" Target="slides/slide5.xml"/><Relationship Id="rId31" Type="http://schemas.openxmlformats.org/officeDocument/2006/relationships/slide" Target="slides/slide4.xml"/><Relationship Id="rId32" Type="http://schemas.openxmlformats.org/officeDocument/2006/relationships/slide" Target="slides/slide3.xml"/><Relationship Id="rId33" Type="http://schemas.openxmlformats.org/officeDocument/2006/relationships/slide" Target="slides/slide2.xml"/><Relationship Id="rId34" Type="http://schemas.openxmlformats.org/officeDocument/2006/relationships/slide" Target="slides/slide1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5/10/relationships/revisionInfo" Target="revisionInfo.xml"/><Relationship Id="rId46" Type="http://schemas.openxmlformats.org/officeDocument/2006/relationships/slide" Target="slides/slide7.xml"/><Relationship Id="rId47" Type="http://schemas.openxmlformats.org/officeDocument/2006/relationships/slide" Target="slides/slide8.xml"/><Relationship Id="rId48" Type="http://schemas.openxmlformats.org/officeDocument/2006/relationships/slide" Target="slides/slide9.xml"/><Relationship Id="rId49" Type="http://schemas.openxmlformats.org/officeDocument/2006/relationships/slide" Target="slides/slide10.xml"/><Relationship Id="rId50" Type="http://schemas.openxmlformats.org/officeDocument/2006/relationships/slide" Target="slides/slide11.xml"/><Relationship Id="rId51" Type="http://schemas.openxmlformats.org/officeDocument/2006/relationships/slide" Target="slides/slide12.xml"/><Relationship Id="rId52" Type="http://schemas.openxmlformats.org/officeDocument/2006/relationships/slide" Target="slides/slide13.xml"/><Relationship Id="rId53" Type="http://schemas.openxmlformats.org/officeDocument/2006/relationships/slide" Target="slides/slide14.xml"/><Relationship Id="rId54" Type="http://schemas.openxmlformats.org/officeDocument/2006/relationships/slide" Target="slides/slide15.xml"/><Relationship Id="rId5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2698B-22EF-534E-B63D-BB6C0D4DFEA9}" type="datetimeFigureOut">
              <a:rPr lang="en-PT" smtClean="0"/>
              <a:t>03/19/2026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252E2-66E6-2846-853C-451ED1419F1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9546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(0-3 min) «Hoy no os voy a enseñar que la IA clasifica un siniestro. Eso ya lo sabéis. Os voy a enseñar cómo se pone en producción en una aseguradora.» — «Cada mensaje lo lee, lo clasifica y lo teclea una persona. Ahí se va el tiempo y el dinero. Y el cliente espera respuesta en horas, no en días.» Fuentes: UNESPA (siniestros de automóvil, datos 2024) para los ~11 M y el «uno cada 3 s»; art. 16 de la Ley 50/1980 (BOE) para los 7 días; Insurance Information Institute con datos NAIC para el ~10 % (gastos de gestión de siniestros de Auto particulares en EE. UU., 2023: 2,3 % defensa y contención de costes + 7,5 % tramitación). No hay dato público equivalente para España. Los 5 canales son los que cubre la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(3-4 min) Ir rápido. La idea es quitar de la mesa la pregunta «¿la IA puede hacerlo?» para pasar a la que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(4-6 min) «Los proyectos no mueren porque la IA falle. Mueren porque nadie puede responder tres preguntas: ¿por qué decidió eso?, ¿quién lo controla?, ¿cuánto cuesta?» Estas tres preguntas son el hilo de toda la sesión. Motivos de cancelación según Gartner: costes que se disparan, valor poco claro, riesgo sin controlar.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(6-9 min) «Un humano que firma sin mirar no cuenta como supervisión: lo dijo el TJUE. Y el aplazamiento no es una excusa: quien construya sin gobierno ahora lo rehará en 2027.» Cuidado: el triaje de siniestros no está en el Anexo III (solo la tarificación y evaluación de riesgo en Vida y Salud). No decir que el AI Act obliga hoy a todo esto; la obligación de hoy viene del RGPD, DORA y EIOPA.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(9-10 min) No decir «no existe nada». Existen herramientas; lo que falta es integrarlas con el negocio del cliente. Si alguien pregunta «¿cuánto cuesta?», la respuesta es que es una forma de implementar, no una licencia.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(10-12 min) «No es una IA que lo hace todo. Son cuatro especialistas, y cada uno tiene sus propios límites.» Por debajo, la capa de gobierno: trazas, replay, autonomía, guardrails, FinOps e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final siempre hay un técnico de seguros: la IA prepara, la persona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(12-14 min) «Todo lo que voy a decir ahora lo vais a ver funcionando.»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(14-15 min) «Primero lo que ve el tramitador. Después lo que ve el auditor y el CFO.» Cambiar a la demo con el motor en «Resultados guardados» y el Paquete A seleccionado.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0">
            <a:extLst>
              <a:ext uri="{FF2B5EF4-FFF2-40B4-BE49-F238E27FC236}">
                <a16:creationId xmlns:a16="http://schemas.microsoft.com/office/drawing/2014/main" id="{77616D71-A116-9CE5-43D9-8D796F2E894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CF1E45-A99B-2BE7-01FE-0DA7EBC90F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599" y="2286000"/>
            <a:ext cx="7709211" cy="720000"/>
          </a:xfrm>
          <a:solidFill>
            <a:srgbClr val="FF1414"/>
          </a:solidFill>
        </p:spPr>
        <p:txBody>
          <a:bodyPr anchor="ctr" anchorCtr="0"/>
          <a:lstStyle>
            <a:lvl1pPr algn="l">
              <a:defRPr sz="42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E9911E9-EAA2-0691-47D0-AB5873D71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599" y="3099759"/>
            <a:ext cx="8653861" cy="719034"/>
          </a:xfrm>
          <a:prstGeom prst="rect">
            <a:avLst/>
          </a:prstGeom>
          <a:solidFill>
            <a:srgbClr val="FF1414"/>
          </a:solidFill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20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327276-C6D2-51DD-7433-FF4EC440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599" y="5167076"/>
            <a:ext cx="2687411" cy="24984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>
                <a:solidFill>
                  <a:schemeClr val="bg1"/>
                </a:solidFill>
                <a:latin typeface="+mn-lt"/>
                <a:ea typeface="Roboto Slab" pitchFamily="2" charset="0"/>
              </a:defRPr>
            </a:lvl1pPr>
          </a:lstStyle>
          <a:p>
            <a:fld id="{E453CB44-D933-4174-8CBB-ADEE1E6C3E6E}" type="datetime6">
              <a:rPr lang="en-GB" smtClean="0"/>
              <a:pPr/>
              <a:t>March 26</a:t>
            </a:fld>
            <a:endParaRPr lang="en-GB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B148E28-3B35-1678-D418-E6DCE4AAAE9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436" y="501128"/>
            <a:ext cx="2271188" cy="41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2596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70" cy="362612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358775" indent="-358775" defTabSz="612000">
              <a:lnSpc>
                <a:spcPct val="150000"/>
              </a:lnSpc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70" cy="3276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-358775" defTabSz="612000">
              <a:lnSpc>
                <a:spcPct val="150000"/>
              </a:lnSpc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56C88E4-8019-3498-683D-06721620533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67252227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50D26C-7346-F0B6-C7A5-89A430AF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152480-EA9A-B2B2-0180-83B2EFCF3D7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87987644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Whit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6629" y="1371600"/>
            <a:ext cx="4641956" cy="4638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50D26C-7346-F0B6-C7A5-89A430AF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152480-EA9A-B2B2-0180-83B2EFCF3D7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28127014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Whi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57FE-3B2D-84E7-54D1-80F76892BA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74F76A-DAB9-3C0E-7A4B-C660B49908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60987F2-4C3A-6B51-537F-52E468C11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2DC93F5-2011-58D4-1782-38651928FE4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31635287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1E2588A-F550-C104-3508-8B4A403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D637E3-F841-2D06-46A2-7A75CFC0128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84732902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9AF041-7FE4-8E72-16FA-B7B093756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87BA298-B3A7-D63A-01E6-46BA66A3778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26389306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0D3F-35DD-669C-4E04-5FD5144AD81A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35328736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DFFC08-FB73-C885-6B47-6BA285838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6AAC242-D1ED-AF35-63F5-AC46C90D8E3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07969309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1774808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25484236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6527526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86C2A2F-9EB4-7D4F-CF5E-A747856D4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33F21E3-CAAA-8747-683A-A96583D3DC51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07556086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7FA9D4-BEB0-A09E-4298-A0EE819782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8BE0C6E-1FA3-7528-72A5-BF3F9232E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E59AD4-27DA-9B84-925A-539F21F0B4C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05022188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23 columns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81708C-B351-2798-CE06-F68D495AF08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14BF72-824A-AB1D-B89B-5C07C016946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29B4E89-017D-EA89-D384-CAA21A280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9975AA-365E-F0F7-B6A4-C86F87AF4A8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1300736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98ED3D-4C1D-18B1-C757-4A8E3551E9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9303C-1A66-4748-B626-8DD339D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38501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5A5A-7EDA-4530-9F96-16A0E2CA69D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101059-5A5E-E286-B2FB-81E98250C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408848-5F14-71C8-95D8-DEEE569318F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8749877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98ED3D-4C1D-18B1-C757-4A8E3551E9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9C3E0-83EB-6264-8CDF-22AAF8CAB992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0576D-B669-167B-03FD-E669ECE0B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D6499A-F9B2-E514-8A32-800319EBC15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9114612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CC49CE-6C20-5F08-A00E-E9DA79B4180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70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70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AFE8D-50F2-1958-99B8-B3A36E1F5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43B595-F912-FD25-DA9D-463645B2EF8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06010066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BBB329-3596-B079-5CB2-208E7D9FE8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91C3F7-4190-5A1D-C32E-4D6E05D1C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B6CC4C-4A5D-45DA-48BF-A135099D772B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98589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Ligh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BBB329-3596-B079-5CB2-208E7D9FE8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6629" y="1371600"/>
            <a:ext cx="4641956" cy="4638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91C3F7-4190-5A1D-C32E-4D6E05D1C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B6CC4C-4A5D-45DA-48BF-A135099D772B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328135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Ligh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EE180D-E692-5018-47EC-92A6AE1810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57FE-3B2D-84E7-54D1-80F76892BA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74F76A-DAB9-3C0E-7A4B-C660B49908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3846-F94B-039B-852B-86D94A896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E3C0033-79E8-320F-3EF9-E64D9370CDF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32645623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858B7D-70A1-EE68-CD20-71B9B4CA7F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83962-E666-AEE5-6202-2B9382F01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73D27C-AD05-ECB0-DD9B-AE1C2484773E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898089267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F47126E-216D-C391-208D-BB929A71EC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5BD8753-EE4F-7BE4-C865-CF6E95835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2F1400-6EE5-0A84-DBBA-24A941E3F24D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9534481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D53124-B12B-D07C-612C-517D880A5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A42FA-125C-22CD-4278-0A67C8934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59A6DC0-D8D5-3EC9-7DBC-E552715DB70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3911551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D53124-B12B-D07C-612C-517D880A5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31799FC-469F-580B-48DA-9BC46B48A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842039-D254-86F5-6E93-608F88B6D00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53043711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10">
            <a:extLst>
              <a:ext uri="{FF2B5EF4-FFF2-40B4-BE49-F238E27FC236}">
                <a16:creationId xmlns:a16="http://schemas.microsoft.com/office/drawing/2014/main" id="{F7C06E8A-CBF1-05D3-A6EB-A7249CFCE25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99939203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10">
            <a:extLst>
              <a:ext uri="{FF2B5EF4-FFF2-40B4-BE49-F238E27FC236}">
                <a16:creationId xmlns:a16="http://schemas.microsoft.com/office/drawing/2014/main" id="{F4249F5F-9A66-085C-4C2F-724171CD873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F99D34-2B6A-C9DB-81AC-AE756887A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CC1ED71-DC88-C375-59D2-CB2EE11A039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712074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Gradi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10">
            <a:extLst>
              <a:ext uri="{FF2B5EF4-FFF2-40B4-BE49-F238E27FC236}">
                <a16:creationId xmlns:a16="http://schemas.microsoft.com/office/drawing/2014/main" id="{F4249F5F-9A66-085C-4C2F-724171CD873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F99D34-2B6A-C9DB-81AC-AE756887A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CC1ED71-DC88-C375-59D2-CB2EE11A039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09110389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Gradi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10">
            <a:extLst>
              <a:ext uri="{FF2B5EF4-FFF2-40B4-BE49-F238E27FC236}">
                <a16:creationId xmlns:a16="http://schemas.microsoft.com/office/drawing/2014/main" id="{56ABECD5-69C2-01F6-AA6E-D98E25B0FE6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6B11-2672-9B16-AFAE-2027CDA4F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51362F1-4717-4465-7E09-063D89E8059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99395048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0">
            <a:extLst>
              <a:ext uri="{FF2B5EF4-FFF2-40B4-BE49-F238E27FC236}">
                <a16:creationId xmlns:a16="http://schemas.microsoft.com/office/drawing/2014/main" id="{0EF485AE-CDCF-333F-BBE8-EF458BC8691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14C0AB-8FCF-2FCA-039B-DE0760D46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F263407-8A16-1A30-C969-918D44E0F7B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62083419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0">
            <a:extLst>
              <a:ext uri="{FF2B5EF4-FFF2-40B4-BE49-F238E27FC236}">
                <a16:creationId xmlns:a16="http://schemas.microsoft.com/office/drawing/2014/main" id="{6F8BAC4A-9084-01CA-B106-3AB00C0DFD3E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D9F112-C12E-FFC8-DF18-B903D7627877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ED57B3A-1189-DEAE-9184-DD769F03C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28850C5-5D11-343B-27A2-07C114CCF2E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5211008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0">
            <a:extLst>
              <a:ext uri="{FF2B5EF4-FFF2-40B4-BE49-F238E27FC236}">
                <a16:creationId xmlns:a16="http://schemas.microsoft.com/office/drawing/2014/main" id="{92D475C8-E86F-9AAF-1527-5F7C298407F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9303C-1A66-4748-B626-8DD339D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38501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5A5A-7EDA-4530-9F96-16A0E2CA69D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101059-5A5E-E286-B2FB-81E98250C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408848-5F14-71C8-95D8-DEEE569318F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33244300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0">
            <a:extLst>
              <a:ext uri="{FF2B5EF4-FFF2-40B4-BE49-F238E27FC236}">
                <a16:creationId xmlns:a16="http://schemas.microsoft.com/office/drawing/2014/main" id="{6A574E42-9543-D779-8EB7-2C538C77731B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CF1B8-EB8B-F36D-1158-90FE4F528D9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AE4310-0013-FF05-48A7-F65D1DD9E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1621DE-885A-25FD-387C-E6916A70151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99749779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21E75C-54D2-1EC4-58CA-F69BEE5292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63187526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E6C5A6-4932-0AD5-691C-BDB6EEBE3D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8DE7DC-B94E-3D8A-2B93-5080203FE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38747CC-4D62-35A2-BC1F-7BF3F7B0B46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73886859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Dark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E6C5A6-4932-0AD5-691C-BDB6EEBE3D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8DE7DC-B94E-3D8A-2B93-5080203FE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38747CC-4D62-35A2-BC1F-7BF3F7B0B46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1340967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Dark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B58DC8-5901-7B11-5F4B-21F3E1EE91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965D87-A8FC-34AE-DC28-6CC329F49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E4FEC87-C30A-FD9E-CBE3-D7ED86D6D84A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587663873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B37B4F-A21E-7D41-08AF-8E0768389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0990115-D860-EEA0-F01D-766963A53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817ED54-318F-5696-DEBF-15214F78232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76181384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6530C6C-8E37-041B-074C-63EDA20F18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D9F112-C12E-FFC8-DF18-B903D7627877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373795-3254-679C-59E2-782654991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9B85E77-736B-2725-053E-8F07217C4BD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584421133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8362EC-5BF8-8DD6-8B43-5DF9FD194A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9EBBF-FF78-466E-2EE5-04BB33BC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A70BC-2B24-3B04-F6B0-C104E7DED06A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A00C6F3-88A1-CAF2-BE79-B535F3EDB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339B7A-057A-1605-D614-26906536782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022041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8362EC-5BF8-8DD6-8B43-5DF9FD194A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A70BC-2B24-3B04-F6B0-C104E7DED06A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455A05-7234-2683-78DA-B2B18F90A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6496F57-92C5-2726-5037-7C5661E2FF9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14180867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0">
            <a:extLst>
              <a:ext uri="{FF2B5EF4-FFF2-40B4-BE49-F238E27FC236}">
                <a16:creationId xmlns:a16="http://schemas.microsoft.com/office/drawing/2014/main" id="{77616D71-A116-9CE5-43D9-8D796F2E894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CF1E45-A99B-2BE7-01FE-0DA7EBC90F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599" y="2286000"/>
            <a:ext cx="4482687" cy="720000"/>
          </a:xfrm>
          <a:solidFill>
            <a:srgbClr val="FF1414"/>
          </a:solidFill>
        </p:spPr>
        <p:txBody>
          <a:bodyPr anchor="ctr" anchorCtr="0"/>
          <a:lstStyle>
            <a:lvl1pPr algn="l">
              <a:defRPr sz="42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E9911E9-EAA2-0691-47D0-AB5873D716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3599" y="3099759"/>
            <a:ext cx="4482687" cy="719034"/>
          </a:xfrm>
          <a:prstGeom prst="rect">
            <a:avLst/>
          </a:prstGeom>
          <a:solidFill>
            <a:srgbClr val="FF1414"/>
          </a:solidFill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20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To edit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99047-3BA6-1228-99FC-3B406BF2F0D9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61626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0">
            <a:extLst>
              <a:ext uri="{FF2B5EF4-FFF2-40B4-BE49-F238E27FC236}">
                <a16:creationId xmlns:a16="http://schemas.microsoft.com/office/drawing/2014/main" id="{19C2A041-55EE-50E0-6893-655ACB93D4D5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897F45-4856-0508-472A-A886A70DD88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436" y="501128"/>
            <a:ext cx="2271188" cy="4173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AE017B-85BA-45CF-9E93-A6B67CF24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599" y="2286000"/>
            <a:ext cx="7186697" cy="648000"/>
          </a:xfrm>
        </p:spPr>
        <p:txBody>
          <a:bodyPr anchor="ctr" anchorCtr="0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1C17C7-87A8-4096-AA87-B54E1020D4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600" y="3166877"/>
            <a:ext cx="3095625" cy="1041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 sz="1500" b="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0"/>
              </a:spcAft>
              <a:buNone/>
              <a:defRPr sz="1500" b="0"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 sz="1500"/>
            </a:lvl4pPr>
            <a:lvl5pPr>
              <a:spcAft>
                <a:spcPts val="0"/>
              </a:spcAft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9616B-69D4-FF49-A2CC-47F9D9FE5395}"/>
              </a:ext>
            </a:extLst>
          </p:cNvPr>
          <p:cNvSpPr txBox="1"/>
          <p:nvPr userDrawn="1"/>
        </p:nvSpPr>
        <p:spPr>
          <a:xfrm>
            <a:off x="633600" y="6213687"/>
            <a:ext cx="1569552" cy="184666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0" rIns="72000" bIns="0" rtlCol="0" anchor="ctr" anchorCtr="0">
            <a:spAutoFit/>
          </a:bodyPr>
          <a:lstStyle/>
          <a:p>
            <a:pPr algn="l"/>
            <a:r>
              <a:rPr lang="en-US" sz="1200" b="0" i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www.logicalis.com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86C905-64BE-4506-8C3E-41AF052ACC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47176111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Black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371707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theme" Target="../theme/theme1.xml"/><Relationship Id="rId4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D339-BB19-4043-A166-4FFEA6AB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51202" cy="432000"/>
          </a:xfrm>
          <a:prstGeom prst="rect">
            <a:avLst/>
          </a:prstGeom>
          <a:solidFill>
            <a:srgbClr val="FF1414"/>
          </a:solidFill>
        </p:spPr>
        <p:txBody>
          <a:bodyPr vert="horz" wrap="square" lIns="72000" tIns="36000" rIns="72000" bIns="3600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FAE61-913B-4243-9F6F-41F836C74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417" y="1308944"/>
            <a:ext cx="11225167" cy="360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0"/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ED1DBC-3E6C-A386-4841-19F228B62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04ACAE-EE43-8A60-F34C-23DD4D038152}"/>
              </a:ext>
            </a:extLst>
          </p:cNvPr>
          <p:cNvPicPr/>
          <p:nvPr userDrawn="1"/>
        </p:nvPicPr>
        <p:blipFill>
          <a:blip r:embed="rId45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DAE6ED0-2B14-2B0D-C9F0-EB643D210B4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08636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29" r:id="rId2"/>
    <p:sldLayoutId id="2147483730" r:id="rId3"/>
    <p:sldLayoutId id="2147483765" r:id="rId4"/>
    <p:sldLayoutId id="2147483731" r:id="rId5"/>
    <p:sldLayoutId id="2147483732" r:id="rId6"/>
    <p:sldLayoutId id="2147483733" r:id="rId7"/>
    <p:sldLayoutId id="2147483697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677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04" r:id="rId24"/>
    <p:sldLayoutId id="2147483749" r:id="rId25"/>
    <p:sldLayoutId id="2147483750" r:id="rId26"/>
    <p:sldLayoutId id="2147483751" r:id="rId27"/>
    <p:sldLayoutId id="2147483752" r:id="rId28"/>
    <p:sldLayoutId id="2147483753" r:id="rId29"/>
    <p:sldLayoutId id="2147483754" r:id="rId30"/>
    <p:sldLayoutId id="2147483755" r:id="rId31"/>
    <p:sldLayoutId id="2147483726" r:id="rId32"/>
    <p:sldLayoutId id="2147483756" r:id="rId33"/>
    <p:sldLayoutId id="2147483757" r:id="rId34"/>
    <p:sldLayoutId id="2147483758" r:id="rId35"/>
    <p:sldLayoutId id="2147483759" r:id="rId36"/>
    <p:sldLayoutId id="2147483760" r:id="rId37"/>
    <p:sldLayoutId id="2147483761" r:id="rId38"/>
    <p:sldLayoutId id="2147483762" r:id="rId39"/>
    <p:sldLayoutId id="2147483684" r:id="rId40"/>
    <p:sldLayoutId id="2147483764" r:id="rId41"/>
    <p:sldLayoutId id="2147483727" r:id="rId42"/>
    <p:sldLayoutId id="2147483672" r:id="rId43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bg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i="0" kern="1200">
          <a:solidFill>
            <a:srgbClr val="595959"/>
          </a:solidFill>
          <a:latin typeface="Montserrat Medium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accent1"/>
        </a:buClr>
        <a:buSzPct val="90000"/>
        <a:buFont typeface="Arial" panose="020B0604020202020204" pitchFamily="34" charset="0"/>
        <a:buNone/>
        <a:defRPr sz="2000" b="0" i="0" kern="1200">
          <a:solidFill>
            <a:schemeClr val="accent1"/>
          </a:solidFill>
          <a:latin typeface="Roboto Slab" pitchFamily="2" charset="0"/>
          <a:ea typeface="Roboto Slab" pitchFamily="2" charset="0"/>
          <a:cs typeface="Times New Roman" panose="02020603050405020304" pitchFamily="18" charset="0"/>
        </a:defRPr>
      </a:lvl2pPr>
      <a:lvl3pPr marL="252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accent1"/>
        </a:buClr>
        <a:buSzPct val="80000"/>
        <a:buFont typeface=".Lucida Grande UI Regular"/>
        <a:buChar char="►"/>
        <a:defRPr sz="1400" b="0" i="0" kern="1200">
          <a:solidFill>
            <a:srgbClr val="595959"/>
          </a:solidFill>
          <a:latin typeface="Montserrat Medium" pitchFamily="2" charset="77"/>
          <a:ea typeface="+mn-ea"/>
          <a:cs typeface="+mn-cs"/>
        </a:defRPr>
      </a:lvl3pPr>
      <a:lvl4pPr marL="540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tx2"/>
        </a:buClr>
        <a:buSzPct val="80000"/>
        <a:buFont typeface=".Lucida Grande UI Regular"/>
        <a:buChar char="►"/>
        <a:defRPr sz="1400" b="0" i="0" kern="1200">
          <a:solidFill>
            <a:srgbClr val="595959"/>
          </a:solidFill>
          <a:latin typeface="Montserrat" pitchFamily="2" charset="77"/>
          <a:ea typeface="+mn-ea"/>
          <a:cs typeface="+mn-cs"/>
        </a:defRPr>
      </a:lvl4pPr>
      <a:lvl5pPr marL="792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tx2"/>
        </a:buClr>
        <a:buSzPct val="90000"/>
        <a:buFont typeface="Monaco" pitchFamily="2" charset="77"/>
        <a:buChar char="⎻"/>
        <a:defRPr sz="1400" b="0" i="0" kern="1200">
          <a:solidFill>
            <a:srgbClr val="595959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98">
          <p15:clr>
            <a:srgbClr val="F26B43"/>
          </p15:clr>
        </p15:guide>
        <p15:guide id="4" pos="7197">
          <p15:clr>
            <a:srgbClr val="F26B43"/>
          </p15:clr>
        </p15:guide>
        <p15:guide id="5" orient="horz" pos="1132">
          <p15:clr>
            <a:srgbClr val="F26B43"/>
          </p15:clr>
        </p15:guide>
        <p15:guide id="6" orient="horz" pos="3401">
          <p15:clr>
            <a:srgbClr val="F26B43"/>
          </p15:clr>
        </p15:guide>
        <p15:guide id="7" orient="horz" pos="489">
          <p15:clr>
            <a:srgbClr val="F26B43"/>
          </p15:clr>
        </p15:guide>
        <p15:guide id="8" orient="horz" pos="125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3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lucide-car-front.svg"/><Relationship Id="rId5" Type="http://schemas.openxmlformats.org/officeDocument/2006/relationships/image" Target="../media/image12.png"/><Relationship Id="rId6" Type="http://schemas.openxmlformats.org/officeDocument/2006/relationships/image" Target="../media/lucide-timer.svg"/><Relationship Id="rId7" Type="http://schemas.openxmlformats.org/officeDocument/2006/relationships/image" Target="../media/image13.png"/><Relationship Id="rId8" Type="http://schemas.openxmlformats.org/officeDocument/2006/relationships/image" Target="../media/lucide-messages-square.svg"/><Relationship Id="rId9" Type="http://schemas.openxmlformats.org/officeDocument/2006/relationships/image" Target="../media/image14.png"/><Relationship Id="rId10" Type="http://schemas.openxmlformats.org/officeDocument/2006/relationships/image" Target="../media/lucide-calendar-clock.svg"/><Relationship Id="rId11" Type="http://schemas.openxmlformats.org/officeDocument/2006/relationships/image" Target="../media/image15.png"/><Relationship Id="rId12" Type="http://schemas.openxmlformats.org/officeDocument/2006/relationships/image" Target="../media/lucide-coins.svg"/><Relationship Id="rId13" Type="http://schemas.openxmlformats.org/officeDocument/2006/relationships/hyperlink" Target="https://www.unespa.es/notasdeprensa/siniestros-automovil-datos-2024/" TargetMode="External"/><Relationship Id="rId14" Type="http://schemas.openxmlformats.org/officeDocument/2006/relationships/hyperlink" Target="https://www.boe.es/buscar/act.php?id=BOE-A-1980-22501#a16" TargetMode="External"/><Relationship Id="rId15" Type="http://schemas.openxmlformats.org/officeDocument/2006/relationships/hyperlink" Target="https://www.iii.org/table-archive/23229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>
            <a:extLst>
              <a:ext uri="{FF2B5EF4-FFF2-40B4-BE49-F238E27FC236}">
                <a16:creationId xmlns:a16="http://schemas.microsoft.com/office/drawing/2014/main" id="{25921E48-B7DB-6CFD-42FD-BACF049CF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286000"/>
            <a:ext cx="4837938" cy="688848"/>
          </a:xfrm>
        </p:spPr>
        <p:txBody>
          <a:bodyPr wrap="none" anchor="ctr">
            <a:noAutofit/>
          </a:bodyPr>
          <a:lstStyle/>
          <a:p>
            <a:r>
              <a:rPr lang="en-PT" sz="4200"/>
              <a:t>FNOL con agentes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3839338-4607-518B-5A15-89D10D8B7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3066288"/>
            <a:ext cx="3202178" cy="688848"/>
          </a:xfrm>
        </p:spPr>
        <p:txBody>
          <a:bodyPr wrap="none" anchor="ctr">
            <a:noAutofit/>
          </a:bodyPr>
          <a:lstStyle/>
          <a:p>
            <a:r>
              <a:rPr lang="pt-PT" err="1" sz="4200"/>
              <a:t>gobernados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4D23A1D-92A7-B8F8-A6A5-CA7C51F45A8F}"/>
              </a:ext>
            </a:extLst>
          </p:cNvPr>
          <p:cNvSpPr txBox="1">
            <a:spLocks/>
          </p:cNvSpPr>
          <p:nvPr/>
        </p:nvSpPr>
        <p:spPr>
          <a:xfrm>
            <a:off x="630936" y="4797552"/>
            <a:ext cx="4572000" cy="356616"/>
          </a:xfrm>
          <a:prstGeom prst="rect">
            <a:avLst/>
          </a:prstGeom>
          <a:noFill/>
        </p:spPr>
        <p:txBody>
          <a:bodyPr vert="horz" wrap="square" lIns="72000" tIns="36000" rIns="72000" bIns="360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</a:lstStyle>
          <a:p>
            <a:r>
              <a:rPr lang="en-PT" sz="1200">
                <a:latin typeface="Montserrat" pitchFamily="2" charset="77"/>
              </a:rPr>
              <a:t>Octubre 2026</a:t>
            </a:r>
          </a:p>
        </p:txBody>
      </p:sp>
      <p:pic>
        <p:nvPicPr>
          <p:cNvPr id="7" name="Picture 6" descr="A person with her arms crossed&#10;&#10;Description automatically generated">
            <a:extLst>
              <a:ext uri="{FF2B5EF4-FFF2-40B4-BE49-F238E27FC236}">
                <a16:creationId xmlns:a16="http://schemas.microsoft.com/office/drawing/2014/main" id="{B28B268F-CE6A-5453-5C27-75301FD49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78" y="1346330"/>
            <a:ext cx="8553692" cy="55116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" y="3983736"/>
            <a:ext cx="5303520" cy="6766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FFFFFF"/>
                </a:solidFill>
                <a:latin typeface="Montserrat Medium"/>
              </a:rPr>
              <a:t>De la IA que clasifica a la IA que se puede poner en producción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5181600"/>
            <a:ext cx="2574289" cy="292608"/>
          </a:xfrm>
          <a:prstGeom prst="rect">
            <a:avLst/>
          </a:prstGeom>
          <a:solidFill>
            <a:srgbClr val="194BFF"/>
          </a:solidFill>
        </p:spPr>
        <p:txBody>
          <a:bodyPr wrap="none" lIns="73152" rIns="73152" tIns="18288" bIns="18288" anchor="ctr">
            <a:noAutofit/>
          </a:bodyPr>
          <a:lstStyle/>
          <a:p>
            <a:r>
              <a:rPr sz="1100">
                <a:solidFill>
                  <a:srgbClr val="FFFFFF"/>
                </a:solidFill>
                <a:latin typeface="Montserrat Medium"/>
              </a:rPr>
              <a:t>Presentado por Ignacio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1445768" cy="429768"/>
          </a:xfrm>
        </p:spPr>
        <p:txBody>
          <a:bodyPr wrap="none"/>
          <a:lstStyle/>
          <a:p>
            <a:r>
              <a:rPr sz="2600"/>
              <a:t>Agenda</a:t>
            </a:r>
          </a:p>
        </p:txBody>
      </p:sp>
      <p:pic>
        <p:nvPicPr>
          <p:cNvPr id="3" name="Picture 2" descr="wave_symbol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5303520" cy="2515857"/>
          </a:xfrm>
          <a:prstGeom prst="rect">
            <a:avLst/>
          </a:prstGeom>
        </p:spPr>
      </p:pic>
      <p:sp>
        <p:nvSpPr>
          <p:cNvPr id="4" name="AGENDA_ITEMS"/>
          <p:cNvSpPr txBox="1"/>
          <p:nvPr/>
        </p:nvSpPr>
        <p:spPr>
          <a:xfrm>
            <a:off x="484632" y="1600200"/>
            <a:ext cx="6949440" cy="457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noAutofit/>
          </a:bodyPr>
          <a:lstStyle/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01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El problema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02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El marco normativo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03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La solución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04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La demo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photo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66928"/>
            <a:ext cx="6035040" cy="5683392"/>
          </a:xfrm>
          <a:prstGeom prst="rect">
            <a:avLst/>
          </a:prstGeom>
        </p:spPr>
      </p:pic>
      <p:sp>
        <p:nvSpPr>
          <p:cNvPr id="3" name="NUM"/>
          <p:cNvSpPr txBox="1"/>
          <p:nvPr/>
        </p:nvSpPr>
        <p:spPr>
          <a:xfrm>
            <a:off x="6720840" y="2331720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anchor="ctr" lIns="72000" rIns="72000" tIns="36000" bIns="36000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Roboto Slab"/>
              </a:rPr>
              <a:t>01</a:t>
            </a:r>
          </a:p>
        </p:txBody>
      </p:sp>
      <p:sp>
        <p:nvSpPr>
          <p:cNvPr id="4" name="REDTITLE"/>
          <p:cNvSpPr txBox="1"/>
          <p:nvPr/>
        </p:nvSpPr>
        <p:spPr>
          <a:xfrm>
            <a:off x="6720840" y="2788920"/>
            <a:ext cx="2595118" cy="546608"/>
          </a:xfrm>
          <a:prstGeom prst="rect">
            <a:avLst/>
          </a:prstGeom>
          <a:solidFill>
            <a:srgbClr val="FF1414"/>
          </a:solidFill>
        </p:spPr>
        <p:txBody>
          <a:bodyPr wrap="none" anchor="ctr" lIns="72000" rIns="72000" tIns="36000" bIns="36000">
            <a:noAutofit/>
          </a:bodyPr>
          <a:lstStyle/>
          <a:p>
            <a:r>
              <a:rPr sz="3200" b="0">
                <a:solidFill>
                  <a:srgbClr val="FFFFFF"/>
                </a:solidFill>
                <a:latin typeface="Roboto Slab"/>
              </a:rPr>
              <a:t>El problema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3851147" cy="429768"/>
          </a:xfrm>
        </p:spPr>
        <p:txBody>
          <a:bodyPr wrap="none"/>
          <a:lstStyle/>
          <a:p>
            <a:r>
              <a:rPr sz="2600"/>
              <a:t>La avalancha de avisos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  <p:sp>
        <p:nvSpPr>
          <p:cNvPr id="6" name="Oval 5"/>
          <p:cNvSpPr/>
          <p:nvPr/>
        </p:nvSpPr>
        <p:spPr>
          <a:xfrm>
            <a:off x="548640" y="1463040"/>
            <a:ext cx="822960" cy="82296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o car-front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164592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" y="2377440"/>
            <a:ext cx="2062886" cy="73152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r>
              <a:rPr sz="3000" b="0">
                <a:solidFill>
                  <a:srgbClr val="194BFF"/>
                </a:solidFill>
                <a:latin typeface="Roboto Slab"/>
              </a:rPr>
              <a:t>~11 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4632" y="3264408"/>
            <a:ext cx="2062886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Montserrat Medium"/>
              </a:rPr>
              <a:t>siniestros de Auto al año en España</a:t>
            </a:r>
            <a:r>
              <a:rPr sz="1200" b="1" baseline="30000">
                <a:solidFill>
                  <a:srgbClr val="194BFF"/>
                </a:solidFill>
                <a:latin typeface="Montserrat Medium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840126" y="1463040"/>
            <a:ext cx="822960" cy="82296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o timer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3006" y="164592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76118" y="2377440"/>
            <a:ext cx="2062886" cy="73152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r>
              <a:rPr sz="3000" b="0">
                <a:solidFill>
                  <a:srgbClr val="194BFF"/>
                </a:solidFill>
                <a:latin typeface="Roboto Slab"/>
              </a:rPr>
              <a:t>1 cada 3 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40126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76118" y="3264408"/>
            <a:ext cx="2062886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Montserrat Medium"/>
              </a:rPr>
              <a:t>ritmo al que el seguro atiende un percance en carretera</a:t>
            </a:r>
            <a:r>
              <a:rPr sz="1200" b="1" baseline="30000">
                <a:solidFill>
                  <a:srgbClr val="194BFF"/>
                </a:solidFill>
                <a:latin typeface="Montserrat Medium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61818" y="1463040"/>
            <a:ext cx="0" cy="2807208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31612" y="1463040"/>
            <a:ext cx="822960" cy="82296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o messages-square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14492" y="164592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67604" y="2377440"/>
            <a:ext cx="2062886" cy="73152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r>
              <a:rPr sz="3000" b="0">
                <a:solidFill>
                  <a:srgbClr val="194BFF"/>
                </a:solidFill>
                <a:latin typeface="Roboto Slab"/>
              </a:rPr>
              <a:t>5 canales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31612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67604" y="3264408"/>
            <a:ext cx="2062886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Montserrat Medium"/>
              </a:rPr>
              <a:t>email, WhatsApp, chat, formulario web y teléfono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53304" y="1463040"/>
            <a:ext cx="0" cy="2807208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423098" y="1463040"/>
            <a:ext cx="822960" cy="82296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o calendar-clock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05978" y="1645920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59090" y="2377440"/>
            <a:ext cx="2062886" cy="73152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r>
              <a:rPr sz="3000" b="0">
                <a:solidFill>
                  <a:srgbClr val="194BFF"/>
                </a:solidFill>
                <a:latin typeface="Roboto Slab"/>
              </a:rPr>
              <a:t>7 días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23098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59090" y="3264408"/>
            <a:ext cx="2062886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Montserrat Medium"/>
              </a:rPr>
              <a:t>plazo para comunicar el siniestro (art. 16 LCS)</a:t>
            </a:r>
            <a:r>
              <a:rPr sz="1200" b="1" baseline="30000">
                <a:solidFill>
                  <a:srgbClr val="194BFF"/>
                </a:solidFill>
                <a:latin typeface="Montserrat Medium"/>
              </a:rP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44790" y="1463040"/>
            <a:ext cx="0" cy="2807208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714584" y="1463040"/>
            <a:ext cx="822960" cy="82296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cono coins" descr="image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97464" y="1645920"/>
            <a:ext cx="457200" cy="457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50576" y="2377440"/>
            <a:ext cx="2062886" cy="731520"/>
          </a:xfrm>
          <a:prstGeom prst="rect">
            <a:avLst/>
          </a:prstGeom>
          <a:noFill/>
        </p:spPr>
        <p:txBody>
          <a:bodyPr wrap="none" anchor="b" lIns="45720" rIns="45720" tIns="27432" bIns="27432">
            <a:spAutoFit/>
          </a:bodyPr>
          <a:lstStyle/>
          <a:p>
            <a:r>
              <a:rPr sz="3000" b="0">
                <a:solidFill>
                  <a:srgbClr val="194BFF"/>
                </a:solidFill>
                <a:latin typeface="Roboto Slab"/>
              </a:rPr>
              <a:t>~10 %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14584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650576" y="3264408"/>
            <a:ext cx="2062886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Montserrat Medium"/>
              </a:rPr>
              <a:t>de la prima de Auto se va en gestionar siniestros (EE. UU., 2023)</a:t>
            </a:r>
            <a:r>
              <a:rPr sz="1200" b="1" baseline="30000">
                <a:solidFill>
                  <a:srgbClr val="194BFF"/>
                </a:solidFill>
                <a:latin typeface="Montserrat Medium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36276" y="1463040"/>
            <a:ext cx="0" cy="2807208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84632" y="4572000"/>
            <a:ext cx="11228831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600" b="1">
                <a:solidFill>
                  <a:srgbClr val="194BFF"/>
                </a:solidFill>
                <a:latin typeface="Montserrat"/>
              </a:rPr>
              <a:t>Cada aviso hay que leerlo, clasificarlo por ramo, extraer los datos y aplicar las reglas de la póliza.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5532120"/>
            <a:ext cx="11228831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595959"/>
                </a:solidFill>
                <a:latin typeface="Montserrat Medium"/>
              </a:rPr>
              <a:t>Fuentes: </a:t>
            </a:r>
            <a:r>
              <a:rPr sz="900" b="0">
                <a:solidFill>
                  <a:srgbClr val="595959"/>
                </a:solidFill>
                <a:latin typeface="Montserrat Medium"/>
              </a:rPr>
              <a:t>¹ </a:t>
            </a:r>
            <a:r>
              <a:rPr sz="900" b="0">
                <a:solidFill>
                  <a:srgbClr val="194BFF"/>
                </a:solidFill>
                <a:latin typeface="Montserrat Medium"/>
                <a:hlinkClick r:id="rId13"/>
              </a:rPr>
              <a:t>UNESPA, siniestros de automóvil (datos 2024)</a:t>
            </a:r>
            <a:r>
              <a:rPr sz="900" b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900" b="0">
                <a:solidFill>
                  <a:srgbClr val="595959"/>
                </a:solidFill>
                <a:latin typeface="Montserrat Medium"/>
              </a:rPr>
              <a:t>² </a:t>
            </a:r>
            <a:r>
              <a:rPr sz="900" b="0">
                <a:solidFill>
                  <a:srgbClr val="194BFF"/>
                </a:solidFill>
                <a:latin typeface="Montserrat Medium"/>
                <a:hlinkClick r:id="rId14"/>
              </a:rPr>
              <a:t>Ley 50/1980 de Contrato de Seguro, art. 16 (BOE)</a:t>
            </a:r>
            <a:r>
              <a:rPr sz="900" b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900" b="0">
                <a:solidFill>
                  <a:srgbClr val="595959"/>
                </a:solidFill>
                <a:latin typeface="Montserrat Medium"/>
              </a:rPr>
              <a:t>³ </a:t>
            </a:r>
            <a:r>
              <a:rPr sz="900" b="0">
                <a:solidFill>
                  <a:srgbClr val="194BFF"/>
                </a:solidFill>
                <a:latin typeface="Montserrat Medium"/>
                <a:hlinkClick r:id="rId15"/>
              </a:rPr>
              <a:t>Insurance Information Institute, Private Passenger Auto Underwriting Expenses (NAIC, 2023)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4221988" cy="429768"/>
          </a:xfrm>
        </p:spPr>
        <p:txBody>
          <a:bodyPr wrap="none"/>
          <a:lstStyle/>
          <a:p>
            <a:r>
              <a:rPr sz="2600"/>
              <a:t>Clasificar ya está resuelto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399032"/>
            <a:ext cx="5861304" cy="4864607"/>
          </a:xfrm>
        </p:spPr>
        <p:txBody>
          <a:bodyPr anchor="t">
            <a:no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Un prompt bien escrito clasifica por ramo y extrae datos con más de un 90 % de acierto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Funciona con texto informal, faltas de ortografía y transcripciones telefónicas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Se monta en una tarde</a:t>
            </a: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sz="1800" b="1"/>
              <a:t>Esto ya no diferencia a nadie.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50D26C-7346-F0B6-C7A5-89A430AF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6373367" cy="429768"/>
          </a:xfrm>
        </p:spPr>
        <p:txBody>
          <a:bodyPr wrap="none"/>
          <a:lstStyle/>
          <a:p>
            <a:r>
              <a:rPr sz="2600"/>
              <a:t>El problema real: de piloto a producción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67512" y="2528315"/>
            <a:ext cx="2441448" cy="1097280"/>
          </a:xfrm>
          <a:prstGeom prst="rect">
            <a:avLst/>
          </a:prstGeom>
          <a:noFill/>
        </p:spPr>
        <p:txBody>
          <a:bodyPr wrap="none" lIns="45720" rIns="45720" tIns="27432" bIns="27432" anchor="b">
            <a:noAutofit/>
          </a:bodyPr>
          <a:lstStyle/>
          <a:p>
            <a:r>
              <a:rPr sz="4400">
                <a:solidFill>
                  <a:srgbClr val="194BFF"/>
                </a:solidFill>
                <a:latin typeface="Roboto Slab"/>
              </a:rPr>
              <a:t>&gt;90 %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762756"/>
            <a:ext cx="758952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7512" y="3899915"/>
            <a:ext cx="2441448" cy="23637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>
                <a:solidFill>
                  <a:srgbClr val="595959"/>
                </a:solidFill>
                <a:latin typeface="Montserrat Medium"/>
              </a:rPr>
              <a:t>de las aseguradoras prueba 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39" y="2528315"/>
            <a:ext cx="0" cy="265176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74720" y="2528315"/>
            <a:ext cx="2441448" cy="1097280"/>
          </a:xfrm>
          <a:prstGeom prst="rect">
            <a:avLst/>
          </a:prstGeom>
          <a:noFill/>
        </p:spPr>
        <p:txBody>
          <a:bodyPr wrap="none" lIns="45720" rIns="45720" tIns="27432" bIns="27432" anchor="b">
            <a:noAutofit/>
          </a:bodyPr>
          <a:lstStyle/>
          <a:p>
            <a:r>
              <a:rPr sz="4400">
                <a:solidFill>
                  <a:srgbClr val="194BFF"/>
                </a:solidFill>
                <a:latin typeface="Roboto Slab"/>
              </a:rPr>
              <a:t>22 %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38727" y="3762756"/>
            <a:ext cx="758952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74720" y="3899915"/>
            <a:ext cx="2441448" cy="23637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>
                <a:solidFill>
                  <a:srgbClr val="595959"/>
                </a:solidFill>
                <a:latin typeface="Montserrat Medium"/>
              </a:rPr>
              <a:t>la tiene en producción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2528315"/>
            <a:ext cx="0" cy="265176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81928" y="2528315"/>
            <a:ext cx="2441448" cy="1097280"/>
          </a:xfrm>
          <a:prstGeom prst="rect">
            <a:avLst/>
          </a:prstGeom>
          <a:noFill/>
        </p:spPr>
        <p:txBody>
          <a:bodyPr wrap="none" lIns="45720" rIns="45720" tIns="27432" bIns="27432" anchor="b">
            <a:noAutofit/>
          </a:bodyPr>
          <a:lstStyle/>
          <a:p>
            <a:r>
              <a:rPr sz="4400">
                <a:solidFill>
                  <a:srgbClr val="194BFF"/>
                </a:solidFill>
                <a:latin typeface="Roboto Slab"/>
              </a:rPr>
              <a:t>4 %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45936" y="3762756"/>
            <a:ext cx="758952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81928" y="3899915"/>
            <a:ext cx="2441448" cy="23637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>
                <a:solidFill>
                  <a:srgbClr val="595959"/>
                </a:solidFill>
                <a:latin typeface="Montserrat Medium"/>
              </a:rPr>
              <a:t>tiene agentes en producción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06255" y="2528315"/>
            <a:ext cx="0" cy="265176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89135" y="2528315"/>
            <a:ext cx="2441448" cy="1097280"/>
          </a:xfrm>
          <a:prstGeom prst="rect">
            <a:avLst/>
          </a:prstGeom>
          <a:noFill/>
        </p:spPr>
        <p:txBody>
          <a:bodyPr wrap="none" lIns="45720" rIns="45720" tIns="27432" bIns="27432" anchor="b">
            <a:noAutofit/>
          </a:bodyPr>
          <a:lstStyle/>
          <a:p>
            <a:r>
              <a:rPr sz="4400">
                <a:solidFill>
                  <a:srgbClr val="194BFF"/>
                </a:solidFill>
                <a:latin typeface="Roboto Slab"/>
              </a:rPr>
              <a:t>&gt;40 %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53143" y="3762756"/>
            <a:ext cx="758952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89135" y="3899915"/>
            <a:ext cx="2441448" cy="23637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>
                <a:solidFill>
                  <a:srgbClr val="595959"/>
                </a:solidFill>
                <a:latin typeface="Montserrat Medium"/>
              </a:rPr>
              <a:t>de los proyectos agénticos se cancelarán antes de 2027 (Gartner)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F67E73E-630D-5F6F-93A1-C692F05CA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377440"/>
            <a:ext cx="2427478" cy="660400"/>
          </a:xfrm>
        </p:spPr>
        <p:txBody>
          <a:bodyPr wrap="none" anchor="ctr">
            <a:noAutofit/>
          </a:bodyPr>
          <a:lstStyle/>
          <a:p>
            <a:r>
              <a:rPr sz="4000"/>
              <a:t>El marco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97B2C3-B154-9FFE-9972-3B3059C11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3129280"/>
            <a:ext cx="2803397" cy="660400"/>
          </a:xfrm>
        </p:spPr>
        <p:txBody>
          <a:bodyPr wrap="none" anchor="ctr">
            <a:noAutofit/>
          </a:bodyPr>
          <a:lstStyle/>
          <a:p>
            <a:r>
              <a:rPr sz="4000"/>
              <a:t>normativo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4A87-2D05-B819-27E2-B433509BD9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3188" y="6408738"/>
            <a:ext cx="658812" cy="230187"/>
          </a:xfrm>
        </p:spPr>
        <p:txBody>
          <a:bodyPr/>
          <a:lstStyle/>
          <a:p>
            <a:fld id="{4C86EB02-3AF8-4C19-B0D1-31A9E52C2F89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C48BB-F5E1-0E62-8FFB-51749D3BA6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186" y="1847900"/>
            <a:ext cx="7772396" cy="5010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" y="1874519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lIns="73152" rIns="73152" tIns="18288" bIns="18288" anchor="ctr">
            <a:noAutofit/>
          </a:bodyPr>
          <a:lstStyle/>
          <a:p>
            <a:r>
              <a:rPr sz="1400">
                <a:solidFill>
                  <a:srgbClr val="FFFFFF"/>
                </a:solidFill>
                <a:latin typeface="Roboto Slab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4271517" cy="429768"/>
          </a:xfrm>
        </p:spPr>
        <p:txBody>
          <a:bodyPr wrap="none"/>
          <a:lstStyle/>
          <a:p>
            <a:r>
              <a:rPr sz="2600"/>
              <a:t>Lo que exige la regulación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399032"/>
            <a:ext cx="5431536" cy="4864607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sz="1600" b="1">
                <a:solidFill>
                  <a:srgbClr val="194BFF"/>
                </a:solidFill>
                <a:latin typeface="Montserrat"/>
              </a:rPr>
              <a:t>Ya en vigor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RGPD art. 22</a:t>
            </a:r>
            <a:r>
              <a:rPr sz="1400"/>
              <a:t>: derecho a no ser objeto de decisiones solo automatizadas. Según el TJUE (SCHUFA), firmar sin revisar no cuenta como intervención humana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RGPD art. 15</a:t>
            </a:r>
            <a:r>
              <a:rPr sz="1400"/>
              <a:t>: derecho a una explicación con sentido de la lógica aplicada (Dun &amp; Bradstreet)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RGPD art. 9</a:t>
            </a:r>
            <a:r>
              <a:rPr sz="1400"/>
              <a:t>: datos de salud, categoría especial (ramo Salud)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DORA</a:t>
            </a:r>
            <a:r>
              <a:rPr sz="1400"/>
              <a:t>: los proveedores de LLM son terceros TIC (registro, concentración, contratos)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EIOPA (ago. 2025)</a:t>
            </a:r>
            <a:r>
              <a:rPr sz="1400"/>
              <a:t>: gobierno de la IA proporcional para todo uso en seguros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AI Act art. 4 y art. 50</a:t>
            </a:r>
            <a:r>
              <a:rPr sz="1400"/>
              <a:t>: alfabetización en IA y transparencia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>
          <a:xfrm>
            <a:off x="6281928" y="1399032"/>
            <a:ext cx="5431536" cy="4864607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sz="1600" b="1">
                <a:solidFill>
                  <a:srgbClr val="194BFF"/>
                </a:solidFill>
                <a:latin typeface="Montserrat"/>
              </a:rPr>
              <a:t>Lo que llega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AI Act, alto riesgo</a:t>
            </a:r>
            <a:r>
              <a:rPr sz="1400"/>
              <a:t> (Anexo III): obligaciones aplazadas al 2/12/2027 por el Digital Omnibus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Ley Orgánica española de IA</a:t>
            </a:r>
            <a:r>
              <a:rPr sz="1400"/>
              <a:t>: en el Congreso; AESIA y DGSFP como supervisoras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Sanciones</a:t>
            </a:r>
            <a:r>
              <a:rPr sz="1400"/>
              <a:t>: hasta 35 M€ o el 7 % de la facturación global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1E2588A-F550-C104-3508-8B4A403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_big.png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3611880" y="2185416"/>
            <a:ext cx="9418320" cy="5297805"/>
          </a:xfrm>
          <a:prstGeom prst="rect">
            <a:avLst/>
          </a:prstGeom>
        </p:spPr>
      </p:pic>
      <p:sp>
        <p:nvSpPr>
          <p:cNvPr id="3" name="NUM"/>
          <p:cNvSpPr txBox="1"/>
          <p:nvPr/>
        </p:nvSpPr>
        <p:spPr>
          <a:xfrm>
            <a:off x="731520" y="1417319"/>
            <a:ext cx="566928" cy="329184"/>
          </a:xfrm>
          <a:prstGeom prst="rect">
            <a:avLst/>
          </a:prstGeom>
          <a:solidFill>
            <a:srgbClr val="0A2592"/>
          </a:solidFill>
        </p:spPr>
        <p:txBody>
          <a:bodyPr wrap="none" anchor="ctr" lIns="72000" rIns="72000" tIns="36000" bIns="36000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Roboto Slab"/>
              </a:rPr>
              <a:t>03</a:t>
            </a:r>
          </a:p>
        </p:txBody>
      </p:sp>
      <p:sp>
        <p:nvSpPr>
          <p:cNvPr id="4" name="REDTITLE"/>
          <p:cNvSpPr txBox="1"/>
          <p:nvPr/>
        </p:nvSpPr>
        <p:spPr>
          <a:xfrm>
            <a:off x="731520" y="1874519"/>
            <a:ext cx="2489707" cy="546608"/>
          </a:xfrm>
          <a:prstGeom prst="rect">
            <a:avLst/>
          </a:prstGeom>
          <a:solidFill>
            <a:srgbClr val="FF1414"/>
          </a:solidFill>
        </p:spPr>
        <p:txBody>
          <a:bodyPr wrap="none" anchor="ctr" lIns="72000" rIns="72000" tIns="36000" bIns="36000">
            <a:noAutofit/>
          </a:bodyPr>
          <a:lstStyle/>
          <a:p>
            <a:r>
              <a:rPr sz="3200" b="0">
                <a:solidFill>
                  <a:srgbClr val="FFFFFF"/>
                </a:solidFill>
                <a:latin typeface="Roboto Slab"/>
              </a:rPr>
              <a:t>La solución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0576D-B669-167B-03FD-E669ECE0B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008117" cy="429768"/>
          </a:xfrm>
        </p:spPr>
        <p:txBody>
          <a:bodyPr wrap="none"/>
          <a:lstStyle/>
          <a:p>
            <a:r>
              <a:rPr sz="2600"/>
              <a:t>Lo que no existe en el 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932432"/>
            <a:ext cx="5431536" cy="4331208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194BFF"/>
                </a:solidFill>
                <a:latin typeface="Montserrat"/>
              </a:rPr>
              <a:t>Hay piezas sueltas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Observabilidad de LLM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Plataformas de gobierno y riesgo (GRC) de IA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Estándar de trazas OpenTelemetry GenAI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84632" y="1307592"/>
            <a:ext cx="11228832" cy="396240"/>
          </a:xfrm>
        </p:spPr>
        <p:txBody>
          <a:bodyPr anchor="t">
            <a:noAutofit/>
          </a:bodyPr>
          <a:lstStyle/>
          <a:p>
            <a:r>
              <a:rPr b="1"/>
              <a:t>Esto no es un producto. Es cómo se trabaja hoy con IA en una empresa regulada.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>
          <a:xfrm>
            <a:off x="6281928" y="1932432"/>
            <a:ext cx="5431536" cy="4331208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194BFF"/>
                </a:solidFill>
                <a:latin typeface="Montserrat"/>
              </a:rPr>
              <a:t>Nadie las une a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 b="1"/>
              <a:t>tu</a:t>
            </a:r>
            <a:r>
              <a:rPr sz="1800"/>
              <a:t> proceso de siniestros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 b="1"/>
              <a:t>tus</a:t>
            </a:r>
            <a:r>
              <a:rPr sz="1800"/>
              <a:t> reglas de negocio por ramo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 b="1"/>
              <a:t>tu</a:t>
            </a:r>
            <a:r>
              <a:rPr sz="1800"/>
              <a:t> contabilidad de costes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1E2588A-F550-C104-3508-8B4A403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7104888" cy="429768"/>
          </a:xfrm>
        </p:spPr>
        <p:txBody>
          <a:bodyPr wrap="none"/>
          <a:lstStyle/>
          <a:p>
            <a:r>
              <a:rPr sz="2600"/>
              <a:t>La solución: agentes pequeños y gobernados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  <p:sp>
        <p:nvSpPr>
          <p:cNvPr id="6" name="Pentagon 5"/>
          <p:cNvSpPr/>
          <p:nvPr/>
        </p:nvSpPr>
        <p:spPr>
          <a:xfrm>
            <a:off x="484632" y="2665475"/>
            <a:ext cx="2377440" cy="1188720"/>
          </a:xfrm>
          <a:prstGeom prst="homePlate">
            <a:avLst>
              <a:gd name="adj" fmla="val 32000"/>
            </a:avLst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274320" wrap="square"/>
          <a:lstStyle/>
          <a:p>
            <a:pPr algn="ctr"/>
            <a:r>
              <a:rPr sz="1800">
                <a:solidFill>
                  <a:srgbClr val="FFFFFF"/>
                </a:solidFill>
                <a:latin typeface="Roboto Slab"/>
              </a:rPr>
              <a:t>01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Multicanalidad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128515"/>
            <a:ext cx="1965960" cy="2089403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595959"/>
                </a:solidFill>
                <a:latin typeface="Montserrat Medium"/>
              </a:rPr>
              <a:t>recibe el aviso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" y="4037076"/>
            <a:ext cx="548640" cy="0"/>
          </a:xfrm>
          <a:prstGeom prst="line">
            <a:avLst/>
          </a:prstGeom>
          <a:ln w="31750">
            <a:solidFill>
              <a:srgbClr val="19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2697480" y="2665475"/>
            <a:ext cx="2377440" cy="1188720"/>
          </a:xfrm>
          <a:prstGeom prst="chevron">
            <a:avLst>
              <a:gd name="adj" fmla="val 32000"/>
            </a:avLst>
          </a:prstGeom>
          <a:solidFill>
            <a:srgbClr val="FF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74320" wrap="square"/>
          <a:lstStyle/>
          <a:p>
            <a:pPr algn="ctr"/>
            <a:r>
              <a:rPr sz="1800">
                <a:solidFill>
                  <a:srgbClr val="FFFFFF"/>
                </a:solidFill>
                <a:latin typeface="Roboto Slab"/>
              </a:rPr>
              <a:t>02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Clasificación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128515"/>
            <a:ext cx="1965960" cy="2089403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595959"/>
                </a:solidFill>
                <a:latin typeface="Montserrat Medium"/>
              </a:rPr>
              <a:t>ramo del siniestro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4037076"/>
            <a:ext cx="548640" cy="0"/>
          </a:xfrm>
          <a:prstGeom prst="line">
            <a:avLst/>
          </a:prstGeom>
          <a:ln w="3175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4910328" y="2665475"/>
            <a:ext cx="2377440" cy="1188720"/>
          </a:xfrm>
          <a:prstGeom prst="chevron">
            <a:avLst>
              <a:gd name="adj" fmla="val 32000"/>
            </a:avLst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74320" wrap="square"/>
          <a:lstStyle/>
          <a:p>
            <a:pPr algn="ctr"/>
            <a:r>
              <a:rPr sz="1800">
                <a:solidFill>
                  <a:srgbClr val="FFFFFF"/>
                </a:solidFill>
                <a:latin typeface="Roboto Slab"/>
              </a:rPr>
              <a:t>03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Extracción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4128515"/>
            <a:ext cx="1965960" cy="2089403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595959"/>
                </a:solidFill>
                <a:latin typeface="Montserrat Medium"/>
              </a:rPr>
              <a:t>datos del aviso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47488" y="4037076"/>
            <a:ext cx="548640" cy="0"/>
          </a:xfrm>
          <a:prstGeom prst="line">
            <a:avLst/>
          </a:prstGeom>
          <a:ln w="31750">
            <a:solidFill>
              <a:srgbClr val="19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7123176" y="2665475"/>
            <a:ext cx="2377440" cy="1188720"/>
          </a:xfrm>
          <a:prstGeom prst="chevron">
            <a:avLst>
              <a:gd name="adj" fmla="val 32000"/>
            </a:avLst>
          </a:prstGeom>
          <a:solidFill>
            <a:srgbClr val="FF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74320" wrap="square"/>
          <a:lstStyle/>
          <a:p>
            <a:pPr algn="ctr"/>
            <a:r>
              <a:rPr sz="1800">
                <a:solidFill>
                  <a:srgbClr val="FFFFFF"/>
                </a:solidFill>
                <a:latin typeface="Roboto Slab"/>
              </a:rPr>
              <a:t>04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Reglas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4128515"/>
            <a:ext cx="1965960" cy="2089403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595959"/>
                </a:solidFill>
                <a:latin typeface="Montserrat Medium"/>
              </a:rPr>
              <a:t>aplica la póliza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0336" y="4037076"/>
            <a:ext cx="548639" cy="0"/>
          </a:xfrm>
          <a:prstGeom prst="line">
            <a:avLst/>
          </a:prstGeom>
          <a:ln w="3175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9336024" y="2665475"/>
            <a:ext cx="2377440" cy="1188720"/>
          </a:xfrm>
          <a:prstGeom prst="chevron">
            <a:avLst>
              <a:gd name="adj" fmla="val 32000"/>
            </a:avLst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74320" wrap="square"/>
          <a:lstStyle/>
          <a:p>
            <a:pPr algn="ctr"/>
            <a:r>
              <a:rPr sz="1800">
                <a:solidFill>
                  <a:srgbClr val="FFFFFF"/>
                </a:solidFill>
                <a:latin typeface="Roboto Slab"/>
              </a:rPr>
              <a:t>05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Aprobado / A revisar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4128515"/>
            <a:ext cx="1965960" cy="2089403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595959"/>
                </a:solidFill>
                <a:latin typeface="Montserrat Medium"/>
              </a:rPr>
              <a:t>siempre decide un técnico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73184" y="4037076"/>
            <a:ext cx="548640" cy="0"/>
          </a:xfrm>
          <a:prstGeom prst="line">
            <a:avLst/>
          </a:prstGeom>
          <a:ln w="31750">
            <a:solidFill>
              <a:srgbClr val="19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772658" cy="429768"/>
          </a:xfrm>
        </p:spPr>
        <p:txBody>
          <a:bodyPr wrap="none"/>
          <a:lstStyle/>
          <a:p>
            <a:r>
              <a:rPr sz="2600"/>
              <a:t>Capa de gobierno: cada agente tiene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2237231"/>
            <a:ext cx="5861304" cy="4026408"/>
          </a:xfrm>
        </p:spPr>
        <p:txBody>
          <a:bodyPr anchor="t">
            <a:no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una sola función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su modelo y su versión de prompt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su nivel de autonomía (L0 Manual → L3 Autónomo)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un responsable y unos permisos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84632" y="1307592"/>
            <a:ext cx="5861304" cy="701040"/>
          </a:xfrm>
        </p:spPr>
        <p:txBody>
          <a:bodyPr anchor="t">
            <a:noAutofit/>
          </a:bodyPr>
          <a:lstStyle/>
          <a:p>
            <a:r>
              <a:rPr b="1"/>
              <a:t>Trazas · replay · autonomía · guardrails · FinOps · histórico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60987F2-4C3A-6B51-537F-52E468C11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823458" cy="429768"/>
          </a:xfrm>
        </p:spPr>
        <p:txBody>
          <a:bodyPr wrap="none"/>
          <a:lstStyle/>
          <a:p>
            <a:r>
              <a:rPr sz="2600"/>
              <a:t>Seis pilares, cada uno con su prueba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4632" y="1536192"/>
          <a:ext cx="11228830" cy="362864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843539"/>
                <a:gridCol w="3351890"/>
                <a:gridCol w="2849106"/>
                <a:gridCol w="3184295"/>
              </a:tblGrid>
              <a:tr h="3550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Pilar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194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Cómo se consigue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194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Norma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194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Dónde se ve en la demo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194B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Seguro por diseño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Guardrails, kill switch, identidad y permisos por agente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DORA · AI Act art. 15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Gobierno › Guardrails, Resumen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Compliance por defecto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Cada decisión deja una traza completa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AI Act art. 12 · RGPD art. 30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Gobierno › Trazabilidad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Auditable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Libro de registro con quién, qué y cuándo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EIOPA · AI Act art. 12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Gobierno › Histórico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Explicable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Regla + evidencia textual; Reasoning replay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RGPD art. 15 y 22 · AI Act art. 13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Ficha del mensaje · Reasoning &amp; Replay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Resiliente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Reintentos, fallback a motor local, degradación de modelo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DORA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Triaje (origen «fallback»), G-07, G-08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FinOps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Caps, coste por decisión, comparativa de modelos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Solvencia II (gobierno)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Gobierno › FinOps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photo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66928"/>
            <a:ext cx="6035040" cy="5683392"/>
          </a:xfrm>
          <a:prstGeom prst="rect">
            <a:avLst/>
          </a:prstGeom>
        </p:spPr>
      </p:pic>
      <p:sp>
        <p:nvSpPr>
          <p:cNvPr id="3" name="NUM"/>
          <p:cNvSpPr txBox="1"/>
          <p:nvPr/>
        </p:nvSpPr>
        <p:spPr>
          <a:xfrm>
            <a:off x="6720840" y="2331720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anchor="ctr" lIns="72000" rIns="72000" tIns="36000" bIns="36000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Roboto Slab"/>
              </a:rPr>
              <a:t>04</a:t>
            </a:r>
          </a:p>
        </p:txBody>
      </p:sp>
      <p:sp>
        <p:nvSpPr>
          <p:cNvPr id="4" name="REDTITLE"/>
          <p:cNvSpPr txBox="1"/>
          <p:nvPr/>
        </p:nvSpPr>
        <p:spPr>
          <a:xfrm>
            <a:off x="6720840" y="2788920"/>
            <a:ext cx="1925827" cy="546608"/>
          </a:xfrm>
          <a:prstGeom prst="rect">
            <a:avLst/>
          </a:prstGeom>
          <a:solidFill>
            <a:srgbClr val="FF1414"/>
          </a:solidFill>
        </p:spPr>
        <p:txBody>
          <a:bodyPr wrap="none" anchor="ctr" lIns="72000" rIns="72000" tIns="36000" bIns="36000">
            <a:noAutofit/>
          </a:bodyPr>
          <a:lstStyle/>
          <a:p>
            <a:r>
              <a:rPr sz="3200" b="0">
                <a:solidFill>
                  <a:srgbClr val="FFFFFF"/>
                </a:solidFill>
                <a:latin typeface="Roboto Slab"/>
              </a:rPr>
              <a:t>La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2469388" cy="429768"/>
          </a:xfrm>
        </p:spPr>
        <p:txBody>
          <a:bodyPr wrap="none"/>
          <a:lstStyle/>
          <a:p>
            <a:r>
              <a:rPr sz="2600"/>
              <a:t>Vamos a verlo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399032"/>
            <a:ext cx="5431536" cy="4864607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194BFF"/>
                </a:solidFill>
                <a:latin typeface="Montserrat"/>
              </a:rPr>
              <a:t>Triaje FNOL</a:t>
            </a: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sz="1800"/>
              <a:t>Lo que ve el tramitador</a:t>
            </a: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sz="1800"/>
              <a:t>¿Qué hace el sistema con cada aviso?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>
          <a:xfrm>
            <a:off x="6281928" y="1399032"/>
            <a:ext cx="5431536" cy="4864607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194BFF"/>
                </a:solidFill>
                <a:latin typeface="Montserrat"/>
              </a:rPr>
              <a:t>Gobierno de Agentes</a:t>
            </a: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sz="1800"/>
              <a:t>Lo que ven riesgos, auditoría y finanzas</a:t>
            </a: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sz="1800"/>
              <a:t>¿Podemos fiarnos, controlarlo y pagarlo?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1E2588A-F550-C104-3508-8B4A403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‹#›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599" y="2286000"/>
            <a:ext cx="2104390" cy="648000"/>
          </a:xfrm>
        </p:spPr>
        <p:txBody>
          <a:bodyPr wrap="none"/>
          <a:lstStyle/>
          <a:p>
            <a:r>
              <a:t>Gracias</a:t>
            </a:r>
          </a:p>
        </p:txBody>
      </p:sp>
      <p:pic>
        <p:nvPicPr>
          <p:cNvPr id="4" name="Picture 3" descr="hex_photo_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850392"/>
            <a:ext cx="5230368" cy="52112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 Logicalis Template March 2026">
  <a:themeElements>
    <a:clrScheme name="TDL New">
      <a:dk1>
        <a:srgbClr val="595959"/>
      </a:dk1>
      <a:lt1>
        <a:srgbClr val="FFFFFF"/>
      </a:lt1>
      <a:dk2>
        <a:srgbClr val="595959"/>
      </a:dk2>
      <a:lt2>
        <a:srgbClr val="E7E6E6"/>
      </a:lt2>
      <a:accent1>
        <a:srgbClr val="FF1414"/>
      </a:accent1>
      <a:accent2>
        <a:srgbClr val="595959"/>
      </a:accent2>
      <a:accent3>
        <a:srgbClr val="194BFF"/>
      </a:accent3>
      <a:accent4>
        <a:srgbClr val="00FFCD"/>
      </a:accent4>
      <a:accent5>
        <a:srgbClr val="E6E6E6"/>
      </a:accent5>
      <a:accent6>
        <a:srgbClr val="FF1414"/>
      </a:accent6>
      <a:hlink>
        <a:srgbClr val="595959"/>
      </a:hlink>
      <a:folHlink>
        <a:srgbClr val="A29791"/>
      </a:folHlink>
    </a:clrScheme>
    <a:fontScheme name="TDL NEW Font">
      <a:majorFont>
        <a:latin typeface="Roboto Slab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DL Template.pptx" id="{49FD070F-6C74-4054-BC33-4F4E7F43F796}" vid="{6D854CFD-DB59-4F78-BD86-5C43773322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1a385b-e1fe-4f98-ade6-787642576ba7">
      <Terms xmlns="http://schemas.microsoft.com/office/infopath/2007/PartnerControls"/>
    </lcf76f155ced4ddcb4097134ff3c332f>
    <TaxCatchAll xmlns="ec24e197-8a67-4a13-a14c-425853cf5e9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9F901A49CB064A9C4B1D391D24583D" ma:contentTypeVersion="15" ma:contentTypeDescription="Crear nuevo documento." ma:contentTypeScope="" ma:versionID="c01ca280964f438bf2e2e8c57f041e78">
  <xsd:schema xmlns:xsd="http://www.w3.org/2001/XMLSchema" xmlns:xs="http://www.w3.org/2001/XMLSchema" xmlns:p="http://schemas.microsoft.com/office/2006/metadata/properties" xmlns:ns2="bc1a385b-e1fe-4f98-ade6-787642576ba7" xmlns:ns3="ec24e197-8a67-4a13-a14c-425853cf5e9f" targetNamespace="http://schemas.microsoft.com/office/2006/metadata/properties" ma:root="true" ma:fieldsID="002b4cf6722f3fad18b0e6f8ed65e6e2" ns2:_="" ns3:_="">
    <xsd:import namespace="bc1a385b-e1fe-4f98-ade6-787642576ba7"/>
    <xsd:import namespace="ec24e197-8a67-4a13-a14c-425853cf5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a385b-e1fe-4f98-ade6-787642576b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10fce5ab-aaf9-49f9-a6ce-ac3a074a46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4e197-8a67-4a13-a14c-425853cf5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fef96e38-1bbd-4d0a-8955-62bde1cd75dc}" ma:internalName="TaxCatchAll" ma:showField="CatchAllData" ma:web="ec24e197-8a67-4a13-a14c-425853cf5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51A99C-5D78-4D91-A271-C92583798633}">
  <ds:schemaRefs>
    <ds:schemaRef ds:uri="00374ecc-2070-4092-9fe5-39fd256f32fa"/>
    <ds:schemaRef ds:uri="855624d1-d01b-4f83-bace-6500e8ccf5fa"/>
    <ds:schemaRef ds:uri="8f8613fd-76ad-4616-9480-8480cd4a82c0"/>
    <ds:schemaRef ds:uri="be03c1ba-b67e-4e31-8f38-9128da7a7d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F53B6D5-302C-4812-BDB4-23286F7EBC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107499-3C28-4C3E-9EDE-1BEF22709883}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PPT Logicalis Template March 2026</vt:lpstr>
      <vt:lpstr>Insert your</vt:lpstr>
      <vt:lpstr>Insert your</vt:lpstr>
      <vt:lpstr>Insert your</vt:lpstr>
      <vt:lpstr>Insert your</vt:lpstr>
      <vt:lpstr>Insert your</vt:lpstr>
      <vt:lpstr>Insert your</vt:lpstr>
      <vt:lpstr>Insert your</vt:lpstr>
      <vt:lpstr>Insert your</vt:lpstr>
      <vt:lpstr>Insert your</vt:lpstr>
      <vt:lpstr>Insert your</vt:lpstr>
      <vt:lpstr>Insert your</vt:lpstr>
      <vt:lpstr>Insert your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Icons</vt:lpstr>
      <vt:lpstr>Icons</vt:lpstr>
      <vt:lpstr>Icons</vt:lpstr>
      <vt:lpstr>Icons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FNOL con agentes gobernados</dc:title>
  <dc:creator>Ignacio Sánchez</dc:creator>
  <cp:revision>2</cp:revision>
  <dcterms:created xsi:type="dcterms:W3CDTF">2023-07-20T13:22:40Z</dcterms:created>
  <dcterms:modified xsi:type="dcterms:W3CDTF">2026-03-19T18:09:14Z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Sensitivity">
    <vt:lpwstr>Sensible</vt:lpwstr>
  </property>
  <property fmtid="{D5CDD505-2E9C-101B-9397-08002B2CF9AE}" pid="3" name="MSIP_Label_71e2662a-0625-4560-92a8-8decd38b51d5_Extended_MSFT_Method">
    <vt:lpwstr>Standard</vt:lpwstr>
  </property>
  <property fmtid="{D5CDD505-2E9C-101B-9397-08002B2CF9AE}" pid="4" name="ContentTypeId">
    <vt:lpwstr>0x010100C69F901A49CB064A9C4B1D391D24583D</vt:lpwstr>
  </property>
  <property fmtid="{D5CDD505-2E9C-101B-9397-08002B2CF9AE}" pid="5" name="MediaServiceImageTags">
    <vt:lpwstr/>
  </property>
  <property fmtid="{D5CDD505-2E9C-101B-9397-08002B2CF9AE}" pid="6" name="MSIP_Label_71e2662a-0625-4560-92a8-8decd38b51d5_Removed">
    <vt:lpwstr>False</vt:lpwstr>
  </property>
  <property fmtid="{D5CDD505-2E9C-101B-9397-08002B2CF9AE}" pid="7" name="MSIP_Label_71e2662a-0625-4560-92a8-8decd38b51d5_ActionId">
    <vt:lpwstr>1f16ca72-26c2-402d-98b3-c2cfda3bf25e</vt:lpwstr>
  </property>
  <property fmtid="{D5CDD505-2E9C-101B-9397-08002B2CF9AE}" pid="8" name="MSIP_Label_71e2662a-0625-4560-92a8-8decd38b51d5_Name">
    <vt:lpwstr>Sensible</vt:lpwstr>
  </property>
  <property fmtid="{D5CDD505-2E9C-101B-9397-08002B2CF9AE}" pid="9" name="MSIP_Label_71e2662a-0625-4560-92a8-8decd38b51d5_SetDate">
    <vt:lpwstr>2026-03-19T18:17:36Z</vt:lpwstr>
  </property>
  <property fmtid="{D5CDD505-2E9C-101B-9397-08002B2CF9AE}" pid="10" name="MSIP_Label_71e2662a-0625-4560-92a8-8decd38b51d5_SiteId">
    <vt:lpwstr>4b51496e-4cf2-4728-b551-2bdc71444141</vt:lpwstr>
  </property>
  <property fmtid="{D5CDD505-2E9C-101B-9397-08002B2CF9AE}" pid="11" name="MSIP_Label_71e2662a-0625-4560-92a8-8decd38b51d5_Enabled">
    <vt:lpwstr>True</vt:lpwstr>
  </property>
</Properties>
</file>