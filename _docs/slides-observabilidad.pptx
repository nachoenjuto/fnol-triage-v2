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65"/>
  </p:notesMasterIdLst>
  <p:sldIdLst>
    <p:sldId id="346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354" r:id="rId13"/>
    <p:sldId id="355" r:id="rId14"/>
    <p:sldId id="356" r:id="rId15"/>
    <p:sldId id="357" r:id="rId16"/>
    <p:sldId id="358" r:id="rId17"/>
    <p:sldId id="359" r:id="rId18"/>
    <p:sldId id="360" r:id="rId19"/>
    <p:sldId id="361" r:id="rId20"/>
    <p:sldId id="362" r:id="rId21"/>
    <p:sldId id="363" r:id="rId22"/>
    <p:sldId id="364" r:id="rId23"/>
    <p:sldId id="365" r:id="rId24"/>
    <p:sldId id="366" r:id="rId25"/>
    <p:sldId id="367" r:id="rId26"/>
    <p:sldId id="368" r:id="rId27"/>
    <p:sldId id="369" r:id="rId28"/>
    <p:sldId id="370" r:id="rId29"/>
    <p:sldId id="371" r:id="rId30"/>
    <p:sldId id="372" r:id="rId31"/>
    <p:sldId id="373" r:id="rId32"/>
    <p:sldId id="374" r:id="rId33"/>
    <p:sldId id="375" r:id="rId34"/>
    <p:sldId id="376" r:id="rId35"/>
    <p:sldId id="377" r:id="rId36"/>
    <p:sldId id="378" r:id="rId37"/>
    <p:sldId id="379" r:id="rId38"/>
    <p:sldId id="380" r:id="rId39"/>
    <p:sldId id="381" r:id="rId40"/>
    <p:sldId id="382" r:id="rId41"/>
    <p:sldId id="383" r:id="rId42"/>
    <p:sldId id="384" r:id="rId43"/>
    <p:sldId id="385" r:id="rId44"/>
    <p:sldId id="386" r:id="rId45"/>
    <p:sldId id="387" r:id="rId46"/>
    <p:sldId id="388" r:id="rId47"/>
    <p:sldId id="389" r:id="rId48"/>
    <p:sldId id="390" r:id="rId49"/>
    <p:sldId id="391" r:id="rId50"/>
    <p:sldId id="392" r:id="rId51"/>
    <p:sldId id="393" r:id="rId52"/>
    <p:sldId id="394" r:id="rId53"/>
    <p:sldId id="395" r:id="rId54"/>
    <p:sldId id="396" r:id="rId55"/>
    <p:sldId id="397" r:id="rId56"/>
    <p:sldId id="398" r:id="rId57"/>
    <p:sldId id="399" r:id="rId58"/>
    <p:sldId id="400" r:id="rId59"/>
    <p:sldId id="401" r:id="rId60"/>
    <p:sldId id="402" r:id="rId61"/>
    <p:sldId id="403" r:id="rId62"/>
    <p:sldId id="404" r:id="rId63"/>
    <p:sldId id="405" r:id="rId64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cons" id="{E57AE0B5-2D22-3B4E-900D-32E0443C9C6A}">
          <p14:sldIdLst>
            <p14:sldId id="346"/>
            <p14:sldId id="347"/>
          </p14:sldIdLst>
        </p14:section>
        <p14:section name="Covers" id="{89C6FF98-81ED-034E-9588-A48C8AA225D9}">
          <p14:sldIdLst/>
        </p14:section>
        <p14:section name="Dividers" id="{24B111D2-AE71-F24D-8B77-253923057E62}">
          <p14:sldIdLst/>
        </p14:section>
        <p14:section name="Text with icons" id="{F9C27FBD-AE21-4240-B0EB-4EB98191871A}">
          <p14:sldIdLst/>
        </p14:section>
        <p14:section name="Color background examples" id="{0DB13114-5B30-C94F-BB34-DD1C36B9759A}">
          <p14:sldIdLst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DFF"/>
    <a:srgbClr val="82C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6598"/>
  </p:normalViewPr>
  <p:slideViewPr>
    <p:cSldViewPr snapToGrid="0">
      <p:cViewPr varScale="1">
        <p:scale>
          <a:sx n="81" d="100"/>
          <a:sy n="81" d="100"/>
        </p:scale>
        <p:origin x="1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nacio Sánchez Enjuto" userId="c691bf97-6f4a-46de-97c8-063fd3f20c17" providerId="ADAL" clId="{2691E216-BC80-53A0-9A71-853C30BFFE25}"/>
    <pc:docChg chg="undo custSel modSld">
      <pc:chgData name="Ignacio Sánchez Enjuto" userId="c691bf97-6f4a-46de-97c8-063fd3f20c17" providerId="ADAL" clId="{2691E216-BC80-53A0-9A71-853C30BFFE25}" dt="2026-10-03T08:59:48.596" v="234" actId="1076"/>
      <pc:docMkLst>
        <pc:docMk/>
      </pc:docMkLst>
      <pc:sldChg chg="modSp mod">
        <pc:chgData name="Ignacio Sánchez Enjuto" userId="c691bf97-6f4a-46de-97c8-063fd3f20c17" providerId="ADAL" clId="{2691E216-BC80-53A0-9A71-853C30BFFE25}" dt="2026-10-02T15:39:03.025" v="8" actId="1038"/>
        <pc:sldMkLst>
          <pc:docMk/>
          <pc:sldMk cId="0" sldId="367"/>
        </pc:sldMkLst>
        <pc:spChg chg="mod">
          <ac:chgData name="Ignacio Sánchez Enjuto" userId="c691bf97-6f4a-46de-97c8-063fd3f20c17" providerId="ADAL" clId="{2691E216-BC80-53A0-9A71-853C30BFFE25}" dt="2026-10-02T15:38:55.676" v="2" actId="14100"/>
          <ac:spMkLst>
            <pc:docMk/>
            <pc:sldMk cId="0" sldId="367"/>
            <ac:spMk id="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39:03.025" v="8" actId="1038"/>
          <ac:spMkLst>
            <pc:docMk/>
            <pc:sldMk cId="0" sldId="367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15:39:03.025" v="8" actId="1038"/>
          <ac:spMkLst>
            <pc:docMk/>
            <pc:sldMk cId="0" sldId="367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39:03.025" v="8" actId="1038"/>
          <ac:picMkLst>
            <pc:docMk/>
            <pc:sldMk cId="0" sldId="367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39:11.782" v="16" actId="1038"/>
        <pc:sldMkLst>
          <pc:docMk/>
          <pc:sldMk cId="0" sldId="369"/>
        </pc:sldMkLst>
        <pc:spChg chg="mod">
          <ac:chgData name="Ignacio Sánchez Enjuto" userId="c691bf97-6f4a-46de-97c8-063fd3f20c17" providerId="ADAL" clId="{2691E216-BC80-53A0-9A71-853C30BFFE25}" dt="2026-10-02T15:38:45.377" v="0" actId="14100"/>
          <ac:spMkLst>
            <pc:docMk/>
            <pc:sldMk cId="0" sldId="369"/>
            <ac:spMk id="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39:11.782" v="16" actId="1038"/>
          <ac:spMkLst>
            <pc:docMk/>
            <pc:sldMk cId="0" sldId="369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2T15:39:11.782" v="16" actId="1038"/>
          <ac:spMkLst>
            <pc:docMk/>
            <pc:sldMk cId="0" sldId="369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2T15:39:11.782" v="16" actId="1038"/>
          <ac:picMkLst>
            <pc:docMk/>
            <pc:sldMk cId="0" sldId="369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39:27.590" v="18" actId="14100"/>
        <pc:sldMkLst>
          <pc:docMk/>
          <pc:sldMk cId="0" sldId="371"/>
        </pc:sldMkLst>
        <pc:picChg chg="mod">
          <ac:chgData name="Ignacio Sánchez Enjuto" userId="c691bf97-6f4a-46de-97c8-063fd3f20c17" providerId="ADAL" clId="{2691E216-BC80-53A0-9A71-853C30BFFE25}" dt="2026-10-02T15:39:27.590" v="18" actId="14100"/>
          <ac:picMkLst>
            <pc:docMk/>
            <pc:sldMk cId="0" sldId="371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42:38.364" v="122" actId="1038"/>
        <pc:sldMkLst>
          <pc:docMk/>
          <pc:sldMk cId="0" sldId="375"/>
        </pc:sldMkLst>
        <pc:spChg chg="mod">
          <ac:chgData name="Ignacio Sánchez Enjuto" userId="c691bf97-6f4a-46de-97c8-063fd3f20c17" providerId="ADAL" clId="{2691E216-BC80-53A0-9A71-853C30BFFE25}" dt="2026-10-02T15:39:54.876" v="49" actId="1038"/>
          <ac:spMkLst>
            <pc:docMk/>
            <pc:sldMk cId="0" sldId="375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3T08:42:38.364" v="122" actId="1038"/>
          <ac:spMkLst>
            <pc:docMk/>
            <pc:sldMk cId="0" sldId="375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3T08:42:38.364" v="122" actId="1038"/>
          <ac:picMkLst>
            <pc:docMk/>
            <pc:sldMk cId="0" sldId="375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42:54.694" v="125" actId="14100"/>
        <pc:sldMkLst>
          <pc:docMk/>
          <pc:sldMk cId="0" sldId="376"/>
        </pc:sldMkLst>
        <pc:picChg chg="mod">
          <ac:chgData name="Ignacio Sánchez Enjuto" userId="c691bf97-6f4a-46de-97c8-063fd3f20c17" providerId="ADAL" clId="{2691E216-BC80-53A0-9A71-853C30BFFE25}" dt="2026-10-03T08:42:54.694" v="125" actId="14100"/>
          <ac:picMkLst>
            <pc:docMk/>
            <pc:sldMk cId="0" sldId="376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42:47.977" v="124" actId="1076"/>
        <pc:sldMkLst>
          <pc:docMk/>
          <pc:sldMk cId="0" sldId="377"/>
        </pc:sldMkLst>
        <pc:picChg chg="mod">
          <ac:chgData name="Ignacio Sánchez Enjuto" userId="c691bf97-6f4a-46de-97c8-063fd3f20c17" providerId="ADAL" clId="{2691E216-BC80-53A0-9A71-853C30BFFE25}" dt="2026-10-03T08:42:47.977" v="124" actId="1076"/>
          <ac:picMkLst>
            <pc:docMk/>
            <pc:sldMk cId="0" sldId="377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7:50.478" v="135" actId="1035"/>
        <pc:sldMkLst>
          <pc:docMk/>
          <pc:sldMk cId="0" sldId="378"/>
        </pc:sldMkLst>
        <pc:spChg chg="mod">
          <ac:chgData name="Ignacio Sánchez Enjuto" userId="c691bf97-6f4a-46de-97c8-063fd3f20c17" providerId="ADAL" clId="{2691E216-BC80-53A0-9A71-853C30BFFE25}" dt="2026-10-02T15:39:54.511" v="46" actId="1038"/>
          <ac:spMkLst>
            <pc:docMk/>
            <pc:sldMk cId="0" sldId="378"/>
            <ac:spMk id="12" creationId="{F7F5D141-06D9-E279-7706-B8CF2C3BD053}"/>
          </ac:spMkLst>
        </pc:spChg>
        <pc:spChg chg="mod">
          <ac:chgData name="Ignacio Sánchez Enjuto" userId="c691bf97-6f4a-46de-97c8-063fd3f20c17" providerId="ADAL" clId="{2691E216-BC80-53A0-9A71-853C30BFFE25}" dt="2026-10-03T08:57:50.478" v="135" actId="1035"/>
          <ac:spMkLst>
            <pc:docMk/>
            <pc:sldMk cId="0" sldId="378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3T08:57:47.558" v="126" actId="14100"/>
          <ac:picMkLst>
            <pc:docMk/>
            <pc:sldMk cId="0" sldId="378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8:12.903" v="139" actId="1076"/>
        <pc:sldMkLst>
          <pc:docMk/>
          <pc:sldMk cId="0" sldId="381"/>
        </pc:sldMkLst>
        <pc:picChg chg="mod">
          <ac:chgData name="Ignacio Sánchez Enjuto" userId="c691bf97-6f4a-46de-97c8-063fd3f20c17" providerId="ADAL" clId="{2691E216-BC80-53A0-9A71-853C30BFFE25}" dt="2026-10-03T08:58:12.903" v="139" actId="1076"/>
          <ac:picMkLst>
            <pc:docMk/>
            <pc:sldMk cId="0" sldId="381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2T15:40:19.939" v="73" actId="1076"/>
        <pc:sldMkLst>
          <pc:docMk/>
          <pc:sldMk cId="0" sldId="383"/>
        </pc:sldMkLst>
        <pc:picChg chg="mod">
          <ac:chgData name="Ignacio Sánchez Enjuto" userId="c691bf97-6f4a-46de-97c8-063fd3f20c17" providerId="ADAL" clId="{2691E216-BC80-53A0-9A71-853C30BFFE25}" dt="2026-10-02T15:40:19.939" v="73" actId="1076"/>
          <ac:picMkLst>
            <pc:docMk/>
            <pc:sldMk cId="0" sldId="383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8:39.925" v="183" actId="1036"/>
        <pc:sldMkLst>
          <pc:docMk/>
          <pc:sldMk cId="0" sldId="384"/>
        </pc:sldMkLst>
        <pc:spChg chg="mod">
          <ac:chgData name="Ignacio Sánchez Enjuto" userId="c691bf97-6f4a-46de-97c8-063fd3f20c17" providerId="ADAL" clId="{2691E216-BC80-53A0-9A71-853C30BFFE25}" dt="2026-10-03T08:58:28.606" v="167" actId="14100"/>
          <ac:spMkLst>
            <pc:docMk/>
            <pc:sldMk cId="0" sldId="384"/>
            <ac:spMk id="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3T08:58:31.007" v="168" actId="14100"/>
          <ac:spMkLst>
            <pc:docMk/>
            <pc:sldMk cId="0" sldId="384"/>
            <ac:spMk id="4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2T15:40:27.871" v="87" actId="1038"/>
          <ac:spMkLst>
            <pc:docMk/>
            <pc:sldMk cId="0" sldId="384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3T08:58:39.925" v="183" actId="1036"/>
          <ac:picMkLst>
            <pc:docMk/>
            <pc:sldMk cId="0" sldId="384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8:59.417" v="225" actId="1037"/>
        <pc:sldMkLst>
          <pc:docMk/>
          <pc:sldMk cId="0" sldId="387"/>
        </pc:sldMkLst>
        <pc:spChg chg="mod">
          <ac:chgData name="Ignacio Sánchez Enjuto" userId="c691bf97-6f4a-46de-97c8-063fd3f20c17" providerId="ADAL" clId="{2691E216-BC80-53A0-9A71-853C30BFFE25}" dt="2026-10-03T08:58:47.357" v="205" actId="14100"/>
          <ac:spMkLst>
            <pc:docMk/>
            <pc:sldMk cId="0" sldId="387"/>
            <ac:spMk id="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3T08:58:57.140" v="209" actId="14100"/>
          <ac:spMkLst>
            <pc:docMk/>
            <pc:sldMk cId="0" sldId="387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3T08:58:59.417" v="225" actId="1037"/>
          <ac:picMkLst>
            <pc:docMk/>
            <pc:sldMk cId="0" sldId="387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9:07.457" v="227" actId="1076"/>
        <pc:sldMkLst>
          <pc:docMk/>
          <pc:sldMk cId="0" sldId="389"/>
        </pc:sldMkLst>
        <pc:picChg chg="mod">
          <ac:chgData name="Ignacio Sánchez Enjuto" userId="c691bf97-6f4a-46de-97c8-063fd3f20c17" providerId="ADAL" clId="{2691E216-BC80-53A0-9A71-853C30BFFE25}" dt="2026-10-03T08:59:07.457" v="227" actId="1076"/>
          <ac:picMkLst>
            <pc:docMk/>
            <pc:sldMk cId="0" sldId="389"/>
            <ac:picMk id="4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9:30.700" v="231" actId="14100"/>
        <pc:sldMkLst>
          <pc:docMk/>
          <pc:sldMk cId="0" sldId="392"/>
        </pc:sldMkLst>
        <pc:spChg chg="mod">
          <ac:chgData name="Ignacio Sánchez Enjuto" userId="c691bf97-6f4a-46de-97c8-063fd3f20c17" providerId="ADAL" clId="{2691E216-BC80-53A0-9A71-853C30BFFE25}" dt="2026-10-03T08:59:30.700" v="231" actId="14100"/>
          <ac:spMkLst>
            <pc:docMk/>
            <pc:sldMk cId="0" sldId="392"/>
            <ac:spMk id="3" creationId="{00000000-0000-0000-0000-000000000000}"/>
          </ac:spMkLst>
        </pc:spChg>
        <pc:spChg chg="mod">
          <ac:chgData name="Ignacio Sánchez Enjuto" userId="c691bf97-6f4a-46de-97c8-063fd3f20c17" providerId="ADAL" clId="{2691E216-BC80-53A0-9A71-853C30BFFE25}" dt="2026-10-03T08:59:25.218" v="229" actId="14100"/>
          <ac:spMkLst>
            <pc:docMk/>
            <pc:sldMk cId="0" sldId="392"/>
            <ac:spMk id="14" creationId="{00000000-0000-0000-0000-000000000000}"/>
          </ac:spMkLst>
        </pc:spChg>
        <pc:picChg chg="mod">
          <ac:chgData name="Ignacio Sánchez Enjuto" userId="c691bf97-6f4a-46de-97c8-063fd3f20c17" providerId="ADAL" clId="{2691E216-BC80-53A0-9A71-853C30BFFE25}" dt="2026-10-03T08:59:23.018" v="228" actId="1076"/>
          <ac:picMkLst>
            <pc:docMk/>
            <pc:sldMk cId="0" sldId="392"/>
            <ac:picMk id="13" creationId="{00000000-0000-0000-0000-000000000000}"/>
          </ac:picMkLst>
        </pc:picChg>
      </pc:sldChg>
      <pc:sldChg chg="modSp mod">
        <pc:chgData name="Ignacio Sánchez Enjuto" userId="c691bf97-6f4a-46de-97c8-063fd3f20c17" providerId="ADAL" clId="{2691E216-BC80-53A0-9A71-853C30BFFE25}" dt="2026-10-03T08:59:40.947" v="232" actId="14100"/>
        <pc:sldMkLst>
          <pc:docMk/>
          <pc:sldMk cId="0" sldId="395"/>
        </pc:sldMkLst>
        <pc:spChg chg="mod">
          <ac:chgData name="Ignacio Sánchez Enjuto" userId="c691bf97-6f4a-46de-97c8-063fd3f20c17" providerId="ADAL" clId="{2691E216-BC80-53A0-9A71-853C30BFFE25}" dt="2026-10-03T08:59:40.947" v="232" actId="14100"/>
          <ac:spMkLst>
            <pc:docMk/>
            <pc:sldMk cId="0" sldId="395"/>
            <ac:spMk id="3" creationId="{00000000-0000-0000-0000-000000000000}"/>
          </ac:spMkLst>
        </pc:spChg>
      </pc:sldChg>
      <pc:sldChg chg="modSp mod">
        <pc:chgData name="Ignacio Sánchez Enjuto" userId="c691bf97-6f4a-46de-97c8-063fd3f20c17" providerId="ADAL" clId="{2691E216-BC80-53A0-9A71-853C30BFFE25}" dt="2026-10-03T08:59:48.596" v="234" actId="1076"/>
        <pc:sldMkLst>
          <pc:docMk/>
          <pc:sldMk cId="0" sldId="398"/>
        </pc:sldMkLst>
        <pc:picChg chg="mod">
          <ac:chgData name="Ignacio Sánchez Enjuto" userId="c691bf97-6f4a-46de-97c8-063fd3f20c17" providerId="ADAL" clId="{2691E216-BC80-53A0-9A71-853C30BFFE25}" dt="2026-10-03T08:59:48.596" v="234" actId="1076"/>
          <ac:picMkLst>
            <pc:docMk/>
            <pc:sldMk cId="0" sldId="398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52698B-22EF-534E-B63D-BB6C0D4DFEA9}" type="datetimeFigureOut">
              <a:rPr lang="en-PT" smtClean="0"/>
              <a:t>10/2/26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7252E2-66E6-2846-853C-451ED1419F13}" type="slidenum">
              <a:rPr lang="en-PT" smtClean="0"/>
              <a:t>‹Nº›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95462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IA ya no es un experimento de un departamento. Casi nueve de cada diez organizaciones la usan en alguna función, y más de la mitad está probando agentes.</a:t>
            </a:r>
          </a:p>
          <a:p>
            <a:endParaRPr/>
          </a:p>
          <a:p>
            <a:r>
              <a:t>Y la tendencia va a más. Gartner calcula que en 2028:</a:t>
            </a:r>
          </a:p>
          <a:p>
            <a:endParaRPr/>
          </a:p>
          <a:p>
            <a:r>
              <a:t>- un tercio de las aplicaciones empresariales llevará agentes dentro;</a:t>
            </a:r>
          </a:p>
          <a:p>
            <a:r>
              <a:t>- y que el 15 % de las decisiones del día a día las tomará un agente sin intervención humana.</a:t>
            </a:r>
          </a:p>
          <a:p>
            <a:endParaRPr/>
          </a:p>
          <a:p>
            <a:r>
              <a:t>Eso cambia la naturaleza del problema. Un chatbot responde preguntas. Un agente decide y ejecuta acciones sobre sistemas reales: abre un expediente, aprueba una solicitud, modifica un pedido.</a:t>
            </a:r>
          </a:p>
          <a:p>
            <a:endParaRPr/>
          </a:p>
          <a:p>
            <a:r>
              <a:t>A remarcar: cuando la IA pasa de responder a decidir, la pregunta deja de ser si funciona y pasa a ser quién responde de lo que hace.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Datos </a:t>
            </a:r>
            <a:r>
              <a:rPr dirty="0" err="1"/>
              <a:t>complementarios</a:t>
            </a:r>
            <a:r>
              <a:rPr dirty="0"/>
              <a:t> (no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): solo un 39 % de las </a:t>
            </a:r>
            <a:r>
              <a:rPr dirty="0" err="1"/>
              <a:t>organizaciones</a:t>
            </a:r>
            <a:r>
              <a:rPr dirty="0"/>
              <a:t> </a:t>
            </a:r>
            <a:r>
              <a:rPr dirty="0" err="1"/>
              <a:t>ve</a:t>
            </a:r>
            <a:r>
              <a:rPr dirty="0"/>
              <a:t> </a:t>
            </a:r>
            <a:r>
              <a:rPr dirty="0" err="1"/>
              <a:t>algún</a:t>
            </a:r>
            <a:r>
              <a:rPr dirty="0"/>
              <a:t> </a:t>
            </a:r>
            <a:r>
              <a:rPr dirty="0" err="1"/>
              <a:t>impacto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el EBIT (McKinsey); un </a:t>
            </a:r>
            <a:r>
              <a:rPr dirty="0" err="1"/>
              <a:t>estudio</a:t>
            </a:r>
            <a:r>
              <a:rPr dirty="0"/>
              <a:t> del MIT </a:t>
            </a:r>
            <a:r>
              <a:rPr dirty="0" err="1"/>
              <a:t>sitúa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torno</a:t>
            </a:r>
            <a:r>
              <a:rPr dirty="0"/>
              <a:t> al 5 %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pilotos</a:t>
            </a:r>
            <a:r>
              <a:rPr dirty="0"/>
              <a:t> de IA </a:t>
            </a:r>
            <a:r>
              <a:rPr dirty="0" err="1"/>
              <a:t>generativa</a:t>
            </a:r>
            <a:r>
              <a:rPr dirty="0"/>
              <a:t> con </a:t>
            </a:r>
            <a:r>
              <a:rPr dirty="0" err="1"/>
              <a:t>impacto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ingresos</a:t>
            </a:r>
            <a:r>
              <a:rPr dirty="0"/>
              <a:t>;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seguros</a:t>
            </a:r>
            <a:r>
              <a:rPr dirty="0"/>
              <a:t>, </a:t>
            </a:r>
            <a:r>
              <a:rPr dirty="0" err="1"/>
              <a:t>más</a:t>
            </a:r>
            <a:r>
              <a:rPr dirty="0"/>
              <a:t> del 90 % de las </a:t>
            </a:r>
            <a:r>
              <a:rPr dirty="0" err="1"/>
              <a:t>aseguradoras</a:t>
            </a:r>
            <a:r>
              <a:rPr dirty="0"/>
              <a:t> </a:t>
            </a:r>
            <a:r>
              <a:rPr dirty="0" err="1"/>
              <a:t>evalúa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 y solo el 22 % la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 (Conning).</a:t>
            </a:r>
          </a:p>
          <a:p>
            <a:endParaRPr dirty="0"/>
          </a:p>
          <a:p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la </a:t>
            </a:r>
            <a:r>
              <a:rPr dirty="0" err="1"/>
              <a:t>paradoja</a:t>
            </a:r>
            <a:r>
              <a:rPr dirty="0"/>
              <a:t>. Mucha </a:t>
            </a:r>
            <a:r>
              <a:rPr dirty="0" err="1"/>
              <a:t>experimentación</a:t>
            </a:r>
            <a:r>
              <a:rPr dirty="0"/>
              <a:t> y </a:t>
            </a:r>
            <a:r>
              <a:rPr dirty="0" err="1"/>
              <a:t>muy</a:t>
            </a:r>
            <a:r>
              <a:rPr dirty="0"/>
              <a:t> </a:t>
            </a:r>
            <a:r>
              <a:rPr dirty="0" err="1"/>
              <a:t>poca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- Seis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diez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experimentan</a:t>
            </a:r>
            <a:r>
              <a:rPr dirty="0"/>
              <a:t> con </a:t>
            </a:r>
            <a:r>
              <a:rPr dirty="0" err="1"/>
              <a:t>agentes</a:t>
            </a:r>
            <a:r>
              <a:rPr dirty="0"/>
              <a:t>.</a:t>
            </a:r>
          </a:p>
          <a:p>
            <a:r>
              <a:rPr dirty="0"/>
              <a:t>- Solo </a:t>
            </a:r>
            <a:r>
              <a:rPr dirty="0" err="1"/>
              <a:t>una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cuatro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escalando</a:t>
            </a:r>
            <a:r>
              <a:rPr dirty="0"/>
              <a:t>, y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ninguna</a:t>
            </a:r>
            <a:r>
              <a:rPr dirty="0"/>
              <a:t> </a:t>
            </a:r>
            <a:r>
              <a:rPr dirty="0" err="1"/>
              <a:t>función</a:t>
            </a:r>
            <a:r>
              <a:rPr dirty="0"/>
              <a:t> </a:t>
            </a:r>
            <a:r>
              <a:rPr dirty="0" err="1"/>
              <a:t>concreta</a:t>
            </a:r>
            <a:r>
              <a:rPr dirty="0"/>
              <a:t> </a:t>
            </a:r>
            <a:r>
              <a:rPr dirty="0" err="1"/>
              <a:t>pasa</a:t>
            </a:r>
            <a:r>
              <a:rPr dirty="0"/>
              <a:t> del 10 %.</a:t>
            </a:r>
          </a:p>
          <a:p>
            <a:r>
              <a:rPr dirty="0"/>
              <a:t>- Gartner </a:t>
            </a:r>
            <a:r>
              <a:rPr dirty="0" err="1"/>
              <a:t>prevé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del 40 %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proyectos</a:t>
            </a:r>
            <a:r>
              <a:rPr dirty="0"/>
              <a:t> </a:t>
            </a:r>
            <a:r>
              <a:rPr dirty="0" err="1"/>
              <a:t>agénticos</a:t>
            </a:r>
            <a:r>
              <a:rPr dirty="0"/>
              <a:t> se </a:t>
            </a:r>
            <a:r>
              <a:rPr dirty="0" err="1"/>
              <a:t>cancelarán</a:t>
            </a:r>
            <a:r>
              <a:rPr dirty="0"/>
              <a:t> antes de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acabe</a:t>
            </a:r>
            <a:r>
              <a:rPr dirty="0"/>
              <a:t> 2027.</a:t>
            </a:r>
          </a:p>
          <a:p>
            <a:endParaRPr dirty="0"/>
          </a:p>
          <a:p>
            <a:r>
              <a:rPr dirty="0" err="1"/>
              <a:t>Fijaos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las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causas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da Gartner: </a:t>
            </a:r>
            <a:r>
              <a:rPr dirty="0" err="1"/>
              <a:t>costes</a:t>
            </a:r>
            <a:r>
              <a:rPr dirty="0"/>
              <a:t>, valor poco claro y </a:t>
            </a:r>
            <a:r>
              <a:rPr dirty="0" err="1"/>
              <a:t>controles</a:t>
            </a:r>
            <a:r>
              <a:rPr dirty="0"/>
              <a:t> de </a:t>
            </a:r>
            <a:r>
              <a:rPr dirty="0" err="1"/>
              <a:t>riesgo</a:t>
            </a:r>
            <a:r>
              <a:rPr dirty="0"/>
              <a:t> </a:t>
            </a:r>
            <a:r>
              <a:rPr dirty="0" err="1"/>
              <a:t>insuficientes</a:t>
            </a:r>
            <a:r>
              <a:rPr dirty="0"/>
              <a:t>. </a:t>
            </a:r>
            <a:r>
              <a:rPr dirty="0" err="1"/>
              <a:t>Ninguna</a:t>
            </a:r>
            <a:r>
              <a:rPr dirty="0"/>
              <a:t> es </a:t>
            </a:r>
            <a:r>
              <a:rPr dirty="0" err="1"/>
              <a:t>que</a:t>
            </a:r>
            <a:r>
              <a:rPr dirty="0"/>
              <a:t> el </a:t>
            </a:r>
            <a:r>
              <a:rPr dirty="0" err="1"/>
              <a:t>modelo</a:t>
            </a:r>
            <a:r>
              <a:rPr dirty="0"/>
              <a:t> no sea lo </a:t>
            </a:r>
            <a:r>
              <a:rPr dirty="0" err="1"/>
              <a:t>bastante</a:t>
            </a:r>
            <a:r>
              <a:rPr dirty="0"/>
              <a:t> bueno.</a:t>
            </a:r>
          </a:p>
          <a:p>
            <a:endParaRPr dirty="0"/>
          </a:p>
          <a:p>
            <a:r>
              <a:rPr dirty="0"/>
              <a:t>En </a:t>
            </a:r>
            <a:r>
              <a:rPr dirty="0" err="1"/>
              <a:t>seguros</a:t>
            </a:r>
            <a:r>
              <a:rPr dirty="0"/>
              <a:t>, </a:t>
            </a:r>
            <a:r>
              <a:rPr dirty="0" err="1"/>
              <a:t>que</a:t>
            </a:r>
            <a:r>
              <a:rPr dirty="0"/>
              <a:t> es el sector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ejemplos</a:t>
            </a:r>
            <a:r>
              <a:rPr dirty="0"/>
              <a:t> de hoy, </a:t>
            </a:r>
            <a:r>
              <a:rPr dirty="0" err="1"/>
              <a:t>pasa</a:t>
            </a:r>
            <a:r>
              <a:rPr dirty="0"/>
              <a:t> lo </a:t>
            </a:r>
            <a:r>
              <a:rPr dirty="0" err="1"/>
              <a:t>mismo</a:t>
            </a:r>
            <a:r>
              <a:rPr dirty="0"/>
              <a:t>: </a:t>
            </a:r>
            <a:r>
              <a:rPr dirty="0" err="1"/>
              <a:t>casi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las </a:t>
            </a:r>
            <a:r>
              <a:rPr dirty="0" err="1"/>
              <a:t>aseguradoras</a:t>
            </a:r>
            <a:r>
              <a:rPr dirty="0"/>
              <a:t> </a:t>
            </a:r>
            <a:r>
              <a:rPr dirty="0" err="1"/>
              <a:t>evalúan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 y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cinco</a:t>
            </a:r>
            <a:r>
              <a:rPr dirty="0"/>
              <a:t> la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producción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remarcar</a:t>
            </a:r>
            <a:r>
              <a:rPr dirty="0"/>
              <a:t>: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proyectos</a:t>
            </a:r>
            <a:r>
              <a:rPr dirty="0"/>
              <a:t> no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IA </a:t>
            </a:r>
            <a:r>
              <a:rPr dirty="0" err="1"/>
              <a:t>falle</a:t>
            </a:r>
            <a:r>
              <a:rPr dirty="0"/>
              <a:t>; </a:t>
            </a:r>
            <a:r>
              <a:rPr dirty="0" err="1"/>
              <a:t>mueren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nadie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demostrar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bajo control </a:t>
            </a:r>
            <a:r>
              <a:rPr dirty="0" err="1"/>
              <a:t>ni</a:t>
            </a:r>
            <a:r>
              <a:rPr dirty="0"/>
              <a:t> </a:t>
            </a:r>
            <a:r>
              <a:rPr dirty="0" err="1"/>
              <a:t>cuánto</a:t>
            </a:r>
            <a:r>
              <a:rPr dirty="0"/>
              <a:t> cuesta.</a:t>
            </a:r>
          </a:p>
          <a:p>
            <a:endParaRPr dirty="0"/>
          </a:p>
          <a:p>
            <a:r>
              <a:rPr dirty="0"/>
              <a:t>Nota interna: la </a:t>
            </a:r>
            <a:r>
              <a:rPr dirty="0" err="1"/>
              <a:t>cifra</a:t>
            </a:r>
            <a:r>
              <a:rPr dirty="0"/>
              <a:t> del MIT es </a:t>
            </a:r>
            <a:r>
              <a:rPr dirty="0" err="1"/>
              <a:t>polémica</a:t>
            </a:r>
            <a:r>
              <a:rPr dirty="0"/>
              <a:t> (</a:t>
            </a:r>
            <a:r>
              <a:rPr dirty="0" err="1"/>
              <a:t>muestra</a:t>
            </a:r>
            <a:r>
              <a:rPr dirty="0"/>
              <a:t> </a:t>
            </a:r>
            <a:r>
              <a:rPr dirty="0" err="1"/>
              <a:t>pequeña</a:t>
            </a:r>
            <a:r>
              <a:rPr dirty="0"/>
              <a:t> y </a:t>
            </a:r>
            <a:r>
              <a:rPr dirty="0" err="1"/>
              <a:t>metodología</a:t>
            </a:r>
            <a:r>
              <a:rPr dirty="0"/>
              <a:t> </a:t>
            </a:r>
            <a:r>
              <a:rPr dirty="0" err="1"/>
              <a:t>discutida</a:t>
            </a:r>
            <a:r>
              <a:rPr dirty="0"/>
              <a:t>). </a:t>
            </a:r>
            <a:r>
              <a:rPr dirty="0" err="1"/>
              <a:t>Usarla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dato</a:t>
            </a:r>
            <a:r>
              <a:rPr dirty="0"/>
              <a:t> </a:t>
            </a:r>
            <a:r>
              <a:rPr dirty="0" err="1"/>
              <a:t>complementario</a:t>
            </a:r>
            <a:r>
              <a:rPr dirty="0"/>
              <a:t>, no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argumento</a:t>
            </a:r>
            <a:r>
              <a:rPr dirty="0"/>
              <a:t>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Cuando un proyecto de agentes llega al comité de riesgos, o al CFO, siempre aparecen las mismas preguntas:</a:t>
            </a:r>
          </a:p>
          <a:p>
            <a:endParaRPr/>
          </a:p>
          <a:p>
            <a:r>
              <a:t>- ¿Por qué decidió eso el agente?</a:t>
            </a:r>
          </a:p>
          <a:p>
            <a:r>
              <a:t>- ¿Quién lo controla y quién responde si se equivoca?</a:t>
            </a:r>
          </a:p>
          <a:p>
            <a:r>
              <a:t>- ¿Cuánto cuesta cada decisión?</a:t>
            </a:r>
          </a:p>
          <a:p>
            <a:r>
              <a:t>- ¿Cómo sé que hoy funciona igual de bien que el día que lo aprobamos?</a:t>
            </a:r>
          </a:p>
          <a:p>
            <a:endParaRPr/>
          </a:p>
          <a:p>
            <a:r>
              <a:t>Si no hay respuesta a estas cuatro preguntas, el proyecto no pasa a producción. Y si pasa, es un riesgo.</a:t>
            </a:r>
          </a:p>
          <a:p>
            <a:endParaRPr/>
          </a:p>
          <a:p>
            <a:r>
              <a:t>Estas cuatro preguntas son el hilo de toda la presentación. Cada capacidad que veremos después responde a una o varias de ellas.</a:t>
            </a:r>
          </a:p>
          <a:p>
            <a:endParaRPr/>
          </a:p>
          <a:p>
            <a:r>
              <a:t>A remarcar: la cuarta pregunta es la más olvidada y la que más diferencia a un agente del software tradicional.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 el software de siempre, si nadie despliega código nuevo, el sistema se comporta igual. Un agente no.</a:t>
            </a:r>
          </a:p>
          <a:p>
            <a:endParaRPr/>
          </a:p>
          <a:p>
            <a:r>
              <a:t>Su comportamiento puede cambiar por cuatro motivos sin que nadie toque el código:</a:t>
            </a:r>
          </a:p>
          <a:p>
            <a:endParaRPr/>
          </a:p>
          <a:p>
            <a:r>
              <a:t>- el proveedor actualiza el modelo;</a:t>
            </a:r>
          </a:p>
          <a:p>
            <a:r>
              <a:t>- cambia la documentación o el conocimiento que consulta;</a:t>
            </a:r>
          </a:p>
          <a:p>
            <a:r>
              <a:t>- alguien ajusta un prompt o una regla;</a:t>
            </a:r>
          </a:p>
          <a:p>
            <a:r>
              <a:t>- o simplemente llegan casos nuevos, escritos de otra forma.</a:t>
            </a:r>
          </a:p>
          <a:p>
            <a:endParaRPr/>
          </a:p>
          <a:p>
            <a:r>
              <a:t>Además, cuando un agente se equivoca no lanza una excepción. Da una respuesta que parece correcta. Por eso no basta con vigilar si el sistema está caído o no.</a:t>
            </a:r>
          </a:p>
          <a:p>
            <a:endParaRPr/>
          </a:p>
          <a:p>
            <a:r>
              <a:t>A remarcar: el error de un agente no se ve; hay que buscarlo. Y eso exige otra forma de observar.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agentes traen riesgos que los equipos de TI no tenían en su mapa:</a:t>
            </a:r>
          </a:p>
          <a:p>
            <a:endParaRPr/>
          </a:p>
          <a:p>
            <a:r>
              <a:t>- El modelo puede inventar un dato para completar una respuesta.</a:t>
            </a:r>
          </a:p>
          <a:p>
            <a:r>
              <a:t>- La calidad puede degradarse poco a poco, sin un fallo evidente.</a:t>
            </a:r>
          </a:p>
          <a:p>
            <a:r>
              <a:t>- El coste puede dispararse: un agente que razona demasiado, o que entra en un bucle de reintentos.</a:t>
            </a:r>
          </a:p>
          <a:p>
            <a:r>
              <a:t>- Un agente con permisos de más es una puerta abierta.</a:t>
            </a:r>
          </a:p>
          <a:p>
            <a:r>
              <a:t>- Un texto de entrada puede llevar instrucciones escondidas para manipular al agente.</a:t>
            </a:r>
          </a:p>
          <a:p>
            <a:r>
              <a:t>- Y el modelo es un servicio de un tercero, con su disponibilidad y sus cambios de versión.</a:t>
            </a:r>
          </a:p>
          <a:p>
            <a:endParaRPr/>
          </a:p>
          <a:p>
            <a:r>
              <a:t>Ninguno de estos riesgos se detecta mirando solo la CPU, la memoria o los errores HTTP.</a:t>
            </a:r>
          </a:p>
          <a:p>
            <a:endParaRPr/>
          </a:p>
          <a:p>
            <a:r>
              <a:t>A remarcar: cada uno de estos riesgos tiene una capacidad de gobierno que lo mitiga; las veremos en el bloque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Monitorizar es saber si el sistema está vivo: si responde, cuánto tarda, si da errores. Es necesario, pero en un agente no es suficiente.</a:t>
            </a:r>
          </a:p>
          <a:p>
            <a:endParaRPr/>
          </a:p>
          <a:p>
            <a:r>
              <a:t>Observar un agente es poder reconstruir por qué tomó una decisión:</a:t>
            </a:r>
          </a:p>
          <a:p>
            <a:endParaRPr/>
          </a:p>
          <a:p>
            <a:r>
              <a:t>- qué entendió;</a:t>
            </a:r>
          </a:p>
          <a:p>
            <a:r>
              <a:t>- qué información consultó;</a:t>
            </a:r>
          </a:p>
          <a:p>
            <a:r>
              <a:t>- qué reglas aplicó;</a:t>
            </a:r>
          </a:p>
          <a:p>
            <a:r>
              <a:t>- qué opciones descartó.</a:t>
            </a:r>
          </a:p>
          <a:p>
            <a:endParaRPr/>
          </a:p>
          <a:p>
            <a:r>
              <a:t>Y eso no lo da un log técnico. Hay que diseñarlo desde el principio, como parte del agente.</a:t>
            </a:r>
          </a:p>
          <a:p>
            <a:endParaRPr/>
          </a:p>
          <a:p>
            <a:r>
              <a:t>A remarcar: si la observabilidad no se diseña desde el primer día, después no se puede reconstruir el porqué de una decisión pasada.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 habitual pensar que el AI Act es lo único que aplica y que todavía queda lejos. No es así.</a:t>
            </a:r>
          </a:p>
          <a:p>
            <a:endParaRPr/>
          </a:p>
          <a:p>
            <a:r>
              <a:t>Hoy ya obligan:</a:t>
            </a:r>
          </a:p>
          <a:p>
            <a:endParaRPr/>
          </a:p>
          <a:p>
            <a:r>
              <a:t>- el RGPD, con el derecho a no ser objeto de decisiones solo automatizadas y el derecho a una explicación;</a:t>
            </a:r>
          </a:p>
          <a:p>
            <a:r>
              <a:t>- DORA y NIS2, que tratan al proveedor del modelo como un tercero crítico;</a:t>
            </a:r>
          </a:p>
          <a:p>
            <a:r>
              <a:t>- y los supervisores sectoriales, como EIOPA en seguros.</a:t>
            </a:r>
          </a:p>
          <a:p>
            <a:endParaRPr/>
          </a:p>
          <a:p>
            <a:r>
              <a:t>Un matiz importante del Tribunal de Justicia de la UE: una persona que firma sin revisar no cuenta como supervisión humana. La supervisión tiene que ser real.</a:t>
            </a:r>
          </a:p>
          <a:p>
            <a:endParaRPr/>
          </a:p>
          <a:p>
            <a:r>
              <a:t>Lo que llega con el AI Act para los sistemas de alto riesgo, a partir de diciembre de 2027, es justo lo que vamos a ver: registro de eventos, transparencia, supervisión humana y robustez.</a:t>
            </a:r>
          </a:p>
          <a:p>
            <a:endParaRPr/>
          </a:p>
          <a:p>
            <a:r>
              <a:t>A remarcar:</a:t>
            </a:r>
          </a:p>
          <a:p>
            <a:endParaRPr/>
          </a:p>
          <a:p>
            <a:r>
              <a:t>- No todos los agentes son de alto riesgo; depende del uso. Pero quien construya hoy sin gobierno lo tendrá que rehacer en 2027.</a:t>
            </a:r>
          </a:p>
          <a:p>
            <a:r>
              <a:t>- No decir que el AI Act obliga hoy a todo esto: la obligación de hoy viene del RGPD, DORA, NIS2 y los supervisores sectoriales.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Antes de entrar en las capacidades, conviene fijar el objetivo. Queremos que cada agente en producción sea:</a:t>
            </a:r>
          </a:p>
          <a:p>
            <a:endParaRPr/>
          </a:p>
          <a:p>
            <a:r>
              <a:t>- fiable, porque funciona de forma estable;</a:t>
            </a:r>
          </a:p>
          <a:p>
            <a:r>
              <a:t>- medible, porque sabemos qué aporta al negocio;</a:t>
            </a:r>
          </a:p>
          <a:p>
            <a:r>
              <a:t>- auditable, porque podemos reconstruir cualquier decisión;</a:t>
            </a:r>
          </a:p>
          <a:p>
            <a:r>
              <a:t>- gobernable, porque controlamos cuánta libertad tiene;</a:t>
            </a:r>
          </a:p>
          <a:p>
            <a:r>
              <a:t>- y evolutivo, porque mejora con datos y no con intuiciones.</a:t>
            </a:r>
          </a:p>
          <a:p>
            <a:endParaRPr/>
          </a:p>
          <a:p>
            <a:r>
              <a:t>A remarcar: desplegar un agente es fácil; operarlo como un sistema crítico de la empresa es lo difícil.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arquitectura que proponemos tiene tres capas.</a:t>
            </a:r>
          </a:p>
          <a:p>
            <a:endParaRPr/>
          </a:p>
          <a:p>
            <a:r>
              <a:t>Arriba, agentes pequeños y especializados. En el ejemplo de seguros son cuatro: uno recibe los mensajes, otro los clasifica, otro extrae los datos y otro aplica las reglas de negocio. Cada uno tiene su modelo, su prompt y sus propios límites.</a:t>
            </a:r>
          </a:p>
          <a:p>
            <a:endParaRPr/>
          </a:p>
          <a:p>
            <a:r>
              <a:t>En medio, una capa de gobierno común a todos los agentes. Es la que da las trazas, el replay, la autonomía, los guardrails, el control de costes y el histórico.</a:t>
            </a:r>
          </a:p>
          <a:p>
            <a:endParaRPr/>
          </a:p>
          <a:p>
            <a:r>
              <a:t>Abajo, la instrumentación. Usamos OpenTelemetry, que es el estándar abierto, para generar los datos. Así las herramientas de observabilidad solo consumen esos datos, y se pueden cambiar sin tocar el agente.</a:t>
            </a:r>
          </a:p>
          <a:p>
            <a:endParaRPr/>
          </a:p>
          <a:p>
            <a:r>
              <a:t>A remarcar: no es una IA que lo hace todo; son especialistas con límites claros sobre una capa de gobierno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perfil de la empresa necesita mirar al agente desde un ángulo distinto. Por eso organizamos la observabilidad en tres niveles.</a:t>
            </a:r>
          </a:p>
          <a:p>
            <a:endParaRPr/>
          </a:p>
          <a:p>
            <a:r>
              <a:t>- El técnico responde a si el sistema funciona.</a:t>
            </a:r>
          </a:p>
          <a:p>
            <a:r>
              <a:t>- El operativo responde a si el agente aporta valor al negocio.</a:t>
            </a:r>
          </a:p>
          <a:p>
            <a:r>
              <a:t>- El cognitivo responde a si el agente decide bien y por qué.</a:t>
            </a:r>
          </a:p>
          <a:p>
            <a:endParaRPr/>
          </a:p>
          <a:p>
            <a:r>
              <a:t>La clave es que los tres niveles comparten el mismo identificador de traza. Por ejemplo: vemos que la latencia sube, comprobamos que eso ha hecho crecer los escalados a personas y encontramos la causa en el razonamiento de un agente concreto.</a:t>
            </a:r>
          </a:p>
          <a:p>
            <a:endParaRPr/>
          </a:p>
          <a:p>
            <a:r>
              <a:t>A remarcar: tres vistas, un solo dato de origen; nada de tres herramientas que no se hablan.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mapa del bloque. Agrupamos las capacidades en cinco verbos:</a:t>
            </a:r>
          </a:p>
          <a:p>
            <a:endParaRPr/>
          </a:p>
          <a:p>
            <a:r>
              <a:t>- ver lo que pasa;</a:t>
            </a:r>
          </a:p>
          <a:p>
            <a:r>
              <a:t>- entender por qué pasa;</a:t>
            </a:r>
          </a:p>
          <a:p>
            <a:r>
              <a:t>- limitar lo que el agente puede hacer solo;</a:t>
            </a:r>
          </a:p>
          <a:p>
            <a:r>
              <a:t>- pagar solo lo que tiene sentido pagar;</a:t>
            </a:r>
          </a:p>
          <a:p>
            <a:r>
              <a:t>- y auditar todo lo anterior.</a:t>
            </a:r>
          </a:p>
          <a:p>
            <a:endParaRPr/>
          </a:p>
          <a:p>
            <a:r>
              <a:t>Lo que vais a ver a continuación son capturas de una plataforma de gobierno que hemos construido sobre un caso de seguros: el triaje de avisos de siniestro con cuatro agentes. Pero todas las capacidades son las mismas para cualquier proceso.</a:t>
            </a:r>
          </a:p>
          <a:p>
            <a:endParaRPr/>
          </a:p>
          <a:p>
            <a:r>
              <a:t>A remarcar: cada capacidad responde a una de las cuatro preguntas del principio.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primera pantalla, pensada para dirección.</a:t>
            </a:r>
          </a:p>
          <a:p>
            <a:endParaRPr/>
          </a:p>
          <a:p>
            <a:r>
              <a:t>En la fila de arriba están los indicadores clave. En el ejemplo: el 81 % de las decisiones se toman sin intervención humana, el 19 % se escalan a una persona, y las personas corrigen al agente en el 2,1 % de los casos, por debajo del objetivo del 3 %.</a:t>
            </a:r>
          </a:p>
          <a:p>
            <a:endParaRPr/>
          </a:p>
          <a:p>
            <a:r>
              <a:t>Debajo, cada agente con su modelo, su versión de prompt, su nivel de autonomía y su coste del día. Fijaos en el agente de Reglas: aparece como degradado porque ha superado su límite de coste diario y el sistema lo ha pasado automáticamente a un modelo más barato.</a:t>
            </a:r>
          </a:p>
          <a:p>
            <a:endParaRPr/>
          </a:p>
          <a:p>
            <a:r>
              <a:t>A remarcar: no hace falta ser técnico para leer esta pantalla; está pensada para quien tiene que decidir.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la fila de KPIs (81 % de autonomía, 2,1 % de overrides) y la tarjeta del agente de Reglas, marcada como degradada por superar su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es la auditoría mensaje a mensaje.</a:t>
            </a:r>
          </a:p>
          <a:p>
            <a:endParaRPr/>
          </a:p>
          <a:p>
            <a:r>
              <a:t>A la izquierda vemos la cadena de agentes en cascada: cuánto tardó cada uno, con qué modelo y cuántos tokens consumió. A la derecha, los datos de la traza: canal, confianza, guardrail disparado, versiones de cada agente y coste total.</a:t>
            </a:r>
          </a:p>
          <a:p>
            <a:endParaRPr/>
          </a:p>
          <a:p>
            <a:r>
              <a:t>En este caso hay algo más: una persona corrigió la decisión del agente. Queda registrado quién lo hizo, cuándo y por qué. Y el motivo es interesante: el agente no tenía acceso a un dato que sí estaba en el sistema de pólizas. Eso no es un error del modelo, es una mejora de integración pendiente.</a:t>
            </a:r>
          </a:p>
          <a:p>
            <a:endParaRPr/>
          </a:p>
          <a:p>
            <a:r>
              <a:t>A remarcar: con un solo identificador se responde a la pregunta «¿qué pasó con este caso, quién decidió y cuánto costó?».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la cascada (tiempo, modelo y tokens por agente) y el recuadro del override: quién corrigió, cuándo y por 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explicabilidad no consiste en enseñar el log. Consiste en contar, en lenguaje de negocio, qué pasó.</a:t>
            </a:r>
          </a:p>
          <a:p>
            <a:endParaRPr/>
          </a:p>
          <a:p>
            <a:r>
              <a:t>En esta ficha se lee de arriba abajo:</a:t>
            </a:r>
          </a:p>
          <a:p>
            <a:endParaRPr/>
          </a:p>
          <a:p>
            <a:r>
              <a:t>- qué llegó: un mensaje por WhatsApp diciendo que han entrado a robar en casa;</a:t>
            </a:r>
          </a:p>
          <a:p>
            <a:r>
              <a:t>- qué hizo cada agente: lo clasificó como Hogar, extrajo los datos sin inventar ninguno y detectó que faltaban cuatro;</a:t>
            </a:r>
          </a:p>
          <a:p>
            <a:r>
              <a:t>- qué se decidió: revisión por una persona, porque falta información esencial;</a:t>
            </a:r>
          </a:p>
          <a:p>
            <a:r>
              <a:t>- y qué guardrail lo provocó.</a:t>
            </a:r>
          </a:p>
          <a:p>
            <a:endParaRPr/>
          </a:p>
          <a:p>
            <a:r>
              <a:t>Esto es lo que permite cumplir el derecho a una explicación del RGPD, y lo que da confianza a los equipos que trabajan con el agente.</a:t>
            </a:r>
          </a:p>
          <a:p>
            <a:endParaRPr/>
          </a:p>
          <a:p>
            <a:r>
              <a:t>A remarcar: la explicación es la propia frase del cliente y la regla aplicada, no una justificación generada a posteriori.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Leer de arriba abajo: qué llegó, qué hizo cada agente, la decisión con su motivo y el guardrail G-05 que la provocó.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Aquí tenemos dos capacidades.</a:t>
            </a:r>
          </a:p>
          <a:p>
            <a:endParaRPr/>
          </a:p>
          <a:p>
            <a:r>
              <a:t>La primera es el razonamiento registrado. Para cada agente vemos qué recibió, qué pasos siguió y qué devolvió. Ojo: no es el pensamiento interno del modelo. Es un registro estructurado que cada agente devuelve junto con su respuesta.</a:t>
            </a:r>
          </a:p>
          <a:p>
            <a:endParaRPr/>
          </a:p>
          <a:p>
            <a:r>
              <a:t>La segunda es el replay. Permite volver a ejecutar cualquier decisión pasada:</a:t>
            </a:r>
          </a:p>
          <a:p>
            <a:endParaRPr/>
          </a:p>
          <a:p>
            <a:r>
              <a:t>- En modo idéntico, para comprobar que el agente sigue decidiendo igual.</a:t>
            </a:r>
          </a:p>
          <a:p>
            <a:r>
              <a:t>- En modo «¿y si…?», cambiando el modelo o el prompt.</a:t>
            </a:r>
          </a:p>
          <a:p>
            <a:endParaRPr/>
          </a:p>
          <a:p>
            <a:r>
              <a:t>En el ejemplo probamos un modelo más pequeño en el agente de Reglas. La decisión no cambia, y el coste baja más de un 80 %. Con esto hay una base objetiva para aprobar el cambio.</a:t>
            </a:r>
          </a:p>
          <a:p>
            <a:endParaRPr/>
          </a:p>
          <a:p>
            <a:r>
              <a:t>A remarcar: el replay convierte un cambio de modelo, que suele dar miedo, en una decisión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que no es el pensamiento interno del modelo, sino el registro estructurado que devuelve cada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el resultado: misma decisión y mismo ramo, −82 % de coste y −41 % de latencia.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Cuando un agente se equivoca, la reacción habitual es decir «el modelo ha fallado». Casi nunca es así.</a:t>
            </a:r>
          </a:p>
          <a:p>
            <a:endParaRPr/>
          </a:p>
          <a:p>
            <a:r>
              <a:t>Gracias a la traza podemos saber exactamente dónde estuvo el problema. Puede que:</a:t>
            </a:r>
          </a:p>
          <a:p>
            <a:endParaRPr/>
          </a:p>
          <a:p>
            <a:r>
              <a:t>- el agente entendiera mal la petición;</a:t>
            </a:r>
          </a:p>
          <a:p>
            <a:r>
              <a:t>- le llegara información incorrecta o desactualizada;</a:t>
            </a:r>
          </a:p>
          <a:p>
            <a:r>
              <a:t>- las reglas no contemplaran ese caso;</a:t>
            </a:r>
          </a:p>
          <a:p>
            <a:r>
              <a:t>- hubiera un fallo de integración;</a:t>
            </a:r>
          </a:p>
          <a:p>
            <a:r>
              <a:t>- o simplemente tuviera más autonomía de la que debía para ese tipo de caso.</a:t>
            </a:r>
          </a:p>
          <a:p>
            <a:endParaRPr/>
          </a:p>
          <a:p>
            <a:r>
              <a:t>Cada causa tiene una solución distinta. Sin la traza, solo nos quedaría cambiar de modelo y cruzar los dedos.</a:t>
            </a:r>
          </a:p>
          <a:p>
            <a:endParaRPr/>
          </a:p>
          <a:p>
            <a:r>
              <a:t>A remarcar: cada interacción es una unidad de análisis; pasamos de reaccionar a incidencias a mejorar con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agente tiene una ficha, igual que un empleado tiene un puesto con funciones y permisos.</a:t>
            </a:r>
          </a:p>
          <a:p>
            <a:endParaRPr/>
          </a:p>
          <a:p>
            <a:r>
              <a:t>En la ficha se ve:</a:t>
            </a:r>
          </a:p>
          <a:p>
            <a:endParaRPr/>
          </a:p>
          <a:p>
            <a:r>
              <a:t>- con qué identidad accede a los sistemas;</a:t>
            </a:r>
          </a:p>
          <a:p>
            <a:r>
              <a:t>- quién es su responsable;</a:t>
            </a:r>
          </a:p>
          <a:p>
            <a:r>
              <a:t>- qué datos trata y en qué región se procesan;</a:t>
            </a:r>
          </a:p>
          <a:p>
            <a:r>
              <a:t>- y, sobre todo, qué puede hacer y qué no.</a:t>
            </a:r>
          </a:p>
          <a:p>
            <a:endParaRPr/>
          </a:p>
          <a:p>
            <a:r>
              <a:t>En el ejemplo, el agente de Reglas puede consultar la póliza y proponer una decisión. No puede ordenar pagos, ni rechazar un siniestro, ni modificar el expediente.</a:t>
            </a:r>
          </a:p>
          <a:p>
            <a:endParaRPr/>
          </a:p>
          <a:p>
            <a:r>
              <a:t>Debajo, el histórico: cada cambio de nivel, de modelo o de prompt, con su motivo y quién lo aprobó.</a:t>
            </a:r>
          </a:p>
          <a:p>
            <a:endParaRPr/>
          </a:p>
          <a:p>
            <a:r>
              <a:t>A remarcar: un agente con permisos de más es el riesgo de seguridad más fácil de evitar.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las columnas «Puede» y «No puede», y debajo el histórico de autonomía con su motivo y aprobador.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todos los agentes tienen que tener la misma libertad. La autonomía se fija agente a agente, en cuatro niveles: desde manual, donde el agente solo sugiere, hasta autónomo, donde decide y ejecuta y solo se revisa después.</a:t>
            </a:r>
          </a:p>
          <a:p>
            <a:endParaRPr/>
          </a:p>
          <a:p>
            <a:r>
              <a:t>Lo importante es que el nivel no es una decisión de una vez. Se revisa con datos:</a:t>
            </a:r>
          </a:p>
          <a:p>
            <a:endParaRPr/>
          </a:p>
          <a:p>
            <a:r>
              <a:t>- El agente de Reglas empezó en L0, con una persona confirmando cada decisión.</a:t>
            </a:r>
          </a:p>
          <a:p>
            <a:r>
              <a:t>- Subió a L2 y tuvo que volver a L1 tras aprobar importes altos que no debía; de ahí nació el guardrail de importe.</a:t>
            </a:r>
          </a:p>
          <a:p>
            <a:r>
              <a:t>- Después subió a L2 y a L3 a medida que demostraba que coincidía con las personas.</a:t>
            </a:r>
          </a:p>
          <a:p>
            <a:r>
              <a:t>- Cuando la tasa de correcciones humanas pasó del 3 % en una semana, volvió a L2.</a:t>
            </a:r>
          </a:p>
          <a:p>
            <a:endParaRPr/>
          </a:p>
          <a:p>
            <a:r>
              <a:t>En la captura de arriba está el registro de esa última bajada: el motivo, quién la aprobó, cómo estaba configurado el agente en ese momento y que el cambio es reversible. Abajo, la evolución completa del nivel, con cada subida en verde y cada bajada en rojo.</a:t>
            </a:r>
          </a:p>
          <a:p>
            <a:endParaRPr/>
          </a:p>
          <a:p>
            <a:r>
              <a:t>A remarcar: la autonomía es un resultado gobernado, nunca una decisión implícita.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el motivo (override del 4,1 %), quién lo aprobó, que es reversible y el motivo marcado como «disparó la bajada».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Recorrer el gráfico: subidas en verde y bajadas en rojo. La autonomía se gana y se pierde con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¿Cómo se decide si un agente merece más autonomía? Con una puntuación de confianza que se recalcula de forma continua.</a:t>
            </a:r>
          </a:p>
          <a:p>
            <a:endParaRPr/>
          </a:p>
          <a:p>
            <a:r>
              <a:t>Esa puntuación se alimenta de tres tipos de validación:</a:t>
            </a:r>
          </a:p>
          <a:p>
            <a:endParaRPr/>
          </a:p>
          <a:p>
            <a:r>
              <a:t>- La humana, que al principio es obligatoria y sirve para construir la línea base.</a:t>
            </a:r>
          </a:p>
          <a:p>
            <a:r>
              <a:t>- La validación por resultado: no basta con que la respuesta pareciera correcta, hay que ver si el caso se reabrió, si hubo que rehacer el trabajo o si alguien la corrigió.</a:t>
            </a:r>
          </a:p>
          <a:p>
            <a:r>
              <a:t>- Y la validación por evidencia: si la respuesta se apoyaba en fuentes válidas.</a:t>
            </a:r>
          </a:p>
          <a:p>
            <a:endParaRPr/>
          </a:p>
          <a:p>
            <a:r>
              <a:t>Con esa puntuación, la intervención humana se ajusta sola: obligatoria cuando la confianza es baja, selectiva cuando es media y solo de supervisión cuando es alta.</a:t>
            </a:r>
          </a:p>
          <a:p>
            <a:endParaRPr/>
          </a:p>
          <a:p>
            <a:r>
              <a:t>En la captura se ve la materia prima de esa puntuación para el agente de Reglas: semana a semana, su precisión sube, y los escalados y las correcciones humanas bajan. Debajo, las variables que gobiernan su comportamiento, cada una con su efecto: la confianza mínima, el importe máximo, el objetivo de override o el límite de coste.</a:t>
            </a:r>
          </a:p>
          <a:p>
            <a:endParaRPr/>
          </a:p>
          <a:p>
            <a:r>
              <a:t>A remarcar: el Trust Score no mide la inteligencia del modelo; mide cuánto nos podemos fiar de él en este proceso concreto.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cómo sube la precisión y bajan escalados y overrides semana a semana; debajo, cada variable con su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guardrails son las condiciones que limitan lo que un agente puede hacer solo. Si se cumple la condición, el agente no decide: escala a una persona, cambia de modelo o marca el caso.</a:t>
            </a:r>
          </a:p>
          <a:p>
            <a:endParaRPr/>
          </a:p>
          <a:p>
            <a:r>
              <a:t>Hay varios tipos:</a:t>
            </a:r>
          </a:p>
          <a:p>
            <a:endParaRPr/>
          </a:p>
          <a:p>
            <a:r>
              <a:t>- de confianza;</a:t>
            </a:r>
          </a:p>
          <a:p>
            <a:r>
              <a:t>- de importe o impacto;</a:t>
            </a:r>
          </a:p>
          <a:p>
            <a:r>
              <a:t>- de coherencia entre agentes;</a:t>
            </a:r>
          </a:p>
          <a:p>
            <a:r>
              <a:t>- de casos sensibles;</a:t>
            </a:r>
          </a:p>
          <a:p>
            <a:r>
              <a:t>- de datos que faltan;</a:t>
            </a:r>
          </a:p>
          <a:p>
            <a:r>
              <a:t>- de coste;</a:t>
            </a:r>
          </a:p>
          <a:p>
            <a:r>
              <a:t>- y de formato.</a:t>
            </a:r>
          </a:p>
          <a:p>
            <a:endParaRPr/>
          </a:p>
          <a:p>
            <a:r>
              <a:t>Cada guardrail tiene su propia ficha. En la captura, el guardrail de importe:</a:t>
            </a:r>
          </a:p>
          <a:p>
            <a:endParaRPr/>
          </a:p>
          <a:p>
            <a:r>
              <a:t>- se ha disparado 118 veces en dos semanas, unas ocho al día;</a:t>
            </a:r>
          </a:p>
          <a:p>
            <a:r>
              <a:t>- explica un tercio de los escalados por guardrail;</a:t>
            </a:r>
          </a:p>
          <a:p>
            <a:r>
              <a:t>- después del disparo, la persona cambia la decisión en un 3 % de los casos;</a:t>
            </a:r>
          </a:p>
          <a:p>
            <a:r>
              <a:t>- y la resolución humana tarda una mediana de 14 minutos.</a:t>
            </a:r>
          </a:p>
          <a:p>
            <a:endParaRPr/>
          </a:p>
          <a:p>
            <a:r>
              <a:t>Además vemos en qué días, por qué canal y en qué ramo se dispara. Cada guardrail se puede activar o desactivar, y cada cambio queda en el histórico. Los de importe y lesionados explican la mayoría de los escalados, y eso es lo esperado: son decisiones que no queremos que tome una máquina.</a:t>
            </a:r>
          </a:p>
          <a:p>
            <a:endParaRPr/>
          </a:p>
          <a:p>
            <a:r>
              <a:t>A remarcar: un guardrail que no se dispara nunca sobra, y uno que se dispara siempre indica que el agente no está listo.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los KPIs (118 disparos, 33 % de los escalados, 14 min de resolución humana) y la distribución por canal y ramo.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Cualquier sistema crítico necesita un botón de parada. Aquí cada agente tiene el suyo. Si un agente empieza a comportarse mal, se pausa desde el panel, y los casos que dependen de él se quedan en cola. No se pierde ninguno.</a:t>
            </a:r>
          </a:p>
          <a:p>
            <a:endParaRPr/>
          </a:p>
          <a:p>
            <a:r>
              <a:t>Además, la plataforma está preparada para los fallos del proveedor del modelo:</a:t>
            </a:r>
          </a:p>
          <a:p>
            <a:endParaRPr/>
          </a:p>
          <a:p>
            <a:r>
              <a:t>- si el proveedor está saturado, reintenta con espera creciente;</a:t>
            </a:r>
          </a:p>
          <a:p>
            <a:r>
              <a:t>- si se llega al límite de coste, pasa a un modelo más barato;</a:t>
            </a:r>
          </a:p>
          <a:p>
            <a:r>
              <a:t>- y si el modelo devuelve respuestas inválidas, pasa a un motor alternativo y marca el caso para revisión.</a:t>
            </a:r>
          </a:p>
          <a:p>
            <a:endParaRPr/>
          </a:p>
          <a:p>
            <a:r>
              <a:t>Esto es lo que piden DORA y el AI Act cuando hablan de resiliencia y de capacidad de interrumpir el sistema.</a:t>
            </a:r>
          </a:p>
          <a:p>
            <a:endParaRPr/>
          </a:p>
          <a:p>
            <a:r>
              <a:t>A remarcar: poder parar un agente sin parar el negocio es un requisito, no un extra.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el interruptor de cada agente y el estado «Degradado» del agente de Reglas.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coste de un agente es variable: depende de cuántos casos llegan, de lo largos que son y de cuánto tiene que razonar el modelo. Por eso hay que controlarlo en tiempo real.</a:t>
            </a:r>
          </a:p>
          <a:p>
            <a:endParaRPr/>
          </a:p>
          <a:p>
            <a:r>
              <a:t>Los caps son límites de gasto a varios niveles: global, por agente, por caso e incluso por tokens de razonamiento. Al 80 % avisan y al 100 % actúan.</a:t>
            </a:r>
          </a:p>
          <a:p>
            <a:endParaRPr/>
          </a:p>
          <a:p>
            <a:r>
              <a:t>Arriba, la ficha de un cap concreto, el del coste diario del agente de Reglas:</a:t>
            </a:r>
          </a:p>
          <a:p>
            <a:endParaRPr/>
          </a:p>
          <a:p>
            <a:r>
              <a:t>- hoy está al 114 % de su límite;</a:t>
            </a:r>
          </a:p>
          <a:p>
            <a:r>
              <a:t>- en el gráfico se ve cómo ha ido acercándose al límite en los últimos días;</a:t>
            </a:r>
          </a:p>
          <a:p>
            <a:r>
              <a:t>- y al superarlo, el guardrail vinculado ha pasado el agente a un modelo más barato, sin parar el proceso.</a:t>
            </a:r>
          </a:p>
          <a:p>
            <a:endParaRPr/>
          </a:p>
          <a:p>
            <a:r>
              <a:t>Abajo, la vista del mes: llevamos el 59 % del presupuesto y, al ritmo actual, cerraremos por debajo del límite.</a:t>
            </a:r>
          </a:p>
          <a:p>
            <a:endParaRPr/>
          </a:p>
          <a:p>
            <a:r>
              <a:t>A remarcar: sabemos lo que cuesta cada decisión, no solo lo que cuesta el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el medidor al 114 % y la barra roja de hoy, por encima del límite; a la derecha, el guardrail G-07 que actuó.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que llevamos el 59 % del cap mensual y la proyección de cierre (428 € frente a 500 €).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Una alerta sin acción solo genera ruido. Por eso aquí cada cap superado llega con propuestas concretas.</a:t>
            </a:r>
          </a:p>
          <a:p>
            <a:endParaRPr/>
          </a:p>
          <a:p>
            <a:r>
              <a:t>Arriba vemos de un vistazo qué caps están por encima del 100 %, cuáles están en aviso y cuáles van bien.</a:t>
            </a:r>
          </a:p>
          <a:p>
            <a:endParaRPr/>
          </a:p>
          <a:p>
            <a:r>
              <a:t>Abajo, las acciones que propone la plataforma para el cap del agente de Reglas. Hay tres tipos:</a:t>
            </a:r>
          </a:p>
          <a:p>
            <a:endParaRPr/>
          </a:p>
          <a:p>
            <a:r>
              <a:t>- Las automáticas, que ya ha aplicado un guardrail: el agente sigue funcionando con un modelo más barato.</a:t>
            </a:r>
          </a:p>
          <a:p>
            <a:r>
              <a:t>- Las que se pueden simular con replay antes de aplicarlas, con su ahorro estimado.</a:t>
            </a:r>
          </a:p>
          <a:p>
            <a:r>
              <a:t>- Y las que cambian el presupuesto, que no se aplican sin la aprobación del comité.</a:t>
            </a:r>
          </a:p>
          <a:p>
            <a:endParaRPr/>
          </a:p>
          <a:p>
            <a:r>
              <a:t>Todo lo que se aplica queda en el histórico.</a:t>
            </a:r>
          </a:p>
          <a:p>
            <a:endParaRPr/>
          </a:p>
          <a:p>
            <a:r>
              <a:t>A remarcar: la plataforma propone, pero los cambios de presupuesto los aprueba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los tres caps en rojo por encima de la línea del 100 % y el que está en aviso.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Recorrer los tres tipos de acción y su ahorro estimado; el cambio de presupuesto requiere aprobación del comité.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tabla responde a una pregunta muy concreta: ¿qué modelo uso para cada agente?</a:t>
            </a:r>
          </a:p>
          <a:p>
            <a:endParaRPr/>
          </a:p>
          <a:p>
            <a:r>
              <a:t>Para cada modelo vemos qué agentes lo usan, cuántas llamadas hace, cuántos tokens consume y cuánto cuesta. Y también su calidad: si devuelve respuestas válidas, si necesita reintentos, si es estable en el replay.</a:t>
            </a:r>
          </a:p>
          <a:p>
            <a:endParaRPr/>
          </a:p>
          <a:p>
            <a:r>
              <a:t>En el ejemplo, el agente de Reglas, con el modelo grande, se lleva el 80 % del coste. Es el candidato obvio a optimizar. Y con el replay que vimos antes podemos hacerlo sin riesgo.</a:t>
            </a:r>
          </a:p>
          <a:p>
            <a:endParaRPr/>
          </a:p>
          <a:p>
            <a:r>
              <a:t>A remarcar: el ahorro sale de elegir bien el modelo para cada tarea, no de usar siempre el más barato.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que gpt-5 concentra el 80 % del coste y lo usa un solo agente: es el candidato a optimizar.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Cambiar un límite o una regla de un agente tiene consecuencias. Si pongo un límite de coste demasiado bajo, paro el negocio. Si pongo un guardrail demasiado estricto, lleno de trabajo a los equipos.</a:t>
            </a:r>
          </a:p>
          <a:p>
            <a:endParaRPr/>
          </a:p>
          <a:p>
            <a:r>
              <a:t>Por eso cada cambio se simula antes:</a:t>
            </a:r>
          </a:p>
          <a:p>
            <a:endParaRPr/>
          </a:p>
          <a:p>
            <a:r>
              <a:t>- Al crear un cap, la plataforma calcula cómo habría funcionado en las dos últimas semanas y avisa si ya existe otro parecido.</a:t>
            </a:r>
          </a:p>
          <a:p>
            <a:r>
              <a:t>- Al crear un guardrail, estima cuántas veces se dispararía y cuántos casos más pasarían a una persona. En el ejemplo, unos 47 en dos semanas.</a:t>
            </a:r>
          </a:p>
          <a:p>
            <a:r>
              <a:t>- Y para cambiar de modelo o de prompt, tenemos el replay que vimos antes.</a:t>
            </a:r>
          </a:p>
          <a:p>
            <a:endParaRPr/>
          </a:p>
          <a:p>
            <a:r>
              <a:t>A remarcar: el gobierno no es solo vigilar; es poder cambiar con seguridad.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la vista previa: cuántas veces se habría superado en 14 días y el aviso de que ya existe CAP-01.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el impacto estimado: unos 47 disparos en 14 días y el 0,28 % de los mensajes pasaría a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 lo que hemos visto deja rastro en un único libro de registro.</a:t>
            </a:r>
          </a:p>
          <a:p>
            <a:endParaRPr/>
          </a:p>
          <a:p>
            <a:r>
              <a:t>Aquí aparece:</a:t>
            </a:r>
          </a:p>
          <a:p>
            <a:endParaRPr/>
          </a:p>
          <a:p>
            <a:r>
              <a:t>- cada corrección humana;</a:t>
            </a:r>
          </a:p>
          <a:p>
            <a:r>
              <a:t>- cada incidente con el proveedor;</a:t>
            </a:r>
          </a:p>
          <a:p>
            <a:r>
              <a:t>- cada cap superado;</a:t>
            </a:r>
          </a:p>
          <a:p>
            <a:r>
              <a:t>- cada replay;</a:t>
            </a:r>
          </a:p>
          <a:p>
            <a:r>
              <a:t>- cada cambio de nivel de autonomía, de modelo o de prompt.</a:t>
            </a:r>
          </a:p>
          <a:p>
            <a:endParaRPr/>
          </a:p>
          <a:p>
            <a:r>
              <a:t>Siempre con fecha, agente, motivo y responsable. Incluso las acciones que se hacen en directo, como pausar un agente o apagar un guardrail.</a:t>
            </a:r>
          </a:p>
          <a:p>
            <a:endParaRPr/>
          </a:p>
          <a:p>
            <a:r>
              <a:t>Cuando llega un auditor, no hay que preparar nada: la evidencia ya está.</a:t>
            </a:r>
          </a:p>
          <a:p>
            <a:endParaRPr/>
          </a:p>
          <a:p>
            <a:r>
              <a:t>A remarcar: el registro se genera solo como parte de la operación, no es un trabajo adicional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Señalar los filtros por tipo y que cada evento lleva agente y responsable, incluido «Sistema».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cumplimiento no se añade al final. Cada capacidad que hemos visto responde a un artículo concreto.</a:t>
            </a:r>
          </a:p>
          <a:p>
            <a:endParaRPr/>
          </a:p>
          <a:p>
            <a:r>
              <a:t>En el propio panel, cada bloque lleva una etiqueta con la norma que lo respalda. Al pasar el ratón por encima explica qué pide el artículo y si ya está en vigor o solo será exigible a los sistemas de alto riesgo a partir de 2027.</a:t>
            </a:r>
          </a:p>
          <a:p>
            <a:endParaRPr/>
          </a:p>
          <a:p>
            <a:r>
              <a:t>Así, el equipo de compliance no tiene que traducir entre lo técnico y lo legal: la correspondencia ya está hecha.</a:t>
            </a:r>
          </a:p>
          <a:p>
            <a:endParaRPr/>
          </a:p>
          <a:p>
            <a:r>
              <a:t>A remarcar: compliance por defecto significa que cumplir no cuesta trabajo extra, porque lo hace la propia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Leer el texto de la etiqueta: AI Act art. 14, exigible a alto riesgo desde 2027; aquí se aplica como buena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 hace falta tenerlo todo el primer día. Proponemos un camino en cinco niveles de madurez:</a:t>
            </a:r>
          </a:p>
          <a:p>
            <a:endParaRPr/>
          </a:p>
          <a:p>
            <a:r>
              <a:t>- Desplegado: el agente funciona y deja trazas.</a:t>
            </a:r>
          </a:p>
          <a:p>
            <a:r>
              <a:t>- Monitorizado: detectamos desviaciones y controlamos el coste.</a:t>
            </a:r>
          </a:p>
          <a:p>
            <a:r>
              <a:t>- Gobernado: cada cambio de prompt o de modelo se versiona, se valida y se prueba antes de desplegarlo.</a:t>
            </a:r>
          </a:p>
          <a:p>
            <a:r>
              <a:t>- Optimizado: ajustamos con datos reales el equilibrio entre coste y calidad.</a:t>
            </a:r>
          </a:p>
          <a:p>
            <a:r>
              <a:t>- Y mejora continua asistida: las correcciones de las personas alimentan la evolución del agente, siempre bajo control.</a:t>
            </a:r>
          </a:p>
          <a:p>
            <a:endParaRPr/>
          </a:p>
          <a:p>
            <a:r>
              <a:t>Cada empresa decide hasta dónde llega y a qué ritmo.</a:t>
            </a:r>
          </a:p>
          <a:p>
            <a:endParaRPr/>
          </a:p>
          <a:p>
            <a:r>
              <a:t>A remarcar: el nivel 3 es el mínimo razonable para un agente que toma decisiones con impacto en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 juntamos todo lo anterior, aparece una cadena:</a:t>
            </a:r>
          </a:p>
          <a:p>
            <a:endParaRPr/>
          </a:p>
          <a:p>
            <a:r>
              <a:t>- Cada interacción deja una traza.</a:t>
            </a:r>
          </a:p>
          <a:p>
            <a:r>
              <a:t>- La traza permite explicar la decisión.</a:t>
            </a:r>
          </a:p>
          <a:p>
            <a:r>
              <a:t>- La explicación, junto con la validación, se convierte en evidencia.</a:t>
            </a:r>
          </a:p>
          <a:p>
            <a:r>
              <a:t>- La evidencia alimenta la puntuación de confianza.</a:t>
            </a:r>
          </a:p>
          <a:p>
            <a:r>
              <a:t>- Y la confianza decide cuánta autonomía tiene el agente.</a:t>
            </a:r>
          </a:p>
          <a:p>
            <a:endParaRPr/>
          </a:p>
          <a:p>
            <a:r>
              <a:t>Y alrededor, el ciclo de mejora: observamos, analizamos, ajustamos, validamos con replay y desplegamos.</a:t>
            </a:r>
          </a:p>
          <a:p>
            <a:endParaRPr/>
          </a:p>
          <a:p>
            <a:r>
              <a:t>Esto es lo que convierte un chatbot en una plataforma de agentes gobernada.</a:t>
            </a:r>
          </a:p>
          <a:p>
            <a:endParaRPr/>
          </a:p>
          <a:p>
            <a:r>
              <a:t>A remarcar: la autonomía no se concede, se demuestra.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 justo reconocer que en el mercado hay buenas herramientas: plataformas de observabilidad de modelos, plataformas de gobierno y riesgo, y un estándar abierto para trazar llamadas a modelos.</a:t>
            </a:r>
          </a:p>
          <a:p>
            <a:endParaRPr/>
          </a:p>
          <a:p>
            <a:r>
              <a:t>Lo que falta es unirlas al negocio de cada empresa: a su proceso, a sus reglas, a su contabilidad de costes y a su marco normativo.</a:t>
            </a:r>
          </a:p>
          <a:p>
            <a:endParaRPr/>
          </a:p>
          <a:p>
            <a:r>
              <a:t>Eso es lo que aportamos: no una licencia más, sino una forma de implementar agentes que ya viene con la observabilidad y el gobierno integrados.</a:t>
            </a:r>
          </a:p>
          <a:p>
            <a:endParaRPr/>
          </a:p>
          <a:p>
            <a:r>
              <a:t>A remarcar: no decir que no existe nada en el mercado. Existen piezas; lo que falta es integrarlas con 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 os tenéis que quedar con algo, que sea esto:</a:t>
            </a:r>
          </a:p>
          <a:p>
            <a:endParaRPr/>
          </a:p>
          <a:p>
            <a:r>
              <a:t>- El problema ya no es tecnológico, es de confianza.</a:t>
            </a:r>
          </a:p>
          <a:p>
            <a:r>
              <a:t>- Un agente puede empeorar sin que nadie toque su código, y eso solo se ve con observabilidad cognitiva.</a:t>
            </a:r>
          </a:p>
          <a:p>
            <a:r>
              <a:t>- La regulación ya exige hoy trazabilidad, explicación y supervisión humana real.</a:t>
            </a:r>
          </a:p>
          <a:p>
            <a:r>
              <a:t>- El gobierno se resuelve con cinco capacidades sobre una capa común a todos los agentes.</a:t>
            </a:r>
          </a:p>
          <a:p>
            <a:r>
              <a:t>- Y la autonomía de un agente no se decide por intuición: se gana y se pierde con datos.</a:t>
            </a:r>
          </a:p>
          <a:p>
            <a:endParaRPr/>
          </a:p>
          <a:p>
            <a:r>
              <a:t>A remarcar: volver a las cuatro preguntas del principio y comprobar que todas tienen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Fuentes de las cifras y de la normativa citadas en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7709211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3599" y="3099759"/>
            <a:ext cx="8653861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0327276-C6D2-51DD-7433-FF4EC4409A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3599" y="5167076"/>
            <a:ext cx="2687411" cy="249847"/>
          </a:xfrm>
          <a:prstGeom prst="rect">
            <a:avLst/>
          </a:prstGeom>
        </p:spPr>
        <p:txBody>
          <a:bodyPr lIns="0" tIns="0" rIns="0" bIns="0"/>
          <a:lstStyle>
            <a:lvl1pPr>
              <a:defRPr sz="1200" b="0">
                <a:solidFill>
                  <a:schemeClr val="bg1"/>
                </a:solidFill>
                <a:latin typeface="+mn-lt"/>
                <a:ea typeface="Roboto Slab" pitchFamily="2" charset="0"/>
              </a:defRPr>
            </a:lvl1pPr>
          </a:lstStyle>
          <a:p>
            <a:fld id="{E453CB44-D933-4174-8CBB-ADEE1E6C3E6E}" type="datetime6">
              <a:rPr lang="en-GB" smtClean="0"/>
              <a:pPr/>
              <a:t>October 26</a:t>
            </a:fld>
            <a:endParaRPr lang="en-GB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BB148E28-3B35-1678-D418-E6DCE4AAAE9F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62596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362612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358775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lnSpc>
                <a:spcPct val="150000"/>
              </a:lnSpc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-358775" defTabSz="612000">
              <a:lnSpc>
                <a:spcPct val="150000"/>
              </a:lnSpc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56C88E4-8019-3498-683D-06721620533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67252227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98764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A50D26C-7346-F0B6-C7A5-89A430AF2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152480-EA9A-B2B2-0180-83B2EFCF3D7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28127014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Whit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60987F2-4C3A-6B51-537F-52E468C110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2DC93F5-2011-58D4-1782-38651928FE4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316352877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2D637E3-F841-2D06-46A2-7A75CFC0128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4732902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87BA298-B3A7-D63A-01E6-46BA66A3778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26389306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D60D3F-35DD-669C-4E04-5FD5144AD81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35328736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6AAC242-D1ED-AF35-63F5-AC46C90D8E3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7969309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17748084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25484236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6527526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F22E43-3178-304A-0F2A-7346B0C0F23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86C2A2F-9EB4-7D4F-CF5E-A747856D4F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633F21E3-CAAA-8747-683A-A96583D3DC51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755608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7FA9D4-BEB0-A09E-4298-A0EE819782E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78BE0C6E-1FA3-7528-72A5-BF3F9232E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9E59AD4-27DA-9B84-925A-539F21F0B4C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5022188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23 columns -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1708C-B351-2798-CE06-F68D495AF08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14BF72-824A-AB1D-B89B-5C07C016946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29B4E89-017D-EA89-D384-CAA21A2803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39975AA-365E-F0F7-B6A4-C86F87AF4A8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13007365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874987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98ED3D-4C1D-18B1-C757-4A8E3551E9C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94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9C3E0-83EB-6264-8CDF-22AAF8CAB992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9D6499A-F9B2-E514-8A32-800319EBC15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114612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9CC49CE-6C20-5F08-A00E-E9DA79B4180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70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70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FE8D-50F2-1958-99B8-B3A36E1F5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643B595-F912-FD25-DA9D-463645B2EF87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060100668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98589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BBB329-3596-B079-5CB2-208E7D9FE81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66629" y="1371600"/>
            <a:ext cx="4641956" cy="46386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91C3F7-4190-5A1D-C32E-4D6E05D1C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7B6CC4C-4A5D-45DA-48BF-A135099D772B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3281354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Ligh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EE180D-E692-5018-47EC-92A6AE18106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3657FE-3B2D-84E7-54D1-80F76892BA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674F76A-DAB9-3C0E-7A4B-C660B49908F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123846-F94B-039B-852B-86D94A896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E3C0033-79E8-320F-3EF9-E64D9370CDF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326456237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8858B7D-70A1-EE68-CD20-71B9B4CA7F7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83962-E666-AEE5-6202-2B9382F016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D73D27C-AD05-ECB0-DD9B-AE1C2484773E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898089267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F47126E-216D-C391-208D-BB929A71ECB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accent3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accent1"/>
              </a:buClr>
              <a:buSzPct val="80000"/>
              <a:buFont typeface=".Lucida Grande UI Regular"/>
              <a:buChar char="►"/>
              <a:defRPr sz="1400" b="0" i="0">
                <a:solidFill>
                  <a:srgbClr val="595959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400" b="0" i="0">
                <a:solidFill>
                  <a:srgbClr val="595959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5BD8753-EE4F-7BE4-C865-CF6E958356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42F1400-6EE5-0A84-DBBA-24A941E3F24D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9534481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A42FA-125C-22CD-4278-0A67C8934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59A6DC0-D8D5-3EC9-7DBC-E552715DB7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391155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D53124-B12B-D07C-612C-517D880A54A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ED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AF4AA0-F32F-41AD-B30B-8C28E369767D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1799FC-469F-580B-48DA-9BC46B48AA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842039-D254-86F5-6E93-608F88B6D00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53043711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F7C06E8A-CBF1-05D3-A6EB-A7249CFCE25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99939203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712074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10">
            <a:extLst>
              <a:ext uri="{FF2B5EF4-FFF2-40B4-BE49-F238E27FC236}">
                <a16:creationId xmlns:a16="http://schemas.microsoft.com/office/drawing/2014/main" id="{F4249F5F-9A66-085C-4C2F-724171CD8734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6F99D34-2B6A-C9DB-81AC-AE756887A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CC1ED71-DC88-C375-59D2-CB2EE11A0390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409110389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Gradi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10">
            <a:extLst>
              <a:ext uri="{FF2B5EF4-FFF2-40B4-BE49-F238E27FC236}">
                <a16:creationId xmlns:a16="http://schemas.microsoft.com/office/drawing/2014/main" id="{56ABECD5-69C2-01F6-AA6E-D98E25B0FE6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56B11-2672-9B16-AFAE-2027CDA4F7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51362F1-4717-4465-7E09-063D89E8059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99395048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10">
            <a:extLst>
              <a:ext uri="{FF2B5EF4-FFF2-40B4-BE49-F238E27FC236}">
                <a16:creationId xmlns:a16="http://schemas.microsoft.com/office/drawing/2014/main" id="{0EF485AE-CDCF-333F-BBE8-EF458BC86918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F14C0AB-8FCF-2FCA-039B-DE0760D46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F263407-8A16-1A30-C969-918D44E0F7B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62083419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Gradi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0">
            <a:extLst>
              <a:ext uri="{FF2B5EF4-FFF2-40B4-BE49-F238E27FC236}">
                <a16:creationId xmlns:a16="http://schemas.microsoft.com/office/drawing/2014/main" id="{6F8BAC4A-9084-01CA-B106-3AB00C0DFD3E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ED57B3A-1189-DEAE-9184-DD769F03C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28850C5-5D11-343B-27A2-07C114CCF2E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5211008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-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92D475C8-E86F-9AAF-1527-5F7C298407F1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B9303C-1A66-4748-B626-8DD339D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38501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A95A5A-7EDA-4530-9F96-16A0E2CA69D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8101059-5A5E-E286-B2FB-81E98250C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8408848-5F14-71C8-95D8-DEEE569318F6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83324430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10">
            <a:extLst>
              <a:ext uri="{FF2B5EF4-FFF2-40B4-BE49-F238E27FC236}">
                <a16:creationId xmlns:a16="http://schemas.microsoft.com/office/drawing/2014/main" id="{6A574E42-9543-D779-8EB7-2C538C77731B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CCF1B8-EB8B-F36D-1158-90FE4F528D9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CAE4310-0013-FF05-48A7-F65D1DD9E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6A1621DE-885A-25FD-387C-E6916A70151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997497794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21E75C-54D2-1EC4-58CA-F69BEE5292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5" y="2082909"/>
            <a:ext cx="11225169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5" y="1308944"/>
            <a:ext cx="11225169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1113B8CD-71DA-B13D-E602-E27556F8D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64C5340-AE86-368F-B50D-F1C0D52D6CD4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63187526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Image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73886859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BE6C5A6-4932-0AD5-691C-BDB6EEBE3D8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B0E136-47FD-6B54-DE6F-1379612009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962274-383A-BDCA-CD1C-762307F083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284813" y="1607139"/>
            <a:ext cx="4203028" cy="41650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4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68DE7DC-B94E-3D8A-2B93-5080203FE5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838747CC-4D62-35A2-BC1F-7BF3F7B0B46F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340967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- Hexagon - Dark Blu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2B58DC8-5901-7B11-5F4B-21F3E1EE91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862956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4399EA1-A44F-DBF5-6A4A-BD0EB3659F8E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C3BCE5D-A113-417B-0442-62C437D955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066629" y="1371601"/>
            <a:ext cx="4641956" cy="46386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DE3CBB-C3C3-73CD-72CC-C20ACCC1C4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7284813" y="1607138"/>
            <a:ext cx="4203028" cy="4165048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25965D87-A8FC-34AE-DC28-6CC329F49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E4FEC87-C30A-FD9E-CBE3-D7ED86D6D84A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7663873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ext 2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DB37B4F-A21E-7D41-08AF-8E0768389EA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018B9B1-C9B0-D3F5-2FF0-F2753A31B9DA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74616" y="2082909"/>
            <a:ext cx="5438413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B50FC1-3C88-32C9-AA18-FCB1A15A9DC1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0990115-D860-EEA0-F01D-766963A53E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817ED54-318F-5696-DEBF-15214F78232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76181384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3 columns - Dark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6530C6C-8E37-041B-074C-63EDA20F186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AB77FB-59D1-4D43-83D9-A3EEA39E7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5218560" cy="432000"/>
          </a:xfrm>
        </p:spPr>
        <p:txBody>
          <a:bodyPr lIns="72000" tIns="36000" rIns="72000" bIns="36000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6043D-B461-4BE6-B44E-7CD7A8CCB7E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83416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6C1704B-87FD-4F5D-A9F2-5B961AD6B37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67710136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Dark Grey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89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89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89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E1503DE-B6CE-E979-7F60-BE09735D903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83416" y="1308944"/>
            <a:ext cx="5862956" cy="3276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-358775" defTabSz="612000">
              <a:buClr>
                <a:schemeClr val="accent1"/>
              </a:buClr>
              <a:buSzPct val="80000"/>
              <a:buFont typeface=".Lucida Grande UI Regular"/>
              <a:buNone/>
              <a:defRPr sz="1600" b="1" i="0">
                <a:solidFill>
                  <a:schemeClr val="bg1"/>
                </a:solidFill>
                <a:latin typeface="Montserrat" pitchFamily="2" charset="77"/>
              </a:defRPr>
            </a:lvl1pPr>
            <a:lvl2pPr marL="717550" indent="-358775">
              <a:buClr>
                <a:schemeClr val="tx2"/>
              </a:buClr>
              <a:buFont typeface="+mj-lt"/>
              <a:buAutoNum type="romanUcPeriod"/>
              <a:defRPr sz="1600" b="0" i="0">
                <a:solidFill>
                  <a:srgbClr val="595959"/>
                </a:solidFill>
                <a:latin typeface="+mn-lt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6AFB6C2-D330-7E98-CE89-B53228C709D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07522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6343C83-9CCA-D975-BA26-C5F708C4A31E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131629" y="2082909"/>
            <a:ext cx="3576955" cy="28007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58775" indent="-358775" defTabSz="612000">
              <a:buClr>
                <a:schemeClr val="bg1"/>
              </a:buClr>
              <a:buSzPct val="80000"/>
              <a:buFont typeface=".Lucida Grande UI Regular"/>
              <a:buChar char="►"/>
              <a:defRPr sz="1400" b="0" i="0">
                <a:solidFill>
                  <a:schemeClr val="bg1"/>
                </a:solidFill>
                <a:latin typeface="Montserrat Medium" pitchFamily="2" charset="77"/>
              </a:defRPr>
            </a:lvl1pPr>
            <a:lvl2pPr marL="717550" indent="-358775">
              <a:buClr>
                <a:schemeClr val="bg1"/>
              </a:buClr>
              <a:buFont typeface="+mj-lt"/>
              <a:buAutoNum type="romanUcPeriod"/>
              <a:defRPr sz="1400" b="0" i="0">
                <a:solidFill>
                  <a:schemeClr val="bg1"/>
                </a:solidFill>
                <a:latin typeface="Montserrat" pitchFamily="2" charset="77"/>
              </a:defRPr>
            </a:lvl2pPr>
            <a:lvl3pPr marL="1076325" indent="-358775">
              <a:buClr>
                <a:schemeClr val="tx2"/>
              </a:buClr>
              <a:buFont typeface="+mj-lt"/>
              <a:buAutoNum type="romanUcPeriod"/>
              <a:defRPr b="0">
                <a:solidFill>
                  <a:schemeClr val="tx2"/>
                </a:solidFill>
                <a:latin typeface="+mn-lt"/>
              </a:defRPr>
            </a:lvl3pPr>
            <a:lvl4pPr marL="358775" indent="0">
              <a:buClr>
                <a:schemeClr val="accent1"/>
              </a:buClr>
              <a:buFont typeface="Wingdings" panose="05000000000000000000" pitchFamily="2" charset="2"/>
              <a:buNone/>
              <a:defRPr b="0">
                <a:solidFill>
                  <a:schemeClr val="tx2"/>
                </a:solidFill>
              </a:defRPr>
            </a:lvl4pPr>
            <a:lvl5pPr marL="717550" indent="-179388">
              <a:buClr>
                <a:schemeClr val="accent1"/>
              </a:buClr>
              <a:buFont typeface="Wingdings" panose="05000000000000000000" pitchFamily="2" charset="2"/>
              <a:buChar char="§"/>
              <a:defRPr b="0">
                <a:solidFill>
                  <a:schemeClr val="tx2"/>
                </a:solidFill>
              </a:defRPr>
            </a:lvl5pPr>
          </a:lstStyle>
          <a:p>
            <a:pPr lvl="0"/>
            <a:r>
              <a:rPr lang="en-GB"/>
              <a:t>1.	Click to edit Master text styles</a:t>
            </a:r>
          </a:p>
          <a:p>
            <a:pPr lvl="0"/>
            <a:r>
              <a:rPr lang="en-GB"/>
              <a:t>2. Second Section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  <a:p>
            <a:pPr lvl="0"/>
            <a:r>
              <a:rPr lang="en-GB"/>
              <a:t>3. Third Section</a:t>
            </a:r>
          </a:p>
          <a:p>
            <a:pPr lvl="0"/>
            <a:r>
              <a:rPr lang="en-GB"/>
              <a:t>4.	Fourth</a:t>
            </a:r>
          </a:p>
          <a:p>
            <a:pPr lvl="1"/>
            <a:r>
              <a:rPr lang="en-GB"/>
              <a:t>Sub</a:t>
            </a:r>
          </a:p>
          <a:p>
            <a:pPr lvl="1"/>
            <a:r>
              <a:rPr lang="en-GB"/>
              <a:t>Sub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D9F112-C12E-FFC8-DF18-B903D7627877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A373795-3254-679C-59E2-782654991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9B85E77-736B-2725-053E-8F07217C4BDC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1584421133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39EBBF-FF78-466E-2EE5-04BB33BCC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A00C6F3-88A1-CAF2-BE79-B535F3EDB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5339B7A-057A-1605-D614-269065367828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920220416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98362EC-5BF8-8DD6-8B43-5DF9FD194A2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A70BC-2B24-3B04-F6B0-C104E7DED06A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A455A05-7234-2683-78DA-B2B18F90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6496F57-92C5-2726-5037-7C5661E2FF99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>
                <a:solidFill>
                  <a:schemeClr val="bg1"/>
                </a:solidFill>
              </a:rPr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3141808678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0">
            <a:extLst>
              <a:ext uri="{FF2B5EF4-FFF2-40B4-BE49-F238E27FC236}">
                <a16:creationId xmlns:a16="http://schemas.microsoft.com/office/drawing/2014/main" id="{77616D71-A116-9CE5-43D9-8D796F2E894C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8CF1E45-A99B-2BE7-01FE-0DA7EBC90F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3599" y="2286000"/>
            <a:ext cx="4482687" cy="720000"/>
          </a:xfrm>
          <a:solidFill>
            <a:srgbClr val="FF1414"/>
          </a:solidFill>
        </p:spPr>
        <p:txBody>
          <a:bodyPr anchor="ctr" anchorCtr="0"/>
          <a:lstStyle>
            <a:lvl1pPr algn="l">
              <a:defRPr sz="42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/>
              <a:t>Title here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E9911E9-EAA2-0691-47D0-AB5873D716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3599" y="3099759"/>
            <a:ext cx="4482687" cy="719034"/>
          </a:xfrm>
          <a:prstGeom prst="rect">
            <a:avLst/>
          </a:prstGeom>
          <a:solidFill>
            <a:srgbClr val="FF1414"/>
          </a:solidFill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4200">
                <a:solidFill>
                  <a:schemeClr val="bg1"/>
                </a:solidFill>
                <a:latin typeface="Roboto Slab" pitchFamily="2" charset="0"/>
                <a:ea typeface="Roboto Slab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To edit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399047-3BA6-1228-99FC-3B406BF2F0D9}"/>
              </a:ext>
            </a:extLst>
          </p:cNvPr>
          <p:cNvPicPr/>
          <p:nvPr userDrawn="1"/>
        </p:nvPicPr>
        <p:blipFill>
          <a:blip r:embed="rId2"/>
          <a:srcRect/>
          <a:stretch/>
        </p:blipFill>
        <p:spPr>
          <a:xfrm>
            <a:off x="10119504" y="350702"/>
            <a:ext cx="1589081" cy="29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161626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ack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10">
            <a:extLst>
              <a:ext uri="{FF2B5EF4-FFF2-40B4-BE49-F238E27FC236}">
                <a16:creationId xmlns:a16="http://schemas.microsoft.com/office/drawing/2014/main" id="{19C2A041-55EE-50E0-6893-655ACB93D4D5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53000">
                <a:srgbClr val="0A2592"/>
              </a:gs>
              <a:gs pos="100000">
                <a:srgbClr val="2250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6D897F45-4856-0508-472A-A886A70DD882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5436" y="501128"/>
            <a:ext cx="2271188" cy="4173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AE017B-85BA-45CF-9E93-A6B67CF24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7186697" cy="648000"/>
          </a:xfrm>
        </p:spPr>
        <p:txBody>
          <a:bodyPr anchor="ctr" anchorCtr="0"/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21C17C7-87A8-4096-AA87-B54E1020D4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4600" y="3166877"/>
            <a:ext cx="3095625" cy="1041400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1pPr>
            <a:lvl2pPr>
              <a:spcAft>
                <a:spcPts val="0"/>
              </a:spcAft>
              <a:defRPr sz="1500" b="0">
                <a:solidFill>
                  <a:schemeClr val="bg1"/>
                </a:solidFill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500" b="0">
                <a:solidFill>
                  <a:schemeClr val="bg1"/>
                </a:solidFill>
                <a:latin typeface="+mn-lt"/>
              </a:defRPr>
            </a:lvl3pPr>
            <a:lvl4pPr>
              <a:spcAft>
                <a:spcPts val="0"/>
              </a:spcAft>
              <a:defRPr sz="1500"/>
            </a:lvl4pPr>
            <a:lvl5pPr>
              <a:spcAft>
                <a:spcPts val="0"/>
              </a:spcAft>
              <a:defRPr sz="15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9616B-69D4-FF49-A2CC-47F9D9FE5395}"/>
              </a:ext>
            </a:extLst>
          </p:cNvPr>
          <p:cNvSpPr txBox="1"/>
          <p:nvPr userDrawn="1"/>
        </p:nvSpPr>
        <p:spPr>
          <a:xfrm>
            <a:off x="633600" y="6213687"/>
            <a:ext cx="1569552" cy="184666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0" rIns="72000" bIns="0" rtlCol="0" anchor="ctr" anchorCtr="0">
            <a:spAutoFit/>
          </a:bodyPr>
          <a:lstStyle/>
          <a:p>
            <a:pPr algn="l"/>
            <a:r>
              <a:rPr lang="en-US" sz="1200" b="0" i="0">
                <a:solidFill>
                  <a:schemeClr val="bg1"/>
                </a:solidFill>
                <a:latin typeface="+mn-lt"/>
                <a:cs typeface="Times New Roman" panose="02020603050405020304" pitchFamily="18" charset="0"/>
              </a:rPr>
              <a:t>www.logicalis.com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C86C905-64BE-4506-8C3E-41AF052ACC2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47176111"/>
              </p:ext>
            </p:extLst>
          </p:nvPr>
        </p:nvGraphicFramePr>
        <p:xfrm>
          <a:off x="12261669" y="55995"/>
          <a:ext cx="768985" cy="67460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8985">
                  <a:extLst>
                    <a:ext uri="{9D8B030D-6E8A-4147-A177-3AD203B41FA5}">
                      <a16:colId xmlns:a16="http://schemas.microsoft.com/office/drawing/2014/main" val="810250890"/>
                    </a:ext>
                  </a:extLst>
                </a:gridCol>
              </a:tblGrid>
              <a:tr h="188806">
                <a:tc>
                  <a:txBody>
                    <a:bodyPr/>
                    <a:lstStyle/>
                    <a:p>
                      <a:r>
                        <a:rPr lang="en-AU" sz="800" b="1"/>
                        <a:t>Primary</a:t>
                      </a:r>
                    </a:p>
                  </a:txBody>
                  <a:tcP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79011"/>
                  </a:ext>
                </a:extLst>
              </a:tr>
              <a:tr h="4471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051925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lang="en-AU" sz="800"/>
                        <a:t>White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255</a:t>
                      </a:r>
                    </a:p>
                  </a:txBody>
                  <a:tcP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5217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90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08719"/>
                  </a:ext>
                </a:extLst>
              </a:tr>
              <a:tr h="602287">
                <a:tc>
                  <a:txBody>
                    <a:bodyPr/>
                    <a:lstStyle/>
                    <a:p>
                      <a:r>
                        <a:rPr lang="en-AU" sz="800"/>
                        <a:t>Red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255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354945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8905"/>
                  </a:ext>
                </a:extLst>
              </a:tr>
              <a:tr h="659503">
                <a:tc>
                  <a:txBody>
                    <a:bodyPr/>
                    <a:lstStyle/>
                    <a:p>
                      <a:r>
                        <a:rPr lang="en-AU" sz="800"/>
                        <a:t>Black</a:t>
                      </a:r>
                    </a:p>
                    <a:p>
                      <a:r>
                        <a:rPr lang="en-AU" sz="800" b="1"/>
                        <a:t>R </a:t>
                      </a:r>
                      <a:r>
                        <a:rPr lang="en-AU" sz="800"/>
                        <a:t>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2646226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 b="1"/>
                        <a:t>Accent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07731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808385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Blue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25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75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255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976284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2049601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Teal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255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205</a:t>
                      </a:r>
                    </a:p>
                  </a:txBody>
                  <a:tcPr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8906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endParaRPr lang="en-AU" sz="80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07040"/>
                  </a:ext>
                </a:extLst>
              </a:tr>
              <a:tr h="244800">
                <a:tc>
                  <a:txBody>
                    <a:bodyPr/>
                    <a:lstStyle/>
                    <a:p>
                      <a:r>
                        <a:rPr lang="en-AU" sz="800"/>
                        <a:t>Light Grey</a:t>
                      </a:r>
                    </a:p>
                    <a:p>
                      <a:r>
                        <a:rPr lang="en-AU" sz="800" b="1"/>
                        <a:t>R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G</a:t>
                      </a:r>
                      <a:r>
                        <a:rPr lang="en-AU" sz="800"/>
                        <a:t>  230</a:t>
                      </a:r>
                    </a:p>
                    <a:p>
                      <a:r>
                        <a:rPr lang="en-AU" sz="800" b="1"/>
                        <a:t>B  </a:t>
                      </a:r>
                      <a:r>
                        <a:rPr lang="en-AU" sz="800" b="0"/>
                        <a:t>230</a:t>
                      </a:r>
                    </a:p>
                  </a:txBody>
                  <a:tcP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243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37170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D339-BB19-4043-A166-4FFEA6AB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00" y="349200"/>
            <a:ext cx="4751202" cy="432000"/>
          </a:xfrm>
          <a:prstGeom prst="rect">
            <a:avLst/>
          </a:prstGeom>
          <a:solidFill>
            <a:srgbClr val="FF1414"/>
          </a:solidFill>
        </p:spPr>
        <p:txBody>
          <a:bodyPr vert="horz" wrap="square" lIns="72000" tIns="36000" rIns="72000" bIns="3600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8FAE61-913B-4243-9F6F-41F836C74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3417" y="1308944"/>
            <a:ext cx="11225167" cy="360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0"/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EED1DBC-3E6C-A386-4841-19F228B6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9785" y="6507298"/>
            <a:ext cx="658800" cy="123111"/>
          </a:xfrm>
          <a:prstGeom prst="rect">
            <a:avLst/>
          </a:prstGeo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992B96C7-85A4-4A4A-B6EF-66E274A71D4B}" type="slidenum">
              <a:rPr lang="en-GB" smtClean="0"/>
              <a:pPr/>
              <a:t>‹Nº›</a:t>
            </a:fld>
            <a:endParaRPr lang="en-GB" sz="80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04ACAE-EE43-8A60-F34C-23DD4D038152}"/>
              </a:ext>
            </a:extLst>
          </p:cNvPr>
          <p:cNvPicPr/>
          <p:nvPr userDrawn="1"/>
        </p:nvPicPr>
        <p:blipFill>
          <a:blip r:embed="rId45"/>
          <a:srcRect/>
          <a:stretch/>
        </p:blipFill>
        <p:spPr>
          <a:xfrm>
            <a:off x="10119504" y="350702"/>
            <a:ext cx="1589081" cy="296554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DAE6ED0-2B14-2B0D-C9F0-EB643D210B43}"/>
              </a:ext>
            </a:extLst>
          </p:cNvPr>
          <p:cNvSpPr txBox="1">
            <a:spLocks/>
          </p:cNvSpPr>
          <p:nvPr userDrawn="1"/>
        </p:nvSpPr>
        <p:spPr>
          <a:xfrm>
            <a:off x="482400" y="6507298"/>
            <a:ext cx="658800" cy="123111"/>
          </a:xfrm>
          <a:prstGeom prst="rect">
            <a:avLst/>
          </a:prstGeom>
        </p:spPr>
        <p:txBody>
          <a:bodyPr lIns="0" tIns="0" bIns="0" anchor="t">
            <a:spAutoFit/>
          </a:bodyPr>
          <a:lstStyle>
            <a:defPPr>
              <a:defRPr lang="en-PT"/>
            </a:defPPr>
            <a:lvl1pPr marL="0" algn="r" defTabSz="914400" rtl="0" eaLnBrk="1" latinLnBrk="0" hangingPunct="1">
              <a:defRPr sz="1000" b="0" i="0" kern="1200">
                <a:solidFill>
                  <a:schemeClr val="accent1"/>
                </a:solidFill>
                <a:latin typeface="Montserrat Medium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/>
              <a:t>Logicalis</a:t>
            </a:r>
          </a:p>
        </p:txBody>
      </p:sp>
    </p:spTree>
    <p:extLst>
      <p:ext uri="{BB962C8B-B14F-4D97-AF65-F5344CB8AC3E}">
        <p14:creationId xmlns:p14="http://schemas.microsoft.com/office/powerpoint/2010/main" val="208636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29" r:id="rId2"/>
    <p:sldLayoutId id="2147483730" r:id="rId3"/>
    <p:sldLayoutId id="2147483765" r:id="rId4"/>
    <p:sldLayoutId id="2147483731" r:id="rId5"/>
    <p:sldLayoutId id="2147483732" r:id="rId6"/>
    <p:sldLayoutId id="2147483733" r:id="rId7"/>
    <p:sldLayoutId id="2147483697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677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04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  <p:sldLayoutId id="2147483726" r:id="rId32"/>
    <p:sldLayoutId id="2147483756" r:id="rId33"/>
    <p:sldLayoutId id="2147483757" r:id="rId34"/>
    <p:sldLayoutId id="2147483758" r:id="rId35"/>
    <p:sldLayoutId id="2147483759" r:id="rId36"/>
    <p:sldLayoutId id="2147483760" r:id="rId37"/>
    <p:sldLayoutId id="2147483761" r:id="rId38"/>
    <p:sldLayoutId id="2147483762" r:id="rId39"/>
    <p:sldLayoutId id="2147483684" r:id="rId40"/>
    <p:sldLayoutId id="2147483764" r:id="rId41"/>
    <p:sldLayoutId id="2147483727" r:id="rId42"/>
    <p:sldLayoutId id="2147483672" r:id="rId43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bg1"/>
          </a:solidFill>
          <a:latin typeface="Roboto Slab" pitchFamily="2" charset="0"/>
          <a:ea typeface="Roboto Slab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90000"/>
        <a:buFont typeface="Arial" panose="020B0604020202020204" pitchFamily="34" charset="0"/>
        <a:buNone/>
        <a:defRPr sz="2000" b="0" i="0" kern="1200">
          <a:solidFill>
            <a:schemeClr val="accent1"/>
          </a:solidFill>
          <a:latin typeface="Roboto Slab" pitchFamily="2" charset="0"/>
          <a:ea typeface="Roboto Slab" pitchFamily="2" charset="0"/>
          <a:cs typeface="Times New Roman" panose="02020603050405020304" pitchFamily="18" charset="0"/>
        </a:defRPr>
      </a:lvl2pPr>
      <a:lvl3pPr marL="25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accent1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 Medium" pitchFamily="2" charset="77"/>
          <a:ea typeface="+mn-ea"/>
          <a:cs typeface="+mn-cs"/>
        </a:defRPr>
      </a:lvl3pPr>
      <a:lvl4pPr marL="540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80000"/>
        <a:buFont typeface=".Lucida Grande UI Regular"/>
        <a:buChar char="►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4pPr>
      <a:lvl5pPr marL="792000" indent="-252000" algn="l" defTabSz="914400" rtl="0" eaLnBrk="1" latinLnBrk="0" hangingPunct="1">
        <a:lnSpc>
          <a:spcPct val="150000"/>
        </a:lnSpc>
        <a:spcBef>
          <a:spcPts val="0"/>
        </a:spcBef>
        <a:spcAft>
          <a:spcPts val="1200"/>
        </a:spcAft>
        <a:buClr>
          <a:schemeClr val="tx2"/>
        </a:buClr>
        <a:buSzPct val="90000"/>
        <a:buFont typeface="Monaco" pitchFamily="2" charset="77"/>
        <a:buChar char="⎻"/>
        <a:defRPr sz="1400" b="0" i="0" kern="1200">
          <a:solidFill>
            <a:srgbClr val="595959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pos="398">
          <p15:clr>
            <a:srgbClr val="F26B43"/>
          </p15:clr>
        </p15:guide>
        <p15:guide id="4" pos="7197">
          <p15:clr>
            <a:srgbClr val="F26B43"/>
          </p15:clr>
        </p15:guide>
        <p15:guide id="5" orient="horz" pos="1132">
          <p15:clr>
            <a:srgbClr val="F26B43"/>
          </p15:clr>
        </p15:guide>
        <p15:guide id="6" orient="horz" pos="3401">
          <p15:clr>
            <a:srgbClr val="F26B43"/>
          </p15:clr>
        </p15:guide>
        <p15:guide id="7" orient="horz" pos="489">
          <p15:clr>
            <a:srgbClr val="F26B43"/>
          </p15:clr>
        </p15:guide>
        <p15:guide id="8" orient="horz" pos="125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eur-lex.europa.eu/eli/reg/2016/679/oj" TargetMode="External"/><Relationship Id="rId13" Type="http://schemas.openxmlformats.org/officeDocument/2006/relationships/hyperlink" Target="https://curia.europa.eu/juris/liste.jsf?num=C-203/22" TargetMode="External"/><Relationship Id="rId3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eur-lex.europa.eu/eli/reg/2024/1689/oj" TargetMode="External"/><Relationship Id="rId12" Type="http://schemas.openxmlformats.org/officeDocument/2006/relationships/hyperlink" Target="https://curia.europa.eu/juris/liste.jsf?num=C-634/21" TargetMode="External"/><Relationship Id="rId2" Type="http://schemas.openxmlformats.org/officeDocument/2006/relationships/notesSlide" Target="../notesSlides/notesSlide52.xml"/><Relationship Id="rId16" Type="http://schemas.openxmlformats.org/officeDocument/2006/relationships/hyperlink" Target="https://www.nist.gov/itl/ai-risk-management-framework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nning.com/about-us/news/ir-pr---ai-survey-2025" TargetMode="External"/><Relationship Id="rId11" Type="http://schemas.openxmlformats.org/officeDocument/2006/relationships/hyperlink" Target="https://www.gibsondunn.com/eu-ai-act-omnibus-agreement-postponed-high-risk-deadlines-and-other-key-changes/" TargetMode="External"/><Relationship Id="rId5" Type="http://schemas.openxmlformats.org/officeDocument/2006/relationships/hyperlink" Target="https://fortune.com/2025/08/18/mit-report-95-percent-generative-ai-pilots-at-companies-failing-cfo/" TargetMode="External"/><Relationship Id="rId15" Type="http://schemas.openxmlformats.org/officeDocument/2006/relationships/hyperlink" Target="https://www.iso.org/standard/42001" TargetMode="External"/><Relationship Id="rId10" Type="http://schemas.openxmlformats.org/officeDocument/2006/relationships/hyperlink" Target="https://eur-lex.europa.eu/eli/dir/2022/2555/oj" TargetMode="External"/><Relationship Id="rId4" Type="http://schemas.openxmlformats.org/officeDocument/2006/relationships/hyperlink" Target="https://www.gartner.com/en/newsroom/press-releases/2025-06-25-gartner-predicts-over-40-percent-of-agentic-ai-projects-will-be-canceled-by-end-of-2027" TargetMode="External"/><Relationship Id="rId9" Type="http://schemas.openxmlformats.org/officeDocument/2006/relationships/hyperlink" Target="https://eur-lex.europa.eu/eli/reg/2022/2554/oj" TargetMode="External"/><Relationship Id="rId14" Type="http://schemas.openxmlformats.org/officeDocument/2006/relationships/hyperlink" Target="https://www.eiopa.europa.eu/eiopa-publishes-opinion-ai-governance-and-risk-management-2025-08-06_en" TargetMode="Externa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921E48-B7DB-6CFD-42FD-BACF049CF6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011680"/>
            <a:ext cx="4496308" cy="688848"/>
          </a:xfrm>
        </p:spPr>
        <p:txBody>
          <a:bodyPr wrap="none" anchor="ctr">
            <a:noAutofit/>
          </a:bodyPr>
          <a:lstStyle/>
          <a:p>
            <a:r>
              <a:rPr lang="en-PT" sz="4200"/>
              <a:t>Observabilidad 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2791968"/>
            <a:ext cx="452551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gobierno de la IA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A3839338-4607-518B-5A15-89D10D8B7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572256"/>
            <a:ext cx="2446528" cy="688848"/>
          </a:xfrm>
        </p:spPr>
        <p:txBody>
          <a:bodyPr wrap="none" anchor="ctr">
            <a:noAutofit/>
          </a:bodyPr>
          <a:lstStyle/>
          <a:p>
            <a:r>
              <a:rPr lang="pt-PT" sz="4200" err="1"/>
              <a:t>agéntica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84D23A1D-92A7-B8F8-A6A5-CA7C51F45A8F}"/>
              </a:ext>
            </a:extLst>
          </p:cNvPr>
          <p:cNvSpPr txBox="1">
            <a:spLocks/>
          </p:cNvSpPr>
          <p:nvPr/>
        </p:nvSpPr>
        <p:spPr>
          <a:xfrm>
            <a:off x="630936" y="5303520"/>
            <a:ext cx="4572000" cy="356616"/>
          </a:xfrm>
          <a:prstGeom prst="rect">
            <a:avLst/>
          </a:prstGeom>
          <a:noFill/>
        </p:spPr>
        <p:txBody>
          <a:bodyPr vert="horz" wrap="square" lIns="72000" tIns="36000" rIns="72000" bIns="3600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PT" sz="1200">
                <a:latin typeface="Montserrat" pitchFamily="2" charset="77"/>
              </a:rPr>
              <a:t>Octubre 2026</a:t>
            </a:r>
          </a:p>
        </p:txBody>
      </p:sp>
      <p:pic>
        <p:nvPicPr>
          <p:cNvPr id="7" name="Picture 6" descr="A person with her arms crossed&#10;&#10;Description automatically generated">
            <a:extLst>
              <a:ext uri="{FF2B5EF4-FFF2-40B4-BE49-F238E27FC236}">
                <a16:creationId xmlns:a16="http://schemas.microsoft.com/office/drawing/2014/main" id="{B28B268F-CE6A-5453-5C27-75301FD49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778" y="1346330"/>
            <a:ext cx="8553692" cy="55116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4489704"/>
            <a:ext cx="5303520" cy="6766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Montserrat Medium"/>
              </a:rPr>
              <a:t>De agentes que funcionan a agentes en los que se puede confiar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5687568"/>
            <a:ext cx="2574289" cy="292608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100">
                <a:solidFill>
                  <a:srgbClr val="FFFFFF"/>
                </a:solidFill>
                <a:latin typeface="Montserrat Medium"/>
              </a:rPr>
              <a:t>Presentado por Ignacio Sánchez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45768" cy="429768"/>
          </a:xfrm>
        </p:spPr>
        <p:txBody>
          <a:bodyPr wrap="none"/>
          <a:lstStyle/>
          <a:p>
            <a:r>
              <a:rPr sz="2600"/>
              <a:t>Agenda</a:t>
            </a:r>
          </a:p>
        </p:txBody>
      </p:sp>
      <p:pic>
        <p:nvPicPr>
          <p:cNvPr id="3" name="Picture 2" descr="wave_symbol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5303520" cy="2515857"/>
          </a:xfrm>
          <a:prstGeom prst="rect">
            <a:avLst/>
          </a:prstGeom>
        </p:spPr>
      </p:pic>
      <p:sp>
        <p:nvSpPr>
          <p:cNvPr id="4" name="AGENDA_ITEMS"/>
          <p:cNvSpPr txBox="1"/>
          <p:nvPr/>
        </p:nvSpPr>
        <p:spPr>
          <a:xfrm>
            <a:off x="484632" y="1600200"/>
            <a:ext cx="6949440" cy="4572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noAutofit/>
          </a:bodyPr>
          <a:lstStyle/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01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Por qué ahora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02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Qué cambia con los agentes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03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Lo que exige la regulación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04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Capacidades</a:t>
            </a:r>
          </a:p>
          <a:p>
            <a:pPr>
              <a:spcAft>
                <a:spcPts val="1800"/>
              </a:spcAft>
            </a:pPr>
            <a:r>
              <a:rPr sz="3600" b="0">
                <a:solidFill>
                  <a:srgbClr val="194BFF"/>
                </a:solidFill>
                <a:latin typeface="Roboto Slab"/>
              </a:rPr>
              <a:t>05</a:t>
            </a:r>
            <a:r>
              <a:rPr sz="2200" b="0">
                <a:solidFill>
                  <a:srgbClr val="595959"/>
                </a:solidFill>
                <a:latin typeface="Montserrat Medium"/>
              </a:rPr>
              <a:t>   Cómo implantarlo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</a:t>
            </a:fld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92912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Por qué ahora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Todas las empresas prueban agentes. Muy pocas los tienen en producción.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53558" cy="429768"/>
          </a:xfrm>
        </p:spPr>
        <p:txBody>
          <a:bodyPr wrap="none"/>
          <a:lstStyle/>
          <a:p>
            <a:r>
              <a:rPr sz="2600"/>
              <a:t>La IA agéntica llega a la empresa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Los agentes ya no solo responden: deciden y actúan sobre sistemas de negocio.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702052"/>
            <a:ext cx="2441448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88 %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073652"/>
            <a:ext cx="2441448" cy="21899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organizaciones usa IA en al menos una función de negocio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74720" y="2702052"/>
            <a:ext cx="2441448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38727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74720" y="4073652"/>
            <a:ext cx="2441448" cy="21899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ya usa o experimenta con agentes de IA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9048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81928" y="2702052"/>
            <a:ext cx="2441448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33 %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45936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81928" y="4073652"/>
            <a:ext cx="2441448" cy="21899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aplicaciones empresariales incluirá IA agéntica en 2028 (Gartner)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06255" y="2702052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089135" y="2702052"/>
            <a:ext cx="2441448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4400">
                <a:solidFill>
                  <a:srgbClr val="194BFF"/>
                </a:solidFill>
                <a:latin typeface="Roboto Slab"/>
              </a:rPr>
              <a:t>15 %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936491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89135" y="4073652"/>
            <a:ext cx="2441448" cy="21899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de las decisiones del día a día se tomarán de forma autónoma en 2028 (Gartner)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805427" cy="429768"/>
          </a:xfrm>
        </p:spPr>
        <p:txBody>
          <a:bodyPr wrap="none"/>
          <a:lstStyle/>
          <a:p>
            <a:r>
              <a:rPr sz="2600"/>
              <a:t>Del piloto a producción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Por qué se cancelan, según Gartner: costes que se disparan, valor de negocio poco claro y controles de riesgo insuficientes.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839211"/>
            <a:ext cx="3377183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62 %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67512" y="4210812"/>
            <a:ext cx="3377183" cy="20528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experimenta con agentes (McKinsey, 2025)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27576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410456" y="2839211"/>
            <a:ext cx="3377183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23 %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74463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10456" y="4210812"/>
            <a:ext cx="3377183" cy="20528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los está escalando en alguna parte de la empresa; en ninguna función pasa del 10 % (McKinsey, 2025)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70519" y="2839211"/>
            <a:ext cx="0" cy="265176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53399" y="2839211"/>
            <a:ext cx="3377183" cy="1097280"/>
          </a:xfrm>
          <a:prstGeom prst="rect">
            <a:avLst/>
          </a:prstGeom>
          <a:noFill/>
        </p:spPr>
        <p:txBody>
          <a:bodyPr wrap="none" lIns="45720" tIns="27432" rIns="45720" bIns="27432" anchor="b">
            <a:noAutofit/>
          </a:bodyPr>
          <a:lstStyle/>
          <a:p>
            <a:r>
              <a:rPr sz="5400">
                <a:solidFill>
                  <a:srgbClr val="194BFF"/>
                </a:solidFill>
                <a:latin typeface="Roboto Slab"/>
              </a:rPr>
              <a:t>&gt;40 %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7407" y="4073652"/>
            <a:ext cx="758952" cy="0"/>
          </a:xfrm>
          <a:prstGeom prst="line">
            <a:avLst/>
          </a:prstGeom>
          <a:ln w="3810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53399" y="4210812"/>
            <a:ext cx="3377183" cy="20528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de los proyectos agénticos se cancelará antes de finales de 2027 (Gartner)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071617" cy="429768"/>
          </a:xfrm>
        </p:spPr>
        <p:txBody>
          <a:bodyPr wrap="none"/>
          <a:lstStyle/>
          <a:p>
            <a:r>
              <a:rPr sz="2600"/>
              <a:t>Cuatro preguntas sin respuesta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6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 observabilidad y el gobierno son lo que permite responder a estas cuatro preguntas.</a:t>
            </a:r>
          </a:p>
        </p:txBody>
      </p:sp>
      <p:sp>
        <p:nvSpPr>
          <p:cNvPr id="3" name="Freeform 2"/>
          <p:cNvSpPr/>
          <p:nvPr/>
        </p:nvSpPr>
        <p:spPr>
          <a:xfrm>
            <a:off x="1294315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02436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624327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¿Por qué decidió eso?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explicabilidad. El cliente, el auditor o el regulador pueden preguntarlo.</a:t>
            </a:r>
          </a:p>
        </p:txBody>
      </p:sp>
      <p:sp>
        <p:nvSpPr>
          <p:cNvPr id="4" name="Freeform 3"/>
          <p:cNvSpPr/>
          <p:nvPr/>
        </p:nvSpPr>
        <p:spPr>
          <a:xfrm>
            <a:off x="4101523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09644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4439412"/>
            <a:ext cx="2624327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¿Quién lo controla?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autonomía, límites, responsables y capacidad de pararlo.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6908731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6852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4439412"/>
            <a:ext cx="2624327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¿Cuánto cuesta?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coste por decisión y por agente, no una factura mensual del proveedor.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715939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24059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439412"/>
            <a:ext cx="2624327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¿Sigue funcionando igual que ayer?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Montserrat Medium"/>
              </a:rPr>
              <a:t>un agente puede degradarse sin que nadie cambie una línea de código.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7E73E-630D-5F6F-93A1-C692F05CA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088638" cy="660400"/>
          </a:xfrm>
        </p:spPr>
        <p:txBody>
          <a:bodyPr wrap="none" anchor="ctr">
            <a:noAutofit/>
          </a:bodyPr>
          <a:lstStyle/>
          <a:p>
            <a:r>
              <a:rPr sz="4000"/>
              <a:t>Qué cambia con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A97B2C3-B154-9FFE-9972-3B3059C111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0936" y="3129280"/>
            <a:ext cx="2969768" cy="660400"/>
          </a:xfrm>
        </p:spPr>
        <p:txBody>
          <a:bodyPr wrap="none" anchor="ctr">
            <a:noAutofit/>
          </a:bodyPr>
          <a:lstStyle/>
          <a:p>
            <a:r>
              <a:rPr sz="4000"/>
              <a:t>los agentes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0186" y="1847900"/>
            <a:ext cx="7772396" cy="50100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415544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Un agente puede cambiar de comportamiento sin que nadie toque su código.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820917" cy="429768"/>
          </a:xfrm>
        </p:spPr>
        <p:txBody>
          <a:bodyPr wrap="none"/>
          <a:lstStyle/>
          <a:p>
            <a:r>
              <a:rPr sz="2600"/>
              <a:t>Software tradicional frente a agente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8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agente cambia sin tocar su código: lo cambian el modelo, el conocimiento, los prompts y los casos nuevos que llegan.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1" cy="3445507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723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8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82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56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Software tradicional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Agente de IA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Comportamiento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Determinista: misma entrada, misma salida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Probabilístico: puede variar con la misma entrada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lo cambia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Un despliegue de código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El modelo, el prompt, el conocimiento, los datos y el propio lenguaje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Errores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Excepciones y fallos visibles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Respuestas plausibles pero incorrectas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Lógica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código y se puede leer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Está en el modelo; hay que registrarla para poder explicarla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Coste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Fijo, por infraestructura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Variable, por token y por razonamiento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49728" cy="429768"/>
          </a:xfrm>
        </p:spPr>
        <p:txBody>
          <a:bodyPr wrap="none"/>
          <a:lstStyle/>
          <a:p>
            <a:r>
              <a:rPr sz="2600"/>
              <a:t>Riesgos nuevos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9</a:t>
            </a:fld>
            <a:endParaRPr lang="es-ES"/>
          </a:p>
        </p:txBody>
      </p:sp>
      <p:sp>
        <p:nvSpPr>
          <p:cNvPr id="3" name="Freeform 2"/>
          <p:cNvSpPr/>
          <p:nvPr/>
        </p:nvSpPr>
        <p:spPr>
          <a:xfrm>
            <a:off x="83690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6638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Decisiones erróneas o inventadas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modelo rellena huecos con datos que no existen.</a:t>
            </a:r>
          </a:p>
        </p:txBody>
      </p:sp>
      <p:sp>
        <p:nvSpPr>
          <p:cNvPr id="4" name="Freeform 3"/>
          <p:cNvSpPr/>
          <p:nvPr/>
        </p:nvSpPr>
        <p:spPr>
          <a:xfrm>
            <a:off x="2708372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8110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543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Deriva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la calidad baja poco a poco tras un cambio de modelo, de prompt o de datos.</a:t>
            </a:r>
          </a:p>
        </p:txBody>
      </p:sp>
      <p:sp>
        <p:nvSpPr>
          <p:cNvPr id="10" name="Freeform 9"/>
          <p:cNvSpPr/>
          <p:nvPr/>
        </p:nvSpPr>
        <p:spPr>
          <a:xfrm>
            <a:off x="4579844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8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8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9582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9015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Coste desbocado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tokens de razonamiento, reintentos y bucles entre agentes.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451316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1054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7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Permisos excesivos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un agente con más acceso del que necesita para su función.</a:t>
            </a:r>
          </a:p>
        </p:txBody>
      </p:sp>
      <p:sp>
        <p:nvSpPr>
          <p:cNvPr id="16" name="Freeform 15"/>
          <p:cNvSpPr/>
          <p:nvPr/>
        </p:nvSpPr>
        <p:spPr>
          <a:xfrm>
            <a:off x="8322788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32526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1959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Prompt injection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instrucciones maliciosas escondidas en un correo, un documento o una web.</a:t>
            </a:r>
          </a:p>
        </p:txBody>
      </p:sp>
      <p:sp>
        <p:nvSpPr>
          <p:cNvPr id="19" name="Freeform 18"/>
          <p:cNvSpPr/>
          <p:nvPr/>
        </p:nvSpPr>
        <p:spPr>
          <a:xfrm>
            <a:off x="10194260" y="2723266"/>
            <a:ext cx="1166935" cy="1347459"/>
          </a:xfrm>
          <a:custGeom>
            <a:avLst/>
            <a:gdLst/>
            <a:ahLst/>
            <a:cxnLst/>
            <a:rect l="l" t="t" r="r" b="b"/>
            <a:pathLst>
              <a:path w="1166935" h="1347459">
                <a:moveTo>
                  <a:pt x="583467" y="0"/>
                </a:moveTo>
                <a:lnTo>
                  <a:pt x="1166935" y="336865"/>
                </a:lnTo>
                <a:lnTo>
                  <a:pt x="1166935" y="1010594"/>
                </a:lnTo>
                <a:lnTo>
                  <a:pt x="583467" y="1347459"/>
                </a:lnTo>
                <a:lnTo>
                  <a:pt x="0" y="1010594"/>
                </a:lnTo>
                <a:lnTo>
                  <a:pt x="0" y="336865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03998" y="3122676"/>
            <a:ext cx="1347459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3431" y="4253605"/>
            <a:ext cx="1688591" cy="201003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Dependencia de terceros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el proveedor del modelo es un tercero crítico.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423918" cy="429768"/>
          </a:xfrm>
        </p:spPr>
        <p:txBody>
          <a:bodyPr wrap="none"/>
          <a:lstStyle/>
          <a:p>
            <a:r>
              <a:rPr sz="2600"/>
              <a:t>Monitorizar no es observar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10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El objetivo no es sacar logs del agente, sino construir una traza semántica de cada decisión.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2" cy="27050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61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4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Monitorización técnica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Observabilidad cognitiva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funcionando?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¿Está decidiendo bien?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 interpretada, datos usados, reglas aplicadas, alternativas descartadas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qué pasó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Responde a por qué pasó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el equipo técnico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Para negocio, riesgos, auditoría y técnico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ave_big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3611880" y="2185416"/>
            <a:ext cx="9418320" cy="5297805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731520" y="1417319"/>
            <a:ext cx="566928" cy="329184"/>
          </a:xfrm>
          <a:prstGeom prst="rect">
            <a:avLst/>
          </a:prstGeom>
          <a:solidFill>
            <a:srgbClr val="0A2592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731520" y="1874519"/>
            <a:ext cx="525957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Lo que exige la regulación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5447"/>
            <a:ext cx="73152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Lo que ya obliga hoy y lo que llega con el AI Act.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0576D-B669-167B-03FD-E669ECE0B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bg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11</a:t>
            </a:fld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954527" cy="429768"/>
          </a:xfrm>
        </p:spPr>
        <p:txBody>
          <a:bodyPr wrap="none"/>
          <a:lstStyle/>
          <a:p>
            <a:r>
              <a:rPr sz="2600"/>
              <a:t>Marco normativo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Ya en vigor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 art. 4 y 50</a:t>
            </a:r>
            <a:r>
              <a:rPr sz="1300"/>
              <a:t>: alfabetización en IA y transparencia con quien interactúa con una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22</a:t>
            </a:r>
            <a:r>
              <a:rPr sz="1300"/>
              <a:t>: derecho a no ser objeto de decisiones solo automatizadas. Firmar sin revisar no es intervención humana (TJUE, SCHUFA).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RGPD art. 15</a:t>
            </a:r>
            <a:r>
              <a:rPr sz="1300"/>
              <a:t>: derecho a una explicación con sentido de la lógica aplicada (TJUE, Dun &amp; Bradstreet).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DORA y NIS2</a:t>
            </a:r>
            <a:r>
              <a:rPr sz="1300"/>
              <a:t>: el proveedor del modelo es un tercero crítico.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Supervisores sectoriales</a:t>
            </a:r>
            <a:r>
              <a:rPr sz="1300"/>
              <a:t>: por ejemplo, EIOPA en seguros (agosto de 2025).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Lo que llega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AI Act, alto riesgo</a:t>
            </a:r>
            <a:r>
              <a:rPr sz="1300"/>
              <a:t> (2/12/2027, Digital Omnibus): registro de eventos (art. 12), transparencia (art. 13), supervisión humana (art. 14) y robustez (art. 15).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Ley española de IA</a:t>
            </a:r>
            <a:r>
              <a:rPr sz="1300"/>
              <a:t>: en tramitación, con AESIA como supervisora.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Sanciones</a:t>
            </a:r>
            <a:r>
              <a:rPr sz="1300"/>
              <a:t>: hasta 35 M€ o el 7 % de la facturación global.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399032"/>
            <a:ext cx="3499103" cy="4864607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500"/>
              </a:spcAft>
              <a:buNone/>
            </a:pPr>
            <a:r>
              <a:rPr sz="1500" b="1">
                <a:solidFill>
                  <a:srgbClr val="194BFF"/>
                </a:solidFill>
                <a:latin typeface="Montserrat"/>
              </a:rPr>
              <a:t>Estándares de referencia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ISO/IEC 42001</a:t>
            </a:r>
            <a:r>
              <a:rPr sz="1300"/>
              <a:t>: sistema de gestión de IA.</a:t>
            </a:r>
          </a:p>
          <a:p>
            <a:pPr>
              <a:lnSpc>
                <a:spcPct val="130000"/>
              </a:lnSpc>
              <a:spcAft>
                <a:spcPts val="500"/>
              </a:spcAft>
              <a:buClr>
                <a:srgbClr val="FF1414"/>
              </a:buClr>
              <a:buFont typeface="Arial"/>
              <a:buChar char="►"/>
            </a:pPr>
            <a:r>
              <a:rPr sz="1300" b="1"/>
              <a:t>NIST AI RMF</a:t>
            </a:r>
            <a:r>
              <a:rPr sz="1300"/>
              <a:t>: marco de gestión del riesgo de IA.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12</a:t>
            </a:fld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x_photo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6928"/>
            <a:ext cx="6035040" cy="5683392"/>
          </a:xfrm>
          <a:prstGeom prst="rect">
            <a:avLst/>
          </a:prstGeom>
        </p:spPr>
      </p:pic>
      <p:sp>
        <p:nvSpPr>
          <p:cNvPr id="3" name="NUM"/>
          <p:cNvSpPr txBox="1"/>
          <p:nvPr/>
        </p:nvSpPr>
        <p:spPr>
          <a:xfrm>
            <a:off x="6720840" y="2331720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1400" b="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4" name="REDTITLE"/>
          <p:cNvSpPr txBox="1"/>
          <p:nvPr/>
        </p:nvSpPr>
        <p:spPr>
          <a:xfrm>
            <a:off x="6720840" y="2788920"/>
            <a:ext cx="2691638" cy="546608"/>
          </a:xfrm>
          <a:prstGeom prst="rect">
            <a:avLst/>
          </a:prstGeom>
          <a:solidFill>
            <a:srgbClr val="FF1414"/>
          </a:solidFill>
        </p:spPr>
        <p:txBody>
          <a:bodyPr wrap="none" lIns="72000" tIns="36000" rIns="72000" bIns="36000" anchor="ctr">
            <a:noAutofit/>
          </a:bodyPr>
          <a:lstStyle/>
          <a:p>
            <a:r>
              <a:rPr sz="3200" b="0">
                <a:solidFill>
                  <a:srgbClr val="FFFFFF"/>
                </a:solidFill>
                <a:latin typeface="Roboto Slab"/>
              </a:rPr>
              <a:t>Capacidades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3609848"/>
            <a:ext cx="51206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Ver, entender, limitar, pagar y auditar.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487168" cy="429768"/>
          </a:xfrm>
        </p:spPr>
        <p:txBody>
          <a:bodyPr wrap="none"/>
          <a:lstStyle/>
          <a:p>
            <a:r>
              <a:rPr sz="2600"/>
              <a:t>Qué buscamos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14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No se trata de desplegar un agente, sino de industrializar su operación.</a:t>
            </a:r>
          </a:p>
        </p:txBody>
      </p:sp>
      <p:sp>
        <p:nvSpPr>
          <p:cNvPr id="3" name="Freeform 2"/>
          <p:cNvSpPr/>
          <p:nvPr/>
        </p:nvSpPr>
        <p:spPr>
          <a:xfrm>
            <a:off x="1013594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1715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439412"/>
            <a:ext cx="2062886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Fiable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estable y con el rendimiento esperado.</a:t>
            </a:r>
          </a:p>
        </p:txBody>
      </p:sp>
      <p:sp>
        <p:nvSpPr>
          <p:cNvPr id="4" name="Freeform 3"/>
          <p:cNvSpPr/>
          <p:nvPr/>
        </p:nvSpPr>
        <p:spPr>
          <a:xfrm>
            <a:off x="3259361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67481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1838" y="4439412"/>
            <a:ext cx="2062886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Medible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con su impacto real en el negocio cuantificado.</a:t>
            </a:r>
          </a:p>
        </p:txBody>
      </p:sp>
      <p:sp>
        <p:nvSpPr>
          <p:cNvPr id="11" name="Freeform 10"/>
          <p:cNvSpPr/>
          <p:nvPr/>
        </p:nvSpPr>
        <p:spPr>
          <a:xfrm>
            <a:off x="5505127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1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1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13248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7604" y="4439412"/>
            <a:ext cx="2062886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Auditable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cualquier decisión se puede reconstruir y justificar.</a:t>
            </a:r>
          </a:p>
        </p:txBody>
      </p:sp>
      <p:sp>
        <p:nvSpPr>
          <p:cNvPr id="14" name="Freeform 13"/>
          <p:cNvSpPr/>
          <p:nvPr/>
        </p:nvSpPr>
        <p:spPr>
          <a:xfrm>
            <a:off x="7750894" y="2884932"/>
            <a:ext cx="1187840" cy="1371600"/>
          </a:xfrm>
          <a:custGeom>
            <a:avLst/>
            <a:gdLst/>
            <a:ahLst/>
            <a:cxnLst/>
            <a:rect l="l" t="t" r="r" b="b"/>
            <a:pathLst>
              <a:path w="1187840" h="1371600">
                <a:moveTo>
                  <a:pt x="593920" y="0"/>
                </a:moveTo>
                <a:lnTo>
                  <a:pt x="1187840" y="342900"/>
                </a:lnTo>
                <a:lnTo>
                  <a:pt x="1187840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0A2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59014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4439412"/>
            <a:ext cx="2062886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Gobernable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se controla su evolución, su autonomía y su comportamiento.</a:t>
            </a:r>
          </a:p>
        </p:txBody>
      </p:sp>
      <p:sp>
        <p:nvSpPr>
          <p:cNvPr id="17" name="Freeform 16"/>
          <p:cNvSpPr/>
          <p:nvPr/>
        </p:nvSpPr>
        <p:spPr>
          <a:xfrm>
            <a:off x="9996660" y="2884932"/>
            <a:ext cx="1187841" cy="1371600"/>
          </a:xfrm>
          <a:custGeom>
            <a:avLst/>
            <a:gdLst/>
            <a:ahLst/>
            <a:cxnLst/>
            <a:rect l="l" t="t" r="r" b="b"/>
            <a:pathLst>
              <a:path w="1187841" h="1371600">
                <a:moveTo>
                  <a:pt x="593920" y="0"/>
                </a:moveTo>
                <a:lnTo>
                  <a:pt x="1187841" y="342900"/>
                </a:lnTo>
                <a:lnTo>
                  <a:pt x="1187841" y="1028700"/>
                </a:lnTo>
                <a:lnTo>
                  <a:pt x="593920" y="1371600"/>
                </a:lnTo>
                <a:lnTo>
                  <a:pt x="0" y="1028700"/>
                </a:lnTo>
                <a:lnTo>
                  <a:pt x="0" y="342900"/>
                </a:lnTo>
                <a:close/>
              </a:path>
            </a:pathLst>
          </a:cu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04780" y="3296412"/>
            <a:ext cx="1371600" cy="5486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59137" y="4439412"/>
            <a:ext cx="2062886" cy="18242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194BFF"/>
                </a:solidFill>
                <a:latin typeface="Montserrat"/>
              </a:rPr>
              <a:t>Evolutiva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>
                <a:solidFill>
                  <a:srgbClr val="595959"/>
                </a:solidFill>
                <a:latin typeface="Montserrat Medium"/>
              </a:rPr>
              <a:t>mejora de forma continua a partir de evidencia.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24858" cy="429768"/>
          </a:xfrm>
        </p:spPr>
        <p:txBody>
          <a:bodyPr wrap="none"/>
          <a:lstStyle/>
          <a:p>
            <a:r>
              <a:rPr sz="2600"/>
              <a:t>Arquitectura de referencia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Agentes especializados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Una sola función por agente, con su modelo, su prompt y sus límites.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Ejemplo en seguros: recepción multicanal → clasificación → extracción → reglas de negocio.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No es una IA que lo hace todo: son especialistas con límites claros sobre una capa de gobierno común.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4349496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Capa de gobierno común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Trazas, replay, autonomía, guardrails, FinOps e histórico.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Los mismos controles para todos los agentes, no uno por proyecto.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2"/>
          </p:nvPr>
        </p:nvSpPr>
        <p:spPr>
          <a:xfrm>
            <a:off x="8214359" y="1932432"/>
            <a:ext cx="3499103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Instrumentación estándar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OpenTelemetry genera trazas, métricas y logs.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Las herramientas de explotación (CloudWatch, Azure Monitor, Datadog, Langfuse…) consumen los datos: se cambian sin tocar el agente.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A9AF041-7FE4-8E72-16FA-B7B09375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15</a:t>
            </a:fld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67477" cy="429768"/>
          </a:xfrm>
        </p:spPr>
        <p:txBody>
          <a:bodyPr wrap="none"/>
          <a:lstStyle/>
          <a:p>
            <a:r>
              <a:rPr sz="2600"/>
              <a:t>Tres niveles de observabilidad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16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62179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Un mismo trace_id une los tres: del problema técnico a su impacto en negocio y a su causa en el razonamiento.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2157984"/>
          <a:ext cx="11228830" cy="339343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0208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02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26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02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569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1 · Técnica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2 · Operativa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ontserrat"/>
                        </a:rPr>
                        <a:t>Nivel 3 · Cognitiva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5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Pregunta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¿Funciona?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¿Aporta?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¿Decide bien?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1069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Qué mide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Latencia, errores, disponibilidad, tokens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Automatización, escalados, precisión, tiempo de resolución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Intención, datos usados, reglas, decisiones intermedias, alternativas descartadas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Quién lo usa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Equipos técnicos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Negocio y operación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Riesgos, compliance y auditoría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Valor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Prevenir degradaciones y cumplir SLA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Ver el retorno del proyecto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95959"/>
                          </a:solidFill>
                          <a:latin typeface="Montserrat Medium"/>
                        </a:rPr>
                        <a:t>Explicar y auditar cada decisión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567938" cy="429768"/>
          </a:xfrm>
        </p:spPr>
        <p:txBody>
          <a:bodyPr wrap="none"/>
          <a:lstStyle/>
          <a:p>
            <a:r>
              <a:rPr sz="2600"/>
              <a:t>Mapa de capacidades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17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Cada capacidad responde a una de las cuatro preguntas del principio.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84632" y="1883664"/>
          <a:ext cx="11228830" cy="182727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2457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5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57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57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57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50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Ver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Entender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Limitar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Pagar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Auditar</a:t>
                      </a:r>
                    </a:p>
                  </a:txBody>
                  <a:tcPr anchor="ctr">
                    <a:lnB w="6350">
                      <a:solidFill>
                        <a:srgbClr val="D9D9D9"/>
                      </a:solidFill>
                    </a:lnB>
                    <a:solidFill>
                      <a:srgbClr val="194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55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¿Qué está pasando?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¿Por qué decidió eso?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¿Quién lo controla?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¿Cuánto cuesta?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¿Qué cambió y quién lo aprobó?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659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Vista de dirección · Trazabilidad de extremo a extremo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Explicabilidad · Reasoning Replay · Causa raíz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Identidad y permisos · Autonomía · Trust Score · Guardrails · Kill switch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Caps · Acciones correctivas · Comparativa de modelos · Simulación antes de cambiar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95959"/>
                          </a:solidFill>
                          <a:latin typeface="Montserrat Medium"/>
                        </a:rPr>
                        <a:t>Libro de registro · Cumplimiento por diseño</a:t>
                      </a:r>
                    </a:p>
                  </a:txBody>
                  <a:tcPr anchor="ctr"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61967" cy="429768"/>
          </a:xfrm>
        </p:spPr>
        <p:txBody>
          <a:bodyPr wrap="none"/>
          <a:lstStyle/>
          <a:p>
            <a:r>
              <a:rPr sz="2600"/>
              <a:t>Ver: la vista de dirección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El estado del sistema en una pantalla</a:t>
            </a:r>
            <a:r>
              <a:rPr sz="1800"/>
              <a:t>: mensajes, autonomía efectiva, escalados, overrides, coste frente al cap y alertas.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Una tarjeta por agente</a:t>
            </a:r>
            <a:r>
              <a:rPr sz="1800"/>
              <a:t>: modelo, versión de prompt, nivel de autonomía, estado y coste del día frente a su límite.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Alertas con causa y acción</a:t>
            </a:r>
            <a:r>
              <a:rPr sz="1800"/>
              <a:t>: no solo «algo va mal», sino qué se ha hecho ya.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En diez segundos se sabe si el sistema va bien.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18</a:t>
            </a:fld>
            <a:endParaRPr lang="es-ES"/>
          </a:p>
        </p:txBody>
      </p:sp>
      <p:pic>
        <p:nvPicPr>
          <p:cNvPr id="13" name="Picture 12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Resumen: KPIs del periodo, estado de cada agente y coste frente al cap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19</a:t>
            </a:fld>
            <a:endParaRPr lang="es-ES"/>
          </a:p>
        </p:txBody>
      </p:sp>
      <p:pic>
        <p:nvPicPr>
          <p:cNvPr id="4" name="Picture 3" descr="01-resum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260338" cy="429768"/>
          </a:xfrm>
        </p:spPr>
        <p:txBody>
          <a:bodyPr wrap="none"/>
          <a:lstStyle/>
          <a:p>
            <a:r>
              <a:rPr sz="2600"/>
              <a:t>Ver: trazabilidad de extremo a extremo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Entrada</a:t>
            </a:r>
            <a:r>
              <a:rPr sz="1600"/>
              <a:t>: mensaje original, canal y contexto.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Interpretación</a:t>
            </a:r>
            <a:r>
              <a:rPr sz="1600"/>
              <a:t>: intención, clasificación, confianza y alternativas descartadas.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Ejecución</a:t>
            </a:r>
            <a:r>
              <a:rPr sz="1600"/>
              <a:t>: agentes invocados, reglas y decisiones intermedias.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Conocimiento</a:t>
            </a:r>
            <a:r>
              <a:rPr sz="1600"/>
              <a:t>: fuentes consultadas y su relevancia.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Modelo</a:t>
            </a:r>
            <a:r>
              <a:rPr sz="1600"/>
              <a:t>: prompt, respuesta, latencia y tokens.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Acción</a:t>
            </a:r>
            <a:r>
              <a:rPr sz="1600"/>
              <a:t>: lo que se ejecutó en los sistemas de negocio.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Resultado</a:t>
            </a:r>
            <a:r>
              <a:rPr sz="1600"/>
              <a:t>: decisión final, escalado y corrección humana.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Con un solo identificador: qué pasó con este caso, quién decidió y cuánto costó.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20</a:t>
            </a:fld>
            <a:endParaRPr lang="es-ES"/>
          </a:p>
        </p:txBody>
      </p:sp>
      <p:pic>
        <p:nvPicPr>
          <p:cNvPr id="13" name="Picture 12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Traza de un mensaje: cascada de agentes, datos de la traza y override humano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21</a:t>
            </a:fld>
            <a:endParaRPr lang="es-ES"/>
          </a:p>
        </p:txBody>
      </p:sp>
      <p:pic>
        <p:nvPicPr>
          <p:cNvPr id="4" name="Picture 3" descr="03-trazabi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1327" cy="429768"/>
          </a:xfrm>
        </p:spPr>
        <p:txBody>
          <a:bodyPr wrap="none"/>
          <a:lstStyle/>
          <a:p>
            <a:r>
              <a:rPr sz="2600"/>
              <a:t>Entender: explicabilidad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En </a:t>
            </a:r>
            <a:r>
              <a:rPr sz="1800" b="1" dirty="0" err="1"/>
              <a:t>lenguaje</a:t>
            </a:r>
            <a:r>
              <a:rPr sz="1800" b="1" dirty="0"/>
              <a:t> de </a:t>
            </a:r>
            <a:r>
              <a:rPr sz="1800" b="1" dirty="0" err="1"/>
              <a:t>negocio</a:t>
            </a:r>
            <a:r>
              <a:rPr sz="1800" b="1" dirty="0"/>
              <a:t>, no de log</a:t>
            </a:r>
            <a:r>
              <a:rPr sz="1800" dirty="0"/>
              <a:t>: </a:t>
            </a:r>
            <a:r>
              <a:rPr sz="1800" dirty="0" err="1"/>
              <a:t>qué</a:t>
            </a:r>
            <a:r>
              <a:rPr sz="1800" dirty="0"/>
              <a:t> </a:t>
            </a:r>
            <a:r>
              <a:rPr sz="1800" dirty="0" err="1"/>
              <a:t>llegó</a:t>
            </a:r>
            <a:r>
              <a:rPr sz="1800" dirty="0"/>
              <a:t>, </a:t>
            </a:r>
            <a:r>
              <a:rPr sz="1800" dirty="0" err="1"/>
              <a:t>qué</a:t>
            </a:r>
            <a:r>
              <a:rPr sz="1800" dirty="0"/>
              <a:t> </a:t>
            </a:r>
            <a:r>
              <a:rPr sz="1800" dirty="0" err="1"/>
              <a:t>hizo</a:t>
            </a:r>
            <a:r>
              <a:rPr sz="1800" dirty="0"/>
              <a:t>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agente</a:t>
            </a:r>
            <a:r>
              <a:rPr sz="1800" dirty="0"/>
              <a:t>, </a:t>
            </a:r>
            <a:r>
              <a:rPr sz="1800" dirty="0" err="1"/>
              <a:t>qué</a:t>
            </a:r>
            <a:r>
              <a:rPr sz="1800" dirty="0"/>
              <a:t> se </a:t>
            </a:r>
            <a:r>
              <a:rPr sz="1800" dirty="0" err="1"/>
              <a:t>decidió</a:t>
            </a:r>
            <a:r>
              <a:rPr sz="1800" dirty="0"/>
              <a:t> y </a:t>
            </a:r>
            <a:r>
              <a:rPr sz="1800" dirty="0" err="1"/>
              <a:t>por</a:t>
            </a:r>
            <a:r>
              <a:rPr sz="1800" dirty="0"/>
              <a:t> </a:t>
            </a:r>
            <a:r>
              <a:rPr sz="1800" dirty="0" err="1"/>
              <a:t>qué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Con la </a:t>
            </a:r>
            <a:r>
              <a:rPr sz="1800" b="1" dirty="0" err="1"/>
              <a:t>evidencia</a:t>
            </a:r>
            <a:r>
              <a:rPr sz="1800" dirty="0"/>
              <a:t>: la </a:t>
            </a:r>
            <a:r>
              <a:rPr sz="1800" dirty="0" err="1"/>
              <a:t>regla</a:t>
            </a:r>
            <a:r>
              <a:rPr sz="1800" dirty="0"/>
              <a:t> </a:t>
            </a:r>
            <a:r>
              <a:rPr sz="1800" dirty="0" err="1"/>
              <a:t>incumplida</a:t>
            </a:r>
            <a:r>
              <a:rPr sz="1800" dirty="0"/>
              <a:t> y el </a:t>
            </a:r>
            <a:r>
              <a:rPr sz="1800" dirty="0" err="1"/>
              <a:t>dato</a:t>
            </a:r>
            <a:r>
              <a:rPr sz="1800" dirty="0"/>
              <a:t> </a:t>
            </a:r>
            <a:r>
              <a:rPr sz="1800" dirty="0" err="1"/>
              <a:t>que</a:t>
            </a:r>
            <a:r>
              <a:rPr sz="1800" dirty="0"/>
              <a:t> </a:t>
            </a:r>
            <a:r>
              <a:rPr sz="1800" dirty="0" err="1"/>
              <a:t>falta</a:t>
            </a:r>
            <a:r>
              <a:rPr sz="1800" dirty="0"/>
              <a:t>, </a:t>
            </a:r>
            <a:r>
              <a:rPr sz="1800" dirty="0" err="1"/>
              <a:t>enlazados</a:t>
            </a:r>
            <a:r>
              <a:rPr sz="1800" dirty="0"/>
              <a:t> a la </a:t>
            </a:r>
            <a:r>
              <a:rPr sz="1800" dirty="0" err="1"/>
              <a:t>traza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Para </a:t>
            </a:r>
            <a:r>
              <a:rPr sz="1800" b="1" dirty="0" err="1"/>
              <a:t>quien</a:t>
            </a:r>
            <a:r>
              <a:rPr sz="1800" b="1" dirty="0"/>
              <a:t> no es </a:t>
            </a:r>
            <a:r>
              <a:rPr sz="1800" b="1" dirty="0" err="1"/>
              <a:t>técnico</a:t>
            </a:r>
            <a:r>
              <a:rPr sz="1800" dirty="0"/>
              <a:t>: </a:t>
            </a:r>
            <a:r>
              <a:rPr sz="1800" dirty="0" err="1"/>
              <a:t>operación</a:t>
            </a:r>
            <a:r>
              <a:rPr sz="1800" dirty="0"/>
              <a:t>, </a:t>
            </a:r>
            <a:r>
              <a:rPr sz="1800" dirty="0" err="1"/>
              <a:t>atención</a:t>
            </a:r>
            <a:r>
              <a:rPr sz="1800" dirty="0"/>
              <a:t> al </a:t>
            </a:r>
            <a:r>
              <a:rPr sz="1800" dirty="0" err="1"/>
              <a:t>cliente</a:t>
            </a:r>
            <a:r>
              <a:rPr sz="1800" dirty="0"/>
              <a:t>, </a:t>
            </a:r>
            <a:r>
              <a:rPr sz="1800" dirty="0" err="1"/>
              <a:t>riesgos</a:t>
            </a:r>
            <a:r>
              <a:rPr sz="1800" dirty="0"/>
              <a:t> y </a:t>
            </a:r>
            <a:r>
              <a:rPr sz="1800" dirty="0" err="1"/>
              <a:t>auditoría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Ejemplo</a:t>
            </a:r>
            <a:r>
              <a:rPr sz="1800" dirty="0"/>
              <a:t>: «Robo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vivienda</a:t>
            </a:r>
            <a:r>
              <a:rPr sz="1800" dirty="0"/>
              <a:t> sin </a:t>
            </a:r>
            <a:r>
              <a:rPr sz="1800" dirty="0" err="1"/>
              <a:t>denuncia</a:t>
            </a:r>
            <a:r>
              <a:rPr sz="1800" dirty="0"/>
              <a:t> </a:t>
            </a:r>
            <a:r>
              <a:rPr sz="1800" dirty="0" err="1"/>
              <a:t>ni</a:t>
            </a:r>
            <a:r>
              <a:rPr sz="1800" dirty="0"/>
              <a:t> </a:t>
            </a:r>
            <a:r>
              <a:rPr sz="1800" dirty="0" err="1"/>
              <a:t>relación</a:t>
            </a:r>
            <a:r>
              <a:rPr sz="1800" dirty="0"/>
              <a:t> de </a:t>
            </a:r>
            <a:r>
              <a:rPr sz="1800" dirty="0" err="1"/>
              <a:t>objetos</a:t>
            </a:r>
            <a:r>
              <a:rPr sz="1800" dirty="0"/>
              <a:t>: </a:t>
            </a:r>
            <a:r>
              <a:rPr sz="1800" dirty="0" err="1"/>
              <a:t>falta</a:t>
            </a:r>
            <a:r>
              <a:rPr sz="1800" dirty="0"/>
              <a:t> </a:t>
            </a:r>
            <a:r>
              <a:rPr sz="1800" dirty="0" err="1"/>
              <a:t>información</a:t>
            </a:r>
            <a:r>
              <a:rPr sz="1800" dirty="0"/>
              <a:t> </a:t>
            </a:r>
            <a:r>
              <a:rPr sz="1800" dirty="0" err="1"/>
              <a:t>esencial</a:t>
            </a:r>
            <a:r>
              <a:rPr sz="1800" dirty="0"/>
              <a:t>; se </a:t>
            </a:r>
            <a:r>
              <a:rPr sz="1800" dirty="0" err="1"/>
              <a:t>solicita</a:t>
            </a:r>
            <a:r>
              <a:rPr sz="1800" dirty="0"/>
              <a:t> la </a:t>
            </a:r>
            <a:r>
              <a:rPr sz="1800" dirty="0" err="1"/>
              <a:t>denuncia</a:t>
            </a:r>
            <a:r>
              <a:rPr sz="1800" dirty="0"/>
              <a:t> y se </a:t>
            </a:r>
            <a:r>
              <a:rPr sz="1800" dirty="0" err="1"/>
              <a:t>envía</a:t>
            </a:r>
            <a:r>
              <a:rPr sz="1800" dirty="0"/>
              <a:t> </a:t>
            </a:r>
            <a:r>
              <a:rPr sz="1800" dirty="0" err="1"/>
              <a:t>perito</a:t>
            </a:r>
            <a:r>
              <a:rPr sz="1800" dirty="0"/>
              <a:t>».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el cliente pregunta por qué, la respuesta está aquí.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5101" y="6507298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22</a:t>
            </a:fld>
            <a:endParaRPr lang="es-ES"/>
          </a:p>
        </p:txBody>
      </p:sp>
      <p:pic>
        <p:nvPicPr>
          <p:cNvPr id="13" name="Picture 12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40" y="1307592"/>
            <a:ext cx="5440680" cy="41328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411252" y="5595864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explicada: qué llegó, qué hizo cada agente y por qué se escaló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23</a:t>
            </a:fld>
            <a:endParaRPr lang="es-ES"/>
          </a:p>
        </p:txBody>
      </p:sp>
      <p:pic>
        <p:nvPicPr>
          <p:cNvPr id="4" name="Picture 3" descr="04-traza-explic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7980975" cy="60624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186678" cy="429768"/>
          </a:xfrm>
        </p:spPr>
        <p:txBody>
          <a:bodyPr wrap="none"/>
          <a:lstStyle/>
          <a:p>
            <a:r>
              <a:rPr sz="2600"/>
              <a:t>Entender: Reasoning Replay y What-if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611368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Razonamiento</a:t>
            </a:r>
            <a:r>
              <a:rPr sz="1800" b="1" dirty="0"/>
              <a:t> </a:t>
            </a:r>
            <a:r>
              <a:rPr sz="1800" b="1" dirty="0" err="1"/>
              <a:t>registrado</a:t>
            </a:r>
            <a:r>
              <a:rPr sz="1800" dirty="0"/>
              <a:t>: entrada, pasos y salida de </a:t>
            </a:r>
            <a:r>
              <a:rPr sz="1800" dirty="0" err="1"/>
              <a:t>cada</a:t>
            </a:r>
            <a:r>
              <a:rPr sz="1800" dirty="0"/>
              <a:t> </a:t>
            </a:r>
            <a:r>
              <a:rPr sz="1800" dirty="0" err="1"/>
              <a:t>agente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Replay </a:t>
            </a:r>
            <a:r>
              <a:rPr sz="1800" b="1" dirty="0" err="1"/>
              <a:t>idéntico</a:t>
            </a:r>
            <a:r>
              <a:rPr sz="1800" dirty="0"/>
              <a:t>: reproduce </a:t>
            </a:r>
            <a:r>
              <a:rPr sz="1800" dirty="0" err="1"/>
              <a:t>una</a:t>
            </a:r>
            <a:r>
              <a:rPr sz="1800" dirty="0"/>
              <a:t> </a:t>
            </a:r>
            <a:r>
              <a:rPr sz="1800" dirty="0" err="1"/>
              <a:t>decisión</a:t>
            </a:r>
            <a:r>
              <a:rPr sz="1800" dirty="0"/>
              <a:t> </a:t>
            </a:r>
            <a:r>
              <a:rPr sz="1800" dirty="0" err="1"/>
              <a:t>pasada</a:t>
            </a:r>
            <a:r>
              <a:rPr sz="1800" dirty="0"/>
              <a:t> para </a:t>
            </a:r>
            <a:r>
              <a:rPr sz="1800" dirty="0" err="1"/>
              <a:t>verificar</a:t>
            </a:r>
            <a:r>
              <a:rPr sz="1800" dirty="0"/>
              <a:t> </a:t>
            </a:r>
            <a:r>
              <a:rPr sz="1800" dirty="0" err="1"/>
              <a:t>que</a:t>
            </a:r>
            <a:r>
              <a:rPr sz="1800" dirty="0"/>
              <a:t> el </a:t>
            </a:r>
            <a:r>
              <a:rPr sz="1800" dirty="0" err="1"/>
              <a:t>resultado</a:t>
            </a:r>
            <a:r>
              <a:rPr sz="1800" dirty="0"/>
              <a:t> es </a:t>
            </a:r>
            <a:r>
              <a:rPr sz="1800" dirty="0" err="1"/>
              <a:t>estable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What-if</a:t>
            </a:r>
            <a:r>
              <a:rPr sz="1800" dirty="0"/>
              <a:t>: la reproduce con </a:t>
            </a:r>
            <a:r>
              <a:rPr sz="1800" dirty="0" err="1"/>
              <a:t>otro</a:t>
            </a:r>
            <a:r>
              <a:rPr sz="1800" dirty="0"/>
              <a:t> </a:t>
            </a:r>
            <a:r>
              <a:rPr sz="1800" dirty="0" err="1"/>
              <a:t>modelo</a:t>
            </a:r>
            <a:r>
              <a:rPr sz="1800" dirty="0"/>
              <a:t> o prompt y </a:t>
            </a:r>
            <a:r>
              <a:rPr sz="1800" dirty="0" err="1"/>
              <a:t>compara</a:t>
            </a:r>
            <a:r>
              <a:rPr sz="1800" dirty="0"/>
              <a:t> </a:t>
            </a:r>
            <a:r>
              <a:rPr sz="1800" dirty="0" err="1"/>
              <a:t>decisión</a:t>
            </a:r>
            <a:r>
              <a:rPr sz="1800" dirty="0"/>
              <a:t>, </a:t>
            </a:r>
            <a:r>
              <a:rPr sz="1800" dirty="0" err="1"/>
              <a:t>coste</a:t>
            </a:r>
            <a:r>
              <a:rPr sz="1800" dirty="0"/>
              <a:t> y </a:t>
            </a:r>
            <a:r>
              <a:rPr sz="1800" dirty="0" err="1"/>
              <a:t>latencia</a:t>
            </a:r>
            <a:r>
              <a:rPr sz="1800" dirty="0"/>
              <a:t>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Ejemplo</a:t>
            </a:r>
            <a:r>
              <a:rPr sz="1800" dirty="0"/>
              <a:t>: con un </a:t>
            </a:r>
            <a:r>
              <a:rPr sz="1800" dirty="0" err="1"/>
              <a:t>modelo</a:t>
            </a:r>
            <a:r>
              <a:rPr sz="1800" dirty="0"/>
              <a:t> </a:t>
            </a:r>
            <a:r>
              <a:rPr sz="1800" dirty="0" err="1"/>
              <a:t>más</a:t>
            </a:r>
            <a:r>
              <a:rPr sz="1800" dirty="0"/>
              <a:t> </a:t>
            </a:r>
            <a:r>
              <a:rPr sz="1800" dirty="0" err="1"/>
              <a:t>pequeño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Reglas, </a:t>
            </a:r>
            <a:r>
              <a:rPr sz="1800" dirty="0" err="1"/>
              <a:t>misma</a:t>
            </a:r>
            <a:r>
              <a:rPr sz="1800" dirty="0"/>
              <a:t> </a:t>
            </a:r>
            <a:r>
              <a:rPr sz="1800" dirty="0" err="1"/>
              <a:t>decisión</a:t>
            </a:r>
            <a:r>
              <a:rPr sz="1800" dirty="0"/>
              <a:t>, −82 % de </a:t>
            </a:r>
            <a:r>
              <a:rPr sz="1800" dirty="0" err="1"/>
              <a:t>coste</a:t>
            </a:r>
            <a:r>
              <a:rPr sz="1800" dirty="0"/>
              <a:t> y −41 % de </a:t>
            </a:r>
            <a:r>
              <a:rPr sz="1800" dirty="0" err="1"/>
              <a:t>latencia</a:t>
            </a:r>
            <a:r>
              <a:rPr sz="1800" dirty="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cambio se prueba antes de desplegarlo, y la prueba queda registrada.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25987" y="6507298"/>
            <a:ext cx="658800" cy="123111"/>
          </a:xfrm>
        </p:spPr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24</a:t>
            </a:fld>
            <a:endParaRPr lang="es-ES"/>
          </a:p>
        </p:txBody>
      </p:sp>
      <p:pic>
        <p:nvPicPr>
          <p:cNvPr id="13" name="Picture 12" descr="c21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426" y="1307592"/>
            <a:ext cx="4577734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422138" y="5568696"/>
            <a:ext cx="5214693" cy="6949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>
                <a:latin typeface="Montserrat"/>
              </a:rPr>
              <a:t>Arriba: </a:t>
            </a:r>
            <a:r>
              <a:rPr sz="1400" dirty="0" err="1">
                <a:latin typeface="Montserrat"/>
              </a:rPr>
              <a:t>Razonamiento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registrado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por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agente</a:t>
            </a:r>
            <a:r>
              <a:rPr sz="1400" dirty="0">
                <a:latin typeface="Montserrat"/>
              </a:rPr>
              <a:t>: entrada, pasos y salida. Abajo: Replay What-if: </a:t>
            </a:r>
            <a:r>
              <a:rPr sz="1400" dirty="0" err="1">
                <a:latin typeface="Montserrat"/>
              </a:rPr>
              <a:t>misma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decisión</a:t>
            </a:r>
            <a:r>
              <a:rPr sz="1400" dirty="0">
                <a:latin typeface="Montserrat"/>
              </a:rPr>
              <a:t> con un </a:t>
            </a:r>
            <a:r>
              <a:rPr sz="1400" dirty="0" err="1">
                <a:latin typeface="Montserrat"/>
              </a:rPr>
              <a:t>modelo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más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pequeño</a:t>
            </a:r>
            <a:r>
              <a:rPr sz="1400" dirty="0"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25</a:t>
            </a:fld>
            <a:endParaRPr lang="es-ES"/>
          </a:p>
        </p:txBody>
      </p:sp>
      <p:pic>
        <p:nvPicPr>
          <p:cNvPr id="4" name="Picture 3" descr="05-reasoning-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26</a:t>
            </a:fld>
            <a:endParaRPr lang="es-ES"/>
          </a:p>
        </p:txBody>
      </p:sp>
      <p:pic>
        <p:nvPicPr>
          <p:cNvPr id="4" name="Picture 3" descr="05b-replay-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14" y="2145037"/>
            <a:ext cx="11573752" cy="298704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631177" cy="429768"/>
          </a:xfrm>
        </p:spPr>
        <p:txBody>
          <a:bodyPr wrap="none"/>
          <a:lstStyle/>
          <a:p>
            <a:r>
              <a:rPr sz="2600"/>
              <a:t>Entender: causa raíz del comportamiento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Causas posibles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Se interpretó mal la intención.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conocimiento recuperado era incorrecto o insuficiente.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 base documental estaba desactualizada.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modelo hizo una inferencia inconsistente.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Las reglas de validación no cubrían el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Hubo un fallo técnico o de integración.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El nivel de autonomía no era el adecuado.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396240"/>
          </a:xfrm>
        </p:spPr>
        <p:txBody>
          <a:bodyPr anchor="t">
            <a:noAutofit/>
          </a:bodyPr>
          <a:lstStyle/>
          <a:p>
            <a:r>
              <a:t>¿Por qué se equivocó el agente? Cada causa tiene una solución distinta.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1932432"/>
            <a:ext cx="5431536" cy="43312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800"/>
              </a:spcAft>
              <a:buNone/>
            </a:pPr>
            <a:r>
              <a:rPr sz="1800" b="1">
                <a:solidFill>
                  <a:srgbClr val="194BFF"/>
                </a:solidFill>
                <a:latin typeface="Montserrat"/>
              </a:rPr>
              <a:t>Qué se obtiene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Patrones de error.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Procedimientos que no funcionan.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Casos que necesitan más intervención humana.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/>
              <a:t>Mejoras concretas de prompts, reglas o conocimiento.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27</a:t>
            </a:fld>
            <a:endParaRPr lang="es-E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6549898" cy="429768"/>
          </a:xfrm>
        </p:spPr>
        <p:txBody>
          <a:bodyPr wrap="none"/>
          <a:lstStyle/>
          <a:p>
            <a:r>
              <a:rPr sz="2600"/>
              <a:t>Limitar: identidad y permisos por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Identidad propia</a:t>
            </a:r>
            <a:r>
              <a:rPr sz="1800"/>
              <a:t>: credencial administrada, sin secretos en el código.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Un responsable</a:t>
            </a:r>
            <a:r>
              <a:rPr sz="1800"/>
              <a:t>: un área de negocio y un comité que responden del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Datos que trata y dónde</a:t>
            </a:r>
            <a:r>
              <a:rPr sz="1800"/>
              <a:t>: proveedor del modelo y región.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Qué puede y qué no</a:t>
            </a:r>
            <a:r>
              <a:rPr sz="1800"/>
              <a:t>: el agente de Reglas propone, pero no puede ordenar pagos ni rechazar un siniestro.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Mínimo privilegio también para los agentes.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28</a:t>
            </a:fld>
            <a:endParaRPr lang="es-ES"/>
          </a:p>
        </p:txBody>
      </p:sp>
      <p:pic>
        <p:nvPicPr>
          <p:cNvPr id="13" name="Picture 12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41642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627252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del agente de Reglas: identidad, permisos e histórico de cambios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29</a:t>
            </a:fld>
            <a:endParaRPr lang="es-ES"/>
          </a:p>
        </p:txBody>
      </p:sp>
      <p:pic>
        <p:nvPicPr>
          <p:cNvPr id="4" name="Picture 3" descr="06-ficha-ag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59"/>
            <a:ext cx="7920817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971288" cy="429768"/>
          </a:xfrm>
        </p:spPr>
        <p:txBody>
          <a:bodyPr wrap="none"/>
          <a:lstStyle/>
          <a:p>
            <a:r>
              <a:rPr sz="2600"/>
              <a:t>Limitar: autonomía progresiva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L0 · Manual</a:t>
            </a:r>
            <a:r>
              <a:rPr sz="1600"/>
              <a:t>: el agente solo sugiere; una persona decide y ejecuta.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L1 · Asistido</a:t>
            </a:r>
            <a:r>
              <a:rPr sz="1600"/>
              <a:t>: el agente propone; una persona confirma cada caso.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L2 · Supervisado</a:t>
            </a:r>
            <a:r>
              <a:rPr sz="1600"/>
              <a:t>: decide dentro de los guardrails; fuera de ellos escala a una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L3 · Autónomo</a:t>
            </a:r>
            <a:r>
              <a:rPr sz="1600"/>
              <a:t>: decide y ejecuta; solo se audita a posteriori.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Ejemplo</a:t>
            </a:r>
            <a:r>
              <a:rPr sz="1600"/>
              <a:t>: Reglas bajó de L3 a L2 al superar el 3 % de correcciones humanas.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La autonomía se gana con datos y se pierde con datos.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30</a:t>
            </a:fld>
            <a:endParaRPr lang="es-ES"/>
          </a:p>
        </p:txBody>
      </p:sp>
      <p:pic>
        <p:nvPicPr>
          <p:cNvPr id="13" name="Picture 12" descr="c24-autono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853" y="1307592"/>
            <a:ext cx="4504001" cy="43190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857565" y="5782056"/>
            <a:ext cx="5084064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>
                <a:latin typeface="Montserrat"/>
              </a:rPr>
              <a:t>Arriba: Registro de </a:t>
            </a:r>
            <a:r>
              <a:rPr sz="1400" dirty="0" err="1">
                <a:latin typeface="Montserrat"/>
              </a:rPr>
              <a:t>auditoría</a:t>
            </a:r>
            <a:r>
              <a:rPr sz="1400" dirty="0">
                <a:latin typeface="Montserrat"/>
              </a:rPr>
              <a:t> de la bajada de </a:t>
            </a:r>
            <a:r>
              <a:rPr sz="1400" dirty="0" err="1">
                <a:latin typeface="Montserrat"/>
              </a:rPr>
              <a:t>nivel</a:t>
            </a:r>
            <a:r>
              <a:rPr sz="1400" dirty="0">
                <a:latin typeface="Montserrat"/>
              </a:rPr>
              <a:t> L3 → L2. Abajo: </a:t>
            </a:r>
            <a:r>
              <a:rPr sz="1400" dirty="0" err="1">
                <a:latin typeface="Montserrat"/>
              </a:rPr>
              <a:t>Evolución</a:t>
            </a:r>
            <a:r>
              <a:rPr sz="1400" dirty="0">
                <a:latin typeface="Montserrat"/>
              </a:rPr>
              <a:t> del </a:t>
            </a:r>
            <a:r>
              <a:rPr sz="1400" dirty="0" err="1">
                <a:latin typeface="Montserrat"/>
              </a:rPr>
              <a:t>nivel</a:t>
            </a:r>
            <a:r>
              <a:rPr sz="1400" dirty="0">
                <a:latin typeface="Montserrat"/>
              </a:rPr>
              <a:t> de </a:t>
            </a:r>
            <a:r>
              <a:rPr sz="1400" dirty="0" err="1">
                <a:latin typeface="Montserrat"/>
              </a:rPr>
              <a:t>autonomía</a:t>
            </a:r>
            <a:r>
              <a:rPr sz="1400" dirty="0">
                <a:latin typeface="Montserrat"/>
              </a:rPr>
              <a:t> del </a:t>
            </a:r>
            <a:r>
              <a:rPr sz="1400" dirty="0" err="1">
                <a:latin typeface="Montserrat"/>
              </a:rPr>
              <a:t>agente</a:t>
            </a:r>
            <a:r>
              <a:rPr sz="1400" dirty="0">
                <a:latin typeface="Montserrat"/>
              </a:rPr>
              <a:t> de Reglas.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31</a:t>
            </a:fld>
            <a:endParaRPr lang="es-ES"/>
          </a:p>
        </p:txBody>
      </p:sp>
      <p:pic>
        <p:nvPicPr>
          <p:cNvPr id="4" name="Picture 3" descr="13-autonomia-audito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90408"/>
            <a:ext cx="9840686" cy="569354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32</a:t>
            </a:fld>
            <a:endParaRPr lang="es-ES"/>
          </a:p>
        </p:txBody>
      </p:sp>
      <p:pic>
        <p:nvPicPr>
          <p:cNvPr id="4" name="Picture 3" descr="13b-autonomia-evolu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14" y="1649433"/>
            <a:ext cx="11070771" cy="401315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259828" cy="429768"/>
          </a:xfrm>
        </p:spPr>
        <p:txBody>
          <a:bodyPr wrap="none"/>
          <a:lstStyle/>
          <a:p>
            <a:r>
              <a:rPr sz="2600"/>
              <a:t>Limitar: Trust Score y supervisión adaptativa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Validación</a:t>
            </a:r>
            <a:r>
              <a:rPr sz="1600"/>
              <a:t>: humana al principio; después por resultado (reaperturas, retrabajos, correcciones) y por evidencia (fuentes válidas).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Trust Score</a:t>
            </a:r>
            <a:r>
              <a:rPr sz="1600"/>
              <a:t> por agente, caso de uso y automatismo: no mide lo inteligente que es el modelo, sino cuánta confianza operativa merece.</a:t>
            </a:r>
          </a:p>
          <a:p>
            <a:pPr>
              <a:lnSpc>
                <a:spcPct val="140000"/>
              </a:lnSpc>
              <a:spcAft>
                <a:spcPts val="800"/>
              </a:spcAft>
              <a:buFont typeface="+mj-lt"/>
              <a:buAutoNum type="arabicPeriod"/>
            </a:pPr>
            <a:r>
              <a:rPr sz="1600" b="1"/>
              <a:t>Supervisión adaptativa</a:t>
            </a:r>
            <a:r>
              <a:rPr sz="1600"/>
              <a:t>: confianza baja → intervención obligatoria; media → revisión selectiva; alta → ejecución autónoma con monitorización.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incremento de autonomía es medible, reversible, gobernado, auditado y justificable.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33</a:t>
            </a:fld>
            <a:endParaRPr lang="es-ES"/>
          </a:p>
        </p:txBody>
      </p:sp>
      <p:pic>
        <p:nvPicPr>
          <p:cNvPr id="13" name="Picture 12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595" y="1307593"/>
            <a:ext cx="5283491" cy="31243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596307" y="4506194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 err="1">
                <a:latin typeface="Montserrat"/>
              </a:rPr>
              <a:t>Comportamiento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por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periodo</a:t>
            </a:r>
            <a:r>
              <a:rPr sz="1400" dirty="0">
                <a:latin typeface="Montserrat"/>
              </a:rPr>
              <a:t> y variables </a:t>
            </a:r>
            <a:r>
              <a:rPr sz="1400" dirty="0" err="1">
                <a:latin typeface="Montserrat"/>
              </a:rPr>
              <a:t>que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gobiernan</a:t>
            </a:r>
            <a:r>
              <a:rPr sz="1400" dirty="0">
                <a:latin typeface="Montserrat"/>
              </a:rPr>
              <a:t> al </a:t>
            </a:r>
            <a:r>
              <a:rPr sz="1400" dirty="0" err="1">
                <a:latin typeface="Montserrat"/>
              </a:rPr>
              <a:t>agente</a:t>
            </a:r>
            <a:endParaRPr sz="1400" dirty="0">
              <a:latin typeface="Montserra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34</a:t>
            </a:fld>
            <a:endParaRPr lang="es-ES"/>
          </a:p>
        </p:txBody>
      </p:sp>
      <p:pic>
        <p:nvPicPr>
          <p:cNvPr id="4" name="Picture 3" descr="14-agente-comportami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28439"/>
            <a:ext cx="9701784" cy="573711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3148838" cy="429768"/>
          </a:xfrm>
        </p:spPr>
        <p:txBody>
          <a:bodyPr wrap="none"/>
          <a:lstStyle/>
          <a:p>
            <a:r>
              <a:rPr sz="2600"/>
              <a:t>Limitar: guardrails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Confianza</a:t>
            </a:r>
            <a:r>
              <a:rPr sz="1600"/>
              <a:t>: decisión con confianza &lt; 0,85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Importe</a:t>
            </a:r>
            <a:r>
              <a:rPr sz="1600"/>
              <a:t>: más de 6.000 € en Auto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Coherencia</a:t>
            </a:r>
            <a:r>
              <a:rPr sz="1600"/>
              <a:t>: los agentes no coinciden en el ramo → escalar.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Casos sensibles</a:t>
            </a:r>
            <a:r>
              <a:rPr sz="1600"/>
              <a:t>: hay lesionados → gestión especializada.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Datos esenciales</a:t>
            </a:r>
            <a:r>
              <a:rPr sz="1600"/>
              <a:t>: sin póliza ni fecha → pedir datos al cliente.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Coste</a:t>
            </a:r>
            <a:r>
              <a:rPr sz="1600"/>
              <a:t>: cap diario al 100 % → modelo más barato.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Formato</a:t>
            </a:r>
            <a:r>
              <a:rPr sz="1600"/>
              <a:t>: respuesta inválida tras dos reintentos →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Los guardrails son lo que permite dar autonomía sin perder el control.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35</a:t>
            </a:fld>
            <a:endParaRPr lang="es-ES"/>
          </a:p>
        </p:txBody>
      </p:sp>
      <p:pic>
        <p:nvPicPr>
          <p:cNvPr id="13" name="Picture 12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359473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5057775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Ficha del guardrail de importe (G-02): disparos por día, canal y ramo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36</a:t>
            </a:fld>
            <a:endParaRPr lang="es-ES"/>
          </a:p>
        </p:txBody>
      </p:sp>
      <p:pic>
        <p:nvPicPr>
          <p:cNvPr id="4" name="Picture 3" descr="15-guardrail-g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175633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206237" cy="429768"/>
          </a:xfrm>
        </p:spPr>
        <p:txBody>
          <a:bodyPr wrap="none"/>
          <a:lstStyle/>
          <a:p>
            <a:r>
              <a:rPr sz="2600"/>
              <a:t>Limitar: kill switch y resiliencia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932432"/>
            <a:ext cx="5861304" cy="43312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Kill switch por agente</a:t>
            </a:r>
            <a:r>
              <a:rPr sz="1600"/>
              <a:t>: se pausa al instante desde el panel.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Los casos que dependen de él se encolan: no se pierde ninguno.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La pausa queda registrada en el histórico.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/>
              <a:t>Resiliencia ante fallos del modelo</a:t>
            </a:r>
            <a:r>
              <a:rPr sz="1600"/>
              <a:t>: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Reintentos con espera creciente ante saturación del proveedor.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Degradación a un modelo más barato al llegar al límite de coste.</a:t>
            </a:r>
          </a:p>
          <a:p>
            <a:pPr marL="717550" indent="-300000"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–"/>
            </a:pPr>
            <a:r>
              <a:rPr sz="1600"/>
              <a:t>Paso a un motor alternativo si el modelo no responde bien.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396240"/>
          </a:xfrm>
        </p:spPr>
        <p:txBody>
          <a:bodyPr anchor="t">
            <a:noAutofit/>
          </a:bodyPr>
          <a:lstStyle/>
          <a:p>
            <a:r>
              <a:t>Si la IA falla, el proceso sigue.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37</a:t>
            </a:fld>
            <a:endParaRPr lang="es-ES"/>
          </a:p>
        </p:txBody>
      </p:sp>
      <p:pic>
        <p:nvPicPr>
          <p:cNvPr id="13" name="Picture 12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136017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2823210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Tarjetas de agente con estado, nivel, coste frente al cap e interruptor de pausa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38</a:t>
            </a:fld>
            <a:endParaRPr lang="es-ES"/>
          </a:p>
        </p:txBody>
      </p:sp>
      <p:pic>
        <p:nvPicPr>
          <p:cNvPr id="4" name="Picture 3" descr="02-agentes-kill-sw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04" y="1454930"/>
            <a:ext cx="11771592" cy="2942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252468" cy="429768"/>
          </a:xfrm>
        </p:spPr>
        <p:txBody>
          <a:bodyPr wrap="none"/>
          <a:lstStyle/>
          <a:p>
            <a:r>
              <a:rPr sz="2600"/>
              <a:t>Pagar: caps y presupuesto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1" y="2237231"/>
            <a:ext cx="6493111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/>
              <a:t>Caps a </a:t>
            </a:r>
            <a:r>
              <a:rPr sz="1600" b="1" dirty="0" err="1"/>
              <a:t>varios</a:t>
            </a:r>
            <a:r>
              <a:rPr sz="1600" b="1" dirty="0"/>
              <a:t> </a:t>
            </a:r>
            <a:r>
              <a:rPr sz="1600" b="1" dirty="0" err="1"/>
              <a:t>niveles</a:t>
            </a:r>
            <a:r>
              <a:rPr sz="1600" dirty="0"/>
              <a:t>: global,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agente</a:t>
            </a:r>
            <a:r>
              <a:rPr sz="1600" dirty="0"/>
              <a:t>,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caso</a:t>
            </a:r>
            <a:r>
              <a:rPr sz="1600" dirty="0"/>
              <a:t>, </a:t>
            </a:r>
            <a:r>
              <a:rPr sz="1600" dirty="0" err="1"/>
              <a:t>por</a:t>
            </a:r>
            <a:r>
              <a:rPr sz="1600" dirty="0"/>
              <a:t> tokens de </a:t>
            </a:r>
            <a:r>
              <a:rPr sz="1600" dirty="0" err="1"/>
              <a:t>razonamiento</a:t>
            </a:r>
            <a:r>
              <a:rPr sz="1600" dirty="0"/>
              <a:t> y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llamadas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minuto</a:t>
            </a:r>
            <a:r>
              <a:rPr sz="1600" dirty="0"/>
              <a:t>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/>
              <a:t>Aviso al 80 % y </a:t>
            </a:r>
            <a:r>
              <a:rPr sz="1600" b="1" dirty="0" err="1"/>
              <a:t>acción</a:t>
            </a:r>
            <a:r>
              <a:rPr sz="1600" b="1" dirty="0"/>
              <a:t> al 100 %</a:t>
            </a:r>
            <a:r>
              <a:rPr sz="1600" dirty="0"/>
              <a:t>: </a:t>
            </a:r>
            <a:r>
              <a:rPr sz="1600" dirty="0" err="1"/>
              <a:t>degradar</a:t>
            </a:r>
            <a:r>
              <a:rPr sz="1600" dirty="0"/>
              <a:t> el </a:t>
            </a:r>
            <a:r>
              <a:rPr sz="1600" dirty="0" err="1"/>
              <a:t>modelo</a:t>
            </a:r>
            <a:r>
              <a:rPr sz="1600" dirty="0"/>
              <a:t>, </a:t>
            </a:r>
            <a:r>
              <a:rPr sz="1600" dirty="0" err="1"/>
              <a:t>pausar</a:t>
            </a:r>
            <a:r>
              <a:rPr sz="1600" dirty="0"/>
              <a:t> </a:t>
            </a:r>
            <a:r>
              <a:rPr sz="1600" dirty="0" err="1"/>
              <a:t>lotes</a:t>
            </a:r>
            <a:r>
              <a:rPr sz="1600" dirty="0"/>
              <a:t> no </a:t>
            </a:r>
            <a:r>
              <a:rPr sz="1600" dirty="0" err="1"/>
              <a:t>urgentes</a:t>
            </a:r>
            <a:r>
              <a:rPr sz="1600" dirty="0"/>
              <a:t> o </a:t>
            </a:r>
            <a:r>
              <a:rPr sz="1600" dirty="0" err="1"/>
              <a:t>marcar</a:t>
            </a:r>
            <a:r>
              <a:rPr sz="1600" dirty="0"/>
              <a:t> el </a:t>
            </a:r>
            <a:r>
              <a:rPr sz="1600" dirty="0" err="1"/>
              <a:t>caso</a:t>
            </a:r>
            <a:r>
              <a:rPr sz="1600" dirty="0"/>
              <a:t>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/>
              <a:t>Cada cap </a:t>
            </a:r>
            <a:r>
              <a:rPr sz="1600" b="1" dirty="0" err="1"/>
              <a:t>enlazado</a:t>
            </a:r>
            <a:r>
              <a:rPr sz="1600" dirty="0"/>
              <a:t> con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agentes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lo </a:t>
            </a:r>
            <a:r>
              <a:rPr sz="1600" dirty="0" err="1"/>
              <a:t>consumen</a:t>
            </a:r>
            <a:r>
              <a:rPr sz="1600" dirty="0"/>
              <a:t> y el guardrail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actúa</a:t>
            </a:r>
            <a:r>
              <a:rPr sz="1600" dirty="0"/>
              <a:t> al </a:t>
            </a:r>
            <a:r>
              <a:rPr sz="1600" dirty="0" err="1"/>
              <a:t>superarlo</a:t>
            </a:r>
            <a:r>
              <a:rPr sz="1600" dirty="0"/>
              <a:t>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 err="1"/>
              <a:t>Proyección</a:t>
            </a:r>
            <a:r>
              <a:rPr sz="1600" b="1" dirty="0"/>
              <a:t> de </a:t>
            </a:r>
            <a:r>
              <a:rPr sz="1600" b="1" dirty="0" err="1"/>
              <a:t>cierre</a:t>
            </a:r>
            <a:r>
              <a:rPr sz="1600" b="1" dirty="0"/>
              <a:t> de </a:t>
            </a:r>
            <a:r>
              <a:rPr sz="1600" b="1" dirty="0" err="1"/>
              <a:t>mes</a:t>
            </a:r>
            <a:r>
              <a:rPr sz="1600" dirty="0"/>
              <a:t> </a:t>
            </a:r>
            <a:r>
              <a:rPr sz="1600" dirty="0" err="1"/>
              <a:t>frente</a:t>
            </a:r>
            <a:r>
              <a:rPr sz="1600" dirty="0"/>
              <a:t> al </a:t>
            </a:r>
            <a:r>
              <a:rPr sz="1600" dirty="0" err="1"/>
              <a:t>presupuesto</a:t>
            </a:r>
            <a:r>
              <a:rPr sz="1600" dirty="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6493110" cy="701040"/>
          </a:xfrm>
        </p:spPr>
        <p:txBody>
          <a:bodyPr anchor="t">
            <a:noAutofit/>
          </a:bodyPr>
          <a:lstStyle/>
          <a:p>
            <a:r>
              <a:rPr dirty="0"/>
              <a:t>El </a:t>
            </a:r>
            <a:r>
              <a:rPr dirty="0" err="1"/>
              <a:t>coste</a:t>
            </a:r>
            <a:r>
              <a:rPr dirty="0"/>
              <a:t> se </a:t>
            </a:r>
            <a:r>
              <a:rPr dirty="0" err="1"/>
              <a:t>controla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, no con la factura del </a:t>
            </a:r>
            <a:r>
              <a:rPr dirty="0" err="1"/>
              <a:t>proveedor</a:t>
            </a:r>
            <a:r>
              <a:rPr dirty="0"/>
              <a:t> a fin de </a:t>
            </a:r>
            <a:r>
              <a:rPr dirty="0" err="1"/>
              <a:t>mes</a:t>
            </a:r>
            <a:r>
              <a:rPr dirty="0"/>
              <a:t>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39</a:t>
            </a:fld>
            <a:endParaRPr lang="es-ES"/>
          </a:p>
        </p:txBody>
      </p:sp>
      <p:pic>
        <p:nvPicPr>
          <p:cNvPr id="13" name="Picture 12" descr="c28-c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7082" y="1285821"/>
            <a:ext cx="3184442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683393" y="5568696"/>
            <a:ext cx="4703849" cy="6949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>
                <a:latin typeface="Montserrat"/>
              </a:rPr>
              <a:t>Arriba: Cap </a:t>
            </a:r>
            <a:r>
              <a:rPr sz="1400" dirty="0" err="1">
                <a:latin typeface="Montserrat"/>
              </a:rPr>
              <a:t>diario</a:t>
            </a:r>
            <a:r>
              <a:rPr sz="1400" dirty="0">
                <a:latin typeface="Montserrat"/>
              </a:rPr>
              <a:t> del </a:t>
            </a:r>
            <a:r>
              <a:rPr sz="1400" dirty="0" err="1">
                <a:latin typeface="Montserrat"/>
              </a:rPr>
              <a:t>agente</a:t>
            </a:r>
            <a:r>
              <a:rPr sz="1400" dirty="0">
                <a:latin typeface="Montserrat"/>
              </a:rPr>
              <a:t> de Reglas (CAP-03): al 114 % del </a:t>
            </a:r>
            <a:r>
              <a:rPr sz="1400" dirty="0" err="1">
                <a:latin typeface="Montserrat"/>
              </a:rPr>
              <a:t>límite</a:t>
            </a:r>
            <a:r>
              <a:rPr sz="1400" dirty="0">
                <a:latin typeface="Montserrat"/>
              </a:rPr>
              <a:t>. Abajo: Coste </a:t>
            </a:r>
            <a:r>
              <a:rPr sz="1400" dirty="0" err="1">
                <a:latin typeface="Montserrat"/>
              </a:rPr>
              <a:t>mensual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acumulado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frente</a:t>
            </a:r>
            <a:r>
              <a:rPr sz="1400" dirty="0">
                <a:latin typeface="Montserrat"/>
              </a:rPr>
              <a:t> al cap y </a:t>
            </a:r>
            <a:r>
              <a:rPr sz="1400" dirty="0" err="1">
                <a:latin typeface="Montserrat"/>
              </a:rPr>
              <a:t>proyección</a:t>
            </a:r>
            <a:r>
              <a:rPr sz="1400" dirty="0">
                <a:latin typeface="Montserrat"/>
              </a:rPr>
              <a:t> de </a:t>
            </a:r>
            <a:r>
              <a:rPr sz="1400" dirty="0" err="1">
                <a:latin typeface="Montserrat"/>
              </a:rPr>
              <a:t>cierre</a:t>
            </a:r>
            <a:r>
              <a:rPr sz="1400" dirty="0"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40</a:t>
            </a:fld>
            <a:endParaRPr lang="es-ES"/>
          </a:p>
        </p:txBody>
      </p:sp>
      <p:pic>
        <p:nvPicPr>
          <p:cNvPr id="4" name="Picture 3" descr="17-cap03-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59"/>
            <a:ext cx="8682824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41</a:t>
            </a:fld>
            <a:endParaRPr lang="es-ES"/>
          </a:p>
        </p:txBody>
      </p:sp>
      <p:pic>
        <p:nvPicPr>
          <p:cNvPr id="4" name="Picture 3" descr="20-coste-men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617061"/>
            <a:ext cx="9701784" cy="555986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43958" cy="429768"/>
          </a:xfrm>
        </p:spPr>
        <p:txBody>
          <a:bodyPr wrap="none"/>
          <a:lstStyle/>
          <a:p>
            <a:r>
              <a:rPr sz="2600"/>
              <a:t>Pagar: de la alerta a la acción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1" y="2237231"/>
            <a:ext cx="6198761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Automática</a:t>
            </a:r>
            <a:r>
              <a:rPr sz="1800" dirty="0"/>
              <a:t>: </a:t>
            </a:r>
            <a:r>
              <a:rPr sz="1800" dirty="0" err="1"/>
              <a:t>ya</a:t>
            </a:r>
            <a:r>
              <a:rPr sz="1800" dirty="0"/>
              <a:t> </a:t>
            </a:r>
            <a:r>
              <a:rPr sz="1800" dirty="0" err="1"/>
              <a:t>aplicada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un guardrail. </a:t>
            </a:r>
            <a:r>
              <a:rPr sz="1800" dirty="0" err="1"/>
              <a:t>Ejemplo</a:t>
            </a:r>
            <a:r>
              <a:rPr sz="1800" dirty="0"/>
              <a:t>: </a:t>
            </a:r>
            <a:r>
              <a:rPr sz="1800" dirty="0" err="1"/>
              <a:t>modelo</a:t>
            </a:r>
            <a:r>
              <a:rPr sz="1800" dirty="0"/>
              <a:t> </a:t>
            </a:r>
            <a:r>
              <a:rPr sz="1800" dirty="0" err="1"/>
              <a:t>más</a:t>
            </a:r>
            <a:r>
              <a:rPr sz="1800" dirty="0"/>
              <a:t> </a:t>
            </a:r>
            <a:r>
              <a:rPr sz="1800" dirty="0" err="1"/>
              <a:t>barato</a:t>
            </a:r>
            <a:r>
              <a:rPr sz="1800" dirty="0"/>
              <a:t> hasta medianoche (−82 % de </a:t>
            </a:r>
            <a:r>
              <a:rPr sz="1800" dirty="0" err="1"/>
              <a:t>coste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</a:t>
            </a:r>
            <a:r>
              <a:rPr sz="1800" dirty="0" err="1"/>
              <a:t>mensaje</a:t>
            </a:r>
            <a:r>
              <a:rPr sz="1800" dirty="0"/>
              <a:t>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Simular</a:t>
            </a:r>
            <a:r>
              <a:rPr sz="1800" b="1" dirty="0"/>
              <a:t> y </a:t>
            </a:r>
            <a:r>
              <a:rPr sz="1800" b="1" dirty="0" err="1"/>
              <a:t>aplicar</a:t>
            </a:r>
            <a:r>
              <a:rPr sz="1800" dirty="0"/>
              <a:t>: se </a:t>
            </a:r>
            <a:r>
              <a:rPr sz="1800" dirty="0" err="1"/>
              <a:t>prueba</a:t>
            </a:r>
            <a:r>
              <a:rPr sz="1800" dirty="0"/>
              <a:t> con replay antes de </a:t>
            </a:r>
            <a:r>
              <a:rPr sz="1800" dirty="0" err="1"/>
              <a:t>activarla</a:t>
            </a:r>
            <a:r>
              <a:rPr sz="1800" dirty="0"/>
              <a:t>. </a:t>
            </a:r>
            <a:r>
              <a:rPr sz="1800" dirty="0" err="1"/>
              <a:t>Ejemplo</a:t>
            </a:r>
            <a:r>
              <a:rPr sz="1800" dirty="0"/>
              <a:t>: </a:t>
            </a:r>
            <a:r>
              <a:rPr sz="1800" dirty="0" err="1"/>
              <a:t>modelo</a:t>
            </a:r>
            <a:r>
              <a:rPr sz="1800" dirty="0"/>
              <a:t> </a:t>
            </a:r>
            <a:r>
              <a:rPr sz="1800" dirty="0" err="1"/>
              <a:t>pequeño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los</a:t>
            </a:r>
            <a:r>
              <a:rPr sz="1800" dirty="0"/>
              <a:t> </a:t>
            </a:r>
            <a:r>
              <a:rPr sz="1800" dirty="0" err="1"/>
              <a:t>casos</a:t>
            </a:r>
            <a:r>
              <a:rPr sz="1800" dirty="0"/>
              <a:t> </a:t>
            </a:r>
            <a:r>
              <a:rPr sz="1800" dirty="0" err="1"/>
              <a:t>sencillos</a:t>
            </a:r>
            <a:r>
              <a:rPr sz="1800" dirty="0"/>
              <a:t> (−7,9 €/día).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 err="1"/>
              <a:t>Solicitar</a:t>
            </a:r>
            <a:r>
              <a:rPr sz="1800" b="1" dirty="0"/>
              <a:t> </a:t>
            </a:r>
            <a:r>
              <a:rPr sz="1800" b="1" dirty="0" err="1"/>
              <a:t>aprobación</a:t>
            </a:r>
            <a:r>
              <a:rPr sz="1800" dirty="0"/>
              <a:t>: </a:t>
            </a:r>
            <a:r>
              <a:rPr sz="1800" dirty="0" err="1"/>
              <a:t>los</a:t>
            </a:r>
            <a:r>
              <a:rPr sz="1800" dirty="0"/>
              <a:t> </a:t>
            </a:r>
            <a:r>
              <a:rPr sz="1800" dirty="0" err="1"/>
              <a:t>cambios</a:t>
            </a:r>
            <a:r>
              <a:rPr sz="1800" dirty="0"/>
              <a:t> de </a:t>
            </a:r>
            <a:r>
              <a:rPr sz="1800" dirty="0" err="1"/>
              <a:t>presupuesto</a:t>
            </a:r>
            <a:r>
              <a:rPr sz="1800" dirty="0"/>
              <a:t> </a:t>
            </a:r>
            <a:r>
              <a:rPr sz="1800" dirty="0" err="1"/>
              <a:t>pasan</a:t>
            </a:r>
            <a:r>
              <a:rPr sz="1800" dirty="0"/>
              <a:t> </a:t>
            </a:r>
            <a:r>
              <a:rPr sz="1800" dirty="0" err="1"/>
              <a:t>por</a:t>
            </a:r>
            <a:r>
              <a:rPr sz="1800" dirty="0"/>
              <a:t> el </a:t>
            </a:r>
            <a:r>
              <a:rPr sz="1800" dirty="0" err="1"/>
              <a:t>comité</a:t>
            </a:r>
            <a:r>
              <a:rPr sz="1800" dirty="0"/>
              <a:t>. </a:t>
            </a:r>
            <a:r>
              <a:rPr sz="1800" dirty="0" err="1"/>
              <a:t>Ejemplo</a:t>
            </a:r>
            <a:r>
              <a:rPr sz="1800" dirty="0"/>
              <a:t>: </a:t>
            </a:r>
            <a:r>
              <a:rPr sz="1800" dirty="0" err="1"/>
              <a:t>subir</a:t>
            </a:r>
            <a:r>
              <a:rPr sz="1800" dirty="0"/>
              <a:t> el </a:t>
            </a:r>
            <a:r>
              <a:rPr sz="1800" dirty="0" err="1"/>
              <a:t>límite</a:t>
            </a:r>
            <a:r>
              <a:rPr sz="1800" dirty="0"/>
              <a:t> de 12 € a 14 €.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alerta llega con su acción, su ahorro estimado y quién tiene que aprobarla.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42</a:t>
            </a:fld>
            <a:endParaRPr lang="es-ES"/>
          </a:p>
        </p:txBody>
      </p:sp>
      <p:pic>
        <p:nvPicPr>
          <p:cNvPr id="13" name="Picture 12" descr="c29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966" y="1307592"/>
            <a:ext cx="3860902" cy="410565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195457" y="5568696"/>
            <a:ext cx="4659086" cy="69494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>
                <a:latin typeface="Montserrat"/>
              </a:rPr>
              <a:t>Arriba: </a:t>
            </a:r>
            <a:r>
              <a:rPr sz="1400" dirty="0" err="1">
                <a:latin typeface="Montserrat"/>
              </a:rPr>
              <a:t>Consumo</a:t>
            </a:r>
            <a:r>
              <a:rPr sz="1400" dirty="0">
                <a:latin typeface="Montserrat"/>
              </a:rPr>
              <a:t> de </a:t>
            </a:r>
            <a:r>
              <a:rPr sz="1400" dirty="0" err="1">
                <a:latin typeface="Montserrat"/>
              </a:rPr>
              <a:t>cada</a:t>
            </a:r>
            <a:r>
              <a:rPr sz="1400" dirty="0">
                <a:latin typeface="Montserrat"/>
              </a:rPr>
              <a:t> cap </a:t>
            </a:r>
            <a:r>
              <a:rPr sz="1400" dirty="0" err="1">
                <a:latin typeface="Montserrat"/>
              </a:rPr>
              <a:t>frente</a:t>
            </a:r>
            <a:r>
              <a:rPr sz="1400" dirty="0">
                <a:latin typeface="Montserrat"/>
              </a:rPr>
              <a:t> al 100 %: </a:t>
            </a:r>
            <a:r>
              <a:rPr sz="1400" dirty="0" err="1">
                <a:latin typeface="Montserrat"/>
              </a:rPr>
              <a:t>superados</a:t>
            </a:r>
            <a:r>
              <a:rPr sz="1400" dirty="0">
                <a:latin typeface="Montserrat"/>
              </a:rPr>
              <a:t>, </a:t>
            </a:r>
            <a:r>
              <a:rPr sz="1400" dirty="0" err="1">
                <a:latin typeface="Montserrat"/>
              </a:rPr>
              <a:t>en</a:t>
            </a:r>
            <a:r>
              <a:rPr sz="1400" dirty="0">
                <a:latin typeface="Montserrat"/>
              </a:rPr>
              <a:t> aviso y </a:t>
            </a:r>
            <a:r>
              <a:rPr sz="1400" dirty="0" err="1">
                <a:latin typeface="Montserrat"/>
              </a:rPr>
              <a:t>dentro</a:t>
            </a:r>
            <a:r>
              <a:rPr sz="1400" dirty="0">
                <a:latin typeface="Montserrat"/>
              </a:rPr>
              <a:t>. Abajo: Acciones </a:t>
            </a:r>
            <a:r>
              <a:rPr sz="1400" dirty="0" err="1">
                <a:latin typeface="Montserrat"/>
              </a:rPr>
              <a:t>correctivas</a:t>
            </a:r>
            <a:r>
              <a:rPr sz="1400" dirty="0">
                <a:latin typeface="Montserrat"/>
              </a:rPr>
              <a:t> de CAP-03: </a:t>
            </a:r>
            <a:r>
              <a:rPr sz="1400" dirty="0" err="1">
                <a:latin typeface="Montserrat"/>
              </a:rPr>
              <a:t>automática</a:t>
            </a:r>
            <a:r>
              <a:rPr sz="1400" dirty="0">
                <a:latin typeface="Montserrat"/>
              </a:rPr>
              <a:t>, </a:t>
            </a:r>
            <a:r>
              <a:rPr sz="1400" dirty="0" err="1">
                <a:latin typeface="Montserrat"/>
              </a:rPr>
              <a:t>simular</a:t>
            </a:r>
            <a:r>
              <a:rPr sz="1400" dirty="0">
                <a:latin typeface="Montserrat"/>
              </a:rPr>
              <a:t>, </a:t>
            </a:r>
            <a:r>
              <a:rPr sz="1400" dirty="0" err="1">
                <a:latin typeface="Montserrat"/>
              </a:rPr>
              <a:t>aplicar</a:t>
            </a:r>
            <a:r>
              <a:rPr sz="1400" dirty="0">
                <a:latin typeface="Montserrat"/>
              </a:rPr>
              <a:t> o </a:t>
            </a:r>
            <a:r>
              <a:rPr sz="1400" dirty="0" err="1">
                <a:latin typeface="Montserrat"/>
              </a:rPr>
              <a:t>pedir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aprobación</a:t>
            </a:r>
            <a:r>
              <a:rPr sz="1400" dirty="0"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43</a:t>
            </a:fld>
            <a:endParaRPr lang="es-ES"/>
          </a:p>
        </p:txBody>
      </p:sp>
      <p:pic>
        <p:nvPicPr>
          <p:cNvPr id="4" name="Picture 3" descr="19-caps-super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21160"/>
            <a:ext cx="9701784" cy="595167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44</a:t>
            </a:fld>
            <a:endParaRPr lang="es-ES"/>
          </a:p>
        </p:txBody>
      </p:sp>
      <p:pic>
        <p:nvPicPr>
          <p:cNvPr id="4" name="Picture 3" descr="17b-cap03-ac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85" y="1093889"/>
            <a:ext cx="11179629" cy="483119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7080758" cy="429768"/>
          </a:xfrm>
        </p:spPr>
        <p:txBody>
          <a:bodyPr wrap="none"/>
          <a:lstStyle/>
          <a:p>
            <a:r>
              <a:rPr sz="2600"/>
              <a:t>Pagar: el modelo adecuado para cada agente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Coste frente a calidad</a:t>
            </a:r>
            <a:r>
              <a:rPr sz="1800"/>
              <a:t>: precio, tokens, coste, latencia p95 y calidad de cada modelo.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Dónde está el gasto</a:t>
            </a:r>
            <a:r>
              <a:rPr sz="1800"/>
              <a:t>: en el ejemplo, un solo agente concentra el 80 % del coste.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Palancas de ahorro priorizadas</a:t>
            </a:r>
            <a:r>
              <a:rPr sz="1800"/>
              <a:t>: menos razonamiento, modelo pequeño en casos simples, estrategia en dos pasos y caché del prompt base.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No buscamos el modelo más barato, sino el más barato que mantiene la calidad.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45</a:t>
            </a:fld>
            <a:endParaRPr lang="es-ES"/>
          </a:p>
        </p:txBody>
      </p:sp>
      <p:pic>
        <p:nvPicPr>
          <p:cNvPr id="13" name="Picture 12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248031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3943350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Comparativa de modelos: precio, consumo, coste, latencia y calidad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46</a:t>
            </a:fld>
            <a:endParaRPr lang="es-ES"/>
          </a:p>
        </p:txBody>
      </p:sp>
      <p:pic>
        <p:nvPicPr>
          <p:cNvPr id="4" name="Picture 3" descr="10-finops-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85559"/>
            <a:ext cx="9701784" cy="44228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331208" cy="429768"/>
          </a:xfrm>
        </p:spPr>
        <p:txBody>
          <a:bodyPr wrap="none"/>
          <a:lstStyle/>
          <a:p>
            <a:r>
              <a:rPr sz="2600"/>
              <a:t>Antes de cambiar, simular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1" y="2237231"/>
            <a:ext cx="6177425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Nuevo cap</a:t>
            </a:r>
            <a:r>
              <a:rPr sz="1800" dirty="0"/>
              <a:t>: </a:t>
            </a:r>
            <a:r>
              <a:rPr sz="1800" dirty="0" err="1"/>
              <a:t>cuántas</a:t>
            </a:r>
            <a:r>
              <a:rPr sz="1800" dirty="0"/>
              <a:t> </a:t>
            </a:r>
            <a:r>
              <a:rPr sz="1800" dirty="0" err="1"/>
              <a:t>veces</a:t>
            </a:r>
            <a:r>
              <a:rPr sz="1800" dirty="0"/>
              <a:t> se </a:t>
            </a:r>
            <a:r>
              <a:rPr sz="1800" dirty="0" err="1"/>
              <a:t>habría</a:t>
            </a:r>
            <a:r>
              <a:rPr sz="1800" dirty="0"/>
              <a:t> </a:t>
            </a:r>
            <a:r>
              <a:rPr sz="1800" dirty="0" err="1"/>
              <a:t>superado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los</a:t>
            </a:r>
            <a:r>
              <a:rPr sz="1800" dirty="0"/>
              <a:t> </a:t>
            </a:r>
            <a:r>
              <a:rPr sz="1800" dirty="0" err="1"/>
              <a:t>últimos</a:t>
            </a:r>
            <a:r>
              <a:rPr sz="1800" dirty="0"/>
              <a:t> 14 días y </a:t>
            </a:r>
            <a:r>
              <a:rPr sz="1800" dirty="0" err="1"/>
              <a:t>si</a:t>
            </a:r>
            <a:r>
              <a:rPr sz="1800" dirty="0"/>
              <a:t> </a:t>
            </a:r>
            <a:r>
              <a:rPr sz="1800" dirty="0" err="1"/>
              <a:t>choca</a:t>
            </a:r>
            <a:r>
              <a:rPr sz="1800" dirty="0"/>
              <a:t> con </a:t>
            </a:r>
            <a:r>
              <a:rPr sz="1800" dirty="0" err="1"/>
              <a:t>otro</a:t>
            </a:r>
            <a:r>
              <a:rPr sz="1800" dirty="0"/>
              <a:t> cap.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Nuevo guardrail</a:t>
            </a:r>
            <a:r>
              <a:rPr sz="1800" dirty="0"/>
              <a:t>: </a:t>
            </a:r>
            <a:r>
              <a:rPr sz="1800" dirty="0" err="1"/>
              <a:t>cuántos</a:t>
            </a:r>
            <a:r>
              <a:rPr sz="1800" dirty="0"/>
              <a:t> </a:t>
            </a:r>
            <a:r>
              <a:rPr sz="1800" dirty="0" err="1"/>
              <a:t>disparos</a:t>
            </a:r>
            <a:r>
              <a:rPr sz="1800" dirty="0"/>
              <a:t> </a:t>
            </a:r>
            <a:r>
              <a:rPr sz="1800" dirty="0" err="1"/>
              <a:t>tendría</a:t>
            </a:r>
            <a:r>
              <a:rPr sz="1800" dirty="0"/>
              <a:t> y </a:t>
            </a:r>
            <a:r>
              <a:rPr sz="1800" dirty="0" err="1"/>
              <a:t>cuántos</a:t>
            </a:r>
            <a:r>
              <a:rPr sz="1800" dirty="0"/>
              <a:t> </a:t>
            </a:r>
            <a:r>
              <a:rPr sz="1800" dirty="0" err="1"/>
              <a:t>mensajes</a:t>
            </a:r>
            <a:r>
              <a:rPr sz="1800" dirty="0"/>
              <a:t> </a:t>
            </a:r>
            <a:r>
              <a:rPr sz="1800" dirty="0" err="1"/>
              <a:t>pasarían</a:t>
            </a:r>
            <a:r>
              <a:rPr sz="1800" dirty="0"/>
              <a:t> a </a:t>
            </a:r>
            <a:r>
              <a:rPr sz="1800" dirty="0" err="1"/>
              <a:t>una</a:t>
            </a:r>
            <a:r>
              <a:rPr sz="1800" dirty="0"/>
              <a:t> persona.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 dirty="0"/>
              <a:t>Cambio de </a:t>
            </a:r>
            <a:r>
              <a:rPr sz="1800" b="1" dirty="0" err="1"/>
              <a:t>modelo</a:t>
            </a:r>
            <a:r>
              <a:rPr sz="1800" b="1" dirty="0"/>
              <a:t> o de prompt</a:t>
            </a:r>
            <a:r>
              <a:rPr sz="1800" dirty="0"/>
              <a:t>: replay What-if </a:t>
            </a:r>
            <a:r>
              <a:rPr sz="1800" dirty="0" err="1"/>
              <a:t>sobre</a:t>
            </a:r>
            <a:r>
              <a:rPr sz="1800" dirty="0"/>
              <a:t> </a:t>
            </a:r>
            <a:r>
              <a:rPr sz="1800" dirty="0" err="1"/>
              <a:t>casos</a:t>
            </a:r>
            <a:r>
              <a:rPr sz="1800" dirty="0"/>
              <a:t> reales, con la </a:t>
            </a:r>
            <a:r>
              <a:rPr sz="1800" dirty="0" err="1"/>
              <a:t>diferencia</a:t>
            </a:r>
            <a:r>
              <a:rPr sz="1800" dirty="0"/>
              <a:t> </a:t>
            </a:r>
            <a:r>
              <a:rPr sz="1800" dirty="0" err="1"/>
              <a:t>en</a:t>
            </a:r>
            <a:r>
              <a:rPr sz="1800" dirty="0"/>
              <a:t> </a:t>
            </a:r>
            <a:r>
              <a:rPr sz="1800" dirty="0" err="1"/>
              <a:t>decisión</a:t>
            </a:r>
            <a:r>
              <a:rPr sz="1800" dirty="0"/>
              <a:t>, </a:t>
            </a:r>
            <a:r>
              <a:rPr sz="1800" dirty="0" err="1"/>
              <a:t>coste</a:t>
            </a:r>
            <a:r>
              <a:rPr sz="1800" dirty="0"/>
              <a:t> y </a:t>
            </a:r>
            <a:r>
              <a:rPr sz="1800" dirty="0" err="1"/>
              <a:t>latencia</a:t>
            </a:r>
            <a:r>
              <a:rPr sz="1800" dirty="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Ningún cambio de gobierno llega a producción sin saber antes su impacto.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47</a:t>
            </a:fld>
            <a:endParaRPr lang="es-ES"/>
          </a:p>
        </p:txBody>
      </p:sp>
      <p:pic>
        <p:nvPicPr>
          <p:cNvPr id="13" name="Picture 12" descr="c31-simu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10" y="1307592"/>
            <a:ext cx="4258184" cy="431901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213310" y="5782056"/>
            <a:ext cx="4829338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 dirty="0">
                <a:latin typeface="Montserrat"/>
              </a:rPr>
              <a:t>Arriba: Nuevo cap: vista previa del </a:t>
            </a:r>
            <a:r>
              <a:rPr sz="1400" dirty="0" err="1">
                <a:latin typeface="Montserrat"/>
              </a:rPr>
              <a:t>consumo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frente</a:t>
            </a:r>
            <a:r>
              <a:rPr sz="1400" dirty="0">
                <a:latin typeface="Montserrat"/>
              </a:rPr>
              <a:t> al nuevo </a:t>
            </a:r>
            <a:r>
              <a:rPr sz="1400" dirty="0" err="1">
                <a:latin typeface="Montserrat"/>
              </a:rPr>
              <a:t>límite</a:t>
            </a:r>
            <a:r>
              <a:rPr sz="1400" dirty="0">
                <a:latin typeface="Montserrat"/>
              </a:rPr>
              <a:t>. Abajo: Nuevo guardrail: vista previa e </a:t>
            </a:r>
            <a:r>
              <a:rPr sz="1400" dirty="0" err="1">
                <a:latin typeface="Montserrat"/>
              </a:rPr>
              <a:t>impacto</a:t>
            </a:r>
            <a:r>
              <a:rPr sz="1400" dirty="0">
                <a:latin typeface="Montserrat"/>
              </a:rPr>
              <a:t> </a:t>
            </a:r>
            <a:r>
              <a:rPr sz="1400" dirty="0" err="1">
                <a:latin typeface="Montserrat"/>
              </a:rPr>
              <a:t>estimado</a:t>
            </a:r>
            <a:r>
              <a:rPr sz="1400" dirty="0"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48</a:t>
            </a:fld>
            <a:endParaRPr lang="es-ES"/>
          </a:p>
        </p:txBody>
      </p:sp>
      <p:pic>
        <p:nvPicPr>
          <p:cNvPr id="4" name="Picture 3" descr="18-nuevo-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798303"/>
            <a:ext cx="9701784" cy="519738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49</a:t>
            </a:fld>
            <a:endParaRPr lang="es-ES"/>
          </a:p>
        </p:txBody>
      </p:sp>
      <p:pic>
        <p:nvPicPr>
          <p:cNvPr id="4" name="Picture 3" descr="16-nuevo-guard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162120"/>
            <a:ext cx="9701784" cy="446975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025138" cy="429768"/>
          </a:xfrm>
        </p:spPr>
        <p:txBody>
          <a:bodyPr wrap="none"/>
          <a:lstStyle/>
          <a:p>
            <a:r>
              <a:rPr sz="2600"/>
              <a:t>Auditar: libro de registro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361433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 err="1"/>
              <a:t>Alertas</a:t>
            </a:r>
            <a:r>
              <a:rPr sz="1600" dirty="0"/>
              <a:t>: cap </a:t>
            </a:r>
            <a:r>
              <a:rPr sz="1600" dirty="0" err="1"/>
              <a:t>superado</a:t>
            </a:r>
            <a:r>
              <a:rPr sz="1600" dirty="0"/>
              <a:t>, aviso al 80 %.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 err="1"/>
              <a:t>Políticas</a:t>
            </a:r>
            <a:r>
              <a:rPr sz="1600" b="1" dirty="0"/>
              <a:t> y </a:t>
            </a:r>
            <a:r>
              <a:rPr sz="1600" b="1" dirty="0" err="1"/>
              <a:t>niveles</a:t>
            </a:r>
            <a:r>
              <a:rPr sz="1600" dirty="0"/>
              <a:t>: guardrail </a:t>
            </a:r>
            <a:r>
              <a:rPr sz="1600" dirty="0" err="1"/>
              <a:t>activado</a:t>
            </a:r>
            <a:r>
              <a:rPr sz="1600" dirty="0"/>
              <a:t>, </a:t>
            </a:r>
            <a:r>
              <a:rPr sz="1600" dirty="0" err="1"/>
              <a:t>cambio</a:t>
            </a:r>
            <a:r>
              <a:rPr sz="1600" dirty="0"/>
              <a:t> de </a:t>
            </a:r>
            <a:r>
              <a:rPr sz="1600" dirty="0" err="1"/>
              <a:t>autonomía</a:t>
            </a:r>
            <a:r>
              <a:rPr sz="1600" dirty="0"/>
              <a:t>, </a:t>
            </a:r>
            <a:r>
              <a:rPr sz="1600" dirty="0" err="1"/>
              <a:t>acción</a:t>
            </a:r>
            <a:r>
              <a:rPr sz="1600" dirty="0"/>
              <a:t> </a:t>
            </a:r>
            <a:r>
              <a:rPr sz="1600" dirty="0" err="1"/>
              <a:t>correctiva</a:t>
            </a:r>
            <a:r>
              <a:rPr sz="1600" dirty="0"/>
              <a:t> </a:t>
            </a:r>
            <a:r>
              <a:rPr sz="1600" dirty="0" err="1"/>
              <a:t>aplicada</a:t>
            </a:r>
            <a:r>
              <a:rPr sz="1600" dirty="0"/>
              <a:t>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/>
              <a:t>Replays</a:t>
            </a:r>
            <a:r>
              <a:rPr sz="1600" dirty="0"/>
              <a:t>: </a:t>
            </a:r>
            <a:r>
              <a:rPr sz="1600" dirty="0" err="1"/>
              <a:t>pruebas</a:t>
            </a:r>
            <a:r>
              <a:rPr sz="1600" dirty="0"/>
              <a:t> de </a:t>
            </a:r>
            <a:r>
              <a:rPr sz="1600" dirty="0" err="1"/>
              <a:t>modelo</a:t>
            </a:r>
            <a:r>
              <a:rPr sz="1600" dirty="0"/>
              <a:t> o de prompt.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/>
              <a:t>Overrides</a:t>
            </a:r>
            <a:r>
              <a:rPr sz="1600" dirty="0"/>
              <a:t>: </a:t>
            </a:r>
            <a:r>
              <a:rPr sz="1600" dirty="0" err="1"/>
              <a:t>decisiones</a:t>
            </a:r>
            <a:r>
              <a:rPr sz="1600" dirty="0"/>
              <a:t> del </a:t>
            </a:r>
            <a:r>
              <a:rPr sz="1600" dirty="0" err="1"/>
              <a:t>agente</a:t>
            </a:r>
            <a:r>
              <a:rPr sz="1600" dirty="0"/>
              <a:t> </a:t>
            </a:r>
            <a:r>
              <a:rPr sz="1600" dirty="0" err="1"/>
              <a:t>corregidas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persona.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 err="1"/>
              <a:t>Despliegues</a:t>
            </a:r>
            <a:r>
              <a:rPr sz="1600" dirty="0"/>
              <a:t>: </a:t>
            </a:r>
            <a:r>
              <a:rPr sz="1600" dirty="0" err="1"/>
              <a:t>cambios</a:t>
            </a:r>
            <a:r>
              <a:rPr sz="1600" dirty="0"/>
              <a:t> de prompt o de </a:t>
            </a:r>
            <a:r>
              <a:rPr sz="1600" dirty="0" err="1"/>
              <a:t>modelo</a:t>
            </a:r>
            <a:r>
              <a:rPr sz="1600" dirty="0"/>
              <a:t>.</a:t>
            </a:r>
          </a:p>
          <a:p>
            <a:pPr>
              <a:lnSpc>
                <a:spcPct val="140000"/>
              </a:lnSpc>
              <a:spcAft>
                <a:spcPts val="800"/>
              </a:spcAft>
              <a:buClr>
                <a:srgbClr val="FF1414"/>
              </a:buClr>
              <a:buFont typeface="Arial"/>
              <a:buChar char="►"/>
            </a:pPr>
            <a:r>
              <a:rPr sz="1600" b="1" dirty="0" err="1"/>
              <a:t>Incidentes</a:t>
            </a:r>
            <a:r>
              <a:rPr sz="1600" dirty="0"/>
              <a:t>: </a:t>
            </a:r>
            <a:r>
              <a:rPr sz="1600" dirty="0" err="1"/>
              <a:t>saturación</a:t>
            </a:r>
            <a:r>
              <a:rPr sz="1600" dirty="0"/>
              <a:t> del </a:t>
            </a:r>
            <a:r>
              <a:rPr sz="1600" dirty="0" err="1"/>
              <a:t>proveedor</a:t>
            </a:r>
            <a:r>
              <a:rPr sz="1600" dirty="0"/>
              <a:t>, paso a motor alternativo.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Qué cambió, cuándo, por qué y quién lo aprobó. Se rellena solo, sin trabajo extra.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50</a:t>
            </a:fld>
            <a:endParaRPr lang="es-ES"/>
          </a:p>
        </p:txBody>
      </p:sp>
      <p:pic>
        <p:nvPicPr>
          <p:cNvPr id="13" name="Picture 12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79" cy="3400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4863465"/>
            <a:ext cx="5696712" cy="481583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Histórico de gobierno: overrides, incidentes, caps, replays y cambios de nivel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51</a:t>
            </a:fld>
            <a:endParaRPr lang="es-ES"/>
          </a:p>
        </p:txBody>
      </p:sp>
      <p:pic>
        <p:nvPicPr>
          <p:cNvPr id="4" name="Picture 3" descr="11-histor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365760"/>
            <a:ext cx="9699955" cy="606247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194047" cy="429768"/>
          </a:xfrm>
        </p:spPr>
        <p:txBody>
          <a:bodyPr wrap="none"/>
          <a:lstStyle/>
          <a:p>
            <a:r>
              <a:rPr sz="2600"/>
              <a:t>Cumplimiento por diseño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861304" cy="4026408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Trazabilidad</a:t>
            </a:r>
            <a:r>
              <a:rPr sz="1400"/>
              <a:t>: AI Act art. 12 · RGPD art. 5.2 y 30.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Explicabilidad</a:t>
            </a:r>
            <a:r>
              <a:rPr sz="1400"/>
              <a:t>: RGPD art. 15 y 22 · AI Act art. 13.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Autonomía y supervisión humana</a:t>
            </a:r>
            <a:r>
              <a:rPr sz="1400"/>
              <a:t>: AI Act art. 14 · RGPD art. 22.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Guardrails y resiliencia</a:t>
            </a:r>
            <a:r>
              <a:rPr sz="1400"/>
              <a:t>: AI Act art. 15 · DORA.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Identidad y permisos</a:t>
            </a:r>
            <a:r>
              <a:rPr sz="1400"/>
              <a:t>: DORA art. 9 · RGPD art. 25 y 32.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Gestión de modelos</a:t>
            </a:r>
            <a:r>
              <a:rPr sz="1400"/>
              <a:t>: DORA art. 28.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FinOps</a:t>
            </a:r>
            <a:r>
              <a:rPr sz="1400"/>
              <a:t>: gobierno interno (p. ej., Solvencia II art. 41 en seguros).</a:t>
            </a:r>
          </a:p>
          <a:p>
            <a:pPr>
              <a:lnSpc>
                <a:spcPct val="140000"/>
              </a:lnSpc>
              <a:spcAft>
                <a:spcPts val="600"/>
              </a:spcAft>
              <a:buClr>
                <a:srgbClr val="FF1414"/>
              </a:buClr>
              <a:buFont typeface="Arial"/>
              <a:buChar char="►"/>
            </a:pPr>
            <a:r>
              <a:rPr sz="1400" b="1"/>
              <a:t>Histórico</a:t>
            </a:r>
            <a:r>
              <a:rPr sz="1400"/>
              <a:t>: AI Act art. 12 · supervisores sectoriales.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5861304" cy="701040"/>
          </a:xfrm>
        </p:spPr>
        <p:txBody>
          <a:bodyPr anchor="t">
            <a:noAutofit/>
          </a:bodyPr>
          <a:lstStyle/>
          <a:p>
            <a:r>
              <a:t>Cada bloque del panel lleva su etiqueta normativa: qué exige el artículo y si ya está en vigor.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52</a:t>
            </a:fld>
            <a:endParaRPr lang="es-ES"/>
          </a:p>
        </p:txBody>
      </p:sp>
      <p:pic>
        <p:nvPicPr>
          <p:cNvPr id="13" name="Picture 12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307592"/>
            <a:ext cx="5440680" cy="17954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345936" y="3258464"/>
            <a:ext cx="5696712" cy="2682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400">
                <a:latin typeface="Montserrat"/>
              </a:rPr>
              <a:t>Etiqueta normativa: qué exige el artículo y si ya está en vigor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DFFC08-FB73-C885-6B47-6BA2858384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53</a:t>
            </a:fld>
            <a:endParaRPr lang="es-ES"/>
          </a:p>
        </p:txBody>
      </p:sp>
      <p:pic>
        <p:nvPicPr>
          <p:cNvPr id="4" name="Picture 3" descr="12-etiqueta-normati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67" y="1004911"/>
            <a:ext cx="11396266" cy="376076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C404-1198-B987-A55F-98A884133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36" y="2377440"/>
            <a:ext cx="4616958" cy="660400"/>
          </a:xfrm>
        </p:spPr>
        <p:txBody>
          <a:bodyPr wrap="none" anchor="ctr">
            <a:noAutofit/>
          </a:bodyPr>
          <a:lstStyle/>
          <a:p>
            <a:r>
              <a:rPr sz="4000"/>
              <a:t>Cómo implantarlo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4A87-2D05-B819-27E2-B433509BD95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33188" y="6408738"/>
            <a:ext cx="658812" cy="230187"/>
          </a:xfrm>
        </p:spPr>
        <p:txBody>
          <a:bodyPr/>
          <a:lstStyle/>
          <a:p>
            <a:fld id="{4C86EB02-3AF8-4C19-B0D1-31A9E52C2F89}" type="slidenum">
              <a:rPr lang="en-GB" smtClean="0"/>
              <a:pPr/>
              <a:t>54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DC48BB-F5E1-0E62-8FFB-51749D3BA6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34056" y="1850395"/>
            <a:ext cx="7764655" cy="50051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1874519"/>
            <a:ext cx="566928" cy="329184"/>
          </a:xfrm>
          <a:prstGeom prst="rect">
            <a:avLst/>
          </a:prstGeom>
          <a:solidFill>
            <a:srgbClr val="194BFF"/>
          </a:solidFill>
        </p:spPr>
        <p:txBody>
          <a:bodyPr wrap="none" lIns="73152" tIns="18288" rIns="73152" bIns="18288" anchor="ctr">
            <a:noAutofit/>
          </a:bodyPr>
          <a:lstStyle/>
          <a:p>
            <a:r>
              <a:rPr sz="14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403600"/>
            <a:ext cx="420624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Montserrat Medium"/>
              </a:rPr>
              <a:t>De forma progresiva, con capacidades que se activan cuando el negocio lo decide.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4759198" cy="429768"/>
          </a:xfrm>
        </p:spPr>
        <p:txBody>
          <a:bodyPr wrap="none"/>
          <a:lstStyle/>
          <a:p>
            <a:r>
              <a:rPr sz="2600"/>
              <a:t>Marco de madurez GenAIOps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55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Las capacidades no se imponen: se activan por decisión del cliente, nivel a nivel.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Desplegado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agentes integrados, trazabilidad básica y criterios mínimos de producción.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Monitorizado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detección de desviaciones, métricas de calidad, alertas y control de costes.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Gobernado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versionado de prompts, validación y regresión antes de cada cambio.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Optimizado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ajustes con datos reales y equilibrio entre coste y calidad.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Mejora continua asistida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las correcciones humanas alimentan la evolución, siempre bajo gobierno.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373877" cy="429768"/>
          </a:xfrm>
        </p:spPr>
        <p:txBody>
          <a:bodyPr wrap="none"/>
          <a:lstStyle/>
          <a:p>
            <a:r>
              <a:rPr sz="2600"/>
              <a:t>Cadena de confianza operacional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56</a:t>
            </a:fld>
            <a:endParaRPr lang="es-ES"/>
          </a:p>
        </p:txBody>
      </p:sp>
      <p:sp>
        <p:nvSpPr>
          <p:cNvPr id="6" name="TextBox 5"/>
          <p:cNvSpPr txBox="1"/>
          <p:nvPr/>
        </p:nvSpPr>
        <p:spPr>
          <a:xfrm>
            <a:off x="484632" y="1307592"/>
            <a:ext cx="11228832" cy="3474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Ciclo de mejora: observar → analizar → ajustar → validar con replay → desplegar.</a:t>
            </a:r>
          </a:p>
        </p:txBody>
      </p:sp>
      <p:sp>
        <p:nvSpPr>
          <p:cNvPr id="7" name="Pentagon 6"/>
          <p:cNvSpPr/>
          <p:nvPr/>
        </p:nvSpPr>
        <p:spPr>
          <a:xfrm>
            <a:off x="484632" y="2839212"/>
            <a:ext cx="2377440" cy="1188720"/>
          </a:xfrm>
          <a:prstGeom prst="homePlate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Traza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cada interacción queda registrada de extremo a extremo.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1792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hevron 9"/>
          <p:cNvSpPr/>
          <p:nvPr/>
        </p:nvSpPr>
        <p:spPr>
          <a:xfrm>
            <a:off x="2697480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02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Explicación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razonamiento se reconstruye en lenguaje de negocio.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4210812"/>
            <a:ext cx="548640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>
            <a:off x="4910328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03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validación humana, por resultado y por fuentes.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47488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hevron 15"/>
          <p:cNvSpPr/>
          <p:nvPr/>
        </p:nvSpPr>
        <p:spPr>
          <a:xfrm>
            <a:off x="7123176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FF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04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Trust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0336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evidencia se convierte en confianza medible.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60336" y="4210812"/>
            <a:ext cx="548639" cy="0"/>
          </a:xfrm>
          <a:prstGeom prst="line">
            <a:avLst/>
          </a:prstGeom>
          <a:ln w="31750">
            <a:solidFill>
              <a:srgbClr val="FF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>
            <a:off x="9336024" y="2839212"/>
            <a:ext cx="2377440" cy="1188720"/>
          </a:xfrm>
          <a:prstGeom prst="chevron">
            <a:avLst>
              <a:gd name="adj" fmla="val 32000"/>
            </a:avLst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rIns="274320" rtlCol="0" anchor="ctr"/>
          <a:lstStyle/>
          <a:p>
            <a:pPr algn="ctr"/>
            <a:r>
              <a:rPr sz="1800">
                <a:solidFill>
                  <a:srgbClr val="FFFFFF"/>
                </a:solidFill>
                <a:latin typeface="Roboto Slab"/>
              </a:rPr>
              <a:t>05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Autonomía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302252"/>
            <a:ext cx="1965960" cy="1915667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la intervención humana se ajusta a esa confianza.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73184" y="4210812"/>
            <a:ext cx="548640" cy="0"/>
          </a:xfrm>
          <a:prstGeom prst="line">
            <a:avLst/>
          </a:prstGeom>
          <a:ln w="3175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5570727" cy="429768"/>
          </a:xfrm>
        </p:spPr>
        <p:txBody>
          <a:bodyPr wrap="none"/>
          <a:lstStyle/>
          <a:p>
            <a:r>
              <a:rPr sz="2600"/>
              <a:t>Piezas sueltas frente a integración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Hay piezas sueltas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Observabilidad de LLM</a:t>
            </a:r>
            <a:r>
              <a:rPr sz="1800"/>
              <a:t>: Langfuse, Arize o Datadog: trazas, latencia y tokens.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Gobierno y riesgo de IA</a:t>
            </a:r>
            <a:r>
              <a:rPr sz="1800"/>
              <a:t>: IBM watsonx.governance o Credo AI: inventario y políticas.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Estándar OpenTelemetry GenAI</a:t>
            </a:r>
            <a:r>
              <a:rPr sz="1800"/>
              <a:t>: convenciones comunes para trazar llamadas a modelos.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0"/>
          </p:nvPr>
        </p:nvSpPr>
        <p:spPr>
          <a:xfrm>
            <a:off x="484632" y="1307592"/>
            <a:ext cx="11228832" cy="701040"/>
          </a:xfrm>
        </p:spPr>
        <p:txBody>
          <a:bodyPr anchor="t">
            <a:noAutofit/>
          </a:bodyPr>
          <a:lstStyle/>
          <a:p>
            <a:r>
              <a:t>No es un producto: es una forma de implementar agentes en una empresa regulada, integrada con su proceso, sus reglas y sus costes.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1"/>
          </p:nvPr>
        </p:nvSpPr>
        <p:spPr>
          <a:xfrm>
            <a:off x="6281928" y="2237231"/>
            <a:ext cx="5431536" cy="4026408"/>
          </a:xfrm>
        </p:spPr>
        <p:txBody>
          <a:bodyPr anchor="t">
            <a:noAutofit/>
          </a:bodyPr>
          <a:lstStyle/>
          <a:p>
            <a:pPr marL="0" indent="0">
              <a:lnSpc>
                <a:spcPct val="120000"/>
              </a:lnSpc>
              <a:spcBef>
                <a:spcPts val="400"/>
              </a:spcBef>
              <a:spcAft>
                <a:spcPts val="1000"/>
              </a:spcAft>
              <a:buNone/>
            </a:pPr>
            <a:r>
              <a:rPr sz="2000" b="1">
                <a:solidFill>
                  <a:srgbClr val="194BFF"/>
                </a:solidFill>
                <a:latin typeface="Montserrat"/>
              </a:rPr>
              <a:t>Nadie las une a tu negocio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proceso</a:t>
            </a:r>
            <a:r>
              <a:rPr sz="1800"/>
              <a:t>: de la entrada a la decisión, de punta a punta.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reglas de negocio</a:t>
            </a:r>
            <a:r>
              <a:rPr sz="1800"/>
              <a:t>: con la evidencia de cada criterio.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Tus costes</a:t>
            </a:r>
            <a:r>
              <a:rPr sz="1800"/>
              <a:t>: coste por decisión y límites de gasto por agente.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 b="1"/>
              <a:t>Tu marco normativo</a:t>
            </a:r>
            <a:r>
              <a:rPr sz="1800"/>
              <a:t>: cada capacidad enlazada con la norma que aplica.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1E2588A-F550-C104-3508-8B4A40320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57</a:t>
            </a:fld>
            <a:endParaRPr lang="es-E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2620518" cy="429768"/>
          </a:xfrm>
        </p:spPr>
        <p:txBody>
          <a:bodyPr wrap="none"/>
          <a:lstStyle/>
          <a:p>
            <a:r>
              <a:rPr sz="2600"/>
              <a:t>Mensajes clave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CC3A131-478F-7358-5149-4495B2461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58</a:t>
            </a:fld>
            <a:endParaRPr lang="es-ES"/>
          </a:p>
        </p:txBody>
      </p:sp>
      <p:cxnSp>
        <p:nvCxnSpPr>
          <p:cNvPr id="6" name="Connector 5"/>
          <p:cNvCxnSpPr/>
          <p:nvPr/>
        </p:nvCxnSpPr>
        <p:spPr>
          <a:xfrm>
            <a:off x="48463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8463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4572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1797710" cy="3456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Confianza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el reto ya no es si la IA puede hacerlo, sino si se puede poner en producción con confianza.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8526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8526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13862" y="1920240"/>
            <a:ext cx="4572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2422" y="2578608"/>
            <a:ext cx="1797710" cy="3456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Observabilidad cognitiva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un agente cambia sin cambiar su código; la monitorización técnica no basta.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85892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85892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4492" y="1920240"/>
            <a:ext cx="4572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3052" y="2578608"/>
            <a:ext cx="1797710" cy="3456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Regulación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ya pide trazabilidad, explicación y supervisión humana real, y el AI Act lo endurece en 2027.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652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38652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15123" y="1920240"/>
            <a:ext cx="4572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3683" y="2578608"/>
            <a:ext cx="1797710" cy="3456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Cinco capacidades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ver, entender, limitar, pagar y auditar, sobre una capa común.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87153" y="1920240"/>
            <a:ext cx="0" cy="411480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87153" y="2633472"/>
            <a:ext cx="0" cy="310896"/>
          </a:xfrm>
          <a:prstGeom prst="line">
            <a:avLst/>
          </a:prstGeom>
          <a:ln w="38100">
            <a:solidFill>
              <a:srgbClr val="194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solidFill>
            <a:srgbClr val="194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15753" y="1920240"/>
            <a:ext cx="45720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200">
                <a:solidFill>
                  <a:srgbClr val="FFFFFF"/>
                </a:solidFill>
                <a:latin typeface="Roboto Slab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4313" y="2578608"/>
            <a:ext cx="1797710" cy="34564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1">
                <a:solidFill>
                  <a:srgbClr val="194BFF"/>
                </a:solidFill>
                <a:latin typeface="Montserrat"/>
              </a:rPr>
              <a:t>Autonomía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595959"/>
                </a:solidFill>
                <a:latin typeface="Montserrat Medium"/>
              </a:rPr>
              <a:t>se gana con datos y se pierde con datos.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99" y="349200"/>
            <a:ext cx="1487678" cy="429768"/>
          </a:xfrm>
        </p:spPr>
        <p:txBody>
          <a:bodyPr wrap="none"/>
          <a:lstStyle/>
          <a:p>
            <a:r>
              <a:rPr sz="2600"/>
              <a:t>Fuentes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632" y="1399032"/>
            <a:ext cx="11228832" cy="4864607"/>
          </a:xfrm>
        </p:spPr>
        <p:txBody>
          <a:bodyPr anchor="t">
            <a:noAutofit/>
          </a:bodyPr>
          <a:lstStyle/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McKinsey, </a:t>
            </a:r>
            <a:r>
              <a:rPr sz="1800">
                <a:hlinkClick r:id="rId3"/>
              </a:rPr>
              <a:t>The state of AI in 2025: Agents, innovation, and transformation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Gartner, </a:t>
            </a:r>
            <a:r>
              <a:rPr sz="1800">
                <a:hlinkClick r:id="rId4"/>
              </a:rPr>
              <a:t>nota de prensa del 25/06/2025 sobre IA agéntica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Fortune, </a:t>
            </a:r>
            <a:r>
              <a:rPr sz="1800">
                <a:hlinkClick r:id="rId5"/>
              </a:rPr>
              <a:t>informe del MIT NANDA «The GenAI Divide» (18/08/2025)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Conning, </a:t>
            </a:r>
            <a:r>
              <a:rPr sz="1800">
                <a:hlinkClick r:id="rId6"/>
              </a:rPr>
              <a:t>AI in Insurance 2025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Normativa: </a:t>
            </a:r>
            <a:r>
              <a:rPr sz="1800">
                <a:hlinkClick r:id="rId7"/>
              </a:rPr>
              <a:t>AI Act</a:t>
            </a:r>
            <a:r>
              <a:rPr sz="1800"/>
              <a:t> · </a:t>
            </a:r>
            <a:r>
              <a:rPr sz="1800">
                <a:hlinkClick r:id="rId8"/>
              </a:rPr>
              <a:t>RGPD</a:t>
            </a:r>
            <a:r>
              <a:rPr sz="1800"/>
              <a:t> · </a:t>
            </a:r>
            <a:r>
              <a:rPr sz="1800">
                <a:hlinkClick r:id="rId9"/>
              </a:rPr>
              <a:t>DORA</a:t>
            </a:r>
            <a:r>
              <a:rPr sz="1800"/>
              <a:t> · </a:t>
            </a:r>
            <a:r>
              <a:rPr sz="1800">
                <a:hlinkClick r:id="rId10"/>
              </a:rPr>
              <a:t>NIS2</a:t>
            </a:r>
            <a:r>
              <a:rPr sz="1800"/>
              <a:t> · </a:t>
            </a:r>
            <a:r>
              <a:rPr sz="1800">
                <a:hlinkClick r:id="rId11"/>
              </a:rPr>
              <a:t>Digital Omnibus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Jurisprudencia: </a:t>
            </a:r>
            <a:r>
              <a:rPr sz="1800">
                <a:hlinkClick r:id="rId12"/>
              </a:rPr>
              <a:t>TJUE C-634/21 (SCHUFA)</a:t>
            </a:r>
            <a:r>
              <a:rPr sz="1800"/>
              <a:t> · </a:t>
            </a:r>
            <a:r>
              <a:rPr sz="1800">
                <a:hlinkClick r:id="rId13"/>
              </a:rPr>
              <a:t>TJUE C-203/22 (Dun &amp; Bradstreet)</a:t>
            </a:r>
          </a:p>
          <a:p>
            <a:pPr>
              <a:lnSpc>
                <a:spcPct val="140000"/>
              </a:lnSpc>
              <a:spcAft>
                <a:spcPts val="1000"/>
              </a:spcAft>
              <a:buClr>
                <a:srgbClr val="FF1414"/>
              </a:buClr>
              <a:buFont typeface="Arial"/>
              <a:buChar char="►"/>
            </a:pPr>
            <a:r>
              <a:rPr sz="1800"/>
              <a:t>Supervisores y estándares: </a:t>
            </a:r>
            <a:r>
              <a:rPr sz="1800">
                <a:hlinkClick r:id="rId14"/>
              </a:rPr>
              <a:t>EIOPA, Opinion on AI governance</a:t>
            </a:r>
            <a:r>
              <a:rPr sz="1800"/>
              <a:t> · </a:t>
            </a:r>
            <a:r>
              <a:rPr sz="1800">
                <a:hlinkClick r:id="rId15"/>
              </a:rPr>
              <a:t>ISO/IEC 42001</a:t>
            </a:r>
            <a:r>
              <a:rPr sz="1800"/>
              <a:t> · </a:t>
            </a:r>
            <a:r>
              <a:rPr sz="1800">
                <a:hlinkClick r:id="rId16"/>
              </a:rPr>
              <a:t>NIST AI RMF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7F5D141-06D9-E279-7706-B8CF2C3BD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tIns="0" rIns="0" bIns="0" anchor="t">
            <a:spAutoFit/>
          </a:bodyPr>
          <a:lstStyle>
            <a:lvl1pPr algn="r">
              <a:defRPr sz="800" b="0" i="0">
                <a:solidFill>
                  <a:schemeClr val="accent1"/>
                </a:solidFill>
                <a:latin typeface="Montserrat Medium" pitchFamily="2" charset="77"/>
              </a:defRPr>
            </a:lvl1pPr>
          </a:lstStyle>
          <a:p>
            <a:fld id="{B6F15528-21DE-4FAA-801E-634DDDAF4B2B}" type="slidenum">
              <a:rPr lang="es-ES"/>
              <a:t>59</a:t>
            </a:fld>
            <a:endParaRPr lang="es-E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3599" y="2286000"/>
            <a:ext cx="2104390" cy="648000"/>
          </a:xfrm>
        </p:spPr>
        <p:txBody>
          <a:bodyPr wrap="none"/>
          <a:lstStyle/>
          <a:p>
            <a:r>
              <a:t>Gracias</a:t>
            </a:r>
          </a:p>
        </p:txBody>
      </p:sp>
      <p:pic>
        <p:nvPicPr>
          <p:cNvPr id="4" name="Picture 3" descr="hex_photo_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850392"/>
            <a:ext cx="5230368" cy="52112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T Logicalis Template March 2026">
  <a:themeElements>
    <a:clrScheme name="TDL New">
      <a:dk1>
        <a:srgbClr val="595959"/>
      </a:dk1>
      <a:lt1>
        <a:srgbClr val="FFFFFF"/>
      </a:lt1>
      <a:dk2>
        <a:srgbClr val="595959"/>
      </a:dk2>
      <a:lt2>
        <a:srgbClr val="E7E6E6"/>
      </a:lt2>
      <a:accent1>
        <a:srgbClr val="FF1414"/>
      </a:accent1>
      <a:accent2>
        <a:srgbClr val="595959"/>
      </a:accent2>
      <a:accent3>
        <a:srgbClr val="194BFF"/>
      </a:accent3>
      <a:accent4>
        <a:srgbClr val="00FFCD"/>
      </a:accent4>
      <a:accent5>
        <a:srgbClr val="E6E6E6"/>
      </a:accent5>
      <a:accent6>
        <a:srgbClr val="FF1414"/>
      </a:accent6>
      <a:hlink>
        <a:srgbClr val="595959"/>
      </a:hlink>
      <a:folHlink>
        <a:srgbClr val="A29791"/>
      </a:folHlink>
    </a:clrScheme>
    <a:fontScheme name="TDL NEW Font">
      <a:majorFont>
        <a:latin typeface="Roboto Slab"/>
        <a:ea typeface=""/>
        <a:cs typeface=""/>
      </a:majorFont>
      <a:minorFont>
        <a:latin typeface="Montserra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DL Template.pptx" id="{49FD070F-6C74-4054-BC33-4F4E7F43F796}" vid="{6D854CFD-DB59-4F78-BD86-5C43773322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69F901A49CB064A9C4B1D391D24583D" ma:contentTypeVersion="15" ma:contentTypeDescription="Crear nuevo documento." ma:contentTypeScope="" ma:versionID="c01ca280964f438bf2e2e8c57f041e78">
  <xsd:schema xmlns:xsd="http://www.w3.org/2001/XMLSchema" xmlns:xs="http://www.w3.org/2001/XMLSchema" xmlns:p="http://schemas.microsoft.com/office/2006/metadata/properties" xmlns:ns2="bc1a385b-e1fe-4f98-ade6-787642576ba7" xmlns:ns3="ec24e197-8a67-4a13-a14c-425853cf5e9f" targetNamespace="http://schemas.microsoft.com/office/2006/metadata/properties" ma:root="true" ma:fieldsID="002b4cf6722f3fad18b0e6f8ed65e6e2" ns2:_="" ns3:_="">
    <xsd:import namespace="bc1a385b-e1fe-4f98-ade6-787642576ba7"/>
    <xsd:import namespace="ec24e197-8a67-4a13-a14c-425853cf5e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1a385b-e1fe-4f98-ade6-787642576ba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10fce5ab-aaf9-49f9-a6ce-ac3a074a46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24e197-8a67-4a13-a14c-425853cf5e9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fef96e38-1bbd-4d0a-8955-62bde1cd75dc}" ma:internalName="TaxCatchAll" ma:showField="CatchAllData" ma:web="ec24e197-8a67-4a13-a14c-425853cf5e9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c1a385b-e1fe-4f98-ade6-787642576ba7">
      <Terms xmlns="http://schemas.microsoft.com/office/infopath/2007/PartnerControls"/>
    </lcf76f155ced4ddcb4097134ff3c332f>
    <TaxCatchAll xmlns="ec24e197-8a67-4a13-a14c-425853cf5e9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3107499-3C28-4C3E-9EDE-1BEF227098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c1a385b-e1fe-4f98-ade6-787642576ba7"/>
    <ds:schemaRef ds:uri="ec24e197-8a67-4a13-a14c-425853cf5e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251A99C-5D78-4D91-A271-C92583798633}">
  <ds:schemaRefs>
    <ds:schemaRef ds:uri="http://purl.org/dc/terms/"/>
    <ds:schemaRef ds:uri="http://schemas.microsoft.com/office/2006/metadata/properties"/>
    <ds:schemaRef ds:uri="bc1a385b-e1fe-4f98-ade6-787642576ba7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ec24e197-8a67-4a13-a14c-425853cf5e9f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F53B6D5-302C-4812-BDB4-23286F7EBC3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8622</Words>
  <Application>Microsoft Macintosh PowerPoint</Application>
  <PresentationFormat>Panorámica</PresentationFormat>
  <Paragraphs>822</Paragraphs>
  <Slides>60</Slides>
  <Notes>52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60</vt:i4>
      </vt:variant>
    </vt:vector>
  </HeadingPairs>
  <TitlesOfParts>
    <vt:vector size="70" baseType="lpstr">
      <vt:lpstr>.Lucida Grande UI Regular</vt:lpstr>
      <vt:lpstr>Arial</vt:lpstr>
      <vt:lpstr>Calibri</vt:lpstr>
      <vt:lpstr>Monaco</vt:lpstr>
      <vt:lpstr>Montserrat</vt:lpstr>
      <vt:lpstr>Montserrat Light</vt:lpstr>
      <vt:lpstr>Montserrat Medium</vt:lpstr>
      <vt:lpstr>Roboto Slab</vt:lpstr>
      <vt:lpstr>Wingdings</vt:lpstr>
      <vt:lpstr>PPT Logicalis Template March 2026</vt:lpstr>
      <vt:lpstr>Observabilidad y</vt:lpstr>
      <vt:lpstr>Agenda</vt:lpstr>
      <vt:lpstr>Presentación de PowerPoint</vt:lpstr>
      <vt:lpstr>La IA agéntica llega a la empresa</vt:lpstr>
      <vt:lpstr>Del piloto a producción</vt:lpstr>
      <vt:lpstr>Cuatro preguntas sin respuesta</vt:lpstr>
      <vt:lpstr>Qué cambia con</vt:lpstr>
      <vt:lpstr>Software tradicional frente a agente</vt:lpstr>
      <vt:lpstr>Riesgos nuevos</vt:lpstr>
      <vt:lpstr>Monitorizar no es observar</vt:lpstr>
      <vt:lpstr>Presentación de PowerPoint</vt:lpstr>
      <vt:lpstr>Marco normativo</vt:lpstr>
      <vt:lpstr>Presentación de PowerPoint</vt:lpstr>
      <vt:lpstr>Qué buscamos</vt:lpstr>
      <vt:lpstr>Arquitectura de referencia</vt:lpstr>
      <vt:lpstr>Tres niveles de observabilidad</vt:lpstr>
      <vt:lpstr>Mapa de capacidades</vt:lpstr>
      <vt:lpstr>Ver: la vista de dirección</vt:lpstr>
      <vt:lpstr>Presentación de PowerPoint</vt:lpstr>
      <vt:lpstr>Ver: trazabilidad de extremo a extremo</vt:lpstr>
      <vt:lpstr>Presentación de PowerPoint</vt:lpstr>
      <vt:lpstr>Entender: explicabilidad</vt:lpstr>
      <vt:lpstr>Presentación de PowerPoint</vt:lpstr>
      <vt:lpstr>Entender: Reasoning Replay y What-if</vt:lpstr>
      <vt:lpstr>Presentación de PowerPoint</vt:lpstr>
      <vt:lpstr>Presentación de PowerPoint</vt:lpstr>
      <vt:lpstr>Entender: causa raíz del comportamiento</vt:lpstr>
      <vt:lpstr>Limitar: identidad y permisos por agente</vt:lpstr>
      <vt:lpstr>Presentación de PowerPoint</vt:lpstr>
      <vt:lpstr>Limitar: autonomía progresiva</vt:lpstr>
      <vt:lpstr>Presentación de PowerPoint</vt:lpstr>
      <vt:lpstr>Presentación de PowerPoint</vt:lpstr>
      <vt:lpstr>Limitar: Trust Score y supervisión adaptativa</vt:lpstr>
      <vt:lpstr>Presentación de PowerPoint</vt:lpstr>
      <vt:lpstr>Limitar: guardrails</vt:lpstr>
      <vt:lpstr>Presentación de PowerPoint</vt:lpstr>
      <vt:lpstr>Limitar: kill switch y resiliencia</vt:lpstr>
      <vt:lpstr>Presentación de PowerPoint</vt:lpstr>
      <vt:lpstr>Pagar: caps y presupuesto</vt:lpstr>
      <vt:lpstr>Presentación de PowerPoint</vt:lpstr>
      <vt:lpstr>Presentación de PowerPoint</vt:lpstr>
      <vt:lpstr>Pagar: de la alerta a la acción</vt:lpstr>
      <vt:lpstr>Presentación de PowerPoint</vt:lpstr>
      <vt:lpstr>Presentación de PowerPoint</vt:lpstr>
      <vt:lpstr>Pagar: el modelo adecuado para cada agente</vt:lpstr>
      <vt:lpstr>Presentación de PowerPoint</vt:lpstr>
      <vt:lpstr>Antes de cambiar, simular</vt:lpstr>
      <vt:lpstr>Presentación de PowerPoint</vt:lpstr>
      <vt:lpstr>Presentación de PowerPoint</vt:lpstr>
      <vt:lpstr>Auditar: libro de registro</vt:lpstr>
      <vt:lpstr>Presentación de PowerPoint</vt:lpstr>
      <vt:lpstr>Cumplimiento por diseño</vt:lpstr>
      <vt:lpstr>Presentación de PowerPoint</vt:lpstr>
      <vt:lpstr>Cómo implantarlo</vt:lpstr>
      <vt:lpstr>Marco de madurez GenAIOps</vt:lpstr>
      <vt:lpstr>Cadena de confianza operacional</vt:lpstr>
      <vt:lpstr>Piezas sueltas frente a integración</vt:lpstr>
      <vt:lpstr>Mensajes clave</vt:lpstr>
      <vt:lpstr>Fuentes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Observabilidad y gobierno de la IA agéntica</dc:title>
  <dc:creator>Ignacio Sánchez</dc:creator>
  <cp:lastModifiedBy>Ignacio Sánchez Enjuto</cp:lastModifiedBy>
  <cp:revision>2</cp:revision>
  <dcterms:created xsi:type="dcterms:W3CDTF">2023-07-20T13:22:40Z</dcterms:created>
  <dcterms:modified xsi:type="dcterms:W3CDTF">2026-10-04T18:10:21Z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ensitivity">
    <vt:lpwstr>Sensible</vt:lpwstr>
  </property>
  <property fmtid="{D5CDD505-2E9C-101B-9397-08002B2CF9AE}" pid="3" name="MSIP_Label_71e2662a-0625-4560-92a8-8decd38b51d5_Extended_MSFT_Method">
    <vt:lpwstr>Standard</vt:lpwstr>
  </property>
  <property fmtid="{D5CDD505-2E9C-101B-9397-08002B2CF9AE}" pid="4" name="ContentTypeId">
    <vt:lpwstr>0x010100C69F901A49CB064A9C4B1D391D24583D</vt:lpwstr>
  </property>
  <property fmtid="{D5CDD505-2E9C-101B-9397-08002B2CF9AE}" pid="5" name="MediaServiceImageTags">
    <vt:lpwstr/>
  </property>
  <property fmtid="{D5CDD505-2E9C-101B-9397-08002B2CF9AE}" pid="6" name="MSIP_Label_71e2662a-0625-4560-92a8-8decd38b51d5_Removed">
    <vt:lpwstr>False</vt:lpwstr>
  </property>
  <property fmtid="{D5CDD505-2E9C-101B-9397-08002B2CF9AE}" pid="7" name="MSIP_Label_71e2662a-0625-4560-92a8-8decd38b51d5_ActionId">
    <vt:lpwstr>1f16ca72-26c2-402d-98b3-c2cfda3bf25e</vt:lpwstr>
  </property>
  <property fmtid="{D5CDD505-2E9C-101B-9397-08002B2CF9AE}" pid="8" name="MSIP_Label_71e2662a-0625-4560-92a8-8decd38b51d5_Name">
    <vt:lpwstr>Sensible</vt:lpwstr>
  </property>
  <property fmtid="{D5CDD505-2E9C-101B-9397-08002B2CF9AE}" pid="9" name="MSIP_Label_71e2662a-0625-4560-92a8-8decd38b51d5_SetDate">
    <vt:lpwstr>2026-03-19T18:17:36Z</vt:lpwstr>
  </property>
  <property fmtid="{D5CDD505-2E9C-101B-9397-08002B2CF9AE}" pid="10" name="MSIP_Label_71e2662a-0625-4560-92a8-8decd38b51d5_SiteId">
    <vt:lpwstr>4b51496e-4cf2-4728-b551-2bdc71444141</vt:lpwstr>
  </property>
  <property fmtid="{D5CDD505-2E9C-101B-9397-08002B2CF9AE}" pid="11" name="MSIP_Label_71e2662a-0625-4560-92a8-8decd38b51d5_Enabled">
    <vt:lpwstr>True</vt:lpwstr>
  </property>
</Properties>
</file>