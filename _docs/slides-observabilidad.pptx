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40"/>
  </p:notesMasterIdLst>
  <p:sldIdLst>
    <p:sldId id="346" r:id="rId34"/>
    <p:sldId id="347" r:id="rId33"/>
    <p:sldId id="348" r:id="rId32"/>
    <p:sldId id="349" r:id="rId31"/>
    <p:sldId id="350" r:id="rId30"/>
    <p:sldId id="351" r:id="rId29"/>
    <p:sldId id="352" r:id="rId46"/>
    <p:sldId id="353" r:id="rId47"/>
    <p:sldId id="354" r:id="rId48"/>
    <p:sldId id="355" r:id="rId49"/>
    <p:sldId id="356" r:id="rId50"/>
    <p:sldId id="357" r:id="rId51"/>
    <p:sldId id="358" r:id="rId52"/>
    <p:sldId id="359" r:id="rId53"/>
    <p:sldId id="360" r:id="rId54"/>
    <p:sldId id="361" r:id="rId55"/>
    <p:sldId id="362" r:id="rId56"/>
    <p:sldId id="363" r:id="rId57"/>
    <p:sldId id="364" r:id="rId58"/>
    <p:sldId id="365" r:id="rId59"/>
    <p:sldId id="366" r:id="rId60"/>
    <p:sldId id="367" r:id="rId61"/>
    <p:sldId id="368" r:id="rId62"/>
    <p:sldId id="369" r:id="rId63"/>
    <p:sldId id="370" r:id="rId64"/>
    <p:sldId id="371" r:id="rId65"/>
    <p:sldId id="372" r:id="rId66"/>
    <p:sldId id="373" r:id="rId67"/>
    <p:sldId id="374" r:id="rId68"/>
    <p:sldId id="375" r:id="rId69"/>
    <p:sldId id="376" r:id="rId70"/>
    <p:sldId id="377" r:id="rId71"/>
    <p:sldId id="378" r:id="rId72"/>
    <p:sldId id="379" r:id="rId73"/>
    <p:sldId id="380" r:id="rId74"/>
    <p:sldId id="381" r:id="rId75"/>
    <p:sldId id="382" r:id="rId76"/>
    <p:sldId id="383" r:id="rId77"/>
    <p:sldId id="384" r:id="rId78"/>
    <p:sldId id="385" r:id="rId79"/>
    <p:sldId id="386" r:id="rId80"/>
    <p:sldId id="387" r:id="rId81"/>
    <p:sldId id="388" r:id="rId82"/>
    <p:sldId id="389" r:id="rId83"/>
    <p:sldId id="390" r:id="rId84"/>
    <p:sldId id="391" r:id="rId85"/>
    <p:sldId id="392" r:id="rId86"/>
    <p:sldId id="393" r:id="rId87"/>
    <p:sldId id="394" r:id="rId88"/>
    <p:sldId id="395" r:id="rId89"/>
    <p:sldId id="396" r:id="rId90"/>
    <p:sldId id="397" r:id="rId91"/>
    <p:sldId id="398" r:id="rId92"/>
    <p:sldId id="399" r:id="rId93"/>
    <p:sldId id="400" r:id="rId94"/>
    <p:sldId id="401" r:id="rId95"/>
    <p:sldId id="402" r:id="rId96"/>
    <p:sldId id="403" r:id="rId97"/>
    <p:sldId id="404" r:id="rId98"/>
    <p:sldId id="405" r:id="rId99"/>
    <p:sldId id="406" r:id="rId100"/>
    <p:sldId id="407" r:id="rId101"/>
    <p:sldId id="408" r:id="rId102"/>
    <p:sldId id="409" r:id="rId103"/>
    <p:sldId id="410" r:id="rId104"/>
    <p:sldId id="411" r:id="rId105"/>
    <p:sldId id="412" r:id="rId106"/>
    <p:sldId id="413" r:id="rId107"/>
    <p:sldId id="414" r:id="rId108"/>
    <p:sldId id="415" r:id="rId109"/>
    <p:sldId id="416" r:id="rId110"/>
    <p:sldId id="417" r:id="rId111"/>
    <p:sldId id="418" r:id="rId112"/>
    <p:sldId id="419" r:id="rId113"/>
  </p:sldIdLst>
  <p:sldSz cx="12192000" cy="6858000"/>
  <p:notesSz cx="6858000" cy="9144000"/>
  <p:defaultTextStyle>
    <a:defPPr>
      <a:defRPr lang="en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s" id="{89C6FF98-81ED-034E-9588-A48C8AA225D9}">
          <p14:sldIdLst>
            <p14:sldId id="260"/>
            <p14:sldId id="338"/>
            <p14:sldId id="339"/>
            <p14:sldId id="34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Dividers" id="{24B111D2-AE71-F24D-8B77-253923057E62}">
          <p14:sldIdLst>
            <p14:sldId id="275"/>
            <p14:sldId id="276"/>
            <p14:sldId id="277"/>
            <p14:sldId id="278"/>
            <p14:sldId id="279"/>
            <p14:sldId id="280"/>
            <p14:sldId id="269"/>
            <p14:sldId id="294"/>
            <p14:sldId id="270"/>
            <p14:sldId id="271"/>
            <p14:sldId id="272"/>
            <p14:sldId id="273"/>
          </p14:sldIdLst>
        </p14:section>
        <p14:section name="Text with icons" id="{F9C27FBD-AE21-4240-B0EB-4EB98191871A}">
          <p14:sldIdLst>
            <p14:sldId id="341"/>
            <p14:sldId id="342"/>
            <p14:sldId id="343"/>
          </p14:sldIdLst>
        </p14:section>
        <p14:section name="Color background examples" id="{0DB13114-5B30-C94F-BB34-DD1C36B9759A}">
          <p14:sldIdLst>
            <p14:sldId id="348"/>
            <p14:sldId id="349"/>
            <p14:sldId id="350"/>
            <p14:sldId id="351"/>
          </p14:sldIdLst>
        </p14:section>
        <p14:section name="Icons" id="{E57AE0B5-2D22-3B4E-900D-32E0443C9C6A}">
          <p14:sldIdLst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DFF"/>
    <a:srgbClr val="82C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2FE477-DB6E-B14F-8B3D-2C8E06DF5C8C}" v="12" dt="2026-03-18T15:35:44.8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29" Type="http://schemas.openxmlformats.org/officeDocument/2006/relationships/slide" Target="slides/slide35.xml"/><Relationship Id="rId30" Type="http://schemas.openxmlformats.org/officeDocument/2006/relationships/slide" Target="slides/slide34.xml"/><Relationship Id="rId31" Type="http://schemas.openxmlformats.org/officeDocument/2006/relationships/slide" Target="slides/slide33.xml"/><Relationship Id="rId32" Type="http://schemas.openxmlformats.org/officeDocument/2006/relationships/slide" Target="slides/slide32.xml"/><Relationship Id="rId33" Type="http://schemas.openxmlformats.org/officeDocument/2006/relationships/slide" Target="slides/slide31.xml"/><Relationship Id="rId34" Type="http://schemas.openxmlformats.org/officeDocument/2006/relationships/slide" Target="slides/slide30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5/10/relationships/revisionInfo" Target="revisionInfo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95" Type="http://schemas.openxmlformats.org/officeDocument/2006/relationships/slide" Target="slides/slide85.xml"/><Relationship Id="rId96" Type="http://schemas.openxmlformats.org/officeDocument/2006/relationships/slide" Target="slides/slide86.xml"/><Relationship Id="rId97" Type="http://schemas.openxmlformats.org/officeDocument/2006/relationships/slide" Target="slides/slide87.xml"/><Relationship Id="rId98" Type="http://schemas.openxmlformats.org/officeDocument/2006/relationships/slide" Target="slides/slide88.xml"/><Relationship Id="rId99" Type="http://schemas.openxmlformats.org/officeDocument/2006/relationships/slide" Target="slides/slide89.xml"/><Relationship Id="rId100" Type="http://schemas.openxmlformats.org/officeDocument/2006/relationships/slide" Target="slides/slide90.xml"/><Relationship Id="rId101" Type="http://schemas.openxmlformats.org/officeDocument/2006/relationships/slide" Target="slides/slide91.xml"/><Relationship Id="rId102" Type="http://schemas.openxmlformats.org/officeDocument/2006/relationships/slide" Target="slides/slide92.xml"/><Relationship Id="rId103" Type="http://schemas.openxmlformats.org/officeDocument/2006/relationships/slide" Target="slides/slide93.xml"/><Relationship Id="rId104" Type="http://schemas.openxmlformats.org/officeDocument/2006/relationships/slide" Target="slides/slide94.xml"/><Relationship Id="rId105" Type="http://schemas.openxmlformats.org/officeDocument/2006/relationships/slide" Target="slides/slide95.xml"/><Relationship Id="rId106" Type="http://schemas.openxmlformats.org/officeDocument/2006/relationships/slide" Target="slides/slide96.xml"/><Relationship Id="rId107" Type="http://schemas.openxmlformats.org/officeDocument/2006/relationships/slide" Target="slides/slide97.xml"/><Relationship Id="rId108" Type="http://schemas.openxmlformats.org/officeDocument/2006/relationships/slide" Target="slides/slide98.xml"/><Relationship Id="rId109" Type="http://schemas.openxmlformats.org/officeDocument/2006/relationships/slide" Target="slides/slide99.xml"/><Relationship Id="rId110" Type="http://schemas.openxmlformats.org/officeDocument/2006/relationships/slide" Target="slides/slide100.xml"/><Relationship Id="rId111" Type="http://schemas.openxmlformats.org/officeDocument/2006/relationships/slide" Target="slides/slide101.xml"/><Relationship Id="rId112" Type="http://schemas.openxmlformats.org/officeDocument/2006/relationships/slide" Target="slides/slide102.xml"/><Relationship Id="rId113" Type="http://schemas.openxmlformats.org/officeDocument/2006/relationships/slide" Target="slides/slide10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52698B-22EF-534E-B63D-BB6C0D4DFEA9}" type="datetimeFigureOut">
              <a:rPr lang="en-PT" smtClean="0"/>
              <a:t>03/19/2026</a:t>
            </a:fld>
            <a:endParaRPr lang="en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7252E2-66E6-2846-853C-451ED1419F13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895462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IA ya no es un experimento de un departamento. Casi nueve de cada diez organizaciones la usan en alguna función, y más de la mitad está probando agentes.</a:t>
            </a:r>
          </a:p>
          <a:p/>
          <a:p>
            <a:r>
              <a:t>Y la tendencia va a más. Gartner calcula que en 2028:</a:t>
            </a:r>
          </a:p>
          <a:p/>
          <a:p>
            <a:r>
              <a:t>- un tercio de las aplicaciones empresariales llevará agentes dentro;</a:t>
            </a:r>
          </a:p>
          <a:p>
            <a:r>
              <a:t>- y que el 15 % de las decisiones del día a día las tomará un agente sin intervención humana.</a:t>
            </a:r>
          </a:p>
          <a:p/>
          <a:p>
            <a:r>
              <a:t>Eso cambia la naturaleza del problema. Un chatbot responde preguntas. Un agente decide y ejecuta acciones sobre sistemas reales: abre un expediente, aprueba una solicitud, modifica un pedido.</a:t>
            </a:r>
          </a:p>
          <a:p/>
          <a:p>
            <a:r>
              <a:t>A remarcar: cuando la IA pasa de responder a decidir, la pregunta deja de ser si funciona y pasa a ser quién responde de lo que hace.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Datos complementarios (no están en la diapositiva): solo un 39 % de las organizaciones ve algún impacto en el EBIT (McKinsey); un estudio del MIT sitúa en torno al 5 % los pilotos de IA generativa con impacto rápido en ingresos; en seguros, más del 90 % de las aseguradoras evalúa IA generativa y solo el 22 % la tiene en producción (Conning).</a:t>
            </a:r>
          </a:p>
          <a:p/>
          <a:p>
            <a:r>
              <a:t>Aquí está la paradoja. Mucha experimentación y muy poca producción.</a:t>
            </a:r>
          </a:p>
          <a:p/>
          <a:p>
            <a:r>
              <a:t>- Seis de cada diez empresas experimentan con agentes.</a:t>
            </a:r>
          </a:p>
          <a:p>
            <a:r>
              <a:t>- Solo una de cada cuatro los está escalando, y en ninguna función concreta pasa del 10 %.</a:t>
            </a:r>
          </a:p>
          <a:p>
            <a:r>
              <a:t>- Gartner prevé que más del 40 % de los proyectos agénticos se cancelarán antes de que acabe 2027.</a:t>
            </a:r>
          </a:p>
          <a:p/>
          <a:p>
            <a:r>
              <a:t>Fijaos en las tres causas que da Gartner: costes, valor poco claro y controles de riesgo insuficientes. Ninguna es que el modelo no sea lo bastante bueno.</a:t>
            </a:r>
          </a:p>
          <a:p/>
          <a:p>
            <a:r>
              <a:t>En seguros, que es el sector de los ejemplos de hoy, pasa lo mismo: casi todas las aseguradoras evalúan IA generativa y apenas una de cada cinco la tiene en producción.</a:t>
            </a:r>
          </a:p>
          <a:p/>
          <a:p>
            <a:r>
              <a:t>A remarcar: los proyectos no mueren porque la IA falle; mueren porque nadie puede demostrar que está bajo control ni cuánto cuesta.</a:t>
            </a:r>
          </a:p>
          <a:p/>
          <a:p>
            <a:r>
              <a:t>Nota interna: la cifra del MIT es polémica (muestra pequeña y metodología discutida). Usarla como dato complementario, no como argumento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Cuando un proyecto de agentes llega al comité de riesgos, o al CFO, siempre aparecen las mismas preguntas:</a:t>
            </a:r>
          </a:p>
          <a:p/>
          <a:p>
            <a:r>
              <a:t>- ¿Por qué decidió eso el agente?</a:t>
            </a:r>
          </a:p>
          <a:p>
            <a:r>
              <a:t>- ¿Quién lo controla y quién responde si se equivoca?</a:t>
            </a:r>
          </a:p>
          <a:p>
            <a:r>
              <a:t>- ¿Cuánto cuesta cada decisión?</a:t>
            </a:r>
          </a:p>
          <a:p>
            <a:r>
              <a:t>- ¿Cómo sé que hoy funciona igual de bien que el día que lo aprobamos?</a:t>
            </a:r>
          </a:p>
          <a:p/>
          <a:p>
            <a:r>
              <a:t>Si no hay respuesta a estas cuatro preguntas, el proyecto no pasa a producción. Y si pasa, es un riesgo.</a:t>
            </a:r>
          </a:p>
          <a:p/>
          <a:p>
            <a:r>
              <a:t>Estas cuatro preguntas son el hilo de toda la presentación. Cada capacidad que veremos después responde a una o varias de ellas.</a:t>
            </a:r>
          </a:p>
          <a:p/>
          <a:p>
            <a:r>
              <a:t>A remarcar: la cuarta pregunta es la más olvidada y la que más diferencia a un agente del software tradicional.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el software de siempre, si nadie despliega código nuevo, el sistema se comporta igual. Un agente no.</a:t>
            </a:r>
          </a:p>
          <a:p/>
          <a:p>
            <a:r>
              <a:t>Su comportamiento puede cambiar por cuatro motivos sin que nadie toque el código:</a:t>
            </a:r>
          </a:p>
          <a:p/>
          <a:p>
            <a:r>
              <a:t>- el proveedor actualiza el modelo;</a:t>
            </a:r>
          </a:p>
          <a:p>
            <a:r>
              <a:t>- cambia la documentación o el conocimiento que consulta;</a:t>
            </a:r>
          </a:p>
          <a:p>
            <a:r>
              <a:t>- alguien ajusta un prompt o una regla;</a:t>
            </a:r>
          </a:p>
          <a:p>
            <a:r>
              <a:t>- o simplemente llegan casos nuevos, escritos de otra forma.</a:t>
            </a:r>
          </a:p>
          <a:p/>
          <a:p>
            <a:r>
              <a:t>Además, cuando un agente se equivoca no lanza una excepción. Da una respuesta que parece correcta. Por eso no basta con vigilar si el sistema está caído o no.</a:t>
            </a:r>
          </a:p>
          <a:p/>
          <a:p>
            <a:r>
              <a:t>A remarcar: el error de un agente no se ve; hay que buscarlo. Y eso exige otra forma de observar.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agentes traen riesgos que los equipos de TI no tenían en su mapa:</a:t>
            </a:r>
          </a:p>
          <a:p/>
          <a:p>
            <a:r>
              <a:t>- El modelo puede inventar un dato para completar una respuesta.</a:t>
            </a:r>
          </a:p>
          <a:p>
            <a:r>
              <a:t>- La calidad puede degradarse poco a poco, sin un fallo evidente.</a:t>
            </a:r>
          </a:p>
          <a:p>
            <a:r>
              <a:t>- El coste puede dispararse: un agente que razona demasiado, o que entra en un bucle de reintentos.</a:t>
            </a:r>
          </a:p>
          <a:p>
            <a:r>
              <a:t>- Un agente con permisos de más es una puerta abierta.</a:t>
            </a:r>
          </a:p>
          <a:p>
            <a:r>
              <a:t>- Un texto de entrada puede llevar instrucciones escondidas para manipular al agente.</a:t>
            </a:r>
          </a:p>
          <a:p>
            <a:r>
              <a:t>- Y el modelo es un servicio de un tercero, con su disponibilidad y sus cambios de versión.</a:t>
            </a:r>
          </a:p>
          <a:p/>
          <a:p>
            <a:r>
              <a:t>Ninguno de estos riesgos se detecta mirando solo la CPU, la memoria o los errores HTTP.</a:t>
            </a:r>
          </a:p>
          <a:p/>
          <a:p>
            <a:r>
              <a:t>A remarcar: cada uno de estos riesgos tiene una capacidad de gobierno que lo mitiga; las veremos en el bloque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Monitorizar es saber si el sistema está vivo: si responde, cuánto tarda, si da errores. Es necesario, pero en un agente no es suficiente.</a:t>
            </a:r>
          </a:p>
          <a:p/>
          <a:p>
            <a:r>
              <a:t>Observar un agente es poder reconstruir por qué tomó una decisión:</a:t>
            </a:r>
          </a:p>
          <a:p/>
          <a:p>
            <a:r>
              <a:t>- qué entendió;</a:t>
            </a:r>
          </a:p>
          <a:p>
            <a:r>
              <a:t>- qué información consultó;</a:t>
            </a:r>
          </a:p>
          <a:p>
            <a:r>
              <a:t>- qué reglas aplicó;</a:t>
            </a:r>
          </a:p>
          <a:p>
            <a:r>
              <a:t>- qué opciones descartó.</a:t>
            </a:r>
          </a:p>
          <a:p/>
          <a:p>
            <a:r>
              <a:t>Y eso no lo da un log técnico. Hay que diseñarlo desde el principio, como parte del agente.</a:t>
            </a:r>
          </a:p>
          <a:p/>
          <a:p>
            <a:r>
              <a:t>A remarcar: si la observabilidad no se diseña desde el primer día, después no se puede reconstruir el porqué de una decisión pasada.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 habitual pensar que el AI Act es lo único que aplica y que todavía queda lejos. No es así.</a:t>
            </a:r>
          </a:p>
          <a:p/>
          <a:p>
            <a:r>
              <a:t>Hoy ya obligan:</a:t>
            </a:r>
          </a:p>
          <a:p/>
          <a:p>
            <a:r>
              <a:t>- el RGPD, con el derecho a no ser objeto de decisiones solo automatizadas y el derecho a una explicación;</a:t>
            </a:r>
          </a:p>
          <a:p>
            <a:r>
              <a:t>- DORA y NIS2, que tratan al proveedor del modelo como un tercero crítico;</a:t>
            </a:r>
          </a:p>
          <a:p>
            <a:r>
              <a:t>- y los supervisores sectoriales, como EIOPA en seguros.</a:t>
            </a:r>
          </a:p>
          <a:p/>
          <a:p>
            <a:r>
              <a:t>Un matiz importante del Tribunal de Justicia de la UE: una persona que firma sin revisar no cuenta como supervisión humana. La supervisión tiene que ser real.</a:t>
            </a:r>
          </a:p>
          <a:p/>
          <a:p>
            <a:r>
              <a:t>Lo que llega con el AI Act para los sistemas de alto riesgo, a partir de diciembre de 2027, es justo lo que vamos a ver: registro de eventos, transparencia, supervisión humana y robustez.</a:t>
            </a:r>
          </a:p>
          <a:p/>
          <a:p>
            <a:r>
              <a:t>A remarcar:</a:t>
            </a:r>
          </a:p>
          <a:p/>
          <a:p>
            <a:r>
              <a:t>- No todos los agentes son de alto riesgo; depende del uso. Pero quien construya hoy sin gobierno lo tendrá que rehacer en 2027.</a:t>
            </a:r>
          </a:p>
          <a:p>
            <a:r>
              <a:t>- No decir que el AI Act obliga hoy a todo esto: la obligación de hoy viene del RGPD, DORA, NIS2 y los supervisores sectoriales.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entrar en las capacidades, conviene fijar el objetivo. Queremos que cada agente en producción sea:</a:t>
            </a:r>
          </a:p>
          <a:p/>
          <a:p>
            <a:r>
              <a:t>- fiable, porque funciona de forma estable;</a:t>
            </a:r>
          </a:p>
          <a:p>
            <a:r>
              <a:t>- medible, porque sabemos qué aporta al negocio;</a:t>
            </a:r>
          </a:p>
          <a:p>
            <a:r>
              <a:t>- auditable, porque podemos reconstruir cualquier decisión;</a:t>
            </a:r>
          </a:p>
          <a:p>
            <a:r>
              <a:t>- gobernable, porque controlamos cuánta libertad tiene;</a:t>
            </a:r>
          </a:p>
          <a:p>
            <a:r>
              <a:t>- y evolutivo, porque mejora con datos y no con intuiciones.</a:t>
            </a:r>
          </a:p>
          <a:p/>
          <a:p>
            <a:r>
              <a:t>A remarcar: desplegar un agente es fácil; operarlo como un sistema crítico de la empresa es lo difícil.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arquitectura que proponemos tiene tres capas.</a:t>
            </a:r>
          </a:p>
          <a:p/>
          <a:p>
            <a:r>
              <a:t>Arriba, agentes pequeños y especializados. En el ejemplo de seguros son cuatro: uno recibe los mensajes, otro los clasifica, otro extrae los datos y otro aplica las reglas de negocio. Cada uno tiene su modelo, su prompt y sus propios límites.</a:t>
            </a:r>
          </a:p>
          <a:p/>
          <a:p>
            <a:r>
              <a:t>En medio, una capa de gobierno común a todos los agentes. Es la que da las trazas, el replay, la autonomía, los guardrails, el control de costes y el histórico.</a:t>
            </a:r>
          </a:p>
          <a:p/>
          <a:p>
            <a:r>
              <a:t>Abajo, la instrumentación. Usamos OpenTelemetry, que es el estándar abierto, para generar los datos. Así las herramientas de observabilidad solo consumen esos datos, y se pueden cambiar sin tocar el agente.</a:t>
            </a:r>
          </a:p>
          <a:p/>
          <a:p>
            <a:r>
              <a:t>A remarcar: no es una IA que lo hace todo; son especialistas con límites claros sobre una capa de gobierno común.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perfil de la empresa necesita mirar al agente desde un ángulo distinto. Por eso organizamos la observabilidad en tres niveles.</a:t>
            </a:r>
          </a:p>
          <a:p/>
          <a:p>
            <a:r>
              <a:t>- El técnico responde a si el sistema funciona.</a:t>
            </a:r>
          </a:p>
          <a:p>
            <a:r>
              <a:t>- El operativo responde a si el agente aporta valor al negocio.</a:t>
            </a:r>
          </a:p>
          <a:p>
            <a:r>
              <a:t>- El cognitivo responde a si el agente decide bien y por qué.</a:t>
            </a:r>
          </a:p>
          <a:p/>
          <a:p>
            <a:r>
              <a:t>La clave es que los tres niveles comparten el mismo identificador de traza. Por ejemplo: vemos que la latencia sube, comprobamos que eso ha hecho crecer los escalados a personas y encontramos la causa en el razonamiento de un agente concreto.</a:t>
            </a:r>
          </a:p>
          <a:p/>
          <a:p>
            <a:r>
              <a:t>A remarcar: tres vistas, un solo dato de origen; nada de tres herramientas que no se hablan.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mapa del bloque. Agrupamos las capacidades en seis verbos:</a:t>
            </a:r>
          </a:p>
          <a:p/>
          <a:p>
            <a:r>
              <a:t>- ver lo que pasa;</a:t>
            </a:r>
          </a:p>
          <a:p>
            <a:r>
              <a:t>- entender por qué pasa;</a:t>
            </a:r>
          </a:p>
          <a:p>
            <a:r>
              <a:t>- limitar lo que el agente puede hacer solo;</a:t>
            </a:r>
          </a:p>
          <a:p>
            <a:r>
              <a:t>- conocer con qué conocimiento decide y si sigue siendo bueno;</a:t>
            </a:r>
          </a:p>
          <a:p>
            <a:r>
              <a:t>- pagar solo lo que tiene sentido pagar;</a:t>
            </a:r>
          </a:p>
          <a:p>
            <a:r>
              <a:t>- y auditar todo lo anterior.</a:t>
            </a:r>
          </a:p>
          <a:p/>
          <a:p>
            <a:r>
              <a:t>Lo que vais a ver a continuación son capturas de una plataforma de gobierno que hemos construido sobre un caso de seguros: el triaje de avisos de siniestro con cuatro agentes. Pero todas las capacidades son las mismas para cualquier proceso.</a:t>
            </a:r>
          </a:p>
          <a:p/>
          <a:p>
            <a:r>
              <a:t>A remarcar: cada capacidad responde a una de las cuatro preguntas del principio.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entrar en detalle, esta es la portada del panel. Cada ficha corresponde a una sección y responde a una pregunta: qué pasa, por qué, con qué límites, con qué conocimiento, si cumple y cuánto cuesta.</a:t>
            </a:r>
          </a:p>
          <a:p/>
          <a:p>
            <a:r>
              <a:t>Cada ficha lleva dos cifras en vivo y un semáforo. Si algo va mal, se ve aquí antes de abrir nada.</a:t>
            </a:r>
          </a:p>
          <a:p/>
          <a:p>
            <a:r>
              <a:t>A remarcar: la portada no es decoración; es la forma de que cualquiera sepa en qué sección tiene que entrar.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Recorrer los grupos de izquierda a derecha y señalar el semáforo rojo de Knowledge bases y FinOps: el panel dice dónde mirar primero.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es la primera pantalla, pensada para dirección.</a:t>
            </a:r>
          </a:p>
          <a:p/>
          <a:p>
            <a:r>
              <a:t>En la fila de arriba están los indicadores clave. En el ejemplo: el 81 % de las decisiones se toman sin intervención humana, el 19 % se escalan a una persona, y las personas corrigen al agente en el 2,1 % de los casos, por debajo del objetivo del 3 %.</a:t>
            </a:r>
          </a:p>
          <a:p/>
          <a:p>
            <a:r>
              <a:t>Debajo, cada agente con su modelo, su versión de prompt, su nivel de autonomía y su coste del día. Fijaos en el agente de Reglas: aparece como degradado porque ha superado su límite de coste diario y el sistema lo ha pasado automáticamente a un modelo más barato.</a:t>
            </a:r>
          </a:p>
          <a:p/>
          <a:p>
            <a:r>
              <a:t>A remarcar: no hace falta ser técnico para leer esta pantalla; está pensada para quien tiene que decidir.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la fila de KPIs (81 % de autonomía, 2,1 % de overrides) y la tarjeta del agente de Reglas, marcada como degradada por superar su 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es la auditoría mensaje a mensaje.</a:t>
            </a:r>
          </a:p>
          <a:p/>
          <a:p>
            <a:r>
              <a:t>A la izquierda vemos la cadena de agentes en cascada: cuánto tardó cada uno, con qué modelo y cuántos tokens consumió. A la derecha, los datos de la traza: canal, confianza, guardrail disparado, versiones de cada agente y coste total.</a:t>
            </a:r>
          </a:p>
          <a:p/>
          <a:p>
            <a:r>
              <a:t>En este caso hay algo más: una persona corrigió la decisión del agente. Queda registrado quién lo hizo, cuándo y por qué. Y el motivo es interesante: el agente no tenía acceso a un dato que sí estaba en el sistema de pólizas. Eso no es un error del modelo, es una mejora de integración pendiente.</a:t>
            </a:r>
          </a:p>
          <a:p/>
          <a:p>
            <a:r>
              <a:t>A remarcar: con un solo identificador se responde a la pregunta «¿qué pasó con este caso, quién decidió y cuánto costó?».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la cascada (tiempo, modelo y tokens por agente) y el recuadro del override: quién corrigió, cuándo y por 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explicabilidad no consiste en enseñar el log. Consiste en contar, en lenguaje de negocio, qué pasó.</a:t>
            </a:r>
          </a:p>
          <a:p/>
          <a:p>
            <a:r>
              <a:t>En esta ficha se lee de arriba abajo:</a:t>
            </a:r>
          </a:p>
          <a:p/>
          <a:p>
            <a:r>
              <a:t>- qué llegó: un mensaje por WhatsApp diciendo que han entrado a robar en casa;</a:t>
            </a:r>
          </a:p>
          <a:p>
            <a:r>
              <a:t>- qué hizo cada agente: lo clasificó como Hogar, extrajo los datos sin inventar ninguno y detectó que faltaban cuatro;</a:t>
            </a:r>
          </a:p>
          <a:p>
            <a:r>
              <a:t>- qué se decidió: revisión por una persona, porque falta información esencial;</a:t>
            </a:r>
          </a:p>
          <a:p>
            <a:r>
              <a:t>- y qué guardrail lo provocó.</a:t>
            </a:r>
          </a:p>
          <a:p/>
          <a:p>
            <a:r>
              <a:t>Esto es lo que permite cumplir el derecho a una explicación del RGPD, y lo que da confianza a los equipos que trabajan con el agente.</a:t>
            </a:r>
          </a:p>
          <a:p/>
          <a:p>
            <a:r>
              <a:t>A remarcar: la explicación es la propia frase del cliente y la regla aplicada, no una justificación generada a posteriori.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Leer de arriba abajo: qué llegó, qué hizo cada agente, la decisión con su motivo y el guardrail G-05 que la provocó.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explicabilidad se apoya en el propio texto del cliente. El modelo devuelve citas literales y el navegador comprueba que están en el mensaje antes de resaltarlas.</a:t>
            </a:r>
          </a:p>
          <a:p/>
          <a:p>
            <a:r>
              <a:t>Nunca se piden posiciones al modelo, porque los modelos cuentan mal los caracteres. Y si una cita no aparece, se marca como no localizada.</a:t>
            </a:r>
          </a:p>
          <a:p/>
          <a:p>
            <a:r>
              <a:t>A remarcar: si el cliente pregunta por qué, la respuesta es su propia frase.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Pasar el ratón por una evidencia: el título cambia a su tipo. Señalar la regla A5 en rojo: la frase «fractura de clavícula y dos costillas» es la que lo frena.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Aquí tenemos dos capacidades.</a:t>
            </a:r>
          </a:p>
          <a:p/>
          <a:p>
            <a:r>
              <a:t>La primera es el razonamiento registrado. Para cada agente vemos qué recibió, qué pasos siguió y qué devolvió. Ojo: no es el pensamiento interno del modelo. Es un registro estructurado que cada agente devuelve junto con su respuesta.</a:t>
            </a:r>
          </a:p>
          <a:p/>
          <a:p>
            <a:r>
              <a:t>La segunda es el replay. Permite volver a ejecutar cualquier decisión pasada:</a:t>
            </a:r>
          </a:p>
          <a:p/>
          <a:p>
            <a:r>
              <a:t>- En modo idéntico, para comprobar que el agente sigue decidiendo igual.</a:t>
            </a:r>
          </a:p>
          <a:p>
            <a:r>
              <a:t>- En modo «¿y si…?», cambiando el modelo o el prompt.</a:t>
            </a:r>
          </a:p>
          <a:p/>
          <a:p>
            <a:r>
              <a:t>En el ejemplo probamos un modelo más pequeño en el agente de Reglas. La decisión no cambia, y el coste baja más de un 80 %. Con esto hay una base objetiva para aprobar el cambio.</a:t>
            </a:r>
          </a:p>
          <a:p/>
          <a:p>
            <a:r>
              <a:t>A remarcar: el replay convierte un cambio de modelo, que suele dar miedo, en una decisión con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que no es el pensamiento interno del modelo, sino el registro estructurado que devuelve cada agente.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el resultado: misma decisión y mismo ramo, −82 % de coste y −41 % de latencia.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Cuando un agente se equivoca, la reacción habitual es decir «el modelo ha fallado». Casi nunca es así.</a:t>
            </a:r>
          </a:p>
          <a:p/>
          <a:p>
            <a:r>
              <a:t>Gracias a la traza podemos saber exactamente dónde estuvo el problema. Puede que:</a:t>
            </a:r>
          </a:p>
          <a:p/>
          <a:p>
            <a:r>
              <a:t>- el agente entendiera mal la petición;</a:t>
            </a:r>
          </a:p>
          <a:p>
            <a:r>
              <a:t>- le llegara información incorrecta o desactualizada;</a:t>
            </a:r>
          </a:p>
          <a:p>
            <a:r>
              <a:t>- las reglas no contemplaran ese caso;</a:t>
            </a:r>
          </a:p>
          <a:p>
            <a:r>
              <a:t>- hubiera un fallo de integración;</a:t>
            </a:r>
          </a:p>
          <a:p>
            <a:r>
              <a:t>- o simplemente tuviera más autonomía de la que debía para ese tipo de caso.</a:t>
            </a:r>
          </a:p>
          <a:p/>
          <a:p>
            <a:r>
              <a:t>Cada causa tiene una solución distinta. Sin la traza, solo nos quedaría cambiar de modelo y cruzar los dedos.</a:t>
            </a:r>
          </a:p>
          <a:p/>
          <a:p>
            <a:r>
              <a:t>A remarcar: cada interacción es una unidad de análisis; pasamos de reaccionar a incidencias a mejorar con evidencia.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agente tiene una ficha, igual que un empleado tiene un puesto con funciones y permisos.</a:t>
            </a:r>
          </a:p>
          <a:p/>
          <a:p>
            <a:r>
              <a:t>En la ficha se ve:</a:t>
            </a:r>
          </a:p>
          <a:p/>
          <a:p>
            <a:r>
              <a:t>- con qué identidad accede a los sistemas;</a:t>
            </a:r>
          </a:p>
          <a:p>
            <a:r>
              <a:t>- quién es su responsable;</a:t>
            </a:r>
          </a:p>
          <a:p>
            <a:r>
              <a:t>- qué datos trata y en qué región se procesan;</a:t>
            </a:r>
          </a:p>
          <a:p>
            <a:r>
              <a:t>- y, sobre todo, qué puede hacer y qué no.</a:t>
            </a:r>
          </a:p>
          <a:p/>
          <a:p>
            <a:r>
              <a:t>En el ejemplo, el agente de Reglas puede consultar la póliza y proponer una decisión. No puede ordenar pagos, ni rechazar un siniestro, ni modificar el expediente.</a:t>
            </a:r>
          </a:p>
          <a:p/>
          <a:p>
            <a:r>
              <a:t>Debajo, el histórico: cada cambio de nivel, de modelo o de prompt, con su motivo y quién lo aprobó.</a:t>
            </a:r>
          </a:p>
          <a:p/>
          <a:p>
            <a:r>
              <a:t>A remarcar: un agente con permisos de más es el riesgo de seguridad más fácil de evitar.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las columnas «Puede» y «No puede», y debajo el histórico de autonomía con su motivo y aprobador.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todos los agentes tienen que tener la misma libertad. La autonomía se fija agente a agente, en cuatro niveles: desde manual, donde el agente solo sugiere, hasta autónomo, donde decide y ejecuta y solo se revisa después.</a:t>
            </a:r>
          </a:p>
          <a:p/>
          <a:p>
            <a:r>
              <a:t>Lo importante es que el nivel no es una decisión de una vez. Se revisa con datos:</a:t>
            </a:r>
          </a:p>
          <a:p/>
          <a:p>
            <a:r>
              <a:t>- El agente de Reglas empezó en L0, con una persona confirmando cada decisión.</a:t>
            </a:r>
          </a:p>
          <a:p>
            <a:r>
              <a:t>- Subió a L2 y tuvo que volver a L1 tras aprobar importes altos que no debía; de ahí nació el guardrail de importe.</a:t>
            </a:r>
          </a:p>
          <a:p>
            <a:r>
              <a:t>- Después subió a L2 y a L3 a medida que demostraba que coincidía con las personas.</a:t>
            </a:r>
          </a:p>
          <a:p>
            <a:r>
              <a:t>- Cuando la tasa de correcciones humanas pasó del 3 % en una semana, volvió a L2.</a:t>
            </a:r>
          </a:p>
          <a:p/>
          <a:p>
            <a:r>
              <a:t>En la captura de arriba está el registro de esa última bajada: el motivo, quién la aprobó, cómo estaba configurado el agente en ese momento y que el cambio es reversible. Abajo, la evolución completa del nivel, con cada subida en verde y cada bajada en rojo.</a:t>
            </a:r>
          </a:p>
          <a:p/>
          <a:p>
            <a:r>
              <a:t>A remarcar: la autonomía es un resultado gobernado, nunca una decisión implícita.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el motivo (override del 4,1 %), quién lo aprobó, que es reversible y el motivo marcado como «disparó la bajada».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Recorrer el gráfico: subidas en verde y bajadas en rojo. La autonomía se gana y se pierde con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¿Cómo se decide si un agente merece más autonomía? Con una puntuación de confianza que se recalcula de forma continua.</a:t>
            </a:r>
          </a:p>
          <a:p/>
          <a:p>
            <a:r>
              <a:t>Esa puntuación se alimenta de tres tipos de validación:</a:t>
            </a:r>
          </a:p>
          <a:p/>
          <a:p>
            <a:r>
              <a:t>- La humana, que al principio es obligatoria y sirve para construir la línea base.</a:t>
            </a:r>
          </a:p>
          <a:p>
            <a:r>
              <a:t>- La validación por resultado: no basta con que la respuesta pareciera correcta, hay que ver si el caso se reabrió, si hubo que rehacer el trabajo o si alguien la corrigió.</a:t>
            </a:r>
          </a:p>
          <a:p>
            <a:r>
              <a:t>- Y la validación por evidencia: si la respuesta se apoyaba en fuentes válidas.</a:t>
            </a:r>
          </a:p>
          <a:p/>
          <a:p>
            <a:r>
              <a:t>Con esa puntuación, la intervención humana se ajusta sola: obligatoria cuando la confianza es baja, selectiva cuando es media y solo de supervisión cuando es alta.</a:t>
            </a:r>
          </a:p>
          <a:p/>
          <a:p>
            <a:r>
              <a:t>En la captura se ve la materia prima de esa puntuación para el agente de Reglas: semana a semana, su precisión sube, y los escalados y las correcciones humanas bajan. Debajo, las variables que gobiernan su comportamiento, cada una con su efecto: la confianza mínima, el importe máximo, el objetivo de override o el límite de coste.</a:t>
            </a:r>
          </a:p>
          <a:p/>
          <a:p>
            <a:r>
              <a:t>A remarcar: el Trust Score no mide la inteligencia del modelo; mide cuánto nos podemos fiar de él en este proceso concreto.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cómo sube la precisión y bajan escalados y overrides semana a semana; debajo, cada variable con su efecto.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guardrails son las condiciones que limitan lo que un agente puede hacer solo. Si se cumple la condición, el agente no decide: escala a una persona, cambia de modelo o marca el caso.</a:t>
            </a:r>
          </a:p>
          <a:p/>
          <a:p>
            <a:r>
              <a:t>Hay varios tipos:</a:t>
            </a:r>
          </a:p>
          <a:p/>
          <a:p>
            <a:r>
              <a:t>- de confianza;</a:t>
            </a:r>
          </a:p>
          <a:p>
            <a:r>
              <a:t>- de importe o impacto;</a:t>
            </a:r>
          </a:p>
          <a:p>
            <a:r>
              <a:t>- de coherencia entre agentes;</a:t>
            </a:r>
          </a:p>
          <a:p>
            <a:r>
              <a:t>- de casos sensibles;</a:t>
            </a:r>
          </a:p>
          <a:p>
            <a:r>
              <a:t>- de datos que faltan;</a:t>
            </a:r>
          </a:p>
          <a:p>
            <a:r>
              <a:t>- de coste;</a:t>
            </a:r>
          </a:p>
          <a:p>
            <a:r>
              <a:t>- y de formato.</a:t>
            </a:r>
          </a:p>
          <a:p/>
          <a:p>
            <a:r>
              <a:t>Cada guardrail tiene su propia ficha. En la captura, el guardrail de importe:</a:t>
            </a:r>
          </a:p>
          <a:p/>
          <a:p>
            <a:r>
              <a:t>- se ha disparado 118 veces en dos semanas, unas ocho al día;</a:t>
            </a:r>
          </a:p>
          <a:p>
            <a:r>
              <a:t>- explica un tercio de los escalados por guardrail;</a:t>
            </a:r>
          </a:p>
          <a:p>
            <a:r>
              <a:t>- después del disparo, la persona cambia la decisión en un 3 % de los casos;</a:t>
            </a:r>
          </a:p>
          <a:p>
            <a:r>
              <a:t>- y la resolución humana tarda una mediana de 14 minutos.</a:t>
            </a:r>
          </a:p>
          <a:p/>
          <a:p>
            <a:r>
              <a:t>Además vemos en qué días, por qué canal y en qué ramo se dispara. Cada guardrail se puede activar o desactivar, y cada cambio queda en el histórico. Los de importe y lesionados explican la mayoría de los escalados, y eso es lo esperado: son decisiones que no queremos que tome una máquina.</a:t>
            </a:r>
          </a:p>
          <a:p/>
          <a:p>
            <a:r>
              <a:t>A remarcar: un guardrail que no se dispara nunca sobra, y uno que se dispara siempre indica que el agente no está listo.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los KPIs (118 disparos, 33 % de los escalados, 14 min de resolución humana) y la distribución por canal y ramo.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Cualquier sistema crítico necesita un botón de parada. Aquí cada agente tiene el suyo. Si un agente empieza a comportarse mal, se pausa desde el panel, y los casos que dependen de él se quedan en cola. No se pierde ninguno.</a:t>
            </a:r>
          </a:p>
          <a:p/>
          <a:p>
            <a:r>
              <a:t>Además, la plataforma está preparada para los fallos del proveedor del modelo:</a:t>
            </a:r>
          </a:p>
          <a:p/>
          <a:p>
            <a:r>
              <a:t>- si el proveedor está saturado, reintenta con espera creciente;</a:t>
            </a:r>
          </a:p>
          <a:p>
            <a:r>
              <a:t>- si se llega al límite de coste, pasa a un modelo más barato;</a:t>
            </a:r>
          </a:p>
          <a:p>
            <a:r>
              <a:t>- y si el modelo devuelve respuestas inválidas, pasa a un motor alternativo y marca el caso para revisión.</a:t>
            </a:r>
          </a:p>
          <a:p/>
          <a:p>
            <a:r>
              <a:t>Esto es lo que piden DORA y el AI Act cuando hablan de resiliencia y de capacidad de interrumpir el sistema.</a:t>
            </a:r>
          </a:p>
          <a:p/>
          <a:p>
            <a:r>
              <a:t>A remarcar: poder parar un agente sin parar el negocio es un requisito, no un extra.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el interruptor de cada agente y el estado «Degradado» del agente de Reglas.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agente puede estar perfecto y aun así equivocarse, porque el conocimiento que consulta se ha degradado: documentos obsoletos, duplicados, un índice que crece sin control.</a:t>
            </a:r>
          </a:p>
          <a:p/>
          <a:p>
            <a:r>
              <a:t>En el ejemplo, alguien sincronizó 340 condicionados de 2024 y el recall cayó seis puntos. La comparativa muestra que un filtro de vigencia lo arregla.</a:t>
            </a:r>
          </a:p>
          <a:p/>
          <a:p>
            <a:r>
              <a:t>A remarcar: el conocimiento se vigila igual que los agentes, con métricas, umbrales y versiones.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las tres degradadas y la crítica: la red de talleres lleva nueve días sin sincronizar.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que el filtro de vigencia devuelve el recall a 0,88: 340 documentos de 2024 competían con los de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rúbricas son un activo más, versionado y con responsable. Cada una tiene sus criterios con peso y un juego de preguntas de referencia.</a:t>
            </a:r>
          </a:p>
          <a:p/>
          <a:p>
            <a:r>
              <a:t>Se ejecutan cada noche, en cada reindexado y en cada cambio de configuración. Si una base empeora, no se publica: es una puerta de calidad.</a:t>
            </a:r>
          </a:p>
          <a:p/>
          <a:p>
            <a:r>
              <a:t>A remarcar: si el juez y las personas dejan de coincidir, la evaluación deja de ser fiable, y el panel lo dice.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que cada guardado crea una versión nueva y que la rúbrica se ejecuta en cada reindexado: si empeora, no se publica.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coste de un agente es variable: depende de cuántos casos llegan, de lo largos que son y de cuánto tiene que razonar el modelo. Por eso hay que controlarlo en tiempo real.</a:t>
            </a:r>
          </a:p>
          <a:p/>
          <a:p>
            <a:r>
              <a:t>Los caps son límites de gasto a varios niveles: global, por agente, por caso e incluso por tokens de razonamiento. Al 80 % avisan y al 100 % actúan.</a:t>
            </a:r>
          </a:p>
          <a:p/>
          <a:p>
            <a:r>
              <a:t>Arriba, la ficha de un cap concreto, el del coste diario del agente de Reglas:</a:t>
            </a:r>
          </a:p>
          <a:p/>
          <a:p>
            <a:r>
              <a:t>- hoy está al 114 % de su límite;</a:t>
            </a:r>
          </a:p>
          <a:p>
            <a:r>
              <a:t>- en el gráfico se ve cómo ha ido acercándose al límite en los últimos días;</a:t>
            </a:r>
          </a:p>
          <a:p>
            <a:r>
              <a:t>- y al superarlo, el guardrail vinculado ha pasado el agente a un modelo más barato, sin parar el proceso.</a:t>
            </a:r>
          </a:p>
          <a:p/>
          <a:p>
            <a:r>
              <a:t>Abajo, la vista del mes: llevamos el 59 % del presupuesto y, al ritmo actual, cerraremos por debajo del límite.</a:t>
            </a:r>
          </a:p>
          <a:p/>
          <a:p>
            <a:r>
              <a:t>A remarcar: sabemos lo que cuesta cada decisión, no solo lo que cuesta el 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el medidor al 114 % y la barra roja de hoy, por encima del límite; a la derecha, el guardrail G-07 que actuó.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que llevamos el 59 % del cap mensual y la proyección de cierre (428 € frente a 500 €).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alerta sin acción solo genera ruido. Por eso aquí cada cap superado llega con propuestas concretas.</a:t>
            </a:r>
          </a:p>
          <a:p/>
          <a:p>
            <a:r>
              <a:t>Arriba vemos de un vistazo qué caps están por encima del 100 %, cuáles están en aviso y cuáles van bien.</a:t>
            </a:r>
          </a:p>
          <a:p/>
          <a:p>
            <a:r>
              <a:t>Abajo, las acciones que propone la plataforma para el cap del agente de Reglas. Hay tres tipos:</a:t>
            </a:r>
          </a:p>
          <a:p/>
          <a:p>
            <a:r>
              <a:t>- Las automáticas, que ya ha aplicado un guardrail: el agente sigue funcionando con un modelo más barato.</a:t>
            </a:r>
          </a:p>
          <a:p>
            <a:r>
              <a:t>- Las que se pueden simular con replay antes de aplicarlas, con su ahorro estimado.</a:t>
            </a:r>
          </a:p>
          <a:p>
            <a:r>
              <a:t>- Y las que cambian el presupuesto, que no se aplican sin la aprobación del comité.</a:t>
            </a:r>
          </a:p>
          <a:p/>
          <a:p>
            <a:r>
              <a:t>Todo lo que se aplica queda en el histórico.</a:t>
            </a:r>
          </a:p>
          <a:p/>
          <a:p>
            <a:r>
              <a:t>A remarcar: la plataforma propone, pero los cambios de presupuesto los aprueba una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los tres caps en rojo por encima de la línea del 100 % y el que está en aviso.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Recorrer los tres tipos de acción y su ahorro estimado; el cambio de presupuesto requiere aprobación del comité.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tabla responde a una pregunta muy concreta: ¿qué modelo uso para cada agente?</a:t>
            </a:r>
          </a:p>
          <a:p/>
          <a:p>
            <a:r>
              <a:t>Para cada modelo vemos qué agentes lo usan, cuántas llamadas hace, cuántos tokens consume y cuánto cuesta. Y también su calidad: si devuelve respuestas válidas, si necesita reintentos, si es estable en el replay.</a:t>
            </a:r>
          </a:p>
          <a:p/>
          <a:p>
            <a:r>
              <a:t>En el ejemplo, el agente de Reglas, con el modelo grande, se lleva el 80 % del coste. Es el candidato obvio a optimizar. Y con el replay que vimos antes podemos hacerlo sin riesgo.</a:t>
            </a:r>
          </a:p>
          <a:p/>
          <a:p>
            <a:r>
              <a:t>A remarcar: el ahorro sale de elegir bien el modelo para cada tarea, no de usar siempre el más barato.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que gpt-5 concentra el 80 % del coste y lo usa un solo agente: es el candidato a optimizar.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Cambiar un límite o una regla de un agente tiene consecuencias. Si pongo un límite de coste demasiado bajo, paro el negocio. Si pongo un guardrail demasiado estricto, lleno de trabajo a los equipos.</a:t>
            </a:r>
          </a:p>
          <a:p/>
          <a:p>
            <a:r>
              <a:t>Por eso cada cambio se simula antes:</a:t>
            </a:r>
          </a:p>
          <a:p/>
          <a:p>
            <a:r>
              <a:t>- Al crear un cap, la plataforma calcula cómo habría funcionado en las dos últimas semanas y avisa si ya existe otro parecido.</a:t>
            </a:r>
          </a:p>
          <a:p>
            <a:r>
              <a:t>- Al crear un guardrail, estima cuántas veces se dispararía y cuántos casos más pasarían a una persona. En el ejemplo, unos 47 en dos semanas.</a:t>
            </a:r>
          </a:p>
          <a:p>
            <a:r>
              <a:t>- Y para cambiar de modelo o de prompt, tenemos el replay que vimos antes.</a:t>
            </a:r>
          </a:p>
          <a:p/>
          <a:p>
            <a:r>
              <a:t>A remarcar: el gobierno no es solo vigilar; es poder cambiar con seguridad.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la vista previa: cuántas veces se habría superado en 14 días y el aviso de que ya existe CAP-01.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el impacto estimado: unos 47 disparos en 14 días y el 0,28 % de los mensajes pasaría a una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 lo que hemos visto deja rastro en un único libro de registro.</a:t>
            </a:r>
          </a:p>
          <a:p/>
          <a:p>
            <a:r>
              <a:t>Aquí aparece:</a:t>
            </a:r>
          </a:p>
          <a:p/>
          <a:p>
            <a:r>
              <a:t>- cada corrección humana;</a:t>
            </a:r>
          </a:p>
          <a:p>
            <a:r>
              <a:t>- cada incidente con el proveedor;</a:t>
            </a:r>
          </a:p>
          <a:p>
            <a:r>
              <a:t>- cada cap superado;</a:t>
            </a:r>
          </a:p>
          <a:p>
            <a:r>
              <a:t>- cada replay;</a:t>
            </a:r>
          </a:p>
          <a:p>
            <a:r>
              <a:t>- cada cambio de nivel de autonomía, de modelo o de prompt.</a:t>
            </a:r>
          </a:p>
          <a:p/>
          <a:p>
            <a:r>
              <a:t>Siempre con fecha, agente, motivo y responsable. Incluso las acciones que se hacen en directo, como pausar un agente o apagar un guardrail.</a:t>
            </a:r>
          </a:p>
          <a:p/>
          <a:p>
            <a:r>
              <a:t>Cuando llega un auditor, no hay que preparar nada: la evidencia ya está.</a:t>
            </a:r>
          </a:p>
          <a:p/>
          <a:p>
            <a:r>
              <a:t>A remarcar: el registro se genera solo como parte de la operación, no es un trabajo adicional del equipo.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los filtros por tipo y que cada evento lleva agente y responsable, incluido «Sistema».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cumplimiento no se añade al final. Cada capacidad que hemos visto responde a un artículo concreto.</a:t>
            </a:r>
          </a:p>
          <a:p/>
          <a:p>
            <a:r>
              <a:t>En el propio panel, cada bloque lleva una etiqueta con la norma que lo respalda. Al pasar el ratón por encima explica qué pide el artículo y si ya está en vigor o solo será exigible a los sistemas de alto riesgo a partir de 2027.</a:t>
            </a:r>
          </a:p>
          <a:p/>
          <a:p>
            <a:r>
              <a:t>Así, el equipo de compliance no tiene que traducir entre lo técnico y lo legal: la correspondencia ya está hecha.</a:t>
            </a:r>
          </a:p>
          <a:p/>
          <a:p>
            <a:r>
              <a:t>A remarcar: compliance por defecto significa que cumplir no cuesta trabajo extra, porque lo hace la propia plataforma.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Leer el texto de la etiqueta: AI Act art. 14, exigible a alto riesgo desde 2027; aquí se aplica como buena práctica.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es la respuesta cruda del modelo para un menor que llega a urgencias. Debajo, la plataforma añade el bloque de gobierno: los datos personales detectados y cómo se guardan, por qué es Salud y no Auto ni Hogar, el sello de la traza y cuánto tiempo se conserva.</a:t>
            </a:r>
          </a:p>
          <a:p/>
          <a:p>
            <a:r>
              <a:t>Nada de esto lo genera el modelo. Se calcula de forma determinista y se puede recalcular en cualquier momento.</a:t>
            </a:r>
          </a:p>
          <a:p/>
          <a:p>
            <a:r>
              <a:t>A remarcar: el modelo no se autocertifica.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que el bloque lo añade la plataforma, no el modelo, y que cada parte lleva su norma: AI Act art. 12, RGPD art. 9 y 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termómetro agrega los bloques de gobierno de todas las trazas. Cada control dice qué exige la norma, cómo lo resuelve la solución y la medida en vivo.</a:t>
            </a:r>
          </a:p>
          <a:p/>
          <a:p>
            <a:r>
              <a:t>Hay controles en ámbar, y eso es bueno: el panel no maquilla. La minimización, por ejemplo, está en ámbar porque hoy el texto llega completo al modelo.</a:t>
            </a:r>
          </a:p>
          <a:p/>
          <a:p>
            <a:r>
              <a:t>A remarcar: no sustituye al DPO; le da la evidencia que necesita, recalculada con cada traza.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los controles en ámbar: minimización, EIPD pendiente y aviso de IA en WhatsApp. Un 100 % no sería creíble.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Señalar «es diabético»: dato de salud que no hacía falta para decidir; es el argumento para seudonimizar antes del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hace falta tenerlo todo el primer día. Proponemos un camino en cinco niveles de madurez:</a:t>
            </a:r>
          </a:p>
          <a:p/>
          <a:p>
            <a:r>
              <a:t>- Desplegado: el agente funciona y deja trazas.</a:t>
            </a:r>
          </a:p>
          <a:p>
            <a:r>
              <a:t>- Monitorizado: detectamos desviaciones y controlamos el coste.</a:t>
            </a:r>
          </a:p>
          <a:p>
            <a:r>
              <a:t>- Gobernado: cada cambio de prompt o de modelo se versiona, se valida y se prueba antes de desplegarlo.</a:t>
            </a:r>
          </a:p>
          <a:p>
            <a:r>
              <a:t>- Optimizado: ajustamos con datos reales el equilibrio entre coste y calidad.</a:t>
            </a:r>
          </a:p>
          <a:p>
            <a:r>
              <a:t>- Y mejora continua asistida: las correcciones de las personas alimentan la evolución del agente, siempre bajo control.</a:t>
            </a:r>
          </a:p>
          <a:p/>
          <a:p>
            <a:r>
              <a:t>Cada empresa decide hasta dónde llega y a qué ritmo.</a:t>
            </a:r>
          </a:p>
          <a:p/>
          <a:p>
            <a:r>
              <a:t>A remarcar: el nivel 3 es el mínimo razonable para un agente que toma decisiones con impacto en clientes.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juntamos todo lo anterior, aparece una cadena:</a:t>
            </a:r>
          </a:p>
          <a:p/>
          <a:p>
            <a:r>
              <a:t>- Cada interacción deja una traza.</a:t>
            </a:r>
          </a:p>
          <a:p>
            <a:r>
              <a:t>- La traza permite explicar la decisión.</a:t>
            </a:r>
          </a:p>
          <a:p>
            <a:r>
              <a:t>- La explicación, junto con la validación, se convierte en evidencia.</a:t>
            </a:r>
          </a:p>
          <a:p>
            <a:r>
              <a:t>- La evidencia alimenta la puntuación de confianza.</a:t>
            </a:r>
          </a:p>
          <a:p>
            <a:r>
              <a:t>- Y la confianza decide cuánta autonomía tiene el agente.</a:t>
            </a:r>
          </a:p>
          <a:p/>
          <a:p>
            <a:r>
              <a:t>Y alrededor, el ciclo de mejora: observamos, analizamos, ajustamos, validamos con replay y desplegamos.</a:t>
            </a:r>
          </a:p>
          <a:p/>
          <a:p>
            <a:r>
              <a:t>Esto es lo que convierte un chatbot en una plataforma de agentes gobernada.</a:t>
            </a:r>
          </a:p>
          <a:p/>
          <a:p>
            <a:r>
              <a:t>A remarcar: la autonomía no se concede, se demuestra.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 justo reconocer que en el mercado hay buenas herramientas: plataformas de observabilidad de modelos, plataformas de gobierno y riesgo, y un estándar abierto para trazar llamadas a modelos.</a:t>
            </a:r>
          </a:p>
          <a:p/>
          <a:p>
            <a:r>
              <a:t>Lo que falta es unirlas al negocio de cada empresa: a su proceso, a sus reglas, a su contabilidad de costes y a su marco normativo.</a:t>
            </a:r>
          </a:p>
          <a:p/>
          <a:p>
            <a:r>
              <a:t>Eso es lo que aportamos: no una licencia más, sino una forma de implementar agentes que ya viene con la observabilidad y el gobierno integrados.</a:t>
            </a:r>
          </a:p>
          <a:p/>
          <a:p>
            <a:r>
              <a:t>A remarcar: no decir que no existe nada en el mercado. Existen piezas; lo que falta es integrarlas con el negocio.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os tenéis que quedar con algo, que sea esto:</a:t>
            </a:r>
          </a:p>
          <a:p/>
          <a:p>
            <a:r>
              <a:t>- El problema ya no es tecnológico, es de confianza.</a:t>
            </a:r>
          </a:p>
          <a:p>
            <a:r>
              <a:t>- Un agente puede empeorar sin que nadie toque su código, y eso solo se ve con observabilidad cognitiva.</a:t>
            </a:r>
          </a:p>
          <a:p>
            <a:r>
              <a:t>- La regulación ya exige hoy trazabilidad, explicación y supervisión humana real.</a:t>
            </a:r>
          </a:p>
          <a:p>
            <a:r>
              <a:t>- El gobierno se resuelve con cinco capacidades sobre una capa común a todos los agentes.</a:t>
            </a:r>
          </a:p>
          <a:p>
            <a:r>
              <a:t>- Y la autonomía de un agente no se decide por intuición: se gana y se pierde con datos.</a:t>
            </a:r>
          </a:p>
          <a:p/>
          <a:p>
            <a:r>
              <a:t>A remarcar: volver a las cuatro preguntas del principio y comprobar que todas tienen respuesta.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Fuentes de las cifras y de la normativa citadas en la presentación.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0">
            <a:extLst>
              <a:ext uri="{FF2B5EF4-FFF2-40B4-BE49-F238E27FC236}">
                <a16:creationId xmlns:a16="http://schemas.microsoft.com/office/drawing/2014/main" id="{77616D71-A116-9CE5-43D9-8D796F2E894C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CF1E45-A99B-2BE7-01FE-0DA7EBC90F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3599" y="2286000"/>
            <a:ext cx="7709211" cy="720000"/>
          </a:xfrm>
          <a:solidFill>
            <a:srgbClr val="FF1414"/>
          </a:solidFill>
        </p:spPr>
        <p:txBody>
          <a:bodyPr anchor="ctr" anchorCtr="0"/>
          <a:lstStyle>
            <a:lvl1pPr algn="l">
              <a:defRPr sz="4200">
                <a:latin typeface="Roboto Slab" pitchFamily="2" charset="0"/>
                <a:ea typeface="Roboto Slab" pitchFamily="2" charset="0"/>
              </a:defRPr>
            </a:lvl1pPr>
          </a:lstStyle>
          <a:p>
            <a:r>
              <a:rPr lang="en-US"/>
              <a:t>Title here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E9911E9-EAA2-0691-47D0-AB5873D716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3599" y="3099759"/>
            <a:ext cx="8653861" cy="719034"/>
          </a:xfrm>
          <a:prstGeom prst="rect">
            <a:avLst/>
          </a:prstGeom>
          <a:solidFill>
            <a:srgbClr val="FF1414"/>
          </a:solidFill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4200">
                <a:solidFill>
                  <a:schemeClr val="bg1"/>
                </a:solidFill>
                <a:latin typeface="Roboto Slab" pitchFamily="2" charset="0"/>
                <a:ea typeface="Roboto Slab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10327276-C6D2-51DD-7433-FF4EC4409AE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3599" y="5167076"/>
            <a:ext cx="2687411" cy="249847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0">
                <a:solidFill>
                  <a:schemeClr val="bg1"/>
                </a:solidFill>
                <a:latin typeface="+mn-lt"/>
                <a:ea typeface="Roboto Slab" pitchFamily="2" charset="0"/>
              </a:defRPr>
            </a:lvl1pPr>
          </a:lstStyle>
          <a:p>
            <a:fld id="{E453CB44-D933-4174-8CBB-ADEE1E6C3E6E}" type="datetime6">
              <a:rPr lang="en-GB" smtClean="0"/>
              <a:pPr/>
              <a:t>March 26</a:t>
            </a:fld>
            <a:endParaRPr lang="en-GB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BB148E28-3B35-1678-D418-E6DCE4AAAE9F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5436" y="501128"/>
            <a:ext cx="2271188" cy="41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625965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70" cy="362612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358775" indent="-358775" defTabSz="612000">
              <a:lnSpc>
                <a:spcPct val="150000"/>
              </a:lnSpc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lnSpc>
                <a:spcPct val="150000"/>
              </a:lnSpc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70" cy="327654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-358775" defTabSz="612000">
              <a:lnSpc>
                <a:spcPct val="150000"/>
              </a:lnSpc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56C88E4-8019-3498-683D-06721620533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67252227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A50D26C-7346-F0B6-C7A5-89A430AF2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D152480-EA9A-B2B2-0180-83B2EFCF3D7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879876447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Whit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 descr="Background pattern&#10;&#10;Description automatically generated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066629" y="1371600"/>
            <a:ext cx="4641956" cy="46386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A50D26C-7346-F0B6-C7A5-89A430AF2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D152480-EA9A-B2B2-0180-83B2EFCF3D7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281270144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Whit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3657FE-3B2D-84E7-54D1-80F76892BA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74F76A-DAB9-3C0E-7A4B-C660B49908F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60987F2-4C3A-6B51-537F-52E468C110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2DC93F5-2011-58D4-1782-38651928FE4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316352877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1E2588A-F550-C104-3508-8B4A40320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D637E3-F841-2D06-46A2-7A75CFC0128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847329026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A9AF041-7FE4-8E72-16FA-B7B093756F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87BA298-B3A7-D63A-01E6-46BA66A3778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263893062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D60D3F-35DD-669C-4E04-5FD5144AD81A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35328736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6AAC242-D1ED-AF35-63F5-AC46C90D8E3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079693095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17748084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25484236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6527526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86C2A2F-9EB4-7D4F-CF5E-A747856D4F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633F21E3-CAAA-8747-683A-A96583D3DC51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075560867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7FA9D4-BEB0-A09E-4298-A0EE819782E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78BE0C6E-1FA3-7528-72A5-BF3F9232E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9E59AD4-27DA-9B84-925A-539F21F0B4C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050221882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23 columns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F81708C-B351-2798-CE06-F68D495AF08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C14BF72-824A-AB1D-B89B-5C07C016946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29B4E89-017D-EA89-D384-CAA21A2803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39975AA-365E-F0F7-B6A4-C86F87AF4A8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13007365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98ED3D-4C1D-18B1-C757-4A8E3551E9C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B9303C-1A66-4748-B626-8DD339D7E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38501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A95A5A-7EDA-4530-9F96-16A0E2CA69D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8101059-5A5E-E286-B2FB-81E98250C7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8408848-5F14-71C8-95D8-DEEE569318F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87498778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98ED3D-4C1D-18B1-C757-4A8E3551E9C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49C3E0-83EB-6264-8CDF-22AAF8CAB992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0576D-B669-167B-03FD-E669ECE0B2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9D6499A-F9B2-E514-8A32-800319EBC15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91146124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9CC49CE-6C20-5F08-A00E-E9DA79B4180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70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70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BAFE8D-50F2-1958-99B8-B3A36E1F5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643B595-F912-FD25-DA9D-463645B2EF8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060100668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6BBB329-3596-B079-5CB2-208E7D9FE81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B91C3F7-4190-5A1D-C32E-4D6E05D1C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7B6CC4C-4A5D-45DA-48BF-A135099D772B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98589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Ligh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6BBB329-3596-B079-5CB2-208E7D9FE81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 descr="Background pattern&#10;&#10;Description automatically generated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066629" y="1371600"/>
            <a:ext cx="4641956" cy="46386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B91C3F7-4190-5A1D-C32E-4D6E05D1C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7B6CC4C-4A5D-45DA-48BF-A135099D772B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3281354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Ligh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EE180D-E692-5018-47EC-92A6AE18106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3657FE-3B2D-84E7-54D1-80F76892BA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74F76A-DAB9-3C0E-7A4B-C660B49908F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123846-F94B-039B-852B-86D94A8967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FE3C0033-79E8-320F-3EF9-E64D9370CDF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326456237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8858B7D-70A1-EE68-CD20-71B9B4CA7F7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83962-E666-AEE5-6202-2B9382F016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D73D27C-AD05-ECB0-DD9B-AE1C2484773E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898089267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F47126E-216D-C391-208D-BB929A71ECB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C5BD8753-EE4F-7BE4-C865-CF6E958356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42F1400-6EE5-0A84-DBBA-24A941E3F24D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95344813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D53124-B12B-D07C-612C-517D880A54A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A42FA-125C-22CD-4278-0A67C8934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59A6DC0-D8D5-3EC9-7DBC-E552715DB70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39115519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D53124-B12B-D07C-612C-517D880A54A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31799FC-469F-580B-48DA-9BC46B48AA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842039-D254-86F5-6E93-608F88B6D00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530437119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10">
            <a:extLst>
              <a:ext uri="{FF2B5EF4-FFF2-40B4-BE49-F238E27FC236}">
                <a16:creationId xmlns:a16="http://schemas.microsoft.com/office/drawing/2014/main" id="{F7C06E8A-CBF1-05D3-A6EB-A7249CFCE25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99939203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10">
            <a:extLst>
              <a:ext uri="{FF2B5EF4-FFF2-40B4-BE49-F238E27FC236}">
                <a16:creationId xmlns:a16="http://schemas.microsoft.com/office/drawing/2014/main" id="{F4249F5F-9A66-085C-4C2F-724171CD8734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6F99D34-2B6A-C9DB-81AC-AE756887AF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CC1ED71-DC88-C375-59D2-CB2EE11A039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7120745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Gradient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10">
            <a:extLst>
              <a:ext uri="{FF2B5EF4-FFF2-40B4-BE49-F238E27FC236}">
                <a16:creationId xmlns:a16="http://schemas.microsoft.com/office/drawing/2014/main" id="{F4249F5F-9A66-085C-4C2F-724171CD8734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6F99D34-2B6A-C9DB-81AC-AE756887AF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CC1ED71-DC88-C375-59D2-CB2EE11A039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091103896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Gradi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10">
            <a:extLst>
              <a:ext uri="{FF2B5EF4-FFF2-40B4-BE49-F238E27FC236}">
                <a16:creationId xmlns:a16="http://schemas.microsoft.com/office/drawing/2014/main" id="{56ABECD5-69C2-01F6-AA6E-D98E25B0FE6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56B11-2672-9B16-AFAE-2027CDA4F7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51362F1-4717-4465-7E09-063D89E8059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993950483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10">
            <a:extLst>
              <a:ext uri="{FF2B5EF4-FFF2-40B4-BE49-F238E27FC236}">
                <a16:creationId xmlns:a16="http://schemas.microsoft.com/office/drawing/2014/main" id="{0EF485AE-CDCF-333F-BBE8-EF458BC86918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F14C0AB-8FCF-2FCA-039B-DE0760D46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F263407-8A16-1A30-C969-918D44E0F7B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620834198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0">
            <a:extLst>
              <a:ext uri="{FF2B5EF4-FFF2-40B4-BE49-F238E27FC236}">
                <a16:creationId xmlns:a16="http://schemas.microsoft.com/office/drawing/2014/main" id="{6F8BAC4A-9084-01CA-B106-3AB00C0DFD3E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4D9F112-C12E-FFC8-DF18-B903D7627877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D57B3A-1189-DEAE-9184-DD769F03CB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C28850C5-5D11-343B-27A2-07C114CCF2E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52110081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-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10">
            <a:extLst>
              <a:ext uri="{FF2B5EF4-FFF2-40B4-BE49-F238E27FC236}">
                <a16:creationId xmlns:a16="http://schemas.microsoft.com/office/drawing/2014/main" id="{92D475C8-E86F-9AAF-1527-5F7C298407F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B9303C-1A66-4748-B626-8DD339D7E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38501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A95A5A-7EDA-4530-9F96-16A0E2CA69D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8101059-5A5E-E286-B2FB-81E98250C7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8408848-5F14-71C8-95D8-DEEE569318F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33244300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10">
            <a:extLst>
              <a:ext uri="{FF2B5EF4-FFF2-40B4-BE49-F238E27FC236}">
                <a16:creationId xmlns:a16="http://schemas.microsoft.com/office/drawing/2014/main" id="{6A574E42-9543-D779-8EB7-2C538C77731B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CCF1B8-EB8B-F36D-1158-90FE4F528D9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CAE4310-0013-FF05-48A7-F65D1DD9E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6A1621DE-885A-25FD-387C-E6916A70151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997497794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821E75C-54D2-1EC4-58CA-F69BEE5292E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631875266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BE6C5A6-4932-0AD5-691C-BDB6EEBE3D8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68DE7DC-B94E-3D8A-2B93-5080203FE5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838747CC-4D62-35A2-BC1F-7BF3F7B0B46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738868597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Dark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BE6C5A6-4932-0AD5-691C-BDB6EEBE3D8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68DE7DC-B94E-3D8A-2B93-5080203FE5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838747CC-4D62-35A2-BC1F-7BF3F7B0B46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134096766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Dark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2B58DC8-5901-7B11-5F4B-21F3E1EE91A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25965D87-A8FC-34AE-DC28-6CC329F496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E4FEC87-C30A-FD9E-CBE3-D7ED86D6D84A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587663873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DB37B4F-A21E-7D41-08AF-8E0768389EA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0990115-D860-EEA0-F01D-766963A53E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817ED54-318F-5696-DEBF-15214F78232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761813845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6530C6C-8E37-041B-074C-63EDA20F186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4D9F112-C12E-FFC8-DF18-B903D7627877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6A373795-3254-679C-59E2-782654991E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B9B85E77-736B-2725-053E-8F07217C4BD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584421133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Dark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98362EC-5BF8-8DD6-8B43-5DF9FD194A2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39EBBF-FF78-466E-2EE5-04BB33BCC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P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A70BC-2B24-3B04-F6B0-C104E7DED06A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A00C6F3-88A1-CAF2-BE79-B535F3EDB5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5339B7A-057A-1605-D614-26906536782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0220416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98362EC-5BF8-8DD6-8B43-5DF9FD194A2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A70BC-2B24-3B04-F6B0-C104E7DED06A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A455A05-7234-2683-78DA-B2B18F90AB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6496F57-92C5-2726-5037-7C5661E2FF9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141808678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0">
            <a:extLst>
              <a:ext uri="{FF2B5EF4-FFF2-40B4-BE49-F238E27FC236}">
                <a16:creationId xmlns:a16="http://schemas.microsoft.com/office/drawing/2014/main" id="{77616D71-A116-9CE5-43D9-8D796F2E894C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CF1E45-A99B-2BE7-01FE-0DA7EBC90F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3599" y="2286000"/>
            <a:ext cx="4482687" cy="720000"/>
          </a:xfrm>
          <a:solidFill>
            <a:srgbClr val="FF1414"/>
          </a:solidFill>
        </p:spPr>
        <p:txBody>
          <a:bodyPr anchor="ctr" anchorCtr="0"/>
          <a:lstStyle>
            <a:lvl1pPr algn="l">
              <a:defRPr sz="4200">
                <a:latin typeface="Roboto Slab" pitchFamily="2" charset="0"/>
                <a:ea typeface="Roboto Slab" pitchFamily="2" charset="0"/>
              </a:defRPr>
            </a:lvl1pPr>
          </a:lstStyle>
          <a:p>
            <a:r>
              <a:rPr lang="en-US"/>
              <a:t>Title here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E9911E9-EAA2-0691-47D0-AB5873D716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3599" y="3099759"/>
            <a:ext cx="4482687" cy="719034"/>
          </a:xfrm>
          <a:prstGeom prst="rect">
            <a:avLst/>
          </a:prstGeom>
          <a:solidFill>
            <a:srgbClr val="FF1414"/>
          </a:solidFill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4200">
                <a:solidFill>
                  <a:schemeClr val="bg1"/>
                </a:solidFill>
                <a:latin typeface="Roboto Slab" pitchFamily="2" charset="0"/>
                <a:ea typeface="Roboto Slab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To edit</a:t>
            </a:r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399047-3BA6-1228-99FC-3B406BF2F0D9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161626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ack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10">
            <a:extLst>
              <a:ext uri="{FF2B5EF4-FFF2-40B4-BE49-F238E27FC236}">
                <a16:creationId xmlns:a16="http://schemas.microsoft.com/office/drawing/2014/main" id="{19C2A041-55EE-50E0-6893-655ACB93D4D5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D897F45-4856-0508-472A-A886A70DD882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5436" y="501128"/>
            <a:ext cx="2271188" cy="4173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AAE017B-85BA-45CF-9E93-A6B67CF242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3599" y="2286000"/>
            <a:ext cx="7186697" cy="648000"/>
          </a:xfrm>
        </p:spPr>
        <p:txBody>
          <a:bodyPr anchor="ctr" anchorCtr="0"/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21C17C7-87A8-4096-AA87-B54E1020D4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4600" y="3166877"/>
            <a:ext cx="3095625" cy="1041400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Aft>
                <a:spcPts val="0"/>
              </a:spcAft>
              <a:defRPr sz="1500" b="0">
                <a:solidFill>
                  <a:schemeClr val="bg1"/>
                </a:solidFill>
                <a:latin typeface="+mn-lt"/>
              </a:defRPr>
            </a:lvl1pPr>
            <a:lvl2pPr>
              <a:spcAft>
                <a:spcPts val="0"/>
              </a:spcAft>
              <a:defRPr sz="1500" b="0">
                <a:solidFill>
                  <a:schemeClr val="bg1"/>
                </a:solidFill>
                <a:latin typeface="+mn-lt"/>
              </a:defRPr>
            </a:lvl2pPr>
            <a:lvl3pPr marL="0" indent="0">
              <a:spcAft>
                <a:spcPts val="0"/>
              </a:spcAft>
              <a:buNone/>
              <a:defRPr sz="1500" b="0">
                <a:solidFill>
                  <a:schemeClr val="bg1"/>
                </a:solidFill>
                <a:latin typeface="+mn-lt"/>
              </a:defRPr>
            </a:lvl3pPr>
            <a:lvl4pPr>
              <a:spcAft>
                <a:spcPts val="0"/>
              </a:spcAft>
              <a:defRPr sz="1500"/>
            </a:lvl4pPr>
            <a:lvl5pPr>
              <a:spcAft>
                <a:spcPts val="0"/>
              </a:spcAft>
              <a:defRPr sz="15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99616B-69D4-FF49-A2CC-47F9D9FE5395}"/>
              </a:ext>
            </a:extLst>
          </p:cNvPr>
          <p:cNvSpPr txBox="1"/>
          <p:nvPr userDrawn="1"/>
        </p:nvSpPr>
        <p:spPr>
          <a:xfrm>
            <a:off x="633600" y="6213687"/>
            <a:ext cx="1569552" cy="184666"/>
          </a:xfrm>
          <a:prstGeom prst="rect">
            <a:avLst/>
          </a:prstGeom>
          <a:solidFill>
            <a:schemeClr val="accent3"/>
          </a:solidFill>
        </p:spPr>
        <p:txBody>
          <a:bodyPr wrap="square" lIns="72000" tIns="0" rIns="72000" bIns="0" rtlCol="0" anchor="ctr" anchorCtr="0">
            <a:spAutoFit/>
          </a:bodyPr>
          <a:lstStyle/>
          <a:p>
            <a:pPr algn="l"/>
            <a:r>
              <a:rPr lang="en-US" sz="1200" b="0" i="0">
                <a:solidFill>
                  <a:schemeClr val="bg1"/>
                </a:solidFill>
                <a:latin typeface="+mn-lt"/>
                <a:cs typeface="Times New Roman" panose="02020603050405020304" pitchFamily="18" charset="0"/>
              </a:rPr>
              <a:t>www.logicalis.com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C86C905-64BE-4506-8C3E-41AF052ACC2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647176111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Black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4371707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theme" Target="../theme/theme1.xml"/><Relationship Id="rId4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3FD339-BB19-4043-A166-4FFEA6AB4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51202" cy="432000"/>
          </a:xfrm>
          <a:prstGeom prst="rect">
            <a:avLst/>
          </a:prstGeom>
          <a:solidFill>
            <a:srgbClr val="FF1414"/>
          </a:solidFill>
        </p:spPr>
        <p:txBody>
          <a:bodyPr vert="horz" wrap="square" lIns="72000" tIns="36000" rIns="72000" bIns="3600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8FAE61-913B-4243-9F6F-41F836C74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3417" y="1308944"/>
            <a:ext cx="11225167" cy="360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0"/>
            <a:endParaRPr lang="en-US"/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EED1DBC-3E6C-A386-4841-19F228B628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‹#›</a:t>
            </a:fld>
            <a:endParaRPr lang="en-GB" sz="8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04ACAE-EE43-8A60-F34C-23DD4D038152}"/>
              </a:ext>
            </a:extLst>
          </p:cNvPr>
          <p:cNvPicPr/>
          <p:nvPr userDrawn="1"/>
        </p:nvPicPr>
        <p:blipFill>
          <a:blip r:embed="rId45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DAE6ED0-2B14-2B0D-C9F0-EB643D210B4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086366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29" r:id="rId2"/>
    <p:sldLayoutId id="2147483730" r:id="rId3"/>
    <p:sldLayoutId id="2147483765" r:id="rId4"/>
    <p:sldLayoutId id="2147483731" r:id="rId5"/>
    <p:sldLayoutId id="2147483732" r:id="rId6"/>
    <p:sldLayoutId id="2147483733" r:id="rId7"/>
    <p:sldLayoutId id="2147483697" r:id="rId8"/>
    <p:sldLayoutId id="2147483734" r:id="rId9"/>
    <p:sldLayoutId id="2147483735" r:id="rId10"/>
    <p:sldLayoutId id="2147483736" r:id="rId11"/>
    <p:sldLayoutId id="2147483737" r:id="rId12"/>
    <p:sldLayoutId id="2147483738" r:id="rId13"/>
    <p:sldLayoutId id="2147483739" r:id="rId14"/>
    <p:sldLayoutId id="2147483740" r:id="rId15"/>
    <p:sldLayoutId id="2147483677" r:id="rId16"/>
    <p:sldLayoutId id="2147483741" r:id="rId17"/>
    <p:sldLayoutId id="2147483742" r:id="rId18"/>
    <p:sldLayoutId id="2147483743" r:id="rId19"/>
    <p:sldLayoutId id="2147483744" r:id="rId20"/>
    <p:sldLayoutId id="2147483745" r:id="rId21"/>
    <p:sldLayoutId id="2147483746" r:id="rId22"/>
    <p:sldLayoutId id="2147483747" r:id="rId23"/>
    <p:sldLayoutId id="2147483704" r:id="rId24"/>
    <p:sldLayoutId id="2147483749" r:id="rId25"/>
    <p:sldLayoutId id="2147483750" r:id="rId26"/>
    <p:sldLayoutId id="2147483751" r:id="rId27"/>
    <p:sldLayoutId id="2147483752" r:id="rId28"/>
    <p:sldLayoutId id="2147483753" r:id="rId29"/>
    <p:sldLayoutId id="2147483754" r:id="rId30"/>
    <p:sldLayoutId id="2147483755" r:id="rId31"/>
    <p:sldLayoutId id="2147483726" r:id="rId32"/>
    <p:sldLayoutId id="2147483756" r:id="rId33"/>
    <p:sldLayoutId id="2147483757" r:id="rId34"/>
    <p:sldLayoutId id="2147483758" r:id="rId35"/>
    <p:sldLayoutId id="2147483759" r:id="rId36"/>
    <p:sldLayoutId id="2147483760" r:id="rId37"/>
    <p:sldLayoutId id="2147483761" r:id="rId38"/>
    <p:sldLayoutId id="2147483762" r:id="rId39"/>
    <p:sldLayoutId id="2147483684" r:id="rId40"/>
    <p:sldLayoutId id="2147483764" r:id="rId41"/>
    <p:sldLayoutId id="2147483727" r:id="rId42"/>
    <p:sldLayoutId id="2147483672" r:id="rId43"/>
  </p:sldLayoutIdLst>
  <p:transition>
    <p:fade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bg1"/>
          </a:solidFill>
          <a:latin typeface="Roboto Slab" pitchFamily="2" charset="0"/>
          <a:ea typeface="Roboto Slab" pitchFamily="2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b="0" i="0" kern="1200">
          <a:solidFill>
            <a:srgbClr val="595959"/>
          </a:solidFill>
          <a:latin typeface="Montserrat Medium" pitchFamily="2" charset="77"/>
          <a:ea typeface="+mn-ea"/>
          <a:cs typeface="+mn-cs"/>
        </a:defRPr>
      </a:lvl1pPr>
      <a:lvl2pPr marL="0" indent="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accent1"/>
        </a:buClr>
        <a:buSzPct val="90000"/>
        <a:buFont typeface="Arial" panose="020B0604020202020204" pitchFamily="34" charset="0"/>
        <a:buNone/>
        <a:defRPr sz="2000" b="0" i="0" kern="1200">
          <a:solidFill>
            <a:schemeClr val="accent1"/>
          </a:solidFill>
          <a:latin typeface="Roboto Slab" pitchFamily="2" charset="0"/>
          <a:ea typeface="Roboto Slab" pitchFamily="2" charset="0"/>
          <a:cs typeface="Times New Roman" panose="02020603050405020304" pitchFamily="18" charset="0"/>
        </a:defRPr>
      </a:lvl2pPr>
      <a:lvl3pPr marL="252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accent1"/>
        </a:buClr>
        <a:buSzPct val="80000"/>
        <a:buFont typeface=".Lucida Grande UI Regular"/>
        <a:buChar char="►"/>
        <a:defRPr sz="1400" b="0" i="0" kern="1200">
          <a:solidFill>
            <a:srgbClr val="595959"/>
          </a:solidFill>
          <a:latin typeface="Montserrat Medium" pitchFamily="2" charset="77"/>
          <a:ea typeface="+mn-ea"/>
          <a:cs typeface="+mn-cs"/>
        </a:defRPr>
      </a:lvl3pPr>
      <a:lvl4pPr marL="540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tx2"/>
        </a:buClr>
        <a:buSzPct val="80000"/>
        <a:buFont typeface=".Lucida Grande UI Regular"/>
        <a:buChar char="►"/>
        <a:defRPr sz="1400" b="0" i="0" kern="1200">
          <a:solidFill>
            <a:srgbClr val="595959"/>
          </a:solidFill>
          <a:latin typeface="Montserrat" pitchFamily="2" charset="77"/>
          <a:ea typeface="+mn-ea"/>
          <a:cs typeface="+mn-cs"/>
        </a:defRPr>
      </a:lvl4pPr>
      <a:lvl5pPr marL="792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tx2"/>
        </a:buClr>
        <a:buSzPct val="90000"/>
        <a:buFont typeface="Monaco" pitchFamily="2" charset="77"/>
        <a:buChar char="⎻"/>
        <a:defRPr sz="1400" b="0" i="0" kern="1200">
          <a:solidFill>
            <a:srgbClr val="595959"/>
          </a:solidFill>
          <a:latin typeface="Montserrat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pos="398">
          <p15:clr>
            <a:srgbClr val="F26B43"/>
          </p15:clr>
        </p15:guide>
        <p15:guide id="4" pos="7197">
          <p15:clr>
            <a:srgbClr val="F26B43"/>
          </p15:clr>
        </p15:guide>
        <p15:guide id="5" orient="horz" pos="1132">
          <p15:clr>
            <a:srgbClr val="F26B43"/>
          </p15:clr>
        </p15:guide>
        <p15:guide id="6" orient="horz" pos="3401">
          <p15:clr>
            <a:srgbClr val="F26B43"/>
          </p15:clr>
        </p15:guide>
        <p15:guide id="7" orient="horz" pos="489">
          <p15:clr>
            <a:srgbClr val="F26B43"/>
          </p15:clr>
        </p15:guide>
        <p15:guide id="8" orient="horz" pos="1253">
          <p15:clr>
            <a:srgbClr val="F26B43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image" Target="../media/image3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image" Target="../media/image2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image" Target="../media/image3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0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7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5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5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5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5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5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5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5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5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5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5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5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5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6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6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6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6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6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6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65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66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67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6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68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68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69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69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7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70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7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image" Target="../media/image2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2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3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hyperlink" Target="https://www.mckinsey.com/capabilities/quantumblack/our-insights/the-state-of-ai" TargetMode="External"/><Relationship Id="rId4" Type="http://schemas.openxmlformats.org/officeDocument/2006/relationships/hyperlink" Target="https://www.gartner.com/en/newsroom/press-releases/2025-06-25-gartner-predicts-over-40-percent-of-agentic-ai-projects-will-be-canceled-by-end-of-2027" TargetMode="External"/><Relationship Id="rId5" Type="http://schemas.openxmlformats.org/officeDocument/2006/relationships/hyperlink" Target="https://fortune.com/2025/08/18/mit-report-95-percent-generative-ai-pilots-at-companies-failing-cfo/" TargetMode="External"/><Relationship Id="rId6" Type="http://schemas.openxmlformats.org/officeDocument/2006/relationships/hyperlink" Target="https://conning.com/about-us/news/ir-pr---ai-survey-2025" TargetMode="External"/><Relationship Id="rId7" Type="http://schemas.openxmlformats.org/officeDocument/2006/relationships/hyperlink" Target="https://eur-lex.europa.eu/eli/reg/2024/1689/oj" TargetMode="External"/><Relationship Id="rId8" Type="http://schemas.openxmlformats.org/officeDocument/2006/relationships/hyperlink" Target="https://eur-lex.europa.eu/eli/reg/2016/679/oj" TargetMode="External"/><Relationship Id="rId9" Type="http://schemas.openxmlformats.org/officeDocument/2006/relationships/hyperlink" Target="https://eur-lex.europa.eu/eli/reg/2022/2554/oj" TargetMode="External"/><Relationship Id="rId10" Type="http://schemas.openxmlformats.org/officeDocument/2006/relationships/hyperlink" Target="https://eur-lex.europa.eu/eli/dir/2022/2555/oj" TargetMode="External"/><Relationship Id="rId11" Type="http://schemas.openxmlformats.org/officeDocument/2006/relationships/hyperlink" Target="https://www.gibsondunn.com/eu-ai-act-omnibus-agreement-postponed-high-risk-deadlines-and-other-key-changes/" TargetMode="External"/><Relationship Id="rId12" Type="http://schemas.openxmlformats.org/officeDocument/2006/relationships/hyperlink" Target="https://curia.europa.eu/juris/liste.jsf?num=C-634/21" TargetMode="External"/><Relationship Id="rId13" Type="http://schemas.openxmlformats.org/officeDocument/2006/relationships/hyperlink" Target="https://curia.europa.eu/juris/liste.jsf?num=C-203/22" TargetMode="External"/><Relationship Id="rId14" Type="http://schemas.openxmlformats.org/officeDocument/2006/relationships/hyperlink" Target="https://www.eiopa.europa.eu/eiopa-publishes-opinion-ai-governance-and-risk-management-2025-08-06_en" TargetMode="External"/><Relationship Id="rId15" Type="http://schemas.openxmlformats.org/officeDocument/2006/relationships/hyperlink" Target="https://www.iso.org/standard/42001" TargetMode="External"/><Relationship Id="rId16" Type="http://schemas.openxmlformats.org/officeDocument/2006/relationships/hyperlink" Target="https://www.nist.gov/itl/ai-risk-management-framework" TargetMode="Externa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image" Target="../media/image38.png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>
            <a:extLst>
              <a:ext uri="{FF2B5EF4-FFF2-40B4-BE49-F238E27FC236}">
                <a16:creationId xmlns:a16="http://schemas.microsoft.com/office/drawing/2014/main" id="{25921E48-B7DB-6CFD-42FD-BACF049CF6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011680"/>
            <a:ext cx="4496308" cy="688848"/>
          </a:xfrm>
        </p:spPr>
        <p:txBody>
          <a:bodyPr wrap="none" anchor="ctr">
            <a:noAutofit/>
          </a:bodyPr>
          <a:lstStyle/>
          <a:p>
            <a:r>
              <a:rPr lang="en-PT" sz="4200"/>
              <a:t>Observabilidad y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839338-4607-518B-5A15-89D10D8B7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0936" y="2791968"/>
            <a:ext cx="4525518" cy="688848"/>
          </a:xfrm>
        </p:spPr>
        <p:txBody>
          <a:bodyPr wrap="none" anchor="ctr">
            <a:noAutofit/>
          </a:bodyPr>
          <a:lstStyle/>
          <a:p>
            <a:r>
              <a:rPr lang="pt-PT" err="1" sz="4200"/>
              <a:t>gobierno de la IA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839338-4607-518B-5A15-89D10D8B7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0936" y="3572256"/>
            <a:ext cx="2446528" cy="688848"/>
          </a:xfrm>
        </p:spPr>
        <p:txBody>
          <a:bodyPr wrap="none" anchor="ctr">
            <a:noAutofit/>
          </a:bodyPr>
          <a:lstStyle/>
          <a:p>
            <a:r>
              <a:rPr lang="pt-PT" err="1" sz="4200"/>
              <a:t>agéntica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84D23A1D-92A7-B8F8-A6A5-CA7C51F45A8F}"/>
              </a:ext>
            </a:extLst>
          </p:cNvPr>
          <p:cNvSpPr txBox="1">
            <a:spLocks/>
          </p:cNvSpPr>
          <p:nvPr/>
        </p:nvSpPr>
        <p:spPr>
          <a:xfrm>
            <a:off x="630936" y="5303520"/>
            <a:ext cx="4572000" cy="356616"/>
          </a:xfrm>
          <a:prstGeom prst="rect">
            <a:avLst/>
          </a:prstGeom>
          <a:noFill/>
        </p:spPr>
        <p:txBody>
          <a:bodyPr vert="horz" wrap="square" lIns="72000" tIns="36000" rIns="72000" bIns="3600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kern="120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+mj-cs"/>
              </a:defRPr>
            </a:lvl1pPr>
          </a:lstStyle>
          <a:p>
            <a:r>
              <a:rPr lang="en-PT" sz="1200">
                <a:latin typeface="Montserrat" pitchFamily="2" charset="77"/>
              </a:rPr>
              <a:t>Octubre 2026</a:t>
            </a:r>
          </a:p>
        </p:txBody>
      </p:sp>
      <p:pic>
        <p:nvPicPr>
          <p:cNvPr id="7" name="Picture 6" descr="A person with her arms crossed&#10;&#10;Description automatically generated">
            <a:extLst>
              <a:ext uri="{FF2B5EF4-FFF2-40B4-BE49-F238E27FC236}">
                <a16:creationId xmlns:a16="http://schemas.microsoft.com/office/drawing/2014/main" id="{B28B268F-CE6A-5453-5C27-75301FD49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5778" y="1346330"/>
            <a:ext cx="8553692" cy="55116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4489704"/>
            <a:ext cx="5303520" cy="6766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>
                <a:solidFill>
                  <a:srgbClr val="FFFFFF"/>
                </a:solidFill>
                <a:latin typeface="Montserrat Medium"/>
              </a:rPr>
              <a:t>De agentes que funcionan a agentes en los que se puede confiar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5687568"/>
            <a:ext cx="2574289" cy="292608"/>
          </a:xfrm>
          <a:prstGeom prst="rect">
            <a:avLst/>
          </a:prstGeom>
          <a:solidFill>
            <a:srgbClr val="194BFF"/>
          </a:solidFill>
        </p:spPr>
        <p:txBody>
          <a:bodyPr wrap="none" lIns="73152" rIns="73152" tIns="18288" bIns="18288" anchor="ctr">
            <a:noAutofit/>
          </a:bodyPr>
          <a:lstStyle/>
          <a:p>
            <a:r>
              <a:rPr sz="1100">
                <a:solidFill>
                  <a:srgbClr val="FFFFFF"/>
                </a:solidFill>
                <a:latin typeface="Montserrat Medium"/>
              </a:rPr>
              <a:t>Presentado por Ignacio Sánchez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1445768" cy="429768"/>
          </a:xfrm>
        </p:spPr>
        <p:txBody>
          <a:bodyPr wrap="none"/>
          <a:lstStyle/>
          <a:p>
            <a:r>
              <a:rPr sz="2600"/>
              <a:t>Agenda</a:t>
            </a:r>
          </a:p>
        </p:txBody>
      </p:sp>
      <p:pic>
        <p:nvPicPr>
          <p:cNvPr id="3" name="Picture 2" descr="wave_symbol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920240"/>
            <a:ext cx="5303520" cy="2515857"/>
          </a:xfrm>
          <a:prstGeom prst="rect">
            <a:avLst/>
          </a:prstGeom>
        </p:spPr>
      </p:pic>
      <p:sp>
        <p:nvSpPr>
          <p:cNvPr id="4" name="AGENDA_ITEMS"/>
          <p:cNvSpPr txBox="1"/>
          <p:nvPr/>
        </p:nvSpPr>
        <p:spPr>
          <a:xfrm>
            <a:off x="484632" y="1600200"/>
            <a:ext cx="6949440" cy="4572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noAutofit/>
          </a:bodyPr>
          <a:lstStyle/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01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Por qué ahora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02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Qué cambia con los agentes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03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Lo que exige la regulación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04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Capacidades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05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Cómo implantarlo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x_photo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6928"/>
            <a:ext cx="6035040" cy="5683392"/>
          </a:xfrm>
          <a:prstGeom prst="rect">
            <a:avLst/>
          </a:prstGeom>
        </p:spPr>
      </p:pic>
      <p:sp>
        <p:nvSpPr>
          <p:cNvPr id="3" name="NUM"/>
          <p:cNvSpPr txBox="1"/>
          <p:nvPr/>
        </p:nvSpPr>
        <p:spPr>
          <a:xfrm>
            <a:off x="6720840" y="2331720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anchor="ctr" lIns="72000" rIns="72000" tIns="36000" bIns="36000">
            <a:noAutofit/>
          </a:bodyPr>
          <a:lstStyle/>
          <a:p>
            <a:r>
              <a:rPr sz="1400" b="0">
                <a:solidFill>
                  <a:srgbClr val="FFFFFF"/>
                </a:solidFill>
                <a:latin typeface="Roboto Slab"/>
              </a:rPr>
              <a:t>01</a:t>
            </a:r>
          </a:p>
        </p:txBody>
      </p:sp>
      <p:sp>
        <p:nvSpPr>
          <p:cNvPr id="4" name="REDTITLE"/>
          <p:cNvSpPr txBox="1"/>
          <p:nvPr/>
        </p:nvSpPr>
        <p:spPr>
          <a:xfrm>
            <a:off x="6720840" y="2788920"/>
            <a:ext cx="2929128" cy="546608"/>
          </a:xfrm>
          <a:prstGeom prst="rect">
            <a:avLst/>
          </a:prstGeom>
          <a:solidFill>
            <a:srgbClr val="FF1414"/>
          </a:solidFill>
        </p:spPr>
        <p:txBody>
          <a:bodyPr wrap="none" anchor="ctr" lIns="72000" rIns="72000" tIns="36000" bIns="36000">
            <a:noAutofit/>
          </a:bodyPr>
          <a:lstStyle/>
          <a:p>
            <a:r>
              <a:rPr sz="3200" b="0">
                <a:solidFill>
                  <a:srgbClr val="FFFFFF"/>
                </a:solidFill>
                <a:latin typeface="Roboto Slab"/>
              </a:rPr>
              <a:t>Por qué ahora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3609848"/>
            <a:ext cx="5120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Todas las empresas prueban agentes. Muy pocas los tienen en producción.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353558" cy="429768"/>
          </a:xfrm>
        </p:spPr>
        <p:txBody>
          <a:bodyPr wrap="none"/>
          <a:lstStyle/>
          <a:p>
            <a:r>
              <a:rPr sz="2600"/>
              <a:t>La IA agéntica llega a la empresa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Los agentes ya no solo responden: deciden y actúan sobre sistemas de negocio.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702052"/>
            <a:ext cx="2441448" cy="1097280"/>
          </a:xfrm>
          <a:prstGeom prst="rect">
            <a:avLst/>
          </a:prstGeom>
          <a:noFill/>
        </p:spPr>
        <p:txBody>
          <a:bodyPr wrap="none" lIns="45720" rIns="45720" tIns="27432" bIns="27432" anchor="b">
            <a:noAutofit/>
          </a:bodyPr>
          <a:lstStyle/>
          <a:p>
            <a:r>
              <a:rPr sz="4400">
                <a:solidFill>
                  <a:srgbClr val="194BFF"/>
                </a:solidFill>
                <a:latin typeface="Roboto Slab"/>
              </a:rPr>
              <a:t>88 %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3936491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67512" y="4073652"/>
            <a:ext cx="2441448" cy="218998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de las organizaciones usa IA en al menos una función de negocio (McKinsey, 2025)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39" y="2702052"/>
            <a:ext cx="0" cy="265176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474720" y="2702052"/>
            <a:ext cx="2441448" cy="1097280"/>
          </a:xfrm>
          <a:prstGeom prst="rect">
            <a:avLst/>
          </a:prstGeom>
          <a:noFill/>
        </p:spPr>
        <p:txBody>
          <a:bodyPr wrap="none" lIns="45720" rIns="45720" tIns="27432" bIns="27432" anchor="b">
            <a:noAutofit/>
          </a:bodyPr>
          <a:lstStyle/>
          <a:p>
            <a:r>
              <a:rPr sz="4400">
                <a:solidFill>
                  <a:srgbClr val="194BFF"/>
                </a:solidFill>
                <a:latin typeface="Roboto Slab"/>
              </a:rPr>
              <a:t>62 %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38727" y="3936491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74720" y="4073652"/>
            <a:ext cx="2441448" cy="218998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ya usa o experimenta con agentes de IA (McKinsey, 2025)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9048" y="2702052"/>
            <a:ext cx="0" cy="265176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81928" y="2702052"/>
            <a:ext cx="2441448" cy="1097280"/>
          </a:xfrm>
          <a:prstGeom prst="rect">
            <a:avLst/>
          </a:prstGeom>
          <a:noFill/>
        </p:spPr>
        <p:txBody>
          <a:bodyPr wrap="none" lIns="45720" rIns="45720" tIns="27432" bIns="27432" anchor="b">
            <a:noAutofit/>
          </a:bodyPr>
          <a:lstStyle/>
          <a:p>
            <a:r>
              <a:rPr sz="4400">
                <a:solidFill>
                  <a:srgbClr val="194BFF"/>
                </a:solidFill>
                <a:latin typeface="Roboto Slab"/>
              </a:rPr>
              <a:t>33 %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45936" y="3936491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81928" y="4073652"/>
            <a:ext cx="2441448" cy="218998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de las aplicaciones empresariales incluirá IA agéntica en 2028 (Gartner)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06255" y="2702052"/>
            <a:ext cx="0" cy="265176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089135" y="2702052"/>
            <a:ext cx="2441448" cy="1097280"/>
          </a:xfrm>
          <a:prstGeom prst="rect">
            <a:avLst/>
          </a:prstGeom>
          <a:noFill/>
        </p:spPr>
        <p:txBody>
          <a:bodyPr wrap="none" lIns="45720" rIns="45720" tIns="27432" bIns="27432" anchor="b">
            <a:noAutofit/>
          </a:bodyPr>
          <a:lstStyle/>
          <a:p>
            <a:r>
              <a:rPr sz="4400">
                <a:solidFill>
                  <a:srgbClr val="194BFF"/>
                </a:solidFill>
                <a:latin typeface="Roboto Slab"/>
              </a:rPr>
              <a:t>15 %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936491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089135" y="4073652"/>
            <a:ext cx="2441448" cy="218998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de las decisiones del día a día se tomarán de forma autónoma en 2028 (Gartner)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3805427" cy="429768"/>
          </a:xfrm>
        </p:spPr>
        <p:txBody>
          <a:bodyPr wrap="none"/>
          <a:lstStyle/>
          <a:p>
            <a:r>
              <a:rPr sz="2600"/>
              <a:t>Del piloto a producción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Por qué se cancelan, según Gartner: costes que se disparan, valor de negocio poco claro y controles de riesgo insuficientes.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839211"/>
            <a:ext cx="3377183" cy="1097280"/>
          </a:xfrm>
          <a:prstGeom prst="rect">
            <a:avLst/>
          </a:prstGeom>
          <a:noFill/>
        </p:spPr>
        <p:txBody>
          <a:bodyPr wrap="none" lIns="45720" rIns="45720" tIns="27432" bIns="27432" anchor="b">
            <a:noAutofit/>
          </a:bodyPr>
          <a:lstStyle/>
          <a:p>
            <a:r>
              <a:rPr sz="5400">
                <a:solidFill>
                  <a:srgbClr val="194BFF"/>
                </a:solidFill>
                <a:latin typeface="Roboto Slab"/>
              </a:rPr>
              <a:t>62 %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4073652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67512" y="4210812"/>
            <a:ext cx="3377183" cy="20528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experimenta con agentes (McKinsey, 2025)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27576" y="2839211"/>
            <a:ext cx="0" cy="265176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410456" y="2839211"/>
            <a:ext cx="3377183" cy="1097280"/>
          </a:xfrm>
          <a:prstGeom prst="rect">
            <a:avLst/>
          </a:prstGeom>
          <a:noFill/>
        </p:spPr>
        <p:txBody>
          <a:bodyPr wrap="none" lIns="45720" rIns="45720" tIns="27432" bIns="27432" anchor="b">
            <a:noAutofit/>
          </a:bodyPr>
          <a:lstStyle/>
          <a:p>
            <a:r>
              <a:rPr sz="5400">
                <a:solidFill>
                  <a:srgbClr val="194BFF"/>
                </a:solidFill>
                <a:latin typeface="Roboto Slab"/>
              </a:rPr>
              <a:t>23 %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74463" y="4073652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10456" y="4210812"/>
            <a:ext cx="3377183" cy="20528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los está escalando en alguna parte de la empresa; en ninguna función pasa del 10 % (McKinsey, 2025)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70519" y="2839211"/>
            <a:ext cx="0" cy="265176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153399" y="2839211"/>
            <a:ext cx="3377183" cy="1097280"/>
          </a:xfrm>
          <a:prstGeom prst="rect">
            <a:avLst/>
          </a:prstGeom>
          <a:noFill/>
        </p:spPr>
        <p:txBody>
          <a:bodyPr wrap="none" lIns="45720" rIns="45720" tIns="27432" bIns="27432" anchor="b">
            <a:noAutofit/>
          </a:bodyPr>
          <a:lstStyle/>
          <a:p>
            <a:r>
              <a:rPr sz="5400">
                <a:solidFill>
                  <a:srgbClr val="194BFF"/>
                </a:solidFill>
                <a:latin typeface="Roboto Slab"/>
              </a:rPr>
              <a:t>&gt;40 %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17407" y="4073652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153399" y="4210812"/>
            <a:ext cx="3377183" cy="20528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de los proyectos agénticos se cancelará antes de finales de 2027 (Gartner)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071617" cy="429768"/>
          </a:xfrm>
        </p:spPr>
        <p:txBody>
          <a:bodyPr wrap="none"/>
          <a:lstStyle/>
          <a:p>
            <a:r>
              <a:rPr sz="2600"/>
              <a:t>Cuatro preguntas sin respuesta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La observabilidad y el gobierno son lo que permite responder a estas cuatro preguntas.</a:t>
            </a:r>
          </a:p>
        </p:txBody>
      </p:sp>
      <p:sp>
        <p:nvSpPr>
          <p:cNvPr id="3" name="Freeform 2"/>
          <p:cNvSpPr/>
          <p:nvPr/>
        </p:nvSpPr>
        <p:spPr>
          <a:xfrm>
            <a:off x="1294315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1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1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2436" y="3296412"/>
            <a:ext cx="1371600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4439412"/>
            <a:ext cx="2624327" cy="182422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¿Por qué decidió eso?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explicabilidad. El cliente, el auditor o el regulador pueden preguntarlo.</a:t>
            </a:r>
          </a:p>
        </p:txBody>
      </p:sp>
      <p:sp>
        <p:nvSpPr>
          <p:cNvPr id="4" name="Freeform 3"/>
          <p:cNvSpPr/>
          <p:nvPr/>
        </p:nvSpPr>
        <p:spPr>
          <a:xfrm>
            <a:off x="4101523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1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1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09644" y="3296412"/>
            <a:ext cx="1371600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79" y="4439412"/>
            <a:ext cx="2624327" cy="182422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¿Quién lo controla?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autonomía, límites, responsables y capacidad de pararlo.</a:t>
            </a:r>
          </a:p>
        </p:txBody>
      </p:sp>
      <p:sp>
        <p:nvSpPr>
          <p:cNvPr id="11" name="Freeform 10"/>
          <p:cNvSpPr/>
          <p:nvPr/>
        </p:nvSpPr>
        <p:spPr>
          <a:xfrm>
            <a:off x="6908731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1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1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6852" y="3296412"/>
            <a:ext cx="1371600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4439412"/>
            <a:ext cx="2624327" cy="182422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¿Cuánto cuesta?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coste por decisión y por agente, no una factura mensual del proveedor.</a:t>
            </a:r>
          </a:p>
        </p:txBody>
      </p:sp>
      <p:sp>
        <p:nvSpPr>
          <p:cNvPr id="14" name="Freeform 13"/>
          <p:cNvSpPr/>
          <p:nvPr/>
        </p:nvSpPr>
        <p:spPr>
          <a:xfrm>
            <a:off x="9715939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0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0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24059" y="3296412"/>
            <a:ext cx="1371600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5" y="4439412"/>
            <a:ext cx="2624327" cy="182422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¿Sigue funcionando igual que ayer?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un agente puede degradarse sin que nadie cambie una línea de código.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F67E73E-630D-5F6F-93A1-C692F05CA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377440"/>
            <a:ext cx="4088638" cy="660400"/>
          </a:xfrm>
        </p:spPr>
        <p:txBody>
          <a:bodyPr wrap="none" anchor="ctr">
            <a:noAutofit/>
          </a:bodyPr>
          <a:lstStyle/>
          <a:p>
            <a:r>
              <a:rPr sz="4000"/>
              <a:t>Qué cambia con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A97B2C3-B154-9FFE-9972-3B3059C111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0936" y="3129280"/>
            <a:ext cx="2969768" cy="660400"/>
          </a:xfrm>
        </p:spPr>
        <p:txBody>
          <a:bodyPr wrap="none" anchor="ctr">
            <a:noAutofit/>
          </a:bodyPr>
          <a:lstStyle/>
          <a:p>
            <a:r>
              <a:rPr sz="4000"/>
              <a:t>los agentes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04A87-2D05-B819-27E2-B433509BD95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33188" y="6408738"/>
            <a:ext cx="658812" cy="230187"/>
          </a:xfrm>
        </p:spPr>
        <p:txBody>
          <a:bodyPr/>
          <a:lstStyle/>
          <a:p>
            <a:fld id="{4C86EB02-3AF8-4C19-B0D1-31A9E52C2F89}" type="slidenum">
              <a:rPr lang="en-GB" smtClean="0"/>
              <a:pPr/>
              <a:t>13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DC48BB-F5E1-0E62-8FFB-51749D3BA6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30186" y="1847900"/>
            <a:ext cx="7772396" cy="50100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1874519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lIns="73152" rIns="73152" tIns="18288" bIns="18288" anchor="ctr">
            <a:noAutofit/>
          </a:bodyPr>
          <a:lstStyle/>
          <a:p>
            <a:r>
              <a:rPr sz="1400">
                <a:solidFill>
                  <a:srgbClr val="FFFFFF"/>
                </a:solidFill>
                <a:latin typeface="Roboto Slab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4155440"/>
            <a:ext cx="42062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Un agente puede cambiar de comportamiento sin que nadie toque su código.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820917" cy="429768"/>
          </a:xfrm>
        </p:spPr>
        <p:txBody>
          <a:bodyPr wrap="none"/>
          <a:lstStyle/>
          <a:p>
            <a:r>
              <a:rPr sz="2600"/>
              <a:t>Software tradicional frente a agente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Un agente cambia sin tocar su código: lo cambian el modelo, el conocimiento, los prompts y los casos nuevos que llegan.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4632" y="2157984"/>
          <a:ext cx="11228831" cy="34239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72379"/>
                <a:gridCol w="4778226"/>
                <a:gridCol w="4778226"/>
              </a:tblGrid>
              <a:tr h="496569">
                <a:tc>
                  <a:txBody>
                    <a:bodyPr/>
                    <a:lstStyle/>
                    <a:p>
                      <a:pPr algn="l"/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Software tradicional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Agente de IA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Comportamiento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Determinista: misma entrada, misma salida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Probabilístico: puede variar con la misma entrada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882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Qué lo cambia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Un despliegue de código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El modelo, el prompt, el conocimiento, los datos y el propio lenguaje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Errores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Excepciones y fallos visibles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Respuestas plausibles pero incorrectas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882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Lógica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Está en el código y se puede leer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Está en el modelo; hay que registrarla para poder explicarla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Coste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Fijo, por infraestructura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Variable, por token y por razonamiento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2649728" cy="429768"/>
          </a:xfrm>
        </p:spPr>
        <p:txBody>
          <a:bodyPr wrap="none"/>
          <a:lstStyle/>
          <a:p>
            <a:r>
              <a:rPr sz="2600"/>
              <a:t>Riesgos nuevos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3" name="Freeform 2"/>
          <p:cNvSpPr/>
          <p:nvPr/>
        </p:nvSpPr>
        <p:spPr>
          <a:xfrm>
            <a:off x="836900" y="2723266"/>
            <a:ext cx="1166935" cy="1347459"/>
          </a:xfrm>
          <a:custGeom>
            <a:avLst/>
            <a:gdLst/>
            <a:ahLst/>
            <a:cxnLst/>
            <a:rect l="l" t="t" r="r" b="b"/>
            <a:pathLst>
              <a:path w="1166935" h="1347459">
                <a:moveTo>
                  <a:pt x="583468" y="0"/>
                </a:moveTo>
                <a:lnTo>
                  <a:pt x="1166935" y="336865"/>
                </a:lnTo>
                <a:lnTo>
                  <a:pt x="1166935" y="1010594"/>
                </a:lnTo>
                <a:lnTo>
                  <a:pt x="583468" y="1347459"/>
                </a:lnTo>
                <a:lnTo>
                  <a:pt x="0" y="1010594"/>
                </a:lnTo>
                <a:lnTo>
                  <a:pt x="0" y="336865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38" y="3122676"/>
            <a:ext cx="1347459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4253605"/>
            <a:ext cx="1688591" cy="2010034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Decisiones erróneas o inventadas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el modelo rellena huecos con datos que no existen.</a:t>
            </a:r>
          </a:p>
        </p:txBody>
      </p:sp>
      <p:sp>
        <p:nvSpPr>
          <p:cNvPr id="4" name="Freeform 3"/>
          <p:cNvSpPr/>
          <p:nvPr/>
        </p:nvSpPr>
        <p:spPr>
          <a:xfrm>
            <a:off x="2708372" y="2723266"/>
            <a:ext cx="1166935" cy="1347459"/>
          </a:xfrm>
          <a:custGeom>
            <a:avLst/>
            <a:gdLst/>
            <a:ahLst/>
            <a:cxnLst/>
            <a:rect l="l" t="t" r="r" b="b"/>
            <a:pathLst>
              <a:path w="1166935" h="1347459">
                <a:moveTo>
                  <a:pt x="583467" y="0"/>
                </a:moveTo>
                <a:lnTo>
                  <a:pt x="1166935" y="336865"/>
                </a:lnTo>
                <a:lnTo>
                  <a:pt x="1166935" y="1010594"/>
                </a:lnTo>
                <a:lnTo>
                  <a:pt x="583467" y="1347459"/>
                </a:lnTo>
                <a:lnTo>
                  <a:pt x="0" y="1010594"/>
                </a:lnTo>
                <a:lnTo>
                  <a:pt x="0" y="336865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18110" y="3122676"/>
            <a:ext cx="1347459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7543" y="4253605"/>
            <a:ext cx="1688591" cy="2010034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Deriva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la calidad baja poco a poco tras un cambio de modelo, de prompt o de datos.</a:t>
            </a:r>
          </a:p>
        </p:txBody>
      </p:sp>
      <p:sp>
        <p:nvSpPr>
          <p:cNvPr id="10" name="Freeform 9"/>
          <p:cNvSpPr/>
          <p:nvPr/>
        </p:nvSpPr>
        <p:spPr>
          <a:xfrm>
            <a:off x="4579844" y="2723266"/>
            <a:ext cx="1166935" cy="1347459"/>
          </a:xfrm>
          <a:custGeom>
            <a:avLst/>
            <a:gdLst/>
            <a:ahLst/>
            <a:cxnLst/>
            <a:rect l="l" t="t" r="r" b="b"/>
            <a:pathLst>
              <a:path w="1166935" h="1347459">
                <a:moveTo>
                  <a:pt x="583468" y="0"/>
                </a:moveTo>
                <a:lnTo>
                  <a:pt x="1166935" y="336865"/>
                </a:lnTo>
                <a:lnTo>
                  <a:pt x="1166935" y="1010594"/>
                </a:lnTo>
                <a:lnTo>
                  <a:pt x="583468" y="1347459"/>
                </a:lnTo>
                <a:lnTo>
                  <a:pt x="0" y="1010594"/>
                </a:lnTo>
                <a:lnTo>
                  <a:pt x="0" y="336865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9582" y="3122676"/>
            <a:ext cx="1347459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9015" y="4253605"/>
            <a:ext cx="1688591" cy="2010034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Coste desbocado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tokens de razonamiento, reintentos y bucles entre agentes.</a:t>
            </a:r>
          </a:p>
        </p:txBody>
      </p:sp>
      <p:sp>
        <p:nvSpPr>
          <p:cNvPr id="13" name="Freeform 12"/>
          <p:cNvSpPr/>
          <p:nvPr/>
        </p:nvSpPr>
        <p:spPr>
          <a:xfrm>
            <a:off x="6451316" y="2723266"/>
            <a:ext cx="1166935" cy="1347459"/>
          </a:xfrm>
          <a:custGeom>
            <a:avLst/>
            <a:gdLst/>
            <a:ahLst/>
            <a:cxnLst/>
            <a:rect l="l" t="t" r="r" b="b"/>
            <a:pathLst>
              <a:path w="1166935" h="1347459">
                <a:moveTo>
                  <a:pt x="583467" y="0"/>
                </a:moveTo>
                <a:lnTo>
                  <a:pt x="1166935" y="336865"/>
                </a:lnTo>
                <a:lnTo>
                  <a:pt x="1166935" y="1010594"/>
                </a:lnTo>
                <a:lnTo>
                  <a:pt x="583467" y="1347459"/>
                </a:lnTo>
                <a:lnTo>
                  <a:pt x="0" y="1010594"/>
                </a:lnTo>
                <a:lnTo>
                  <a:pt x="0" y="336865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1054" y="3122676"/>
            <a:ext cx="1347459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7" y="4253605"/>
            <a:ext cx="1688591" cy="2010034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Permisos excesivos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un agente con más acceso del que necesita para su función.</a:t>
            </a:r>
          </a:p>
        </p:txBody>
      </p:sp>
      <p:sp>
        <p:nvSpPr>
          <p:cNvPr id="16" name="Freeform 15"/>
          <p:cNvSpPr/>
          <p:nvPr/>
        </p:nvSpPr>
        <p:spPr>
          <a:xfrm>
            <a:off x="8322788" y="2723266"/>
            <a:ext cx="1166935" cy="1347459"/>
          </a:xfrm>
          <a:custGeom>
            <a:avLst/>
            <a:gdLst/>
            <a:ahLst/>
            <a:cxnLst/>
            <a:rect l="l" t="t" r="r" b="b"/>
            <a:pathLst>
              <a:path w="1166935" h="1347459">
                <a:moveTo>
                  <a:pt x="583467" y="0"/>
                </a:moveTo>
                <a:lnTo>
                  <a:pt x="1166935" y="336865"/>
                </a:lnTo>
                <a:lnTo>
                  <a:pt x="1166935" y="1010594"/>
                </a:lnTo>
                <a:lnTo>
                  <a:pt x="583467" y="1347459"/>
                </a:lnTo>
                <a:lnTo>
                  <a:pt x="0" y="1010594"/>
                </a:lnTo>
                <a:lnTo>
                  <a:pt x="0" y="336865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2526" y="3122676"/>
            <a:ext cx="1347459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1959" y="4253605"/>
            <a:ext cx="1688591" cy="2010034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Prompt injection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instrucciones maliciosas escondidas en un correo, un documento o una web.</a:t>
            </a:r>
          </a:p>
        </p:txBody>
      </p:sp>
      <p:sp>
        <p:nvSpPr>
          <p:cNvPr id="19" name="Freeform 18"/>
          <p:cNvSpPr/>
          <p:nvPr/>
        </p:nvSpPr>
        <p:spPr>
          <a:xfrm>
            <a:off x="10194260" y="2723266"/>
            <a:ext cx="1166935" cy="1347459"/>
          </a:xfrm>
          <a:custGeom>
            <a:avLst/>
            <a:gdLst/>
            <a:ahLst/>
            <a:cxnLst/>
            <a:rect l="l" t="t" r="r" b="b"/>
            <a:pathLst>
              <a:path w="1166935" h="1347459">
                <a:moveTo>
                  <a:pt x="583467" y="0"/>
                </a:moveTo>
                <a:lnTo>
                  <a:pt x="1166935" y="336865"/>
                </a:lnTo>
                <a:lnTo>
                  <a:pt x="1166935" y="1010594"/>
                </a:lnTo>
                <a:lnTo>
                  <a:pt x="583467" y="1347459"/>
                </a:lnTo>
                <a:lnTo>
                  <a:pt x="0" y="1010594"/>
                </a:lnTo>
                <a:lnTo>
                  <a:pt x="0" y="336865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03998" y="3122676"/>
            <a:ext cx="1347459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3431" y="4253605"/>
            <a:ext cx="1688591" cy="2010034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Dependencia de terceros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el proveedor del modelo es un tercero crítico.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423918" cy="429768"/>
          </a:xfrm>
        </p:spPr>
        <p:txBody>
          <a:bodyPr wrap="none"/>
          <a:lstStyle/>
          <a:p>
            <a:r>
              <a:rPr sz="2600"/>
              <a:t>Monitorizar no es observar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El objetivo no es sacar logs del agente, sino construir una traza semántica de cada decisión.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4632" y="1883664"/>
          <a:ext cx="11228832" cy="270509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5614416"/>
                <a:gridCol w="5614416"/>
              </a:tblGrid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Monitorización técnica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Observabilidad cognitiva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¿Está funcionando?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¿Está decidiendo bien?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882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Latencia, errores, disponibilidad, tokens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Intención interpretada, datos usados, reglas aplicadas, alternativas descartadas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Responde a qué pasó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Responde a por qué pasó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Para el equipo técnico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Para negocio, riesgos, auditoría y técnico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ave_big.png"/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3611880" y="2185416"/>
            <a:ext cx="9418320" cy="5297805"/>
          </a:xfrm>
          <a:prstGeom prst="rect">
            <a:avLst/>
          </a:prstGeom>
        </p:spPr>
      </p:pic>
      <p:sp>
        <p:nvSpPr>
          <p:cNvPr id="3" name="NUM"/>
          <p:cNvSpPr txBox="1"/>
          <p:nvPr/>
        </p:nvSpPr>
        <p:spPr>
          <a:xfrm>
            <a:off x="731520" y="1417319"/>
            <a:ext cx="566928" cy="329184"/>
          </a:xfrm>
          <a:prstGeom prst="rect">
            <a:avLst/>
          </a:prstGeom>
          <a:solidFill>
            <a:srgbClr val="0A2592"/>
          </a:solidFill>
        </p:spPr>
        <p:txBody>
          <a:bodyPr wrap="none" anchor="ctr" lIns="72000" rIns="72000" tIns="36000" bIns="36000">
            <a:noAutofit/>
          </a:bodyPr>
          <a:lstStyle/>
          <a:p>
            <a:r>
              <a:rPr sz="1400" b="0">
                <a:solidFill>
                  <a:srgbClr val="FFFFFF"/>
                </a:solidFill>
                <a:latin typeface="Roboto Slab"/>
              </a:rPr>
              <a:t>03</a:t>
            </a:r>
          </a:p>
        </p:txBody>
      </p:sp>
      <p:sp>
        <p:nvSpPr>
          <p:cNvPr id="4" name="REDTITLE"/>
          <p:cNvSpPr txBox="1"/>
          <p:nvPr/>
        </p:nvSpPr>
        <p:spPr>
          <a:xfrm>
            <a:off x="731520" y="1874519"/>
            <a:ext cx="5259578" cy="546608"/>
          </a:xfrm>
          <a:prstGeom prst="rect">
            <a:avLst/>
          </a:prstGeom>
          <a:solidFill>
            <a:srgbClr val="FF1414"/>
          </a:solidFill>
        </p:spPr>
        <p:txBody>
          <a:bodyPr wrap="none" anchor="ctr" lIns="72000" rIns="72000" tIns="36000" bIns="36000">
            <a:noAutofit/>
          </a:bodyPr>
          <a:lstStyle/>
          <a:p>
            <a:r>
              <a:rPr sz="3200" b="0">
                <a:solidFill>
                  <a:srgbClr val="FFFFFF"/>
                </a:solidFill>
                <a:latin typeface="Roboto Slab"/>
              </a:rPr>
              <a:t>Lo que exige la regulación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5447"/>
            <a:ext cx="73152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Lo que ya obliga hoy y lo que llega con el AI Act.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0576D-B669-167B-03FD-E669ECE0B2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2954527" cy="429768"/>
          </a:xfrm>
        </p:spPr>
        <p:txBody>
          <a:bodyPr wrap="none"/>
          <a:lstStyle/>
          <a:p>
            <a:r>
              <a:rPr sz="2600"/>
              <a:t>Marco normativo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399032"/>
            <a:ext cx="3499103" cy="4864607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500"/>
              </a:spcAft>
              <a:buNone/>
            </a:pPr>
            <a:r>
              <a:rPr sz="1500" b="1">
                <a:solidFill>
                  <a:srgbClr val="194BFF"/>
                </a:solidFill>
                <a:latin typeface="Montserrat"/>
              </a:rPr>
              <a:t>Ya en vigor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AI Act art. 4 y 50</a:t>
            </a:r>
            <a:r>
              <a:rPr sz="1300"/>
              <a:t>: alfabetización en IA y transparencia con quien interactúa con una IA.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RGPD art. 22</a:t>
            </a:r>
            <a:r>
              <a:rPr sz="1300"/>
              <a:t>: derecho a no ser objeto de decisiones solo automatizadas. Firmar sin revisar no es intervención humana (TJUE, SCHUFA).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RGPD art. 15</a:t>
            </a:r>
            <a:r>
              <a:rPr sz="1300"/>
              <a:t>: derecho a una explicación con sentido de la lógica aplicada (TJUE, Dun &amp; Bradstreet).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DORA y NIS2</a:t>
            </a:r>
            <a:r>
              <a:rPr sz="1300"/>
              <a:t>: el proveedor del modelo es un tercero crítico.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Supervisores sectoriales</a:t>
            </a:r>
            <a:r>
              <a:rPr sz="1300"/>
              <a:t>: por ejemplo, EIOPA en seguros (agosto de 2025).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1"/>
          </p:nvPr>
        </p:nvSpPr>
        <p:spPr>
          <a:xfrm>
            <a:off x="4349496" y="1399032"/>
            <a:ext cx="3499103" cy="4864607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500"/>
              </a:spcAft>
              <a:buNone/>
            </a:pPr>
            <a:r>
              <a:rPr sz="1500" b="1">
                <a:solidFill>
                  <a:srgbClr val="194BFF"/>
                </a:solidFill>
                <a:latin typeface="Montserrat"/>
              </a:rPr>
              <a:t>Lo que llega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AI Act, alto riesgo</a:t>
            </a:r>
            <a:r>
              <a:rPr sz="1300"/>
              <a:t> (2/12/2027, Digital Omnibus): registro de eventos (art. 12), transparencia (art. 13), supervisión humana (art. 14) y robustez (art. 15).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Ley española de IA</a:t>
            </a:r>
            <a:r>
              <a:rPr sz="1300"/>
              <a:t>: en tramitación, con AESIA como supervisora.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Sanciones</a:t>
            </a:r>
            <a:r>
              <a:rPr sz="1300"/>
              <a:t>: hasta 35 M€ o el 7 % de la facturación global.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2"/>
          </p:nvPr>
        </p:nvSpPr>
        <p:spPr>
          <a:xfrm>
            <a:off x="8214359" y="1399032"/>
            <a:ext cx="3499103" cy="4864607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500"/>
              </a:spcAft>
              <a:buNone/>
            </a:pPr>
            <a:r>
              <a:rPr sz="1500" b="1">
                <a:solidFill>
                  <a:srgbClr val="194BFF"/>
                </a:solidFill>
                <a:latin typeface="Montserrat"/>
              </a:rPr>
              <a:t>Estándares de referencia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ISO/IEC 42001</a:t>
            </a:r>
            <a:r>
              <a:rPr sz="1300"/>
              <a:t>: sistema de gestión de IA.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NIST AI RMF</a:t>
            </a:r>
            <a:r>
              <a:rPr sz="1300"/>
              <a:t>: marco de gestión del riesgo de IA.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A9AF041-7FE4-8E72-16FA-B7B093756F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x_photo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6928"/>
            <a:ext cx="6035040" cy="5683392"/>
          </a:xfrm>
          <a:prstGeom prst="rect">
            <a:avLst/>
          </a:prstGeom>
        </p:spPr>
      </p:pic>
      <p:sp>
        <p:nvSpPr>
          <p:cNvPr id="3" name="NUM"/>
          <p:cNvSpPr txBox="1"/>
          <p:nvPr/>
        </p:nvSpPr>
        <p:spPr>
          <a:xfrm>
            <a:off x="6720840" y="2331720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anchor="ctr" lIns="72000" rIns="72000" tIns="36000" bIns="36000">
            <a:noAutofit/>
          </a:bodyPr>
          <a:lstStyle/>
          <a:p>
            <a:r>
              <a:rPr sz="1400" b="0">
                <a:solidFill>
                  <a:srgbClr val="FFFFFF"/>
                </a:solidFill>
                <a:latin typeface="Roboto Slab"/>
              </a:rPr>
              <a:t>04</a:t>
            </a:r>
          </a:p>
        </p:txBody>
      </p:sp>
      <p:sp>
        <p:nvSpPr>
          <p:cNvPr id="4" name="REDTITLE"/>
          <p:cNvSpPr txBox="1"/>
          <p:nvPr/>
        </p:nvSpPr>
        <p:spPr>
          <a:xfrm>
            <a:off x="6720840" y="2788920"/>
            <a:ext cx="2691638" cy="546608"/>
          </a:xfrm>
          <a:prstGeom prst="rect">
            <a:avLst/>
          </a:prstGeom>
          <a:solidFill>
            <a:srgbClr val="FF1414"/>
          </a:solidFill>
        </p:spPr>
        <p:txBody>
          <a:bodyPr wrap="none" anchor="ctr" lIns="72000" rIns="72000" tIns="36000" bIns="36000">
            <a:noAutofit/>
          </a:bodyPr>
          <a:lstStyle/>
          <a:p>
            <a:r>
              <a:rPr sz="3200" b="0">
                <a:solidFill>
                  <a:srgbClr val="FFFFFF"/>
                </a:solidFill>
                <a:latin typeface="Roboto Slab"/>
              </a:rPr>
              <a:t>Capacidades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3609848"/>
            <a:ext cx="5120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Ver, entender, limitar, pagar y auditar.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2487168" cy="429768"/>
          </a:xfrm>
        </p:spPr>
        <p:txBody>
          <a:bodyPr wrap="none"/>
          <a:lstStyle/>
          <a:p>
            <a:r>
              <a:rPr sz="2600"/>
              <a:t>Qué buscamos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No se trata de desplegar un agente, sino de industrializar su operación.</a:t>
            </a:r>
          </a:p>
        </p:txBody>
      </p:sp>
      <p:sp>
        <p:nvSpPr>
          <p:cNvPr id="3" name="Freeform 2"/>
          <p:cNvSpPr/>
          <p:nvPr/>
        </p:nvSpPr>
        <p:spPr>
          <a:xfrm>
            <a:off x="1013594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1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1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1715" y="3296412"/>
            <a:ext cx="1371600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4439412"/>
            <a:ext cx="2062886" cy="182422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Fiable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estable y con el rendimiento esperado.</a:t>
            </a:r>
          </a:p>
        </p:txBody>
      </p:sp>
      <p:sp>
        <p:nvSpPr>
          <p:cNvPr id="4" name="Freeform 3"/>
          <p:cNvSpPr/>
          <p:nvPr/>
        </p:nvSpPr>
        <p:spPr>
          <a:xfrm>
            <a:off x="3259361" y="2884932"/>
            <a:ext cx="1187840" cy="1371600"/>
          </a:xfrm>
          <a:custGeom>
            <a:avLst/>
            <a:gdLst/>
            <a:ahLst/>
            <a:cxnLst/>
            <a:rect l="l" t="t" r="r" b="b"/>
            <a:pathLst>
              <a:path w="1187840" h="1371600">
                <a:moveTo>
                  <a:pt x="593920" y="0"/>
                </a:moveTo>
                <a:lnTo>
                  <a:pt x="1187840" y="342900"/>
                </a:lnTo>
                <a:lnTo>
                  <a:pt x="1187840" y="1028700"/>
                </a:lnTo>
                <a:lnTo>
                  <a:pt x="593920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7481" y="3296412"/>
            <a:ext cx="1371600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21838" y="4439412"/>
            <a:ext cx="2062886" cy="182422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Medible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con su impacto real en el negocio cuantificado.</a:t>
            </a:r>
          </a:p>
        </p:txBody>
      </p:sp>
      <p:sp>
        <p:nvSpPr>
          <p:cNvPr id="11" name="Freeform 10"/>
          <p:cNvSpPr/>
          <p:nvPr/>
        </p:nvSpPr>
        <p:spPr>
          <a:xfrm>
            <a:off x="5505127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1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1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248" y="3296412"/>
            <a:ext cx="1371600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7604" y="4439412"/>
            <a:ext cx="2062886" cy="182422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Auditable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cualquier decisión se puede reconstruir y justificar.</a:t>
            </a:r>
          </a:p>
        </p:txBody>
      </p:sp>
      <p:sp>
        <p:nvSpPr>
          <p:cNvPr id="14" name="Freeform 13"/>
          <p:cNvSpPr/>
          <p:nvPr/>
        </p:nvSpPr>
        <p:spPr>
          <a:xfrm>
            <a:off x="7750894" y="2884932"/>
            <a:ext cx="1187840" cy="1371600"/>
          </a:xfrm>
          <a:custGeom>
            <a:avLst/>
            <a:gdLst/>
            <a:ahLst/>
            <a:cxnLst/>
            <a:rect l="l" t="t" r="r" b="b"/>
            <a:pathLst>
              <a:path w="1187840" h="1371600">
                <a:moveTo>
                  <a:pt x="593920" y="0"/>
                </a:moveTo>
                <a:lnTo>
                  <a:pt x="1187840" y="342900"/>
                </a:lnTo>
                <a:lnTo>
                  <a:pt x="1187840" y="1028700"/>
                </a:lnTo>
                <a:lnTo>
                  <a:pt x="593920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9014" y="3296412"/>
            <a:ext cx="1371600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3371" y="4439412"/>
            <a:ext cx="2062886" cy="182422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Gobernable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se controla su evolución, su autonomía y su comportamiento.</a:t>
            </a:r>
          </a:p>
        </p:txBody>
      </p:sp>
      <p:sp>
        <p:nvSpPr>
          <p:cNvPr id="17" name="Freeform 16"/>
          <p:cNvSpPr/>
          <p:nvPr/>
        </p:nvSpPr>
        <p:spPr>
          <a:xfrm>
            <a:off x="9996660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0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0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04780" y="3296412"/>
            <a:ext cx="1371600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9137" y="4439412"/>
            <a:ext cx="2062886" cy="182422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Evolutiva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mejora de forma continua a partir de evidencia.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324858" cy="429768"/>
          </a:xfrm>
        </p:spPr>
        <p:txBody>
          <a:bodyPr wrap="none"/>
          <a:lstStyle/>
          <a:p>
            <a:r>
              <a:rPr sz="2600"/>
              <a:t>Arquitectura de referencia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932432"/>
            <a:ext cx="3499103" cy="43312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  <a:buNone/>
            </a:pPr>
            <a:r>
              <a:rPr sz="2000" b="1">
                <a:solidFill>
                  <a:srgbClr val="194BFF"/>
                </a:solidFill>
                <a:latin typeface="Montserrat"/>
              </a:rPr>
              <a:t>Agentes especializados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Una sola función por agente, con su modelo, su prompt y sus límites.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Ejemplo en seguros: recepción multicanal → clasificación → extracción → reglas de negocio.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11228832" cy="396240"/>
          </a:xfrm>
        </p:spPr>
        <p:txBody>
          <a:bodyPr anchor="t">
            <a:noAutofit/>
          </a:bodyPr>
          <a:lstStyle/>
          <a:p>
            <a:r>
              <a:t>No es una IA que lo hace todo: son especialistas con límites claros sobre una capa de gobierno común.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1"/>
          </p:nvPr>
        </p:nvSpPr>
        <p:spPr>
          <a:xfrm>
            <a:off x="4349496" y="1932432"/>
            <a:ext cx="3499103" cy="43312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  <a:buNone/>
            </a:pPr>
            <a:r>
              <a:rPr sz="2000" b="1">
                <a:solidFill>
                  <a:srgbClr val="194BFF"/>
                </a:solidFill>
                <a:latin typeface="Montserrat"/>
              </a:rPr>
              <a:t>Capa de gobierno común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Trazas, replay, autonomía, guardrails, FinOps e histórico.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Los mismos controles para todos los agentes, no uno por proyecto.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2"/>
          </p:nvPr>
        </p:nvSpPr>
        <p:spPr>
          <a:xfrm>
            <a:off x="8214359" y="1932432"/>
            <a:ext cx="3499103" cy="43312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  <a:buNone/>
            </a:pPr>
            <a:r>
              <a:rPr sz="2000" b="1">
                <a:solidFill>
                  <a:srgbClr val="194BFF"/>
                </a:solidFill>
                <a:latin typeface="Montserrat"/>
              </a:rPr>
              <a:t>Instrumentación estándar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OpenTelemetry genera trazas, métricas y logs.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Las herramientas de explotación (CloudWatch, Azure Monitor, Datadog, Langfuse…) consumen los datos: se cambian sin tocar el agente.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A9AF041-7FE4-8E72-16FA-B7B093756F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967477" cy="429768"/>
          </a:xfrm>
        </p:spPr>
        <p:txBody>
          <a:bodyPr wrap="none"/>
          <a:lstStyle/>
          <a:p>
            <a:r>
              <a:rPr sz="2600"/>
              <a:t>Tres niveles de observabilidad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Un mismo trace_id une los tres: del problema técnico a su impacto en negocio y a su causa en el razonamiento.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4632" y="2157984"/>
          <a:ext cx="11228830" cy="3371847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20802"/>
                <a:gridCol w="3402676"/>
                <a:gridCol w="3402676"/>
                <a:gridCol w="3402676"/>
              </a:tblGrid>
              <a:tr h="496569">
                <a:tc>
                  <a:txBody>
                    <a:bodyPr/>
                    <a:lstStyle/>
                    <a:p>
                      <a:pPr algn="l"/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Nivel 1 · Técnica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Nivel 2 · Operativa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Nivel 3 · Cognitiva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Pregunta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¿Funciona?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¿Aporta?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¿Decide bien?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410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Qué mide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Latencia, errores, disponibilidad, tokens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Automatización, escalados, precisión, tiempo de resolución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Intención, datos usados, reglas, decisiones intermedias, alternativas descartadas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</a:tr>
              <a:tr h="71882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Quién lo usa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Equipos técnicos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Negocio y operación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Riesgos, compliance y auditoría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882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Valor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Prevenir degradaciones y cumplir SLA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Ver el retorno del proyecto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Explicar y auditar cada decisión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3567938" cy="429768"/>
          </a:xfrm>
        </p:spPr>
        <p:txBody>
          <a:bodyPr wrap="none"/>
          <a:lstStyle/>
          <a:p>
            <a:r>
              <a:rPr sz="2600"/>
              <a:t>Mapa de capacidades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Cada capacidad responde a una de las cuatro preguntas del principio.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4632" y="1883664"/>
          <a:ext cx="11228831" cy="20177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961368"/>
                <a:gridCol w="1961368"/>
                <a:gridCol w="1961368"/>
                <a:gridCol w="1421991"/>
                <a:gridCol w="1961368"/>
                <a:gridCol w="1961368"/>
              </a:tblGrid>
              <a:tr h="3550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Ver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Entender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Limitar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Conocer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Pagar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Auditar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</a:tr>
              <a:tr h="73609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¿Qué está pasando?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¿Por qué decidió eso?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¿Quién lo controla?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¿Con qué conocimiento decide?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¿Cuánto cuesta?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¿Podemos demostrarlo?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659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Portada · Vista de dirección · Trazabilidad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Explicabilidad · Evidencias · Reasoning Replay · Causa raíz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Identidad y permisos · Autonomía · Trust Score · Guardrails · Kill switch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Knowledge bases · Rúbricas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Caps · Acciones correctivas · Modelos · Simulación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Libro de registro · Cumplimiento · Prueba en cada decisión · Termómetro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006087" cy="429768"/>
          </a:xfrm>
        </p:spPr>
        <p:txBody>
          <a:bodyPr wrap="none"/>
          <a:lstStyle/>
          <a:p>
            <a:r>
              <a:rPr sz="2600"/>
              <a:t>Ver: la portada del panel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932432"/>
            <a:ext cx="5861304" cy="43312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Una puerta de entrada</a:t>
            </a:r>
            <a:r>
              <a:rPr sz="1800"/>
              <a:t>: diez fichas agrupadas en ver, entender, limitar, conocer, cumplimiento, costes y auditar.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Dos cifras en vivo por ficha</a:t>
            </a:r>
            <a:r>
              <a:rPr sz="1800"/>
              <a:t>: calculadas con los mismos datos que su sección, y un semáforo si hay algo que mirar.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La norma de cada bloque</a:t>
            </a:r>
            <a:r>
              <a:rPr sz="1800"/>
              <a:t>: las etiquetas de cada ficha dicen a qué artículo responde.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396240"/>
          </a:xfrm>
        </p:spPr>
        <p:txBody>
          <a:bodyPr anchor="t">
            <a:noAutofit/>
          </a:bodyPr>
          <a:lstStyle/>
          <a:p>
            <a:r>
              <a:t>Una ficha por pregunta, con su estado en vivo.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00-inic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79" cy="340042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4863465"/>
            <a:ext cx="5696712" cy="481583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Inicio: una ficha por pregunta, con dos cifras en vivo, su semáforo y su norma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00-inic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9699955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061967" cy="429768"/>
          </a:xfrm>
        </p:spPr>
        <p:txBody>
          <a:bodyPr wrap="none"/>
          <a:lstStyle/>
          <a:p>
            <a:r>
              <a:rPr sz="2600"/>
              <a:t>Ver: la vista de dirección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932432"/>
            <a:ext cx="5861304" cy="43312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El estado del sistema en una pantalla</a:t>
            </a:r>
            <a:r>
              <a:rPr sz="1800"/>
              <a:t>: mensajes, autonomía efectiva, escalados, overrides, coste frente al cap, alertas, cumplimiento y conocimiento.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Una tarjeta por agente</a:t>
            </a:r>
            <a:r>
              <a:rPr sz="1800"/>
              <a:t>: modelo, versión de prompt, nivel de autonomía, estado y coste del día frente a su límite.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Alertas de todas las fuentes</a:t>
            </a:r>
            <a:r>
              <a:rPr sz="1800"/>
              <a:t>: coste, conocimiento y cumplimiento, cada una con su causa y lo que ya se ha hecho.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396240"/>
          </a:xfrm>
        </p:spPr>
        <p:txBody>
          <a:bodyPr anchor="t">
            <a:noAutofit/>
          </a:bodyPr>
          <a:lstStyle/>
          <a:p>
            <a:r>
              <a:t>En diez segundos se sabe si el sistema va bien.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01-resu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79" cy="340042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4863465"/>
            <a:ext cx="5696712" cy="481583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Resumen: KPIs del periodo, estado de cada agente y coste frente al cap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01-resu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9699955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6260338" cy="429768"/>
          </a:xfrm>
        </p:spPr>
        <p:txBody>
          <a:bodyPr wrap="none"/>
          <a:lstStyle/>
          <a:p>
            <a:r>
              <a:rPr sz="2600"/>
              <a:t>Ver: trazabilidad de extremo a extremo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Entrada</a:t>
            </a:r>
            <a:r>
              <a:rPr sz="1600"/>
              <a:t>: mensaje original, canal y contexto.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Interpretación</a:t>
            </a:r>
            <a:r>
              <a:rPr sz="1600"/>
              <a:t>: intención, clasificación, confianza y alternativas descartadas.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Ejecución</a:t>
            </a:r>
            <a:r>
              <a:rPr sz="1600"/>
              <a:t>: agentes invocados, reglas y decisiones intermedias.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Conocimiento</a:t>
            </a:r>
            <a:r>
              <a:rPr sz="1600"/>
              <a:t>: fuentes consultadas y su relevancia.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Modelo</a:t>
            </a:r>
            <a:r>
              <a:rPr sz="1600"/>
              <a:t>: prompt, respuesta, latencia y tokens.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Acción</a:t>
            </a:r>
            <a:r>
              <a:rPr sz="1600"/>
              <a:t>: lo que se ejecutó en los sistemas de negocio.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Resultado</a:t>
            </a:r>
            <a:r>
              <a:rPr sz="1600"/>
              <a:t>: decisión final, escalado y corrección humana.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Con un solo identificador: qué pasó con este caso, quién decidió y cuánto costó.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03-trazabil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79" cy="340042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4863465"/>
            <a:ext cx="5696712" cy="481583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Traza de un mensaje: cascada de agentes, datos de la traza y override humano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03-trazabil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9699955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021327" cy="429768"/>
          </a:xfrm>
        </p:spPr>
        <p:txBody>
          <a:bodyPr wrap="none"/>
          <a:lstStyle/>
          <a:p>
            <a:r>
              <a:rPr sz="2600"/>
              <a:t>Entender: explicabilidad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932432"/>
            <a:ext cx="5861304" cy="43312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En lenguaje de negocio, no de log</a:t>
            </a:r>
            <a:r>
              <a:rPr sz="1800"/>
              <a:t>: qué llegó, qué hizo cada agente, qué se decidió y por qué.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Con la evidencia</a:t>
            </a:r>
            <a:r>
              <a:rPr sz="1800"/>
              <a:t>: la regla incumplida y el dato que falta, enlazados a la traza.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Para quien no es técnico</a:t>
            </a:r>
            <a:r>
              <a:rPr sz="1800"/>
              <a:t>: operación, atención al cliente, riesgos y auditoría.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Ejemplo</a:t>
            </a:r>
            <a:r>
              <a:rPr sz="1800"/>
              <a:t>: «Robo en vivienda sin denuncia ni relación de objetos: falta información esencial; se solicita la denuncia y se envía perito».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396240"/>
          </a:xfrm>
        </p:spPr>
        <p:txBody>
          <a:bodyPr anchor="t">
            <a:noAutofit/>
          </a:bodyPr>
          <a:lstStyle/>
          <a:p>
            <a:r>
              <a:t>Si el cliente pregunta por qué, la respuesta está aquí.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04-traza-explic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80" cy="413282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5595864"/>
            <a:ext cx="5696712" cy="481583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Ficha explicada: qué llegó, qué hizo cada agente y por qué se escaló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04-traza-explic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7980975" cy="6062471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309108" cy="429768"/>
          </a:xfrm>
        </p:spPr>
        <p:txBody>
          <a:bodyPr wrap="none"/>
          <a:lstStyle/>
          <a:p>
            <a:r>
              <a:rPr sz="2600"/>
              <a:t>Entender: evidencias verificadas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El modelo cita, la plataforma comprueba</a:t>
            </a:r>
            <a:r>
              <a:rPr sz="1800"/>
              <a:t>: solo se resalta una cita que aparece de verdad en el mensaje.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Un color por tipo de evidencia</a:t>
            </a:r>
            <a:r>
              <a:rPr sz="1800"/>
              <a:t>: ramo, dato extraído, fecha, regla que se cumple y regla que se incumple.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Lo que falta, también</a:t>
            </a:r>
            <a:r>
              <a:rPr sz="1800"/>
              <a:t>: si un dato esencial no está en el texto, se marca «no consta» y no se inventa.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Cada dato y cada regla, con la frase literal del cliente que lo prueba.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41-evidenc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80" cy="3411951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4874991"/>
            <a:ext cx="5696712" cy="481583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Ficha del mensaje: diez evidencias resaltadas y la regla A5 que lo manda a revisión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41-evidenc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9667185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6186678" cy="429768"/>
          </a:xfrm>
        </p:spPr>
        <p:txBody>
          <a:bodyPr wrap="none"/>
          <a:lstStyle/>
          <a:p>
            <a:r>
              <a:rPr sz="2600"/>
              <a:t>Entender: Reasoning Replay y What-if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Razonamiento registrado</a:t>
            </a:r>
            <a:r>
              <a:rPr sz="1800"/>
              <a:t>: entrada, pasos y salida de cada agente.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Replay idéntico</a:t>
            </a:r>
            <a:r>
              <a:rPr sz="1800"/>
              <a:t>: reproduce una decisión pasada para verificar que el resultado es estable.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What-if</a:t>
            </a:r>
            <a:r>
              <a:rPr sz="1800"/>
              <a:t>: la reproduce con otro modelo o prompt y compara decisión, coste y latencia.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Ejemplo</a:t>
            </a:r>
            <a:r>
              <a:rPr sz="1800"/>
              <a:t>: con un modelo más pequeño en Reglas, misma decisión, −82 % de coste y −41 % de latencia.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Cada cambio se prueba antes de desplegarlo, y la prueba queda registrada.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c21-r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4356775" cy="410565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5568696"/>
            <a:ext cx="5696712" cy="6949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Arriba: Razonamiento registrado por agente: entrada, pasos y salida. Abajo: Replay What-if: misma decisión con un modelo más pequeño.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05-reasoning-r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9699955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05b-replay-di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918989"/>
            <a:ext cx="9701784" cy="295601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6631177" cy="429768"/>
          </a:xfrm>
        </p:spPr>
        <p:txBody>
          <a:bodyPr wrap="none"/>
          <a:lstStyle/>
          <a:p>
            <a:r>
              <a:rPr sz="2600"/>
              <a:t>Entender: causa raíz del comportamiento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932432"/>
            <a:ext cx="5431536" cy="43312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800"/>
              </a:spcAft>
              <a:buNone/>
            </a:pPr>
            <a:r>
              <a:rPr sz="1800" b="1">
                <a:solidFill>
                  <a:srgbClr val="194BFF"/>
                </a:solidFill>
                <a:latin typeface="Montserrat"/>
              </a:rPr>
              <a:t>Causas posibles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Se interpretó mal la intención.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El conocimiento recuperado era incorrecto o insuficiente.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La base documental estaba desactualizada.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El modelo hizo una inferencia inconsistente.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Las reglas de validación no cubrían el caso.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Hubo un fallo técnico o de integración.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El nivel de autonomía no era el adecuado.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11228832" cy="396240"/>
          </a:xfrm>
        </p:spPr>
        <p:txBody>
          <a:bodyPr anchor="t">
            <a:noAutofit/>
          </a:bodyPr>
          <a:lstStyle/>
          <a:p>
            <a:r>
              <a:t>¿Por qué se equivocó el agente? Cada causa tiene una solución distinta.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1"/>
          </p:nvPr>
        </p:nvSpPr>
        <p:spPr>
          <a:xfrm>
            <a:off x="6281928" y="1932432"/>
            <a:ext cx="5431536" cy="43312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800"/>
              </a:spcAft>
              <a:buNone/>
            </a:pPr>
            <a:r>
              <a:rPr sz="1800" b="1">
                <a:solidFill>
                  <a:srgbClr val="194BFF"/>
                </a:solidFill>
                <a:latin typeface="Montserrat"/>
              </a:rPr>
              <a:t>Qué se obtiene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Patrones de error.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Procedimientos que no funcionan.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Casos que necesitan más intervención humana.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Mejoras concretas de prompts, reglas o conocimiento.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1E2588A-F550-C104-3508-8B4A40320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6549898" cy="429768"/>
          </a:xfrm>
        </p:spPr>
        <p:txBody>
          <a:bodyPr wrap="none"/>
          <a:lstStyle/>
          <a:p>
            <a:r>
              <a:rPr sz="2600"/>
              <a:t>Limitar: identidad y permisos por agente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932432"/>
            <a:ext cx="5861304" cy="43312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Identidad propia</a:t>
            </a:r>
            <a:r>
              <a:rPr sz="1800"/>
              <a:t>: credencial administrada, sin secretos en el código.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Un responsable</a:t>
            </a:r>
            <a:r>
              <a:rPr sz="1800"/>
              <a:t>: un área de negocio y un comité que responden del agente.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Datos que trata y dónde</a:t>
            </a:r>
            <a:r>
              <a:rPr sz="1800"/>
              <a:t>: proveedor del modelo y región.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Qué puede y qué no</a:t>
            </a:r>
            <a:r>
              <a:rPr sz="1800"/>
              <a:t>: el agente de Reglas propone, pero no puede ordenar pagos ni rechazar un siniestro.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396240"/>
          </a:xfrm>
        </p:spPr>
        <p:txBody>
          <a:bodyPr anchor="t">
            <a:noAutofit/>
          </a:bodyPr>
          <a:lstStyle/>
          <a:p>
            <a:r>
              <a:t>Mínimo privilegio también para los agentes.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06-ficha-ag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79" cy="340042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4863465"/>
            <a:ext cx="5696712" cy="481583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Ficha del agente de Reglas: identidad, permisos e histórico de cambios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06-ficha-ag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9699955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971288" cy="429768"/>
          </a:xfrm>
        </p:spPr>
        <p:txBody>
          <a:bodyPr wrap="none"/>
          <a:lstStyle/>
          <a:p>
            <a:r>
              <a:rPr sz="2600"/>
              <a:t>Limitar: autonomía progresiva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L0 · Manual</a:t>
            </a:r>
            <a:r>
              <a:rPr sz="1600"/>
              <a:t>: el agente solo sugiere; una persona decide y ejecuta.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L1 · Asistido</a:t>
            </a:r>
            <a:r>
              <a:rPr sz="1600"/>
              <a:t>: el agente propone; una persona confirma cada caso.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L2 · Supervisado</a:t>
            </a:r>
            <a:r>
              <a:rPr sz="1600"/>
              <a:t>: decide dentro de los guardrails; fuera de ellos escala a una persona.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L3 · Autónomo</a:t>
            </a:r>
            <a:r>
              <a:rPr sz="1600"/>
              <a:t>: decide y ejecuta; solo se audita a posteriori.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Ejemplo</a:t>
            </a:r>
            <a:r>
              <a:rPr sz="1600"/>
              <a:t>: Reglas bajó de L3 a L2 al superar el 3 % de correcciones humanas.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La autonomía se gana con datos y se pierde con datos.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c24-autonom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4001073" cy="431901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5782056"/>
            <a:ext cx="5696712" cy="481583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Arriba: Registro de auditoría de la bajada de nivel L3 → L2. Abajo: Evolución del nivel de autonomía del agente de Reglas.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13-autonomia-auditor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8594897" cy="6062471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13b-autonomia-evolu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660034"/>
            <a:ext cx="9701784" cy="347392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7259828" cy="429768"/>
          </a:xfrm>
        </p:spPr>
        <p:txBody>
          <a:bodyPr wrap="none"/>
          <a:lstStyle/>
          <a:p>
            <a:r>
              <a:rPr sz="2600"/>
              <a:t>Limitar: Trust Score y supervisión adaptativa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Validación</a:t>
            </a:r>
            <a:r>
              <a:rPr sz="1600"/>
              <a:t>: humana al principio; después por resultado (reaperturas, retrabajos, correcciones) y por evidencia (fuentes válidas).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Trust Score</a:t>
            </a:r>
            <a:r>
              <a:rPr sz="1600"/>
              <a:t> por agente, caso de uso y automatismo: no mide lo inteligente que es el modelo, sino cuánta confianza operativa merece.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Supervisión adaptativa</a:t>
            </a:r>
            <a:r>
              <a:rPr sz="1600"/>
              <a:t>: confianza baja → intervención obligatoria; media → revisión selectiva; alta → ejecución autónoma con monitorización.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Cada incremento de autonomía es medible, reversible, gobernado, auditado y justificable.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14-agente-comportami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208460" cy="431901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5782056"/>
            <a:ext cx="5696712" cy="481583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Comportamiento por periodo y variables que gobiernan al agente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14-agente-comportami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7310958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3148838" cy="429768"/>
          </a:xfrm>
        </p:spPr>
        <p:txBody>
          <a:bodyPr wrap="none"/>
          <a:lstStyle/>
          <a:p>
            <a:r>
              <a:rPr sz="2600"/>
              <a:t>Limitar: guardrails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Confianza</a:t>
            </a:r>
            <a:r>
              <a:rPr sz="1600"/>
              <a:t>: decisión con confianza &lt; 0,85 → escalar.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Importe</a:t>
            </a:r>
            <a:r>
              <a:rPr sz="1600"/>
              <a:t>: más de 6.000 € en Auto → escalar.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Coherencia</a:t>
            </a:r>
            <a:r>
              <a:rPr sz="1600"/>
              <a:t>: los agentes no coinciden en el ramo → escalar.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Casos sensibles</a:t>
            </a:r>
            <a:r>
              <a:rPr sz="1600"/>
              <a:t>: hay lesionados → gestión especializada.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Datos esenciales</a:t>
            </a:r>
            <a:r>
              <a:rPr sz="1600"/>
              <a:t>: sin póliza ni fecha → pedir datos al cliente.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Coste</a:t>
            </a:r>
            <a:r>
              <a:rPr sz="1600"/>
              <a:t>: cap diario al 100 % → modelo más barato.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Formato</a:t>
            </a:r>
            <a:r>
              <a:rPr sz="1600"/>
              <a:t>: respuesta inválida tras dos reintentos → motor alternativo.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Los guardrails son lo que permite dar autonomía sin perder el control.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15-guardrail-g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80" cy="383762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5300662"/>
            <a:ext cx="5696712" cy="481583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Ficha del guardrail de importe (G-02): disparos por día, canal y ramo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15-guardrail-g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8594897" cy="6062471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206237" cy="429768"/>
          </a:xfrm>
        </p:spPr>
        <p:txBody>
          <a:bodyPr wrap="none"/>
          <a:lstStyle/>
          <a:p>
            <a:r>
              <a:rPr sz="2600"/>
              <a:t>Limitar: kill switch y resiliencia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932432"/>
            <a:ext cx="5861304" cy="43312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Kill switch por agente</a:t>
            </a:r>
            <a:r>
              <a:rPr sz="1600"/>
              <a:t>: se pausa al instante desde el panel.</a:t>
            </a:r>
          </a:p>
          <a:p>
            <a:pPr marL="717550" indent="-300000"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–"/>
            </a:pPr>
            <a:r>
              <a:rPr sz="1600"/>
              <a:t>Los casos que dependen de él se encolan: no se pierde ninguno.</a:t>
            </a:r>
          </a:p>
          <a:p>
            <a:pPr marL="717550" indent="-300000"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–"/>
            </a:pPr>
            <a:r>
              <a:rPr sz="1600"/>
              <a:t>La pausa queda registrada en el histórico.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Resiliencia ante fallos del modelo</a:t>
            </a:r>
            <a:r>
              <a:rPr sz="1600"/>
              <a:t>:</a:t>
            </a:r>
          </a:p>
          <a:p>
            <a:pPr marL="717550" indent="-300000"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–"/>
            </a:pPr>
            <a:r>
              <a:rPr sz="1600"/>
              <a:t>Reintentos con espera creciente ante saturación del proveedor.</a:t>
            </a:r>
          </a:p>
          <a:p>
            <a:pPr marL="717550" indent="-300000"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–"/>
            </a:pPr>
            <a:r>
              <a:rPr sz="1600"/>
              <a:t>Degradación a un modelo más barato al llegar al límite de coste.</a:t>
            </a:r>
          </a:p>
          <a:p>
            <a:pPr marL="717550" indent="-300000"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–"/>
            </a:pPr>
            <a:r>
              <a:rPr sz="1600"/>
              <a:t>Paso a un motor alternativo si el modelo no responde bien.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396240"/>
          </a:xfrm>
        </p:spPr>
        <p:txBody>
          <a:bodyPr anchor="t">
            <a:noAutofit/>
          </a:bodyPr>
          <a:lstStyle/>
          <a:p>
            <a:r>
              <a:t>Si la IA falla, el proceso sigue.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02-agentes-kill-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80" cy="194579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3408838"/>
            <a:ext cx="5696712" cy="481583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Tarjetas de agente con estado, nivel, coste frente al cap e interruptor de pausa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02-agentes-kill-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662128"/>
            <a:ext cx="9701784" cy="346973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7280147" cy="429768"/>
          </a:xfrm>
        </p:spPr>
        <p:txBody>
          <a:bodyPr wrap="none"/>
          <a:lstStyle/>
          <a:p>
            <a:r>
              <a:rPr sz="2600"/>
              <a:t>Conocer: el conocimiento también se degrada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Un inventario de todo el conocimiento</a:t>
            </a:r>
            <a:r>
              <a:rPr sz="1800"/>
              <a:t>: índices RAG de SharePoint o Drive, Markdown, runbooks, tablas de referencia y plantillas.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Salud medida contra umbrales</a:t>
            </a:r>
            <a:r>
              <a:rPr sz="1800"/>
              <a:t>: recall, fidelidad, citas, frescura, obsoletos, duplicados, deriva y datos personales.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Comparativa de configuraciones</a:t>
            </a:r>
            <a:r>
              <a:rPr sz="1800"/>
              <a:t>: el mismo corpus con distintos tamaños de chunk y solapamiento, para decidir con datos.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Los agentes deciden con conocimiento que no está en el modelo, y ese conocimiento envejece.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31-knowle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79" cy="340042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4863465"/>
            <a:ext cx="5696712" cy="481583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Knowledge bases: inventario con la salud de cada base y su tendencia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31-knowle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9699955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32-kb-comparati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59"/>
            <a:ext cx="8705088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7328408" cy="429768"/>
          </a:xfrm>
        </p:spPr>
        <p:txBody>
          <a:bodyPr wrap="none"/>
          <a:lstStyle/>
          <a:p>
            <a:r>
              <a:rPr sz="2600"/>
              <a:t>Conocer: rúbricas que vigilan el conocimiento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Preguntas de referencia por base</a:t>
            </a:r>
            <a:r>
              <a:rPr sz="1800"/>
              <a:t>: factuales, de cláusula, de exclusión, de plazo y preguntas trampa sin respuesta.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Criterios con peso</a:t>
            </a:r>
            <a:r>
              <a:rPr sz="1800"/>
              <a:t>: fidelidad, cláusula correcta, completitud y rechazo correcto; los pesos deben sumar 100.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Juez calibrado con personas</a:t>
            </a:r>
            <a:r>
              <a:rPr sz="1800"/>
              <a:t>: el acuerdo entre el modelo juez y los revisores dice si la evaluación es fiable.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La salud solo es tan buena como las pruebas con las que se mide.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33-rubri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80" cy="378904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5252085"/>
            <a:ext cx="5696712" cy="481583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Editor de la rúbrica de Condicionados Auto: criterios con peso y preguntas de referencia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33-rubri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59"/>
            <a:ext cx="8705088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252468" cy="429768"/>
          </a:xfrm>
        </p:spPr>
        <p:txBody>
          <a:bodyPr wrap="none"/>
          <a:lstStyle/>
          <a:p>
            <a:r>
              <a:rPr sz="2600"/>
              <a:t>Pagar: caps y presupuesto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Caps a varios niveles</a:t>
            </a:r>
            <a:r>
              <a:rPr sz="1600"/>
              <a:t>: global, por agente, por caso, por tokens de razonamiento y por llamadas por minuto.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Aviso al 80 % y acción al 100 %</a:t>
            </a:r>
            <a:r>
              <a:rPr sz="1600"/>
              <a:t>: degradar el modelo, pausar lotes no urgentes o marcar el caso.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Cada cap enlazado</a:t>
            </a:r>
            <a:r>
              <a:rPr sz="1600"/>
              <a:t> con los agentes que lo consumen y el guardrail que actúa al superarlo.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Proyección de cierre de mes</a:t>
            </a:r>
            <a:r>
              <a:rPr sz="1600"/>
              <a:t> frente al presupuesto.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El coste se controla por decisión, no con la factura del proveedor a fin de mes.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c28-c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3217868" cy="410565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5568696"/>
            <a:ext cx="5696712" cy="6949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Arriba: Cap diario del agente de Reglas (CAP-03): al 114 % del límite. Abajo: Coste mensual acumulado frente al cap y proyección de cierre.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17-cap03-consu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8594897" cy="6062471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20-coste-mens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707349"/>
            <a:ext cx="9701784" cy="537929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743958" cy="429768"/>
          </a:xfrm>
        </p:spPr>
        <p:txBody>
          <a:bodyPr wrap="none"/>
          <a:lstStyle/>
          <a:p>
            <a:r>
              <a:rPr sz="2600"/>
              <a:t>Pagar: de la alerta a la acción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Automática</a:t>
            </a:r>
            <a:r>
              <a:rPr sz="1800"/>
              <a:t>: ya aplicada por un guardrail. Ejemplo: modelo más barato hasta medianoche (−82 % de coste por mensaje).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Simular y aplicar</a:t>
            </a:r>
            <a:r>
              <a:rPr sz="1800"/>
              <a:t>: se prueba con replay antes de activarla. Ejemplo: modelo pequeño en los casos sencillos (−7,9 €/día).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Solicitar aprobación</a:t>
            </a:r>
            <a:r>
              <a:rPr sz="1800"/>
              <a:t>: los cambios de presupuesto pasan por el comité. Ejemplo: subir el límite de 12 € a 14 €.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Cada alerta llega con su acción, su ahorro estimado y quién tiene que aprobarla.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c29-ac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3567365" cy="410565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5568696"/>
            <a:ext cx="5696712" cy="6949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Arriba: Consumo de cada cap frente al 100 %: superados, en aviso y dentro. Abajo: Acciones correctivas de CAP-03: automática, simular, aplicar o pedir aprobación.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19-caps-superad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8594897" cy="6062471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17b-cap03-ac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313542"/>
            <a:ext cx="9701784" cy="4166907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7080758" cy="429768"/>
          </a:xfrm>
        </p:spPr>
        <p:txBody>
          <a:bodyPr wrap="none"/>
          <a:lstStyle/>
          <a:p>
            <a:r>
              <a:rPr sz="2600"/>
              <a:t>Pagar: el modelo adecuado para cada agente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Coste frente a calidad</a:t>
            </a:r>
            <a:r>
              <a:rPr sz="1800"/>
              <a:t>: precio, tokens, coste, latencia p95 y calidad de cada modelo.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Dónde está el gasto</a:t>
            </a:r>
            <a:r>
              <a:rPr sz="1800"/>
              <a:t>: en el ejemplo, un solo agente concentra el 80 % del coste.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Palancas de ahorro priorizadas</a:t>
            </a:r>
            <a:r>
              <a:rPr sz="1800"/>
              <a:t>: menos razonamiento, modelo pequeño en casos simples, estrategia en dos pasos y caché del prompt base.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No buscamos el modelo más barato, sino el más barato que mantiene la calidad.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10-finops-model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80" cy="277229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4235330"/>
            <a:ext cx="5696712" cy="481583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Comparativa de modelos: precio, consumo, coste, latencia y calidad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10-finops-model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925230"/>
            <a:ext cx="9701784" cy="494353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331208" cy="429768"/>
          </a:xfrm>
        </p:spPr>
        <p:txBody>
          <a:bodyPr wrap="none"/>
          <a:lstStyle/>
          <a:p>
            <a:r>
              <a:rPr sz="2600"/>
              <a:t>Antes de cambiar, simular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Nuevo cap</a:t>
            </a:r>
            <a:r>
              <a:rPr sz="1800"/>
              <a:t>: cuántas veces se habría superado en los últimos 14 días y si choca con otro cap.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Nuevo guardrail</a:t>
            </a:r>
            <a:r>
              <a:rPr sz="1800"/>
              <a:t>: cuántos disparos tendría y cuántos mensajes pasarían a una persona.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Cambio de modelo o de prompt</a:t>
            </a:r>
            <a:r>
              <a:rPr sz="1800"/>
              <a:t>: replay What-if sobre casos reales, con la diferencia en decisión, coste y latencia.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Ningún cambio de gobierno llega a producción sin saber antes su impacto.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c31-simul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4265694" cy="431901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5782056"/>
            <a:ext cx="5696712" cy="481583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Arriba: Nuevo cap: vista previa del consumo frente al nuevo límite. Abajo: Nuevo guardrail: vista previa e impacto estimado.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18-nuevo-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798303"/>
            <a:ext cx="9701784" cy="519738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16-nuevo-guardr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162120"/>
            <a:ext cx="9701784" cy="446975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025138" cy="429768"/>
          </a:xfrm>
        </p:spPr>
        <p:txBody>
          <a:bodyPr wrap="none"/>
          <a:lstStyle/>
          <a:p>
            <a:r>
              <a:rPr sz="2600"/>
              <a:t>Auditar: libro de registro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Alertas</a:t>
            </a:r>
            <a:r>
              <a:rPr sz="1600"/>
              <a:t>: cap superado, aviso al 80 %.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Políticas y niveles</a:t>
            </a:r>
            <a:r>
              <a:rPr sz="1600"/>
              <a:t>: guardrail activado, cambio de autonomía, acción correctiva aplicada.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Replays</a:t>
            </a:r>
            <a:r>
              <a:rPr sz="1600"/>
              <a:t>: pruebas de modelo o de prompt.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Overrides</a:t>
            </a:r>
            <a:r>
              <a:rPr sz="1600"/>
              <a:t>: decisiones del agente corregidas por una persona.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Despliegues</a:t>
            </a:r>
            <a:r>
              <a:rPr sz="1600"/>
              <a:t>: cambios de prompt o de modelo.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Incidentes</a:t>
            </a:r>
            <a:r>
              <a:rPr sz="1600"/>
              <a:t>: saturación del proveedor, paso a motor alternativo.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Qué cambió, cuándo, por qué y quién lo aprobó. Se rellena solo, sin trabajo extra.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11-histor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79" cy="340042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4863465"/>
            <a:ext cx="5696712" cy="481583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Histórico de gobierno: overrides, incidentes, caps, replays y cambios de nivel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11-histor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9699955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194047" cy="429768"/>
          </a:xfrm>
        </p:spPr>
        <p:txBody>
          <a:bodyPr wrap="none"/>
          <a:lstStyle/>
          <a:p>
            <a:r>
              <a:rPr sz="2600"/>
              <a:t>Cumplimiento por diseño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Trazabilidad</a:t>
            </a:r>
            <a:r>
              <a:rPr sz="1400"/>
              <a:t>: AI Act art. 12 · RGPD art. 5.2 y 30.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Explicabilidad</a:t>
            </a:r>
            <a:r>
              <a:rPr sz="1400"/>
              <a:t>: RGPD art. 15 y 22 · AI Act art. 13.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Autonomía y supervisión humana</a:t>
            </a:r>
            <a:r>
              <a:rPr sz="1400"/>
              <a:t>: AI Act art. 14 · RGPD art. 22.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Guardrails y resiliencia</a:t>
            </a:r>
            <a:r>
              <a:rPr sz="1400"/>
              <a:t>: AI Act art. 15 · DORA.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Identidad y permisos</a:t>
            </a:r>
            <a:r>
              <a:rPr sz="1400"/>
              <a:t>: DORA art. 9 · RGPD art. 25 y 32.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Gestión de modelos</a:t>
            </a:r>
            <a:r>
              <a:rPr sz="1400"/>
              <a:t>: DORA art. 28.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FinOps</a:t>
            </a:r>
            <a:r>
              <a:rPr sz="1400"/>
              <a:t>: gobierno interno (p. ej., Solvencia II art. 41 en seguros).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Histórico</a:t>
            </a:r>
            <a:r>
              <a:rPr sz="1400"/>
              <a:t>: AI Act art. 12 · supervisores sectoriales.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Cada bloque del panel lleva su etiqueta normativa: qué exige el artículo y si ya está en vigor.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12-etiqueta-normati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80" cy="116644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2629482"/>
            <a:ext cx="5696712" cy="268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Etiqueta normativa: qué exige el artículo y si ya está en vigor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12-etiqueta-normati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2356999"/>
            <a:ext cx="9701784" cy="207999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691378" cy="429768"/>
          </a:xfrm>
        </p:spPr>
        <p:txBody>
          <a:bodyPr wrap="none"/>
          <a:lstStyle/>
          <a:p>
            <a:r>
              <a:rPr sz="2600"/>
              <a:t>Auditar: la prueba en cada decisión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Datos personales detectados y seudonimizados</a:t>
            </a:r>
            <a:r>
              <a:rPr sz="1800"/>
              <a:t>: identificativos, contacto, salud, menores y terceros, con su valor en la traza.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Por qué este ramo y por qué no los otros</a:t>
            </a:r>
            <a:r>
              <a:rPr sz="1800"/>
              <a:t>: con las evidencias verificadas que lo justifican.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Sello y retención</a:t>
            </a:r>
            <a:r>
              <a:rPr sz="1800"/>
              <a:t>: hash SHA-256 de entrada y salida, plazos de conservación y supervisión humana.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La plataforma, no el modelo, deja en cada decisión la evidencia que pide la norma.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42-respuesta-cru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80" cy="3411951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4874991"/>
            <a:ext cx="5696712" cy="481583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Respuesta cruda de MSG-A-12 con el bloque _gobernanza que añade la plataforma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42-respuesta-cru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9667185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6167627" cy="429768"/>
          </a:xfrm>
        </p:spPr>
        <p:txBody>
          <a:bodyPr wrap="none"/>
          <a:lstStyle/>
          <a:p>
            <a:r>
              <a:rPr sz="2600"/>
              <a:t>Auditar: termómetro de cumplimiento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Un termómetro por marco</a:t>
            </a:r>
            <a:r>
              <a:rPr sz="1800"/>
              <a:t>: AI Act, RGPD y LOPDGDD, DORA, y EIOPA y Solvencia II, con los controles en ámbar a la vista.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Norma, control y medida</a:t>
            </a:r>
            <a:r>
              <a:rPr sz="1800"/>
              <a:t>: qué exige cada artículo, cómo se resuelve y la cifra en vivo, medida o declarada.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Inventario de datos e integridad</a:t>
            </a:r>
            <a:r>
              <a:rPr sz="1800"/>
              <a:t>: datos personales por mensaje y una cadena de hashes que detecta cualquier alteración.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Cobertura de controles con evidencia medible, no un certificado.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13" name="Picture 12" descr="34-termome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79" cy="340042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4863465"/>
            <a:ext cx="5696712" cy="481583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Termómetro de cumplimiento: cobertura por marco y matriz norma → control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34-termome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9699955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pic>
        <p:nvPicPr>
          <p:cNvPr id="4" name="Picture 3" descr="35-inventario-pi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59"/>
            <a:ext cx="8705088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F055C404-1198-B987-A55F-98A884133C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377440"/>
            <a:ext cx="4616958" cy="660400"/>
          </a:xfrm>
        </p:spPr>
        <p:txBody>
          <a:bodyPr wrap="none" anchor="ctr">
            <a:noAutofit/>
          </a:bodyPr>
          <a:lstStyle/>
          <a:p>
            <a:r>
              <a:rPr sz="4000"/>
              <a:t>Cómo implantarlo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04A87-2D05-B819-27E2-B433509BD95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33188" y="6408738"/>
            <a:ext cx="658812" cy="230187"/>
          </a:xfrm>
        </p:spPr>
        <p:txBody>
          <a:bodyPr/>
          <a:lstStyle/>
          <a:p>
            <a:fld id="{4C86EB02-3AF8-4C19-B0D1-31A9E52C2F89}" type="slidenum">
              <a:rPr lang="en-GB" smtClean="0"/>
              <a:pPr/>
              <a:t>14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DC48BB-F5E1-0E62-8FFB-51749D3BA6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34056" y="1850395"/>
            <a:ext cx="7764655" cy="50051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1874519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lIns="73152" rIns="73152" tIns="18288" bIns="18288" anchor="ctr">
            <a:noAutofit/>
          </a:bodyPr>
          <a:lstStyle/>
          <a:p>
            <a:r>
              <a:rPr sz="1400">
                <a:solidFill>
                  <a:srgbClr val="FFFFFF"/>
                </a:solidFill>
                <a:latin typeface="Roboto Slab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3403600"/>
            <a:ext cx="42062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De forma progresiva, con capacidades que se activan cuando el negocio lo decide.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759198" cy="429768"/>
          </a:xfrm>
        </p:spPr>
        <p:txBody>
          <a:bodyPr wrap="none"/>
          <a:lstStyle/>
          <a:p>
            <a:r>
              <a:rPr sz="2600"/>
              <a:t>Marco de madurez GenAIOps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Las capacidades no se imponen: se activan por decisión del cliente, nivel a nivel.</a:t>
            </a:r>
          </a:p>
        </p:txBody>
      </p:sp>
      <p:sp>
        <p:nvSpPr>
          <p:cNvPr id="7" name="Pentagon 6"/>
          <p:cNvSpPr/>
          <p:nvPr/>
        </p:nvSpPr>
        <p:spPr>
          <a:xfrm>
            <a:off x="484632" y="2839212"/>
            <a:ext cx="2377440" cy="1188720"/>
          </a:xfrm>
          <a:prstGeom prst="homePlate">
            <a:avLst>
              <a:gd name="adj" fmla="val 32000"/>
            </a:avLst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274320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01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Desplegado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302252"/>
            <a:ext cx="1965960" cy="191566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agentes integrados, trazabilidad básica y criterios mínimos de producción.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1792" y="4210812"/>
            <a:ext cx="548640" cy="0"/>
          </a:xfrm>
          <a:prstGeom prst="line">
            <a:avLst/>
          </a:prstGeom>
          <a:ln w="3175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hevron 9"/>
          <p:cNvSpPr/>
          <p:nvPr/>
        </p:nvSpPr>
        <p:spPr>
          <a:xfrm>
            <a:off x="2697480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FF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274320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02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Monitorizado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4302252"/>
            <a:ext cx="1965960" cy="191566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detección de desviaciones, métricas de calidad, alertas y control de costes.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4210812"/>
            <a:ext cx="548640" cy="0"/>
          </a:xfrm>
          <a:prstGeom prst="line">
            <a:avLst/>
          </a:prstGeom>
          <a:ln w="3175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hevron 12"/>
          <p:cNvSpPr/>
          <p:nvPr/>
        </p:nvSpPr>
        <p:spPr>
          <a:xfrm>
            <a:off x="4910328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274320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03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Gobernado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7488" y="4302252"/>
            <a:ext cx="1965960" cy="191566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versionado de prompts, validación y regresión antes de cada cambio.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47488" y="4210812"/>
            <a:ext cx="548640" cy="0"/>
          </a:xfrm>
          <a:prstGeom prst="line">
            <a:avLst/>
          </a:prstGeom>
          <a:ln w="3175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hevron 15"/>
          <p:cNvSpPr/>
          <p:nvPr/>
        </p:nvSpPr>
        <p:spPr>
          <a:xfrm>
            <a:off x="7123176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FF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274320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04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Optimizado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0336" y="4302252"/>
            <a:ext cx="1965960" cy="191566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ajustes con datos reales y equilibrio entre coste y calidad.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260336" y="4210812"/>
            <a:ext cx="548639" cy="0"/>
          </a:xfrm>
          <a:prstGeom prst="line">
            <a:avLst/>
          </a:prstGeom>
          <a:ln w="3175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hevron 18"/>
          <p:cNvSpPr/>
          <p:nvPr/>
        </p:nvSpPr>
        <p:spPr>
          <a:xfrm>
            <a:off x="9336024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274320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05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Mejora continua asistida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3184" y="4302252"/>
            <a:ext cx="1965960" cy="191566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las correcciones humanas alimentan la evolución, siempre bajo gobierno.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473184" y="4210812"/>
            <a:ext cx="548640" cy="0"/>
          </a:xfrm>
          <a:prstGeom prst="line">
            <a:avLst/>
          </a:prstGeom>
          <a:ln w="3175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373877" cy="429768"/>
          </a:xfrm>
        </p:spPr>
        <p:txBody>
          <a:bodyPr wrap="none"/>
          <a:lstStyle/>
          <a:p>
            <a:r>
              <a:rPr sz="2600"/>
              <a:t>Cadena de confianza operacional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Ciclo de mejora: observar → analizar → ajustar → validar con replay → desplegar.</a:t>
            </a:r>
          </a:p>
        </p:txBody>
      </p:sp>
      <p:sp>
        <p:nvSpPr>
          <p:cNvPr id="7" name="Pentagon 6"/>
          <p:cNvSpPr/>
          <p:nvPr/>
        </p:nvSpPr>
        <p:spPr>
          <a:xfrm>
            <a:off x="484632" y="2839212"/>
            <a:ext cx="2377440" cy="1188720"/>
          </a:xfrm>
          <a:prstGeom prst="homePlate">
            <a:avLst>
              <a:gd name="adj" fmla="val 32000"/>
            </a:avLst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274320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01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Traza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302252"/>
            <a:ext cx="1965960" cy="191566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cada interacción queda registrada de extremo a extremo.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1792" y="4210812"/>
            <a:ext cx="548640" cy="0"/>
          </a:xfrm>
          <a:prstGeom prst="line">
            <a:avLst/>
          </a:prstGeom>
          <a:ln w="3175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hevron 9"/>
          <p:cNvSpPr/>
          <p:nvPr/>
        </p:nvSpPr>
        <p:spPr>
          <a:xfrm>
            <a:off x="2697480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FF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274320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02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Explicación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4302252"/>
            <a:ext cx="1965960" cy="191566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el razonamiento se reconstruye en lenguaje de negocio.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4210812"/>
            <a:ext cx="548640" cy="0"/>
          </a:xfrm>
          <a:prstGeom prst="line">
            <a:avLst/>
          </a:prstGeom>
          <a:ln w="3175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hevron 12"/>
          <p:cNvSpPr/>
          <p:nvPr/>
        </p:nvSpPr>
        <p:spPr>
          <a:xfrm>
            <a:off x="4910328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274320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03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Evidencia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7488" y="4302252"/>
            <a:ext cx="1965960" cy="191566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validación humana, por resultado y por fuentes.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47488" y="4210812"/>
            <a:ext cx="548640" cy="0"/>
          </a:xfrm>
          <a:prstGeom prst="line">
            <a:avLst/>
          </a:prstGeom>
          <a:ln w="3175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hevron 15"/>
          <p:cNvSpPr/>
          <p:nvPr/>
        </p:nvSpPr>
        <p:spPr>
          <a:xfrm>
            <a:off x="7123176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FF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274320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04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Trust 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0336" y="4302252"/>
            <a:ext cx="1965960" cy="191566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la evidencia se convierte en confianza medible.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260336" y="4210812"/>
            <a:ext cx="548639" cy="0"/>
          </a:xfrm>
          <a:prstGeom prst="line">
            <a:avLst/>
          </a:prstGeom>
          <a:ln w="3175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hevron 18"/>
          <p:cNvSpPr/>
          <p:nvPr/>
        </p:nvSpPr>
        <p:spPr>
          <a:xfrm>
            <a:off x="9336024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274320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05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Autonomía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3184" y="4302252"/>
            <a:ext cx="1965960" cy="1915667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la intervención humana se ajusta a esa confianza.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473184" y="4210812"/>
            <a:ext cx="548640" cy="0"/>
          </a:xfrm>
          <a:prstGeom prst="line">
            <a:avLst/>
          </a:prstGeom>
          <a:ln w="3175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570727" cy="429768"/>
          </a:xfrm>
        </p:spPr>
        <p:txBody>
          <a:bodyPr wrap="none"/>
          <a:lstStyle/>
          <a:p>
            <a:r>
              <a:rPr sz="2600"/>
              <a:t>Piezas sueltas frente a integración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431536" cy="40264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  <a:buNone/>
            </a:pPr>
            <a:r>
              <a:rPr sz="2000" b="1">
                <a:solidFill>
                  <a:srgbClr val="194BFF"/>
                </a:solidFill>
                <a:latin typeface="Montserrat"/>
              </a:rPr>
              <a:t>Hay piezas sueltas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Observabilidad de LLM</a:t>
            </a:r>
            <a:r>
              <a:rPr sz="1800"/>
              <a:t>: Langfuse, Arize o Datadog: trazas, latencia y tokens.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Gobierno y riesgo de IA</a:t>
            </a:r>
            <a:r>
              <a:rPr sz="1800"/>
              <a:t>: IBM watsonx.governance o Credo AI: inventario y políticas.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Estándar OpenTelemetry GenAI</a:t>
            </a:r>
            <a:r>
              <a:rPr sz="1800"/>
              <a:t>: convenciones comunes para trazar llamadas a modelos.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11228832" cy="701040"/>
          </a:xfrm>
        </p:spPr>
        <p:txBody>
          <a:bodyPr anchor="t">
            <a:noAutofit/>
          </a:bodyPr>
          <a:lstStyle/>
          <a:p>
            <a:r>
              <a:t>No es un producto: es una forma de implementar agentes en una empresa regulada, integrada con su proceso, sus reglas y sus costes.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1"/>
          </p:nvPr>
        </p:nvSpPr>
        <p:spPr>
          <a:xfrm>
            <a:off x="6281928" y="2237231"/>
            <a:ext cx="5431536" cy="40264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  <a:buNone/>
            </a:pPr>
            <a:r>
              <a:rPr sz="2000" b="1">
                <a:solidFill>
                  <a:srgbClr val="194BFF"/>
                </a:solidFill>
                <a:latin typeface="Montserrat"/>
              </a:rPr>
              <a:t>Nadie las une a tu negocio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Tu proceso</a:t>
            </a:r>
            <a:r>
              <a:rPr sz="1800"/>
              <a:t>: de la entrada a la decisión, de punta a punta.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Tus reglas de negocio</a:t>
            </a:r>
            <a:r>
              <a:rPr sz="1800"/>
              <a:t>: con la evidencia de cada criterio.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Tus costes</a:t>
            </a:r>
            <a:r>
              <a:rPr sz="1800"/>
              <a:t>: coste por decisión y límites de gasto por agente.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Tu marco normativo</a:t>
            </a:r>
            <a:r>
              <a:rPr sz="1800"/>
              <a:t>: cada capacidad enlazada con la norma que aplica.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1E2588A-F550-C104-3508-8B4A40320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2620518" cy="429768"/>
          </a:xfrm>
        </p:spPr>
        <p:txBody>
          <a:bodyPr wrap="none"/>
          <a:lstStyle/>
          <a:p>
            <a:r>
              <a:rPr sz="2600"/>
              <a:t>Mensajes clave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  <p:cxnSp>
        <p:nvCxnSpPr>
          <p:cNvPr id="6" name="Connector 5"/>
          <p:cNvCxnSpPr/>
          <p:nvPr/>
        </p:nvCxnSpPr>
        <p:spPr>
          <a:xfrm>
            <a:off x="484632" y="1920240"/>
            <a:ext cx="0" cy="41148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84632" y="2633472"/>
            <a:ext cx="0" cy="310896"/>
          </a:xfrm>
          <a:prstGeom prst="line">
            <a:avLst/>
          </a:prstGeom>
          <a:ln w="3810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713232" y="1920240"/>
            <a:ext cx="457200" cy="45720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920240"/>
            <a:ext cx="45720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>
                <a:solidFill>
                  <a:srgbClr val="FFFFFF"/>
                </a:solidFill>
                <a:latin typeface="Roboto Slab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578608"/>
            <a:ext cx="1797710" cy="34564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Confianza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el reto ya no es si la IA puede hacerlo, sino si se puede poner en producción con confianza.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85262" y="1920240"/>
            <a:ext cx="0" cy="41148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85262" y="2633472"/>
            <a:ext cx="0" cy="310896"/>
          </a:xfrm>
          <a:prstGeom prst="line">
            <a:avLst/>
          </a:prstGeom>
          <a:ln w="3810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013862" y="1920240"/>
            <a:ext cx="457200" cy="45720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3862" y="1920240"/>
            <a:ext cx="45720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>
                <a:solidFill>
                  <a:srgbClr val="FFFFFF"/>
                </a:solidFill>
                <a:latin typeface="Roboto Sla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2422" y="2578608"/>
            <a:ext cx="1797710" cy="34564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Observabilidad cognitiva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un agente cambia sin cambiar su código; la monitorización técnica no basta.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85892" y="1920240"/>
            <a:ext cx="0" cy="41148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85892" y="2633472"/>
            <a:ext cx="0" cy="310896"/>
          </a:xfrm>
          <a:prstGeom prst="line">
            <a:avLst/>
          </a:prstGeom>
          <a:ln w="3810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314492" y="1920240"/>
            <a:ext cx="457200" cy="45720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4492" y="1920240"/>
            <a:ext cx="45720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>
                <a:solidFill>
                  <a:srgbClr val="FFFFFF"/>
                </a:solidFill>
                <a:latin typeface="Roboto Slab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23052" y="2578608"/>
            <a:ext cx="1797710" cy="34564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Regulación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ya pide trazabilidad, explicación y supervisión humana real, y el AI Act lo endurece en 2027.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86523" y="1920240"/>
            <a:ext cx="0" cy="41148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386523" y="2633472"/>
            <a:ext cx="0" cy="310896"/>
          </a:xfrm>
          <a:prstGeom prst="line">
            <a:avLst/>
          </a:prstGeom>
          <a:ln w="3810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615123" y="1920240"/>
            <a:ext cx="457200" cy="45720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15123" y="1920240"/>
            <a:ext cx="45720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>
                <a:solidFill>
                  <a:srgbClr val="FFFFFF"/>
                </a:solidFill>
                <a:latin typeface="Roboto Slab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3683" y="2578608"/>
            <a:ext cx="1797710" cy="34564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Cinco capacidades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ver, entender, limitar, pagar y auditar, sobre una capa común.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687153" y="1920240"/>
            <a:ext cx="0" cy="41148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687153" y="2633472"/>
            <a:ext cx="0" cy="310896"/>
          </a:xfrm>
          <a:prstGeom prst="line">
            <a:avLst/>
          </a:prstGeom>
          <a:ln w="3810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9915753" y="1920240"/>
            <a:ext cx="457200" cy="45720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15753" y="1920240"/>
            <a:ext cx="45720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>
                <a:solidFill>
                  <a:srgbClr val="FFFFFF"/>
                </a:solidFill>
                <a:latin typeface="Roboto Slab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4313" y="2578608"/>
            <a:ext cx="1797710" cy="34564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Autonomía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se gana con datos y se pierde con datos.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1487678" cy="429768"/>
          </a:xfrm>
        </p:spPr>
        <p:txBody>
          <a:bodyPr wrap="none"/>
          <a:lstStyle/>
          <a:p>
            <a:r>
              <a:rPr sz="2600"/>
              <a:t>Fuentes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399032"/>
            <a:ext cx="11228832" cy="4864607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McKinsey, </a:t>
            </a:r>
            <a:r>
              <a:rPr sz="1800">
                <a:hlinkClick r:id="rId3"/>
              </a:rPr>
              <a:t>The state of AI in 2025: Agents, innovation, and transformation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Gartner, </a:t>
            </a:r>
            <a:r>
              <a:rPr sz="1800">
                <a:hlinkClick r:id="rId4"/>
              </a:rPr>
              <a:t>nota de prensa del 25/06/2025 sobre IA agéntica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Fortune, </a:t>
            </a:r>
            <a:r>
              <a:rPr sz="1800">
                <a:hlinkClick r:id="rId5"/>
              </a:rPr>
              <a:t>informe del MIT NANDA «The GenAI Divide» (18/08/2025)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Conning, </a:t>
            </a:r>
            <a:r>
              <a:rPr sz="1800">
                <a:hlinkClick r:id="rId6"/>
              </a:rPr>
              <a:t>AI in Insurance 2025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Normativa: </a:t>
            </a:r>
            <a:r>
              <a:rPr sz="1800">
                <a:hlinkClick r:id="rId7"/>
              </a:rPr>
              <a:t>AI Act</a:t>
            </a:r>
            <a:r>
              <a:rPr sz="1800"/>
              <a:t> · </a:t>
            </a:r>
            <a:r>
              <a:rPr sz="1800">
                <a:hlinkClick r:id="rId8"/>
              </a:rPr>
              <a:t>RGPD</a:t>
            </a:r>
            <a:r>
              <a:rPr sz="1800"/>
              <a:t> · </a:t>
            </a:r>
            <a:r>
              <a:rPr sz="1800">
                <a:hlinkClick r:id="rId9"/>
              </a:rPr>
              <a:t>DORA</a:t>
            </a:r>
            <a:r>
              <a:rPr sz="1800"/>
              <a:t> · </a:t>
            </a:r>
            <a:r>
              <a:rPr sz="1800">
                <a:hlinkClick r:id="rId10"/>
              </a:rPr>
              <a:t>NIS2</a:t>
            </a:r>
            <a:r>
              <a:rPr sz="1800"/>
              <a:t> · </a:t>
            </a:r>
            <a:r>
              <a:rPr sz="1800">
                <a:hlinkClick r:id="rId11"/>
              </a:rPr>
              <a:t>Digital Omnibus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Jurisprudencia: </a:t>
            </a:r>
            <a:r>
              <a:rPr sz="1800">
                <a:hlinkClick r:id="rId12"/>
              </a:rPr>
              <a:t>TJUE C-634/21 (SCHUFA)</a:t>
            </a:r>
            <a:r>
              <a:rPr sz="1800"/>
              <a:t> · </a:t>
            </a:r>
            <a:r>
              <a:rPr sz="1800">
                <a:hlinkClick r:id="rId13"/>
              </a:rPr>
              <a:t>TJUE C-203/22 (Dun &amp; Bradstreet)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Supervisores y estándares: </a:t>
            </a:r>
            <a:r>
              <a:rPr sz="1800">
                <a:hlinkClick r:id="rId14"/>
              </a:rPr>
              <a:t>EIOPA, Opinion on AI governance</a:t>
            </a:r>
            <a:r>
              <a:rPr sz="1800"/>
              <a:t> · </a:t>
            </a:r>
            <a:r>
              <a:rPr sz="1800">
                <a:hlinkClick r:id="rId15"/>
              </a:rPr>
              <a:t>ISO/IEC 42001</a:t>
            </a:r>
            <a:r>
              <a:rPr sz="1800"/>
              <a:t> · </a:t>
            </a:r>
            <a:r>
              <a:rPr sz="1800">
                <a:hlinkClick r:id="rId16"/>
              </a:rPr>
              <a:t>NIST AI RMF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‹#›</a:t>
            </a:fld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3599" y="2286000"/>
            <a:ext cx="2104390" cy="648000"/>
          </a:xfrm>
        </p:spPr>
        <p:txBody>
          <a:bodyPr wrap="none"/>
          <a:lstStyle/>
          <a:p>
            <a:r>
              <a:t>Gracias</a:t>
            </a:r>
          </a:p>
        </p:txBody>
      </p:sp>
      <p:pic>
        <p:nvPicPr>
          <p:cNvPr id="4" name="Picture 3" descr="hex_photo_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850392"/>
            <a:ext cx="5230368" cy="521127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PT Logicalis Template March 2026">
  <a:themeElements>
    <a:clrScheme name="TDL New">
      <a:dk1>
        <a:srgbClr val="595959"/>
      </a:dk1>
      <a:lt1>
        <a:srgbClr val="FFFFFF"/>
      </a:lt1>
      <a:dk2>
        <a:srgbClr val="595959"/>
      </a:dk2>
      <a:lt2>
        <a:srgbClr val="E7E6E6"/>
      </a:lt2>
      <a:accent1>
        <a:srgbClr val="FF1414"/>
      </a:accent1>
      <a:accent2>
        <a:srgbClr val="595959"/>
      </a:accent2>
      <a:accent3>
        <a:srgbClr val="194BFF"/>
      </a:accent3>
      <a:accent4>
        <a:srgbClr val="00FFCD"/>
      </a:accent4>
      <a:accent5>
        <a:srgbClr val="E6E6E6"/>
      </a:accent5>
      <a:accent6>
        <a:srgbClr val="FF1414"/>
      </a:accent6>
      <a:hlink>
        <a:srgbClr val="595959"/>
      </a:hlink>
      <a:folHlink>
        <a:srgbClr val="A29791"/>
      </a:folHlink>
    </a:clrScheme>
    <a:fontScheme name="TDL NEW Font">
      <a:majorFont>
        <a:latin typeface="Roboto Slab"/>
        <a:ea typeface=""/>
        <a:cs typeface=""/>
      </a:majorFont>
      <a:minorFont>
        <a:latin typeface="Montserra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sp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DL Template.pptx" id="{49FD070F-6C74-4054-BC33-4F4E7F43F796}" vid="{6D854CFD-DB59-4F78-BD86-5C43773322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c1a385b-e1fe-4f98-ade6-787642576ba7">
      <Terms xmlns="http://schemas.microsoft.com/office/infopath/2007/PartnerControls"/>
    </lcf76f155ced4ddcb4097134ff3c332f>
    <TaxCatchAll xmlns="ec24e197-8a67-4a13-a14c-425853cf5e9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69F901A49CB064A9C4B1D391D24583D" ma:contentTypeVersion="15" ma:contentTypeDescription="Crear nuevo documento." ma:contentTypeScope="" ma:versionID="c01ca280964f438bf2e2e8c57f041e78">
  <xsd:schema xmlns:xsd="http://www.w3.org/2001/XMLSchema" xmlns:xs="http://www.w3.org/2001/XMLSchema" xmlns:p="http://schemas.microsoft.com/office/2006/metadata/properties" xmlns:ns2="bc1a385b-e1fe-4f98-ade6-787642576ba7" xmlns:ns3="ec24e197-8a67-4a13-a14c-425853cf5e9f" targetNamespace="http://schemas.microsoft.com/office/2006/metadata/properties" ma:root="true" ma:fieldsID="002b4cf6722f3fad18b0e6f8ed65e6e2" ns2:_="" ns3:_="">
    <xsd:import namespace="bc1a385b-e1fe-4f98-ade6-787642576ba7"/>
    <xsd:import namespace="ec24e197-8a67-4a13-a14c-425853cf5e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1a385b-e1fe-4f98-ade6-787642576ba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10fce5ab-aaf9-49f9-a6ce-ac3a074a46a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24e197-8a67-4a13-a14c-425853cf5e9f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fef96e38-1bbd-4d0a-8955-62bde1cd75dc}" ma:internalName="TaxCatchAll" ma:showField="CatchAllData" ma:web="ec24e197-8a67-4a13-a14c-425853cf5e9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251A99C-5D78-4D91-A271-C92583798633}">
  <ds:schemaRefs>
    <ds:schemaRef ds:uri="00374ecc-2070-4092-9fe5-39fd256f32fa"/>
    <ds:schemaRef ds:uri="855624d1-d01b-4f83-bace-6500e8ccf5fa"/>
    <ds:schemaRef ds:uri="8f8613fd-76ad-4616-9480-8480cd4a82c0"/>
    <ds:schemaRef ds:uri="be03c1ba-b67e-4e31-8f38-9128da7a7d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2F53B6D5-302C-4812-BDB4-23286F7EBC3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3107499-3C28-4C3E-9EDE-1BEF22709883}"/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35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6" baseType="lpstr">
      <vt:lpstr>PPT Logicalis Template March 2026</vt:lpstr>
      <vt:lpstr>Insert your</vt:lpstr>
      <vt:lpstr>Insert your</vt:lpstr>
      <vt:lpstr>Insert your</vt:lpstr>
      <vt:lpstr>Insert your</vt:lpstr>
      <vt:lpstr>Insert your</vt:lpstr>
      <vt:lpstr>Insert your</vt:lpstr>
      <vt:lpstr>Insert your</vt:lpstr>
      <vt:lpstr>Insert your</vt:lpstr>
      <vt:lpstr>Insert your</vt:lpstr>
      <vt:lpstr>Insert your</vt:lpstr>
      <vt:lpstr>Insert your</vt:lpstr>
      <vt:lpstr>Insert your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Icons</vt:lpstr>
      <vt:lpstr>Icons</vt:lpstr>
      <vt:lpstr>Icons</vt:lpstr>
      <vt:lpstr>Icons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Observabilidad y gobierno de la IA agéntica</dc:title>
  <dc:creator>Ignacio Sánchez</dc:creator>
  <cp:revision>2</cp:revision>
  <dcterms:created xsi:type="dcterms:W3CDTF">2023-07-20T13:22:40Z</dcterms:created>
  <dcterms:modified xsi:type="dcterms:W3CDTF">2026-03-19T18:09:14Z</dcterms:modified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2" name="Sensitivity">
    <vt:lpwstr>Sensible</vt:lpwstr>
  </property>
  <property fmtid="{D5CDD505-2E9C-101B-9397-08002B2CF9AE}" pid="3" name="MSIP_Label_71e2662a-0625-4560-92a8-8decd38b51d5_Extended_MSFT_Method">
    <vt:lpwstr>Standard</vt:lpwstr>
  </property>
  <property fmtid="{D5CDD505-2E9C-101B-9397-08002B2CF9AE}" pid="4" name="ContentTypeId">
    <vt:lpwstr>0x010100C69F901A49CB064A9C4B1D391D24583D</vt:lpwstr>
  </property>
  <property fmtid="{D5CDD505-2E9C-101B-9397-08002B2CF9AE}" pid="5" name="MediaServiceImageTags">
    <vt:lpwstr/>
  </property>
  <property fmtid="{D5CDD505-2E9C-101B-9397-08002B2CF9AE}" pid="6" name="MSIP_Label_71e2662a-0625-4560-92a8-8decd38b51d5_Removed">
    <vt:lpwstr>False</vt:lpwstr>
  </property>
  <property fmtid="{D5CDD505-2E9C-101B-9397-08002B2CF9AE}" pid="7" name="MSIP_Label_71e2662a-0625-4560-92a8-8decd38b51d5_ActionId">
    <vt:lpwstr>1f16ca72-26c2-402d-98b3-c2cfda3bf25e</vt:lpwstr>
  </property>
  <property fmtid="{D5CDD505-2E9C-101B-9397-08002B2CF9AE}" pid="8" name="MSIP_Label_71e2662a-0625-4560-92a8-8decd38b51d5_Name">
    <vt:lpwstr>Sensible</vt:lpwstr>
  </property>
  <property fmtid="{D5CDD505-2E9C-101B-9397-08002B2CF9AE}" pid="9" name="MSIP_Label_71e2662a-0625-4560-92a8-8decd38b51d5_SetDate">
    <vt:lpwstr>2026-03-19T18:17:36Z</vt:lpwstr>
  </property>
  <property fmtid="{D5CDD505-2E9C-101B-9397-08002B2CF9AE}" pid="10" name="MSIP_Label_71e2662a-0625-4560-92a8-8decd38b51d5_SiteId">
    <vt:lpwstr>4b51496e-4cf2-4728-b551-2bdc71444141</vt:lpwstr>
  </property>
  <property fmtid="{D5CDD505-2E9C-101B-9397-08002B2CF9AE}" pid="11" name="MSIP_Label_71e2662a-0625-4560-92a8-8decd38b51d5_Enabled">
    <vt:lpwstr>True</vt:lpwstr>
  </property>
</Properties>
</file>