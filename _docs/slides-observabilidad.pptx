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40"/>
  </p:notesMasterIdLst>
  <p:sldIdLst>
    <p:sldId id="346" r:id="rId34"/>
    <p:sldId id="347" r:id="rId33"/>
    <p:sldId id="348" r:id="rId32"/>
    <p:sldId id="349" r:id="rId31"/>
    <p:sldId id="350" r:id="rId30"/>
    <p:sldId id="351" r:id="rId29"/>
    <p:sldId id="352" r:id="rId46"/>
    <p:sldId id="353" r:id="rId47"/>
    <p:sldId id="354" r:id="rId48"/>
    <p:sldId id="355" r:id="rId49"/>
    <p:sldId id="356" r:id="rId50"/>
    <p:sldId id="357" r:id="rId51"/>
    <p:sldId id="358" r:id="rId52"/>
    <p:sldId id="359" r:id="rId53"/>
    <p:sldId id="360" r:id="rId54"/>
    <p:sldId id="361" r:id="rId55"/>
    <p:sldId id="362" r:id="rId56"/>
    <p:sldId id="363" r:id="rId57"/>
    <p:sldId id="364" r:id="rId58"/>
    <p:sldId id="365" r:id="rId59"/>
    <p:sldId id="366" r:id="rId60"/>
    <p:sldId id="367" r:id="rId61"/>
    <p:sldId id="368" r:id="rId62"/>
    <p:sldId id="369" r:id="rId63"/>
    <p:sldId id="370" r:id="rId64"/>
    <p:sldId id="371" r:id="rId65"/>
    <p:sldId id="372" r:id="rId66"/>
    <p:sldId id="373" r:id="rId67"/>
    <p:sldId id="374" r:id="rId68"/>
    <p:sldId id="375" r:id="rId69"/>
    <p:sldId id="376" r:id="rId70"/>
    <p:sldId id="377" r:id="rId71"/>
    <p:sldId id="378" r:id="rId72"/>
    <p:sldId id="379" r:id="rId73"/>
    <p:sldId id="380" r:id="rId74"/>
    <p:sldId id="381" r:id="rId75"/>
    <p:sldId id="382" r:id="rId76"/>
    <p:sldId id="383" r:id="rId77"/>
    <p:sldId id="384" r:id="rId78"/>
    <p:sldId id="385" r:id="rId79"/>
    <p:sldId id="386" r:id="rId80"/>
    <p:sldId id="387" r:id="rId81"/>
    <p:sldId id="388" r:id="rId82"/>
    <p:sldId id="389" r:id="rId83"/>
    <p:sldId id="390" r:id="rId84"/>
    <p:sldId id="391" r:id="rId85"/>
    <p:sldId id="392" r:id="rId86"/>
    <p:sldId id="393" r:id="rId87"/>
    <p:sldId id="394" r:id="rId88"/>
    <p:sldId id="395" r:id="rId89"/>
    <p:sldId id="396" r:id="rId90"/>
    <p:sldId id="397" r:id="rId91"/>
    <p:sldId id="398" r:id="rId92"/>
    <p:sldId id="399" r:id="rId93"/>
    <p:sldId id="400" r:id="rId94"/>
    <p:sldId id="401" r:id="rId95"/>
    <p:sldId id="402" r:id="rId96"/>
    <p:sldId id="403" r:id="rId97"/>
    <p:sldId id="404" r:id="rId98"/>
    <p:sldId id="405" r:id="rId99"/>
    <p:sldId id="406" r:id="rId100"/>
    <p:sldId id="407" r:id="rId101"/>
    <p:sldId id="408" r:id="rId102"/>
    <p:sldId id="409" r:id="rId103"/>
    <p:sldId id="410" r:id="rId104"/>
    <p:sldId id="411" r:id="rId105"/>
    <p:sldId id="412" r:id="rId106"/>
    <p:sldId id="413" r:id="rId107"/>
    <p:sldId id="414" r:id="rId108"/>
    <p:sldId id="415" r:id="rId109"/>
    <p:sldId id="416" r:id="rId110"/>
    <p:sldId id="417" r:id="rId111"/>
    <p:sldId id="418" r:id="rId112"/>
    <p:sldId id="419" r:id="rId113"/>
    <p:sldId id="420" r:id="rId114"/>
    <p:sldId id="421" r:id="rId115"/>
    <p:sldId id="422" r:id="rId116"/>
    <p:sldId id="423" r:id="rId117"/>
    <p:sldId id="424" r:id="rId118"/>
    <p:sldId id="425" r:id="rId119"/>
    <p:sldId id="426" r:id="rId120"/>
    <p:sldId id="427" r:id="rId121"/>
    <p:sldId id="428" r:id="rId122"/>
    <p:sldId id="429" r:id="rId123"/>
  </p:sldIdLst>
  <p:sldSz cx="12192000" cy="6858000"/>
  <p:notesSz cx="6858000" cy="9144000"/>
  <p:defaultTextStyle>
    <a:defPPr>
      <a:defRPr lang="en-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s" id="{89C6FF98-81ED-034E-9588-A48C8AA225D9}">
          <p14:sldIdLst>
            <p14:sldId id="260"/>
            <p14:sldId id="338"/>
            <p14:sldId id="339"/>
            <p14:sldId id="340"/>
            <p14:sldId id="261"/>
            <p14:sldId id="262"/>
            <p14:sldId id="263"/>
            <p14:sldId id="264"/>
            <p14:sldId id="265"/>
            <p14:sldId id="266"/>
            <p14:sldId id="267"/>
            <p14:sldId id="268"/>
          </p14:sldIdLst>
        </p14:section>
        <p14:section name="Dividers" id="{24B111D2-AE71-F24D-8B77-253923057E62}">
          <p14:sldIdLst>
            <p14:sldId id="275"/>
            <p14:sldId id="276"/>
            <p14:sldId id="277"/>
            <p14:sldId id="278"/>
            <p14:sldId id="279"/>
            <p14:sldId id="280"/>
            <p14:sldId id="269"/>
            <p14:sldId id="294"/>
            <p14:sldId id="270"/>
            <p14:sldId id="271"/>
            <p14:sldId id="272"/>
            <p14:sldId id="273"/>
          </p14:sldIdLst>
        </p14:section>
        <p14:section name="Text with icons" id="{F9C27FBD-AE21-4240-B0EB-4EB98191871A}">
          <p14:sldIdLst>
            <p14:sldId id="341"/>
            <p14:sldId id="342"/>
            <p14:sldId id="343"/>
          </p14:sldIdLst>
        </p14:section>
        <p14:section name="Color background examples" id="{0DB13114-5B30-C94F-BB34-DD1C36B9759A}">
          <p14:sldIdLst>
            <p14:sldId id="348"/>
            <p14:sldId id="349"/>
            <p14:sldId id="350"/>
            <p14:sldId id="351"/>
          </p14:sldIdLst>
        </p14:section>
        <p14:section name="Icons" id="{E57AE0B5-2D22-3B4E-900D-32E0443C9C6A}">
          <p14:sldIdLst>
            <p14:sldId id="344"/>
            <p14:sldId id="345"/>
            <p14:sldId id="346"/>
            <p14:sldId id="34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DFF"/>
    <a:srgbClr val="82C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2FE477-DB6E-B14F-8B3D-2C8E06DF5C8C}" v="12" dt="2026-03-18T15:35:44.8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29" Type="http://schemas.openxmlformats.org/officeDocument/2006/relationships/slide" Target="slides/slide35.xml"/><Relationship Id="rId30" Type="http://schemas.openxmlformats.org/officeDocument/2006/relationships/slide" Target="slides/slide34.xml"/><Relationship Id="rId31" Type="http://schemas.openxmlformats.org/officeDocument/2006/relationships/slide" Target="slides/slide33.xml"/><Relationship Id="rId32" Type="http://schemas.openxmlformats.org/officeDocument/2006/relationships/slide" Target="slides/slide32.xml"/><Relationship Id="rId33" Type="http://schemas.openxmlformats.org/officeDocument/2006/relationships/slide" Target="slides/slide31.xml"/><Relationship Id="rId34" Type="http://schemas.openxmlformats.org/officeDocument/2006/relationships/slide" Target="slides/slide30.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microsoft.com/office/2015/10/relationships/revisionInfo" Target="revisionInfo.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 Id="rId105" Type="http://schemas.openxmlformats.org/officeDocument/2006/relationships/slide" Target="slides/slide95.xml"/><Relationship Id="rId106" Type="http://schemas.openxmlformats.org/officeDocument/2006/relationships/slide" Target="slides/slide96.xml"/><Relationship Id="rId107" Type="http://schemas.openxmlformats.org/officeDocument/2006/relationships/slide" Target="slides/slide97.xml"/><Relationship Id="rId108" Type="http://schemas.openxmlformats.org/officeDocument/2006/relationships/slide" Target="slides/slide98.xml"/><Relationship Id="rId109" Type="http://schemas.openxmlformats.org/officeDocument/2006/relationships/slide" Target="slides/slide99.xml"/><Relationship Id="rId110" Type="http://schemas.openxmlformats.org/officeDocument/2006/relationships/slide" Target="slides/slide100.xml"/><Relationship Id="rId111" Type="http://schemas.openxmlformats.org/officeDocument/2006/relationships/slide" Target="slides/slide101.xml"/><Relationship Id="rId112" Type="http://schemas.openxmlformats.org/officeDocument/2006/relationships/slide" Target="slides/slide102.xml"/><Relationship Id="rId113" Type="http://schemas.openxmlformats.org/officeDocument/2006/relationships/slide" Target="slides/slide103.xml"/><Relationship Id="rId114" Type="http://schemas.openxmlformats.org/officeDocument/2006/relationships/slide" Target="slides/slide104.xml"/><Relationship Id="rId115" Type="http://schemas.openxmlformats.org/officeDocument/2006/relationships/slide" Target="slides/slide105.xml"/><Relationship Id="rId116" Type="http://schemas.openxmlformats.org/officeDocument/2006/relationships/slide" Target="slides/slide106.xml"/><Relationship Id="rId117" Type="http://schemas.openxmlformats.org/officeDocument/2006/relationships/slide" Target="slides/slide107.xml"/><Relationship Id="rId118" Type="http://schemas.openxmlformats.org/officeDocument/2006/relationships/slide" Target="slides/slide108.xml"/><Relationship Id="rId119" Type="http://schemas.openxmlformats.org/officeDocument/2006/relationships/slide" Target="slides/slide109.xml"/><Relationship Id="rId120" Type="http://schemas.openxmlformats.org/officeDocument/2006/relationships/slide" Target="slides/slide110.xml"/><Relationship Id="rId121" Type="http://schemas.openxmlformats.org/officeDocument/2006/relationships/slide" Target="slides/slide111.xml"/><Relationship Id="rId122" Type="http://schemas.openxmlformats.org/officeDocument/2006/relationships/slide" Target="slides/slide112.xml"/><Relationship Id="rId123" Type="http://schemas.openxmlformats.org/officeDocument/2006/relationships/slide" Target="slides/slide1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52698B-22EF-534E-B63D-BB6C0D4DFEA9}" type="datetimeFigureOut">
              <a:rPr lang="en-PT" smtClean="0"/>
              <a:t>03/19/2026</a:t>
            </a:fld>
            <a:endParaRPr lang="en-P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7252E2-66E6-2846-853C-451ED1419F13}" type="slidenum">
              <a:rPr lang="en-PT" smtClean="0"/>
              <a:t>‹#›</a:t>
            </a:fld>
            <a:endParaRPr lang="en-PT"/>
          </a:p>
        </p:txBody>
      </p:sp>
    </p:spTree>
    <p:extLst>
      <p:ext uri="{BB962C8B-B14F-4D97-AF65-F5344CB8AC3E}">
        <p14:creationId xmlns:p14="http://schemas.microsoft.com/office/powerpoint/2010/main" val="1895462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IA ya no es un experimento de un departamento. Casi nueve de cada diez organizaciones la usan en alguna función, y más de la mitad está probando agentes.</a:t>
            </a:r>
          </a:p>
          <a:p/>
          <a:p>
            <a:r>
              <a:t>Y la tendencia va a más. Gartner calcula que en 2028:</a:t>
            </a:r>
          </a:p>
          <a:p/>
          <a:p>
            <a:r>
              <a:t>- un tercio de las aplicaciones empresariales llevará agentes dentro;</a:t>
            </a:r>
          </a:p>
          <a:p>
            <a:r>
              <a:t>- y que el 15 % de las decisiones del día a día las tomará un agente sin intervención humana.</a:t>
            </a:r>
          </a:p>
          <a:p/>
          <a:p>
            <a:r>
              <a:t>Eso cambia la naturaleza del problema. Un chatbot responde preguntas. Un agente decide y ejecuta acciones sobre sistemas reales: abre un expediente, aprueba una solicitud, modifica un pedido.</a:t>
            </a:r>
          </a:p>
          <a:p/>
          <a:p>
            <a:r>
              <a:t>A remarcar: cuando la IA pasa de responder a decidir, la pregunta deja de ser si funciona y pasa a ser quién responde de lo que hace.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complementarios (no están en la diapositiva): solo un 39 % de las organizaciones ve algún impacto en el EBIT (McKinsey); un estudio del MIT sitúa en torno al 5 % los pilotos de IA generativa con impacto rápido en ingresos; en seguros, más del 90 % de las aseguradoras evalúa IA generativa y solo el 22 % la tiene en producción (Conning).</a:t>
            </a:r>
          </a:p>
          <a:p/>
          <a:p>
            <a:r>
              <a:t>Aquí está la paradoja. Mucha experimentación y muy poca producción.</a:t>
            </a:r>
          </a:p>
          <a:p/>
          <a:p>
            <a:r>
              <a:t>- Seis de cada diez empresas experimentan con agentes.</a:t>
            </a:r>
          </a:p>
          <a:p>
            <a:r>
              <a:t>- Solo una de cada cuatro los está escalando, y en ninguna función concreta pasa del 10 %.</a:t>
            </a:r>
          </a:p>
          <a:p>
            <a:r>
              <a:t>- Gartner prevé que más del 40 % de los proyectos agénticos se cancelarán antes de que acabe 2027.</a:t>
            </a:r>
          </a:p>
          <a:p/>
          <a:p>
            <a:r>
              <a:t>Fijaos en las tres causas que da Gartner: costes, valor poco claro y controles de riesgo insuficientes. Ninguna es que el modelo no sea lo bastante bueno.</a:t>
            </a:r>
          </a:p>
          <a:p/>
          <a:p>
            <a:r>
              <a:t>En seguros, que es el sector de los ejemplos de hoy, pasa lo mismo: casi todas las aseguradoras evalúan IA generativa y apenas una de cada cinco la tiene en producción.</a:t>
            </a:r>
          </a:p>
          <a:p/>
          <a:p>
            <a:r>
              <a:t>A remarcar: los proyectos no mueren porque la IA falle; mueren porque nadie puede demostrar que está bajo control ni cuánto cuesta.</a:t>
            </a:r>
          </a:p>
          <a:p/>
          <a:p>
            <a:r>
              <a:t>Nota interna: la cifra del MIT es polémica (muestra pequeña y metodología discutida). Usarla como dato complementario, no como argumento central.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Cuando un proyecto de agentes llega al comité de riesgos, o al CFO, siempre aparecen las mismas preguntas:</a:t>
            </a:r>
          </a:p>
          <a:p/>
          <a:p>
            <a:r>
              <a:t>- ¿Por qué decidió eso el agente?</a:t>
            </a:r>
          </a:p>
          <a:p>
            <a:r>
              <a:t>- ¿Quién lo controla y quién responde si se equivoca?</a:t>
            </a:r>
          </a:p>
          <a:p>
            <a:r>
              <a:t>- ¿Cuánto cuesta cada decisión?</a:t>
            </a:r>
          </a:p>
          <a:p>
            <a:r>
              <a:t>- ¿Cómo sé que hoy funciona igual de bien que el día que lo aprobamos?</a:t>
            </a:r>
          </a:p>
          <a:p/>
          <a:p>
            <a:r>
              <a:t>Si no hay respuesta a estas cuatro preguntas, el proyecto no pasa a producción. Y si pasa, es un riesgo.</a:t>
            </a:r>
          </a:p>
          <a:p/>
          <a:p>
            <a:r>
              <a:t>Estas cuatro preguntas son el hilo de toda la presentación. Cada capacidad que veremos después responde a una o varias de ellas.</a:t>
            </a:r>
          </a:p>
          <a:p/>
          <a:p>
            <a:r>
              <a:t>A remarcar: la cuarta pregunta es la más olvidada y la que más diferencia a un agente del software tradicional.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el software de siempre, si nadie despliega código nuevo, el sistema se comporta igual. Un agente no.</a:t>
            </a:r>
          </a:p>
          <a:p/>
          <a:p>
            <a:r>
              <a:t>Su comportamiento puede cambiar por cuatro motivos sin que nadie toque el código:</a:t>
            </a:r>
          </a:p>
          <a:p/>
          <a:p>
            <a:r>
              <a:t>- el proveedor actualiza el modelo;</a:t>
            </a:r>
          </a:p>
          <a:p>
            <a:r>
              <a:t>- cambia la documentación o el conocimiento que consulta;</a:t>
            </a:r>
          </a:p>
          <a:p>
            <a:r>
              <a:t>- alguien ajusta un prompt o una regla;</a:t>
            </a:r>
          </a:p>
          <a:p>
            <a:r>
              <a:t>- o simplemente llegan casos nuevos, escritos de otra forma.</a:t>
            </a:r>
          </a:p>
          <a:p/>
          <a:p>
            <a:r>
              <a:t>Además, cuando un agente se equivoca no lanza una excepción. Da una respuesta que parece correcta. Por eso no basta con vigilar si el sistema está caído o no.</a:t>
            </a:r>
          </a:p>
          <a:p/>
          <a:p>
            <a:r>
              <a:t>A remarcar: el error de un agente no se ve; hay que buscarlo. Y eso exige otra forma de observar.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agentes traen riesgos que los equipos de TI no tenían en su mapa:</a:t>
            </a:r>
          </a:p>
          <a:p/>
          <a:p>
            <a:r>
              <a:t>- El modelo puede inventar un dato para completar una respuesta.</a:t>
            </a:r>
          </a:p>
          <a:p>
            <a:r>
              <a:t>- La calidad puede degradarse poco a poco, sin un fallo evidente.</a:t>
            </a:r>
          </a:p>
          <a:p>
            <a:r>
              <a:t>- El coste puede dispararse: un agente que razona demasiado, o que entra en un bucle de reintentos.</a:t>
            </a:r>
          </a:p>
          <a:p>
            <a:r>
              <a:t>- Un agente con permisos de más es una puerta abierta.</a:t>
            </a:r>
          </a:p>
          <a:p>
            <a:r>
              <a:t>- Un texto de entrada puede llevar instrucciones escondidas para manipular al agente.</a:t>
            </a:r>
          </a:p>
          <a:p>
            <a:r>
              <a:t>- Y el modelo es un servicio de un tercero, con su disponibilidad y sus cambios de versión.</a:t>
            </a:r>
          </a:p>
          <a:p/>
          <a:p>
            <a:r>
              <a:t>Ninguno de estos riesgos se detecta mirando solo la CPU, la memoria o los errores HTTP.</a:t>
            </a:r>
          </a:p>
          <a:p/>
          <a:p>
            <a:r>
              <a:t>A remarcar: cada uno de estos riesgos tiene una capacidad de gobierno que lo mitiga; las veremos en el bloque 04.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Monitorizar es saber si el sistema está vivo: si responde, cuánto tarda, si da errores. Es necesario, pero en un agente no es suficiente.</a:t>
            </a:r>
          </a:p>
          <a:p/>
          <a:p>
            <a:r>
              <a:t>Observar un agente es poder reconstruir por qué tomó una decisión:</a:t>
            </a:r>
          </a:p>
          <a:p/>
          <a:p>
            <a:r>
              <a:t>- qué entendió;</a:t>
            </a:r>
          </a:p>
          <a:p>
            <a:r>
              <a:t>- qué información consultó;</a:t>
            </a:r>
          </a:p>
          <a:p>
            <a:r>
              <a:t>- qué reglas aplicó;</a:t>
            </a:r>
          </a:p>
          <a:p>
            <a:r>
              <a:t>- qué opciones descartó.</a:t>
            </a:r>
          </a:p>
          <a:p/>
          <a:p>
            <a:r>
              <a:t>Y eso no lo da un log técnico. Hay que diseñarlo desde el principio, como parte del agente.</a:t>
            </a:r>
          </a:p>
          <a:p/>
          <a:p>
            <a:r>
              <a:t>A remarcar: si la observabilidad no se diseña desde el primer día, después no se puede reconstruir el porqué de una decisión pasada.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habitual pensar que el AI Act es lo único que aplica y que todavía queda lejos. No es así.</a:t>
            </a:r>
          </a:p>
          <a:p/>
          <a:p>
            <a:r>
              <a:t>Hoy ya obligan:</a:t>
            </a:r>
          </a:p>
          <a:p/>
          <a:p>
            <a:r>
              <a:t>- el RGPD, con el derecho a no ser objeto de decisiones solo automatizadas y el derecho a una explicación;</a:t>
            </a:r>
          </a:p>
          <a:p>
            <a:r>
              <a:t>- DORA y NIS2, que tratan al proveedor del modelo como un tercero crítico;</a:t>
            </a:r>
          </a:p>
          <a:p>
            <a:r>
              <a:t>- y los supervisores sectoriales, como EIOPA en seguros.</a:t>
            </a:r>
          </a:p>
          <a:p/>
          <a:p>
            <a:r>
              <a:t>Un matiz importante del Tribunal de Justicia de la UE: una persona que firma sin revisar no cuenta como supervisión humana. La supervisión tiene que ser real.</a:t>
            </a:r>
          </a:p>
          <a:p/>
          <a:p>
            <a:r>
              <a:t>Lo que llega con el AI Act para los sistemas de alto riesgo, a partir de diciembre de 2027, es justo lo que vamos a ver: registro de eventos, transparencia, supervisión humana y robustez.</a:t>
            </a:r>
          </a:p>
          <a:p/>
          <a:p>
            <a:r>
              <a:t>A remarcar:</a:t>
            </a:r>
          </a:p>
          <a:p/>
          <a:p>
            <a:r>
              <a:t>- No todos los agentes son de alto riesgo; depende del uso. Pero quien construya hoy sin gobierno lo tendrá que rehacer en 2027.</a:t>
            </a:r>
          </a:p>
          <a:p>
            <a:r>
              <a:t>- No decir que el AI Act obliga hoy a todo esto: la obligación de hoy viene del RGPD, DORA, NIS2 y los supervisores sectoriales.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entrar en las capacidades, conviene fijar el objetivo. Queremos que cada agente en producción sea:</a:t>
            </a:r>
          </a:p>
          <a:p/>
          <a:p>
            <a:r>
              <a:t>- fiable, porque funciona de forma estable;</a:t>
            </a:r>
          </a:p>
          <a:p>
            <a:r>
              <a:t>- medible, porque sabemos qué aporta al negocio;</a:t>
            </a:r>
          </a:p>
          <a:p>
            <a:r>
              <a:t>- auditable, porque podemos reconstruir cualquier decisión;</a:t>
            </a:r>
          </a:p>
          <a:p>
            <a:r>
              <a:t>- gobernable, porque controlamos cuánta libertad tiene;</a:t>
            </a:r>
          </a:p>
          <a:p>
            <a:r>
              <a:t>- y evolutivo, porque mejora con datos y no con intuiciones.</a:t>
            </a:r>
          </a:p>
          <a:p/>
          <a:p>
            <a:r>
              <a:t>A remarcar: desplegar un agente es fácil; operarlo como un sistema crítico de la empresa es lo difícil.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arquitectura que proponemos tiene tres capas.</a:t>
            </a:r>
          </a:p>
          <a:p/>
          <a:p>
            <a:r>
              <a:t>Arriba, agentes pequeños y especializados. En el ejemplo de seguros son cuatro: uno recibe los mensajes, otro los clasifica, otro extrae los datos y otro aplica las reglas de negocio. Cada uno tiene su modelo, su prompt y sus propios límites.</a:t>
            </a:r>
          </a:p>
          <a:p/>
          <a:p>
            <a:r>
              <a:t>En medio, una capa de gobierno común a todos los agentes. Es la que da las trazas, el replay, la autonomía, los guardrails, el control de costes y el histórico.</a:t>
            </a:r>
          </a:p>
          <a:p/>
          <a:p>
            <a:r>
              <a:t>Abajo, la instrumentación. Usamos OpenTelemetry, que es el estándar abierto, para generar los datos. Así las herramientas de observabilidad solo consumen esos datos, y se pueden cambiar sin tocar el agente.</a:t>
            </a:r>
          </a:p>
          <a:p/>
          <a:p>
            <a:r>
              <a:t>A remarcar: no es una IA que lo hace todo; son especialistas con límites claros sobre una capa de gobierno común.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perfil de la empresa necesita mirar al agente desde un ángulo distinto. Por eso organizamos la observabilidad en tres niveles.</a:t>
            </a:r>
          </a:p>
          <a:p/>
          <a:p>
            <a:r>
              <a:t>- El técnico responde a si el sistema funciona.</a:t>
            </a:r>
          </a:p>
          <a:p>
            <a:r>
              <a:t>- El operativo responde a si el agente aporta valor al negocio.</a:t>
            </a:r>
          </a:p>
          <a:p>
            <a:r>
              <a:t>- El cognitivo responde a si el agente decide bien y por qué.</a:t>
            </a:r>
          </a:p>
          <a:p/>
          <a:p>
            <a:r>
              <a:t>La clave es que los tres niveles comparten el mismo identificador de traza. Por ejemplo: vemos que la latencia sube, comprobamos que eso ha hecho crecer los escalados a personas y encontramos la causa en el razonamiento de un agente concreto.</a:t>
            </a:r>
          </a:p>
          <a:p/>
          <a:p>
            <a:r>
              <a:t>A remarcar: tres vistas, un solo dato de origen; nada de tres herramientas que no se hablan.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mapa del bloque. Agrupamos las capacidades en siete verbos:</a:t>
            </a:r>
          </a:p>
          <a:p/>
          <a:p>
            <a:r>
              <a:t>- ver lo que pasa;</a:t>
            </a:r>
          </a:p>
          <a:p>
            <a:r>
              <a:t>- entender por qué pasa;</a:t>
            </a:r>
          </a:p>
          <a:p>
            <a:r>
              <a:t>- limitar lo que el agente puede hacer solo;</a:t>
            </a:r>
          </a:p>
          <a:p>
            <a:r>
              <a:t>- conocer con qué conocimiento decide y si sigue siendo bueno;</a:t>
            </a:r>
          </a:p>
          <a:p>
            <a:r>
              <a:t>- pagar solo lo que tiene sentido pagar;</a:t>
            </a:r>
          </a:p>
          <a:p>
            <a:r>
              <a:t>- corregir lo que no está sano;</a:t>
            </a:r>
          </a:p>
          <a:p>
            <a:r>
              <a:t>- y auditar todo lo anterior.</a:t>
            </a:r>
          </a:p>
          <a:p/>
          <a:p>
            <a:r>
              <a:t>Lo que vais a ver a continuación son capturas de una plataforma de gobierno que hemos construido sobre un caso de seguros: el triaje de avisos de siniestro con cuatro agentes. Pero todas las capacidades son las mismas para cualquier proceso.</a:t>
            </a:r>
          </a:p>
          <a:p/>
          <a:p>
            <a:r>
              <a:t>A remarcar: cada capacidad responde a una de las cuatro preguntas del principio.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entrar en detalle, esta es la portada del panel. Cada ficha corresponde a una sección, y las secciones se agrupan en cinco bloques: qué está pasando, cuánto decide la máquina y cuánto una persona, si deciden bien, si cumplimos y cuánto cuesta, y qué hay que corregir.</a:t>
            </a:r>
          </a:p>
          <a:p/>
          <a:p>
            <a:r>
              <a:t>Cada ficha lleva una cifra en vivo. Las que están al día solo llevan un punto verde; las que no, una etiqueta «Revisar» o «Atención». Si algo va mal, se ve aquí antes de abrir nada.</a:t>
            </a:r>
          </a:p>
          <a:p/>
          <a:p>
            <a:r>
              <a:t>A remarcar: la portada no es decoración; es la forma de que cualquiera sepa en qué sección tiene que entrar.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Recorrer los bloques de izquierda a derecha y señalar las etiquetas «Atención» de Knowledge Bases, FinOps y Medidas correctivas: el panel dice dónde mirar primero.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primera pantalla, pensada para dirección.</a:t>
            </a:r>
          </a:p>
          <a:p/>
          <a:p>
            <a:r>
              <a:t>En la fila de arriba están los indicadores clave. En el ejemplo: el 81 % de las decisiones se toman sin intervención humana, el 19 % se escalan a una persona, y las personas corrigen al agente en el 2,1 % de los casos, por debajo del objetivo del 3 %.</a:t>
            </a:r>
          </a:p>
          <a:p/>
          <a:p>
            <a:r>
              <a:t>Debajo, cada agente con su modelo, su versión de prompt, su nivel de autonomía y su coste del día. Fijaos en el agente de Reglas: aparece como degradado porque ha superado su límite de coste diario y el sistema lo ha pasado automáticamente a un modelo más barato.</a:t>
            </a:r>
          </a:p>
          <a:p/>
          <a:p>
            <a:r>
              <a:t>A remarcar: no hace falta ser técnico para leer esta pantalla; está pensada para quien tiene que decidir.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la fila de KPIs (81 % de autonomía, 2,1 % de overrides) y la tarjeta del agente de Reglas, marcada como degradada por superar su cap.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auditoría mensaje a mensaje.</a:t>
            </a:r>
          </a:p>
          <a:p/>
          <a:p>
            <a:r>
              <a:t>A la izquierda vemos la cadena de agentes en cascada: cuánto tardó cada uno, con qué modelo y cuántos tokens consumió. A la derecha, los datos de la traza: canal, confianza, guardrail disparado, versiones de cada agente y coste total.</a:t>
            </a:r>
          </a:p>
          <a:p/>
          <a:p>
            <a:r>
              <a:t>En este caso hay algo más: una persona corrigió la decisión del agente. Queda registrado quién lo hizo, cuándo y por qué. Y el motivo es interesante: el agente no tenía acceso a un dato que sí estaba en el sistema de pólizas. Eso no es un error del modelo, es una mejora de integración pendiente.</a:t>
            </a:r>
          </a:p>
          <a:p/>
          <a:p>
            <a:r>
              <a:t>A remarcar: con un solo identificador se responde a la pregunta «¿qué pasó con este caso, quién decidió y cuánto costó?».</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la cascada (tiempo, modelo y tokens por agente) y el recuadro del override: quién corrigió, cuándo y por qué.</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explicabilidad no consiste en enseñar el log. Consiste en contar, en lenguaje de negocio, qué pasó.</a:t>
            </a:r>
          </a:p>
          <a:p/>
          <a:p>
            <a:r>
              <a:t>En esta ficha se lee de arriba abajo:</a:t>
            </a:r>
          </a:p>
          <a:p/>
          <a:p>
            <a:r>
              <a:t>- qué llegó: un mensaje por WhatsApp diciendo que han entrado a robar en casa;</a:t>
            </a:r>
          </a:p>
          <a:p>
            <a:r>
              <a:t>- qué hizo cada agente: lo clasificó como Hogar, extrajo los datos sin inventar ninguno y detectó que faltaban cuatro;</a:t>
            </a:r>
          </a:p>
          <a:p>
            <a:r>
              <a:t>- qué se decidió: revisión por una persona, porque falta información esencial;</a:t>
            </a:r>
          </a:p>
          <a:p>
            <a:r>
              <a:t>- y qué guardrail lo provocó.</a:t>
            </a:r>
          </a:p>
          <a:p/>
          <a:p>
            <a:r>
              <a:t>Esto es lo que permite cumplir el derecho a una explicación del RGPD, y lo que da confianza a los equipos que trabajan con el agente.</a:t>
            </a:r>
          </a:p>
          <a:p/>
          <a:p>
            <a:r>
              <a:t>A remarcar: la explicación es la propia frase del cliente y la regla aplicada, no una justificación generada a posteriori.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Leer de arriba abajo: qué llegó, qué hizo cada agente, la decisión con su motivo y el guardrail G-05 que la provocó.</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explicabilidad se apoya en el propio texto del cliente. El modelo devuelve citas literales y el navegador comprueba que están en el mensaje antes de resaltarlas.</a:t>
            </a:r>
          </a:p>
          <a:p/>
          <a:p>
            <a:r>
              <a:t>Nunca se piden posiciones al modelo, porque los modelos cuentan mal los caracteres. Y si una cita no aparece, se marca como no localizada.</a:t>
            </a:r>
          </a:p>
          <a:p/>
          <a:p>
            <a:r>
              <a:t>A remarcar: si el cliente pregunta por qué, la respuesta es su propia frase.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Pasar el ratón por una evidencia: el título cambia a su tipo. Señalar la regla A5 en rojo: la frase «fractura de clavícula y dos costillas» es la que lo frena.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tenemos dos capacidades.</a:t>
            </a:r>
          </a:p>
          <a:p/>
          <a:p>
            <a:r>
              <a:t>La primera es el razonamiento registrado. Para cada agente vemos qué recibió, qué pasos siguió y qué devolvió. Ojo: no es el pensamiento interno del modelo. Es un registro estructurado que cada agente devuelve junto con su respuesta.</a:t>
            </a:r>
          </a:p>
          <a:p/>
          <a:p>
            <a:r>
              <a:t>La segunda es el replay. Permite volver a ejecutar cualquier decisión pasada:</a:t>
            </a:r>
          </a:p>
          <a:p/>
          <a:p>
            <a:r>
              <a:t>- En modo idéntico, para comprobar que el agente sigue decidiendo igual.</a:t>
            </a:r>
          </a:p>
          <a:p>
            <a:r>
              <a:t>- En modo «¿y si…?», cambiando el modelo o el prompt.</a:t>
            </a:r>
          </a:p>
          <a:p/>
          <a:p>
            <a:r>
              <a:t>En el ejemplo probamos un modelo más pequeño en el agente de Reglas. La decisión no cambia, y el coste baja más de un 80 %. Con esto hay una base objetiva para aprobar el cambio.</a:t>
            </a:r>
          </a:p>
          <a:p/>
          <a:p>
            <a:r>
              <a:t>A remarcar: el replay convierte un cambio de modelo, que suele dar miedo, en una decisión con datos.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que no es el pensamiento interno del modelo, sino el registro estructurado que devuelve cada agente.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el resultado: misma decisión y mismo ramo, −82 % de coste y −41 % de latencia.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Cuando un agente se equivoca, la reacción habitual es decir «el modelo ha fallado». Casi nunca es así.</a:t>
            </a:r>
          </a:p>
          <a:p/>
          <a:p>
            <a:r>
              <a:t>Gracias a la traza podemos saber exactamente dónde estuvo el problema. Puede que:</a:t>
            </a:r>
          </a:p>
          <a:p/>
          <a:p>
            <a:r>
              <a:t>- el agente entendiera mal la petición;</a:t>
            </a:r>
          </a:p>
          <a:p>
            <a:r>
              <a:t>- le llegara información incorrecta o desactualizada;</a:t>
            </a:r>
          </a:p>
          <a:p>
            <a:r>
              <a:t>- las reglas no contemplaran ese caso;</a:t>
            </a:r>
          </a:p>
          <a:p>
            <a:r>
              <a:t>- hubiera un fallo de integración;</a:t>
            </a:r>
          </a:p>
          <a:p>
            <a:r>
              <a:t>- o simplemente tuviera más autonomía de la que debía para ese tipo de caso.</a:t>
            </a:r>
          </a:p>
          <a:p/>
          <a:p>
            <a:r>
              <a:t>Cada causa tiene una solución distinta. Sin la traza, solo nos quedaría cambiar de modelo y cruzar los dedos.</a:t>
            </a:r>
          </a:p>
          <a:p/>
          <a:p>
            <a:r>
              <a:t>A remarcar: cada interacción es una unidad de análisis; pasamos de reaccionar a incidencias a mejorar con evidencia.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agente tiene una ficha, igual que un empleado tiene un puesto con funciones y permisos.</a:t>
            </a:r>
          </a:p>
          <a:p/>
          <a:p>
            <a:r>
              <a:t>En la ficha se ve:</a:t>
            </a:r>
          </a:p>
          <a:p/>
          <a:p>
            <a:r>
              <a:t>- con qué identidad accede a los sistemas;</a:t>
            </a:r>
          </a:p>
          <a:p>
            <a:r>
              <a:t>- quién es su responsable;</a:t>
            </a:r>
          </a:p>
          <a:p>
            <a:r>
              <a:t>- qué datos trata y en qué región se procesan;</a:t>
            </a:r>
          </a:p>
          <a:p>
            <a:r>
              <a:t>- y, sobre todo, qué puede hacer y qué no.</a:t>
            </a:r>
          </a:p>
          <a:p/>
          <a:p>
            <a:r>
              <a:t>En el ejemplo, el agente de Reglas puede consultar la póliza y proponer una decisión. No puede ordenar pagos, ni rechazar un siniestro, ni modificar el expediente.</a:t>
            </a:r>
          </a:p>
          <a:p/>
          <a:p>
            <a:r>
              <a:t>Debajo, el histórico: cada cambio de nivel, de modelo o de prompt, con su motivo y quién lo aprobó. Y en la misma ficha, su calidad: un índice en un círculo de porcentaje, con el color del semáforo, que resume si acierta, si explica y con cuánta confianza decide.</a:t>
            </a:r>
          </a:p>
          <a:p/>
          <a:p>
            <a:r>
              <a:t>A remarcar: un agente con permisos de más es el riesgo de seguridad más fácil de evitar.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las columnas «Puede» y «No puede»: propone y consulta la póliza, pero no ordena pagos ni rechaza un siniestro.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el círculo del 98 %: media de acierto, confianza y evidencias. El sobrecoste de Reglas no es de calidad; se corrige en Medidas correctivas.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todos los agentes tienen que tener la misma libertad. La autonomía se fija agente a agente, en cuatro niveles: desde manual, donde el agente solo sugiere, hasta autónomo, donde decide y ejecuta y solo se revisa después.</a:t>
            </a:r>
          </a:p>
          <a:p/>
          <a:p>
            <a:r>
              <a:t>Lo importante es que el nivel no es una decisión de una vez. Se revisa con datos:</a:t>
            </a:r>
          </a:p>
          <a:p/>
          <a:p>
            <a:r>
              <a:t>- El agente de Reglas empezó en L0, con una persona confirmando cada decisión.</a:t>
            </a:r>
          </a:p>
          <a:p>
            <a:r>
              <a:t>- Subió a L2 y tuvo que volver a L1 tras aprobar importes altos que no debía; de ahí nació el guardrail de importe.</a:t>
            </a:r>
          </a:p>
          <a:p>
            <a:r>
              <a:t>- Después subió a L2 y a L3 a medida que demostraba que coincidía con las personas.</a:t>
            </a:r>
          </a:p>
          <a:p>
            <a:r>
              <a:t>- Cuando la tasa de correcciones humanas pasó del 3 % en una semana, volvió a L2.</a:t>
            </a:r>
          </a:p>
          <a:p/>
          <a:p>
            <a:r>
              <a:t>En la captura de arriba está el registro de esa última bajada: el motivo, quién la aprobó, cómo estaba configurado el agente en ese momento y que el cambio es reversible. Abajo, la evolución completa del nivel, con cada subida en verde y cada bajada en rojo.</a:t>
            </a:r>
          </a:p>
          <a:p/>
          <a:p>
            <a:r>
              <a:t>A remarcar: la autonomía es un resultado gobernado, nunca una decisión implícita.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el motivo (override del 4,1 %), quién lo aprobó, que es reversible y el motivo marcado como «disparó la bajada».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Recorrer el gráfico: subidas en verde y bajadas en rojo. La autonomía se gana y se pierde con datos.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se decide si un agente merece más autonomía? Con una puntuación de confianza que se recalcula de forma continua.</a:t>
            </a:r>
          </a:p>
          <a:p/>
          <a:p>
            <a:r>
              <a:t>Esa puntuación se alimenta de tres tipos de validación:</a:t>
            </a:r>
          </a:p>
          <a:p/>
          <a:p>
            <a:r>
              <a:t>- La humana, que al principio es obligatoria y sirve para construir la línea base.</a:t>
            </a:r>
          </a:p>
          <a:p>
            <a:r>
              <a:t>- La validación por resultado: no basta con que la respuesta pareciera correcta, hay que ver si el caso se reabrió, si hubo que rehacer el trabajo o si alguien la corrigió.</a:t>
            </a:r>
          </a:p>
          <a:p>
            <a:r>
              <a:t>- Y la validación por evidencia: si la respuesta se apoyaba en fuentes válidas.</a:t>
            </a:r>
          </a:p>
          <a:p/>
          <a:p>
            <a:r>
              <a:t>Con esa puntuación, la intervención humana se ajusta sola: obligatoria cuando la confianza es baja, selectiva cuando es media y solo de supervisión cuando es alta.</a:t>
            </a:r>
          </a:p>
          <a:p/>
          <a:p>
            <a:r>
              <a:t>En la captura se ve la materia prima de esa puntuación para el agente de Reglas: semana a semana, su precisión sube, y los escalados y las correcciones humanas bajan. Las dos últimas filas son los días en que pasó a un modelo más barato por superar su límite de coste: el coste por mensaje baja de 0,0110 € a 0,0020 € y la precisión cae del 98,8 % al 97,6 %.</a:t>
            </a:r>
          </a:p>
          <a:p/>
          <a:p>
            <a:r>
              <a:t>A remarcar: el Trust Score no mide la inteligencia del modelo; mide cuánto nos podemos fiar de él en este proceso concreto.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cómo sube la precisión y bajan los escalados semana a semana, el pico de override del 4,1 % el 15/09 y las filas de gpt-5-mini (degradado por coste).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guardrails deciden cuándo escala un agente. Esta sección enseña qué hace después la persona que recibe el caso.</a:t>
            </a:r>
          </a:p>
          <a:p/>
          <a:p>
            <a:r>
              <a:t>En el periodo se escalaron 3.180 decisiones, el 19 % de los mensajes. Las personas cambiaron la decisión del agente en el 2,1 % de los casos y tardaron una mediana de 14 minutos en revisarlos.</a:t>
            </a:r>
          </a:p>
          <a:p/>
          <a:p>
            <a:r>
              <a:t>Lo más útil está abajo: el tiempo que tarda cada tramitador. El TJUE dejó claro en el caso SCHUFA que firmar sin revisar no cuenta como intervención humana a efectos del RGPD art. 22. Por eso medimos las aprobaciones de menos de 30 segundos: son el 3,3 % y el máximo es el 5 %. Pero tres tramitadores lo superan, y dos de ellos son los nuevos, que aún no tienen la formación en IA: el 9 % y el 14 % de sus aprobaciones son exprés.</a:t>
            </a:r>
          </a:p>
          <a:p/>
          <a:p>
            <a:r>
              <a:t>A remarcar: con estos datos, la supervisión humana se puede demostrar ante un auditor.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los cinco KPIs (3.180 escalados, 2,1 % de override, 2 pendientes, 3,3 % de revisiones exprés y el control del AI Act art. 14 cubierto) y la cola con su estado y su motivo.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la barra roja de menos de 30 s (105 revisiones) y los tres tramitadores en rojo: A. Ruiz con el 11 % y los dos sin formación, I. Soler y D. Rey, con el 9 % y el 14 %.</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guardrails son las condiciones que limitan lo que un agente puede hacer solo. Si se cumple la condición, el agente no decide: escala a una persona, cambia de modelo o marca el caso.</a:t>
            </a:r>
          </a:p>
          <a:p/>
          <a:p>
            <a:r>
              <a:t>Hay varios tipos:</a:t>
            </a:r>
          </a:p>
          <a:p/>
          <a:p>
            <a:r>
              <a:t>- de confianza;</a:t>
            </a:r>
          </a:p>
          <a:p>
            <a:r>
              <a:t>- de importe o impacto;</a:t>
            </a:r>
          </a:p>
          <a:p>
            <a:r>
              <a:t>- de coherencia entre agentes;</a:t>
            </a:r>
          </a:p>
          <a:p>
            <a:r>
              <a:t>- de casos sensibles;</a:t>
            </a:r>
          </a:p>
          <a:p>
            <a:r>
              <a:t>- de datos que faltan;</a:t>
            </a:r>
          </a:p>
          <a:p>
            <a:r>
              <a:t>- de coste;</a:t>
            </a:r>
          </a:p>
          <a:p>
            <a:r>
              <a:t>- y de formato.</a:t>
            </a:r>
          </a:p>
          <a:p/>
          <a:p>
            <a:r>
              <a:t>Cada guardrail tiene su propia ficha. En la captura, el guardrail de importe:</a:t>
            </a:r>
          </a:p>
          <a:p/>
          <a:p>
            <a:r>
              <a:t>- se ha disparado 118 veces en dos semanas, unas ocho al día;</a:t>
            </a:r>
          </a:p>
          <a:p>
            <a:r>
              <a:t>- explica un tercio de los escalados por guardrail;</a:t>
            </a:r>
          </a:p>
          <a:p>
            <a:r>
              <a:t>- después del disparo, la persona cambia la decisión en un 3 % de los casos;</a:t>
            </a:r>
          </a:p>
          <a:p>
            <a:r>
              <a:t>- y la resolución humana tarda una mediana de 14 minutos.</a:t>
            </a:r>
          </a:p>
          <a:p/>
          <a:p>
            <a:r>
              <a:t>Además vemos en qué días, por qué canal y en qué ramo se dispara. Cada guardrail se puede activar o desactivar, y cada cambio queda en el histórico. Los de importe y lesionados explican la mayoría de los escalados, y eso es lo esperado: son decisiones que no queremos que tome una máquina.</a:t>
            </a:r>
          </a:p>
          <a:p/>
          <a:p>
            <a:r>
              <a:t>A remarcar: un guardrail que no se dispara nunca sobra, y uno que se dispara siempre indica que el agente no está listo.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los KPIs (118 disparos, 33 % de los escalados, 14 min de resolución humana) y la distribución por canal y ramo.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Cualquier sistema crítico necesita un botón de parada. Aquí cada agente tiene el suyo. Si un agente empieza a comportarse mal, se pausa desde el panel, y los casos que dependen de él se quedan en cola. No se pierde ninguno.</a:t>
            </a:r>
          </a:p>
          <a:p/>
          <a:p>
            <a:r>
              <a:t>Además, la plataforma está preparada para los fallos del proveedor del modelo:</a:t>
            </a:r>
          </a:p>
          <a:p/>
          <a:p>
            <a:r>
              <a:t>- si el proveedor está saturado, reintenta con espera creciente;</a:t>
            </a:r>
          </a:p>
          <a:p>
            <a:r>
              <a:t>- si se llega al límite de coste, pasa a un modelo más barato;</a:t>
            </a:r>
          </a:p>
          <a:p>
            <a:r>
              <a:t>- y si el modelo devuelve respuestas inválidas, pasa a un motor alternativo y marca el caso para revisión.</a:t>
            </a:r>
          </a:p>
          <a:p/>
          <a:p>
            <a:r>
              <a:t>Esto es lo que piden DORA y el AI Act cuando hablan de resiliencia y de capacidad de interrumpir el sistema.</a:t>
            </a:r>
          </a:p>
          <a:p/>
          <a:p>
            <a:r>
              <a:t>A remarcar: poder parar un agente sin parar el negocio es un requisito, no un extra.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el interruptor de cada agente y el estado «Degradado» del agente de Reglas.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agente puede estar perfecto y aun así equivocarse, porque el conocimiento que consulta se ha degradado: documentos obsoletos, duplicados, un índice que crece sin control.</a:t>
            </a:r>
          </a:p>
          <a:p/>
          <a:p>
            <a:r>
              <a:t>En el ejemplo, alguien sincronizó 340 condicionados de 2024 y el recall cayó seis puntos. La comparativa muestra que un filtro de vigencia lo arregla.</a:t>
            </a:r>
          </a:p>
          <a:p/>
          <a:p>
            <a:r>
              <a:t>A remarcar: el conocimiento se vigila igual que los agentes, con métricas, umbrales y versiones.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las tres degradadas y la crítica: la red de talleres lleva nueve días sin sincronizar.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que el filtro de vigencia devuelve el recall a 0,88: 340 documentos de 2024 competían con los de 2026.</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rúbricas son un activo más, versionado y con responsable. Cada una tiene sus criterios con peso y un juego de preguntas de referencia.</a:t>
            </a:r>
          </a:p>
          <a:p/>
          <a:p>
            <a:r>
              <a:t>Se ejecutan cada noche, en cada reindexado y en cada cambio de configuración. Si una base empeora, no se publica: es una puerta de calidad.</a:t>
            </a:r>
          </a:p>
          <a:p/>
          <a:p>
            <a:r>
              <a:t>A remarcar: si el juez y las personas dejan de coincidir, la evaluación deja de ser fiable, y el panel lo dice.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que cada guardado crea una versión nueva y que la rúbrica se ejecuta en cada reindexado: si empeora, no se publica.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coste de un agente es variable: depende de cuántos casos llegan, de lo largos que son y de cuánto tiene que razonar el modelo. Por eso hay que controlarlo en tiempo real.</a:t>
            </a:r>
          </a:p>
          <a:p/>
          <a:p>
            <a:r>
              <a:t>Los caps son límites de gasto a varios niveles: global, por agente, por caso e incluso por tokens de razonamiento. Al 80 % avisan y al 100 % actúan.</a:t>
            </a:r>
          </a:p>
          <a:p/>
          <a:p>
            <a:r>
              <a:t>Arriba, la ficha de un cap concreto, el del coste diario del agente de Reglas:</a:t>
            </a:r>
          </a:p>
          <a:p/>
          <a:p>
            <a:r>
              <a:t>- hoy está al 114 % de su límite;</a:t>
            </a:r>
          </a:p>
          <a:p>
            <a:r>
              <a:t>- en el gráfico se ve cómo ha ido acercándose al límite en los últimos días;</a:t>
            </a:r>
          </a:p>
          <a:p>
            <a:r>
              <a:t>- y al superarlo, el guardrail vinculado ha pasado el agente a un modelo más barato, sin parar el proceso.</a:t>
            </a:r>
          </a:p>
          <a:p/>
          <a:p>
            <a:r>
              <a:t>Abajo, la vista del mes: llevamos el 59 % del presupuesto y, al ritmo actual, cerraremos por debajo del límite.</a:t>
            </a:r>
          </a:p>
          <a:p/>
          <a:p>
            <a:r>
              <a:t>A remarcar: sabemos lo que cuesta cada decisión, no solo lo que cuesta el mes.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el medidor al 114 % y la barra roja de hoy, por encima del límite; a la derecha, el guardrail G-07 que actuó.</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que llevamos el 59 % del cap mensual y la proyección de cierre (428 € frente a 500 €).</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alerta sin acción solo genera ruido. Por eso aquí cada alerta de coste llega con propuestas concretas.</a:t>
            </a:r>
          </a:p>
          <a:p/>
          <a:p>
            <a:r>
              <a:t>Arriba, las alertas de coste. Cada tarjeta dice qué pasó y cuándo, qué cap la disparó, qué hizo el cap por su cuenta y qué acción sugiere la plataforma, con su ahorro y un botón para aplicarla o deshacerla.</a:t>
            </a:r>
          </a:p>
          <a:p/>
          <a:p>
            <a:r>
              <a:t>Abajo, las acciones que propone la plataforma para el cap del agente de Reglas. Hay tres tipos:</a:t>
            </a:r>
          </a:p>
          <a:p/>
          <a:p>
            <a:r>
              <a:t>- Las automáticas, que ya ha aplicado un guardrail: el agente sigue funcionando con un modelo más barato.</a:t>
            </a:r>
          </a:p>
          <a:p>
            <a:r>
              <a:t>- Las que se pueden simular con replay antes de aplicarlas, con su ahorro estimado.</a:t>
            </a:r>
          </a:p>
          <a:p>
            <a:r>
              <a:t>- Y las que cambian el presupuesto, que no se aplican sin la aprobación del comité.</a:t>
            </a:r>
          </a:p>
          <a:p/>
          <a:p>
            <a:r>
              <a:t>Todo lo que se aplica queda en el histórico.</a:t>
            </a:r>
          </a:p>
          <a:p/>
          <a:p>
            <a:r>
              <a:t>A remarcar: la plataforma propone, pero los cambios de presupuesto los aprueba una persona.</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Recorrer la primera tarjeta: CAP-03 superado (13,7 € / 12 €), el cap ya degradó el modelo y la sugerida ahorra 7,9 € al día.</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Recorrer los tres tipos de acción y su ahorro estimado; el cambio de presupuesto requiere aprobación del comité.</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responde a una pregunta muy concreta: ¿qué modelo uso para cada agente?</a:t>
            </a:r>
          </a:p>
          <a:p/>
          <a:p>
            <a:r>
              <a:t>Para cada modelo vemos qué agentes lo usan, cuántas llamadas hace, cuántos tokens consume y cuánto cuesta. Y también su calidad: si devuelve respuestas válidas, si necesita reintentos, si es estable en el replay.</a:t>
            </a:r>
          </a:p>
          <a:p/>
          <a:p>
            <a:r>
              <a:t>En el ejemplo, el agente de Reglas, con el modelo grande, se lleva el 80 % del coste. Es el candidato obvio a optimizar. Y con el replay que vimos antes podemos hacerlo sin riesgo.</a:t>
            </a:r>
          </a:p>
          <a:p/>
          <a:p>
            <a:r>
              <a:t>A remarcar: el ahorro sale de elegir bien el modelo para cada tarea, no de usar siempre el más barato.</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que gpt-5 concentra el 80 % del coste y lo usa un solo agente: es el candidato a optimizar.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Cambiar un límite o una regla de un agente tiene consecuencias. Si pongo un límite de coste demasiado bajo, paro el negocio. Si pongo un guardrail demasiado estricto, lleno de trabajo a los equipos.</a:t>
            </a:r>
          </a:p>
          <a:p/>
          <a:p>
            <a:r>
              <a:t>Por eso cada cambio se simula antes:</a:t>
            </a:r>
          </a:p>
          <a:p/>
          <a:p>
            <a:r>
              <a:t>- Al crear un cap, la plataforma calcula cómo habría funcionado en las dos últimas semanas y avisa si ya existe otro parecido.</a:t>
            </a:r>
          </a:p>
          <a:p>
            <a:r>
              <a:t>- Al crear un guardrail, estima cuántas veces se dispararía y cuántos casos más pasarían a una persona. En el ejemplo, unos 47 en dos semanas.</a:t>
            </a:r>
          </a:p>
          <a:p>
            <a:r>
              <a:t>- Y para cambiar de modelo o de prompt, tenemos el replay que vimos antes.</a:t>
            </a:r>
          </a:p>
          <a:p/>
          <a:p>
            <a:r>
              <a:t>A remarcar: el gobierno no es solo vigilar; es poder cambiar con seguridad.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la vista previa: cuántas veces se habría superado en 14 días y el aviso de que ya existe CAP-01.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el impacto estimado: unos 47 disparos en 14 días y el 0,28 % de los mensajes pasaría a una persona.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 los problemas no basta: hay que arreglarlos. Esta sección reúne en una sola lista de trabajo todo lo que el resto del panel ha detectado: caps superados, knowledge bases degradadas, controles de cumplimiento en ámbar, overrides y caídas del proveedor.</a:t>
            </a:r>
          </a:p>
          <a:p/>
          <a:p>
            <a:r>
              <a:t>Cada problema trae sus alternativas, no una sola receta: cambiar de modelo, cambiar el prompt o subir el límite. Cada alternativa dice cuánto mejora, qué efecto secundario tiene, cuánto esfuerzo cuesta, quién la aprueba y cómo se valida antes con un replay o una vista previa.</a:t>
            </a:r>
          </a:p>
          <a:p/>
          <a:p>
            <a:r>
              <a:t>La lista se ordena por prioridad: severidad por impacto, dividido por el esfuerzo. Arriba quedan las victorias rápidas.</a:t>
            </a:r>
          </a:p>
          <a:p/>
          <a:p>
            <a:r>
              <a:t>Al aplicar las medidas de coste, el KPI de ahorro conseguido sube: en el ejemplo, 237 € al mes con la primera y 41 € más pendientes de aprobación del Comité IA. Al marcar una medida como verificada, el termómetro de cumplimiento se actualiza.</a:t>
            </a:r>
          </a:p>
          <a:p/>
          <a:p>
            <a:r>
              <a:t>A remarcar: el gobierno se cierra cuando el problema detectado tiene dueño, alternativa y verificación.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M-01 arriba del todo, con su alternativa recomendada, y el círculo del termómetro: cambia al verificar medidas.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Comparar las tres alternativas: modelo pequeño (−237 €/mes), prompt con menos razonamiento (−96 €/mes) o subir el cap, que no ahorra y necesita al Comité IA.</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Pulsar «Aplicar» en M-01 y «Solicitar aprobación» en M-02: el ahorro sube y la barra avanza; lo pendiente se suma al verificar.</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 lo que hemos visto deja rastro en un único libro de registro.</a:t>
            </a:r>
          </a:p>
          <a:p/>
          <a:p>
            <a:r>
              <a:t>Aquí aparece:</a:t>
            </a:r>
          </a:p>
          <a:p/>
          <a:p>
            <a:r>
              <a:t>- cada corrección humana;</a:t>
            </a:r>
          </a:p>
          <a:p>
            <a:r>
              <a:t>- cada incidente con el proveedor;</a:t>
            </a:r>
          </a:p>
          <a:p>
            <a:r>
              <a:t>- cada cap superado;</a:t>
            </a:r>
          </a:p>
          <a:p>
            <a:r>
              <a:t>- cada replay;</a:t>
            </a:r>
          </a:p>
          <a:p>
            <a:r>
              <a:t>- cada cambio de nivel de autonomía, de modelo o de prompt.</a:t>
            </a:r>
          </a:p>
          <a:p/>
          <a:p>
            <a:r>
              <a:t>Siempre con fecha, agente, motivo y responsable. Incluso las acciones que se hacen en directo, como pausar un agente o apagar un guardrail.</a:t>
            </a:r>
          </a:p>
          <a:p/>
          <a:p>
            <a:r>
              <a:t>Cuando llega un auditor, no hay que preparar nada: la evidencia ya está.</a:t>
            </a:r>
          </a:p>
          <a:p/>
          <a:p>
            <a:r>
              <a:t>A remarcar: el registro se genera solo como parte de la operación, no es un trabajo adicional del equipo.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los filtros por tipo y que cada evento lleva agente y responsable, incluido «Sistema».</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cumplimiento no se añade al final. Cada capacidad que hemos visto responde a un artículo concreto.</a:t>
            </a:r>
          </a:p>
          <a:p/>
          <a:p>
            <a:r>
              <a:t>En el propio panel, cada bloque lleva una etiqueta con la norma que lo respalda. Al pasar el ratón por encima explica qué pide el artículo y si ya está en vigor o solo será exigible a los sistemas de alto riesgo a partir de 2027.</a:t>
            </a:r>
          </a:p>
          <a:p/>
          <a:p>
            <a:r>
              <a:t>Así, el equipo de compliance no tiene que traducir entre lo técnico y lo legal: la correspondencia ya está hecha.</a:t>
            </a:r>
          </a:p>
          <a:p/>
          <a:p>
            <a:r>
              <a:t>A remarcar: compliance por defecto significa que cumplir no cuesta trabajo extra, porque lo hace la propia plataforma.</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Leer el texto de la etiqueta: AI Act art. 12, registro automático de eventos, exigible a alto riesgo desde el 02/12/2027; aquí se aplica como buena práctica.</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respuesta cruda del modelo para un menor que llega a urgencias. Debajo, la plataforma añade el bloque de gobierno: los datos personales detectados y cómo se guardan, por qué es Salud y no Auto ni Hogar, el sello de la traza y cuánto tiempo se conserva.</a:t>
            </a:r>
          </a:p>
          <a:p/>
          <a:p>
            <a:r>
              <a:t>Nada de esto lo genera el modelo. Se calcula de forma determinista y se puede recalcular en cualquier momento.</a:t>
            </a:r>
          </a:p>
          <a:p/>
          <a:p>
            <a:r>
              <a:t>A remarcar: el modelo no se autocertifica.</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que el bloque lo añade la plataforma, no el modelo, y que cada parte lleva su norma: AI Act art. 12, RGPD art. 9 y 22.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no necesita saber cómo se llama el asegurado ni su DNI para decidir si un siniestro se aprueba. Por eso, antes de enviarle el mensaje, la plataforma cambia cada dato personal por un marcador: persona 1, teléfono 1, póliza de Auto 1.</a:t>
            </a:r>
          </a:p>
          <a:p/>
          <a:p>
            <a:r>
              <a:t>Lo que sí se mantiene son los datos de salud y la edad de los menores, porque hacen falta para decidir.</a:t>
            </a:r>
          </a:p>
          <a:p/>
          <a:p>
            <a:r>
              <a:t>Cuando vuelve la respuesta, la plataforma pone los valores reales en su sitio y el tramitador ve la ficha de siempre. La tabla de correspondencias solo existe en memoria durante la llamada: no viaja al modelo ni se guarda en la traza.</a:t>
            </a:r>
          </a:p>
          <a:p/>
          <a:p>
            <a:r>
              <a:t>En la traza queda la prueba: cuántos datos se sustituyeron, de qué tipo, y el hash del texto que se envió. Y el control de minimización del termómetro pasa a verde.</a:t>
            </a:r>
          </a:p>
          <a:p/>
          <a:p>
            <a:r>
              <a:t>A remarcar: minimizar no es una política en un documento; es lo que el modelo recibe de verdad.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[PERSONA_2] y [POLIZA_AU_1] y, a la vez, que «fractura de clavícula» y «diabético» siguen: hacen falta para decidir.</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termómetro agrega los bloques de gobierno de todas las trazas. Cada control dice qué exige la norma, cómo lo resuelve la solución y la medida en vivo.</a:t>
            </a:r>
          </a:p>
          <a:p/>
          <a:p>
            <a:r>
              <a:t>Hay controles en ámbar, y eso es bueno: el panel no maquilla. La minimización, por ejemplo, está en ámbar en el histórico de la demo, porque entonces el texto llegaba completo al modelo; con la seudonimización que acabamos de ver, las trazas de la sesión la ponen en verde.</a:t>
            </a:r>
          </a:p>
          <a:p/>
          <a:p>
            <a:r>
              <a:t>A remarcar: no sustituye al DPO; le da la evidencia que necesita, recalculada con cada traza.</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los controles en ámbar: minimización, EIPD pendiente y aviso de IA en WhatsApp. Un 100 % no sería creíble.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el inventario de datos personales y su valor en la traza: nunca el dato en claro.</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hace falta tenerlo todo el primer día. Proponemos un camino en cinco niveles de madurez:</a:t>
            </a:r>
          </a:p>
          <a:p/>
          <a:p>
            <a:r>
              <a:t>- Desplegado: el agente funciona y deja trazas.</a:t>
            </a:r>
          </a:p>
          <a:p>
            <a:r>
              <a:t>- Monitorizado: detectamos desviaciones y controlamos el coste.</a:t>
            </a:r>
          </a:p>
          <a:p>
            <a:r>
              <a:t>- Gobernado: cada cambio de prompt o de modelo se versiona, se valida y se prueba antes de desplegarlo.</a:t>
            </a:r>
          </a:p>
          <a:p>
            <a:r>
              <a:t>- Optimizado: ajustamos con datos reales el equilibrio entre coste y calidad.</a:t>
            </a:r>
          </a:p>
          <a:p>
            <a:r>
              <a:t>- Y mejora continua asistida: las correcciones de las personas alimentan la evolución del agente, siempre bajo control.</a:t>
            </a:r>
          </a:p>
          <a:p/>
          <a:p>
            <a:r>
              <a:t>Cada empresa decide hasta dónde llega y a qué ritmo.</a:t>
            </a:r>
          </a:p>
          <a:p/>
          <a:p>
            <a:r>
              <a:t>A remarcar: el nivel 3 es el mínimo razonable para un agente que toma decisiones con impacto en clientes.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juntamos todo lo anterior, aparece una cadena:</a:t>
            </a:r>
          </a:p>
          <a:p/>
          <a:p>
            <a:r>
              <a:t>- Cada interacción deja una traza.</a:t>
            </a:r>
          </a:p>
          <a:p>
            <a:r>
              <a:t>- La traza permite explicar la decisión.</a:t>
            </a:r>
          </a:p>
          <a:p>
            <a:r>
              <a:t>- La explicación, junto con la validación, se convierte en evidencia.</a:t>
            </a:r>
          </a:p>
          <a:p>
            <a:r>
              <a:t>- La evidencia alimenta la puntuación de confianza.</a:t>
            </a:r>
          </a:p>
          <a:p>
            <a:r>
              <a:t>- Y la confianza decide cuánta autonomía tiene el agente.</a:t>
            </a:r>
          </a:p>
          <a:p/>
          <a:p>
            <a:r>
              <a:t>Y alrededor, el ciclo de mejora: observamos, analizamos, ajustamos, validamos con replay y desplegamos.</a:t>
            </a:r>
          </a:p>
          <a:p/>
          <a:p>
            <a:r>
              <a:t>Esto es lo que convierte un chatbot en una plataforma de agentes gobernada.</a:t>
            </a:r>
          </a:p>
          <a:p/>
          <a:p>
            <a:r>
              <a:t>A remarcar: la autonomía no se concede, se demuestra.</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justo reconocer que en el mercado hay buenas herramientas: plataformas de observabilidad de modelos, plataformas de gobierno y riesgo, y un estándar abierto para trazar llamadas a modelos.</a:t>
            </a:r>
          </a:p>
          <a:p/>
          <a:p>
            <a:r>
              <a:t>Lo que falta es unirlas al negocio de cada empresa: a su proceso, a sus reglas, a su contabilidad de costes y a su marco normativo.</a:t>
            </a:r>
          </a:p>
          <a:p/>
          <a:p>
            <a:r>
              <a:t>Eso es lo que aportamos: no una licencia más, sino una forma de implementar agentes que ya viene con la observabilidad y el gobierno integrados.</a:t>
            </a:r>
          </a:p>
          <a:p/>
          <a:p>
            <a:r>
              <a:t>A remarcar: no decir que no existe nada en el mercado. Existen piezas; lo que falta es integrarlas con el negocio.</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os tenéis que quedar con algo, que sea esto:</a:t>
            </a:r>
          </a:p>
          <a:p/>
          <a:p>
            <a:r>
              <a:t>- El problema ya no es tecnológico, es de confianza.</a:t>
            </a:r>
          </a:p>
          <a:p>
            <a:r>
              <a:t>- Un agente puede empeorar sin que nadie toque su código, y eso solo se ve con observabilidad cognitiva.</a:t>
            </a:r>
          </a:p>
          <a:p>
            <a:r>
              <a:t>- La regulación ya exige hoy trazabilidad, explicación y supervisión humana real.</a:t>
            </a:r>
          </a:p>
          <a:p>
            <a:r>
              <a:t>- El gobierno se resuelve con cinco capacidades sobre una capa común a todos los agentes.</a:t>
            </a:r>
          </a:p>
          <a:p>
            <a:r>
              <a:t>- Y la autonomía de un agente no se decide por intuición: se gana y se pierde con datos.</a:t>
            </a:r>
          </a:p>
          <a:p/>
          <a:p>
            <a:r>
              <a:t>A remarcar: volver a las cuatro preguntas del principio y comprobar que todas tienen respuesta.</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Fuentes de las cifras y de la normativa citadas en la presentación.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Rechteck 10">
            <a:extLst>
              <a:ext uri="{FF2B5EF4-FFF2-40B4-BE49-F238E27FC236}">
                <a16:creationId xmlns:a16="http://schemas.microsoft.com/office/drawing/2014/main" id="{77616D71-A116-9CE5-43D9-8D796F2E894C}"/>
              </a:ext>
            </a:extLst>
          </p:cNvPr>
          <p:cNvSpPr/>
          <p:nvPr userDrawn="1"/>
        </p:nvSpPr>
        <p:spPr>
          <a:xfrm>
            <a:off x="0" y="0"/>
            <a:ext cx="12191999" cy="6858000"/>
          </a:xfrm>
          <a:prstGeom prst="rect">
            <a:avLst/>
          </a:prstGeom>
          <a:gradFill flip="none" rotWithShape="1">
            <a:gsLst>
              <a:gs pos="53000">
                <a:srgbClr val="0A2592"/>
              </a:gs>
              <a:gs pos="100000">
                <a:srgbClr val="2250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itle 1">
            <a:extLst>
              <a:ext uri="{FF2B5EF4-FFF2-40B4-BE49-F238E27FC236}">
                <a16:creationId xmlns:a16="http://schemas.microsoft.com/office/drawing/2014/main" id="{78CF1E45-A99B-2BE7-01FE-0DA7EBC90F8C}"/>
              </a:ext>
            </a:extLst>
          </p:cNvPr>
          <p:cNvSpPr>
            <a:spLocks noGrp="1"/>
          </p:cNvSpPr>
          <p:nvPr>
            <p:ph type="ctrTitle" hasCustomPrompt="1"/>
          </p:nvPr>
        </p:nvSpPr>
        <p:spPr>
          <a:xfrm>
            <a:off x="633599" y="2286000"/>
            <a:ext cx="7709211" cy="720000"/>
          </a:xfrm>
          <a:solidFill>
            <a:srgbClr val="FF1414"/>
          </a:solidFill>
        </p:spPr>
        <p:txBody>
          <a:bodyPr anchor="ctr" anchorCtr="0"/>
          <a:lstStyle>
            <a:lvl1pPr algn="l">
              <a:defRPr sz="4200">
                <a:latin typeface="Roboto Slab" pitchFamily="2" charset="0"/>
                <a:ea typeface="Roboto Slab" pitchFamily="2" charset="0"/>
              </a:defRPr>
            </a:lvl1pPr>
          </a:lstStyle>
          <a:p>
            <a:r>
              <a:rPr lang="en-US"/>
              <a:t>Title here</a:t>
            </a:r>
            <a:endParaRPr lang="en-GB"/>
          </a:p>
        </p:txBody>
      </p:sp>
      <p:sp>
        <p:nvSpPr>
          <p:cNvPr id="10" name="Subtitle 2">
            <a:extLst>
              <a:ext uri="{FF2B5EF4-FFF2-40B4-BE49-F238E27FC236}">
                <a16:creationId xmlns:a16="http://schemas.microsoft.com/office/drawing/2014/main" id="{8E9911E9-EAA2-0691-47D0-AB5873D716C1}"/>
              </a:ext>
            </a:extLst>
          </p:cNvPr>
          <p:cNvSpPr>
            <a:spLocks noGrp="1"/>
          </p:cNvSpPr>
          <p:nvPr>
            <p:ph type="subTitle" idx="1"/>
          </p:nvPr>
        </p:nvSpPr>
        <p:spPr>
          <a:xfrm>
            <a:off x="633599" y="3099759"/>
            <a:ext cx="8653861" cy="719034"/>
          </a:xfrm>
          <a:prstGeom prst="rect">
            <a:avLst/>
          </a:prstGeom>
          <a:solidFill>
            <a:srgbClr val="FF1414"/>
          </a:solidFill>
        </p:spPr>
        <p:txBody>
          <a:bodyPr wrap="square" lIns="72000" tIns="36000" rIns="72000" bIns="36000" anchor="ctr" anchorCtr="0">
            <a:spAutoFit/>
          </a:bodyPr>
          <a:lstStyle>
            <a:lvl1pPr marL="0" indent="0" algn="l">
              <a:lnSpc>
                <a:spcPct val="100000"/>
              </a:lnSpc>
              <a:spcAft>
                <a:spcPts val="0"/>
              </a:spcAft>
              <a:buNone/>
              <a:defRPr sz="4200">
                <a:solidFill>
                  <a:schemeClr val="bg1"/>
                </a:solidFill>
                <a:latin typeface="Roboto Slab" pitchFamily="2" charset="0"/>
                <a:ea typeface="Roboto Slab"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1" name="Date Placeholder 3">
            <a:extLst>
              <a:ext uri="{FF2B5EF4-FFF2-40B4-BE49-F238E27FC236}">
                <a16:creationId xmlns:a16="http://schemas.microsoft.com/office/drawing/2014/main" id="{10327276-C6D2-51DD-7433-FF4EC4409AE3}"/>
              </a:ext>
            </a:extLst>
          </p:cNvPr>
          <p:cNvSpPr>
            <a:spLocks noGrp="1"/>
          </p:cNvSpPr>
          <p:nvPr>
            <p:ph type="dt" sz="half" idx="10"/>
          </p:nvPr>
        </p:nvSpPr>
        <p:spPr>
          <a:xfrm>
            <a:off x="633599" y="5167076"/>
            <a:ext cx="2687411" cy="249847"/>
          </a:xfrm>
          <a:prstGeom prst="rect">
            <a:avLst/>
          </a:prstGeom>
        </p:spPr>
        <p:txBody>
          <a:bodyPr lIns="0" tIns="0" rIns="0" bIns="0"/>
          <a:lstStyle>
            <a:lvl1pPr>
              <a:defRPr sz="1200" b="0">
                <a:solidFill>
                  <a:schemeClr val="bg1"/>
                </a:solidFill>
                <a:latin typeface="+mn-lt"/>
                <a:ea typeface="Roboto Slab" pitchFamily="2" charset="0"/>
              </a:defRPr>
            </a:lvl1pPr>
          </a:lstStyle>
          <a:p>
            <a:fld id="{E453CB44-D933-4174-8CBB-ADEE1E6C3E6E}" type="datetime6">
              <a:rPr lang="en-GB" smtClean="0"/>
              <a:pPr/>
              <a:t>March 26</a:t>
            </a:fld>
            <a:endParaRPr lang="en-GB"/>
          </a:p>
        </p:txBody>
      </p:sp>
      <p:pic>
        <p:nvPicPr>
          <p:cNvPr id="15" name="Graphic 14">
            <a:extLst>
              <a:ext uri="{FF2B5EF4-FFF2-40B4-BE49-F238E27FC236}">
                <a16:creationId xmlns:a16="http://schemas.microsoft.com/office/drawing/2014/main" id="{BB148E28-3B35-1678-D418-E6DCE4AAAE9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25436" y="501128"/>
            <a:ext cx="2271188" cy="417321"/>
          </a:xfrm>
          <a:prstGeom prst="rect">
            <a:avLst/>
          </a:prstGeom>
        </p:spPr>
      </p:pic>
    </p:spTree>
    <p:extLst>
      <p:ext uri="{BB962C8B-B14F-4D97-AF65-F5344CB8AC3E}">
        <p14:creationId xmlns:p14="http://schemas.microsoft.com/office/powerpoint/2010/main" val="2376625965"/>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ext -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5" y="2082909"/>
            <a:ext cx="11225170" cy="3626121"/>
          </a:xfrm>
          <a:prstGeom prst="rect">
            <a:avLst/>
          </a:prstGeom>
        </p:spPr>
        <p:txBody>
          <a:bodyPr wrap="square" anchor="ctr">
            <a:spAutoFit/>
          </a:bodyPr>
          <a:lstStyle>
            <a:lvl1pPr marL="358775" indent="-358775" defTabSz="612000">
              <a:lnSpc>
                <a:spcPct val="150000"/>
              </a:lnSpc>
              <a:buClr>
                <a:schemeClr val="accent1"/>
              </a:buClr>
              <a:buSzPct val="80000"/>
              <a:buFont typeface=".Lucida Grande UI Regular"/>
              <a:buChar char="►"/>
              <a:defRPr sz="1400" b="0" i="0">
                <a:solidFill>
                  <a:srgbClr val="595959"/>
                </a:solidFill>
                <a:latin typeface="Montserrat Medium" pitchFamily="2" charset="77"/>
              </a:defRPr>
            </a:lvl1pPr>
            <a:lvl2pPr marL="717550" indent="-358775">
              <a:lnSpc>
                <a:spcPct val="150000"/>
              </a:lnSpc>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pic>
        <p:nvPicPr>
          <p:cNvPr id="10" name="Picture 9">
            <a:extLst>
              <a:ext uri="{FF2B5EF4-FFF2-40B4-BE49-F238E27FC236}">
                <a16:creationId xmlns:a16="http://schemas.microsoft.com/office/drawing/2014/main" id="{BAAF4AA0-F32F-41AD-B30B-8C28E369767D}"/>
              </a:ext>
            </a:extLst>
          </p:cNvPr>
          <p:cNvPicPr/>
          <p:nvPr userDrawn="1"/>
        </p:nvPicPr>
        <p:blipFill>
          <a:blip r:embed="rId2"/>
          <a:srcRect/>
          <a:stretch/>
        </p:blipFill>
        <p:spPr>
          <a:xfrm>
            <a:off x="10119504" y="350702"/>
            <a:ext cx="1589081" cy="296554"/>
          </a:xfrm>
          <a:prstGeom prst="rect">
            <a:avLst/>
          </a:prstGeom>
        </p:spPr>
      </p:pic>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5" y="1308944"/>
            <a:ext cx="11225170" cy="327654"/>
          </a:xfrm>
          <a:prstGeom prst="rect">
            <a:avLst/>
          </a:prstGeom>
        </p:spPr>
        <p:txBody>
          <a:bodyPr wrap="square" anchor="ctr">
            <a:spAutoFit/>
          </a:bodyPr>
          <a:lstStyle>
            <a:lvl1pPr marL="0" indent="-358775" defTabSz="612000">
              <a:lnSpc>
                <a:spcPct val="150000"/>
              </a:lnSpc>
              <a:buClr>
                <a:schemeClr val="accent1"/>
              </a:buClr>
              <a:buSzPct val="80000"/>
              <a:buFont typeface=".Lucida Grande UI Regular"/>
              <a:buNone/>
              <a:defRPr sz="1600" b="1" i="0">
                <a:solidFill>
                  <a:schemeClr val="accent3"/>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sp>
        <p:nvSpPr>
          <p:cNvPr id="13" name="Slide Number Placeholder 5">
            <a:extLst>
              <a:ext uri="{FF2B5EF4-FFF2-40B4-BE49-F238E27FC236}">
                <a16:creationId xmlns:a16="http://schemas.microsoft.com/office/drawing/2014/main" id="{D56C88E4-8019-3498-683D-067216205333}"/>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167252227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ext - Image -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862956"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pic>
        <p:nvPicPr>
          <p:cNvPr id="10" name="Picture 9">
            <a:extLst>
              <a:ext uri="{FF2B5EF4-FFF2-40B4-BE49-F238E27FC236}">
                <a16:creationId xmlns:a16="http://schemas.microsoft.com/office/drawing/2014/main" id="{BAAF4AA0-F32F-41AD-B30B-8C28E369767D}"/>
              </a:ext>
            </a:extLst>
          </p:cNvPr>
          <p:cNvPicPr/>
          <p:nvPr userDrawn="1"/>
        </p:nvPicPr>
        <p:blipFill>
          <a:blip r:embed="rId2"/>
          <a:srcRect/>
          <a:stretch/>
        </p:blipFill>
        <p:spPr>
          <a:xfrm>
            <a:off x="10119504" y="350702"/>
            <a:ext cx="1589081" cy="296554"/>
          </a:xfrm>
          <a:prstGeom prst="rect">
            <a:avLst/>
          </a:prstGeom>
        </p:spPr>
      </p:pic>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accent3"/>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7" name="Slide Number Placeholder 5">
            <a:extLst>
              <a:ext uri="{FF2B5EF4-FFF2-40B4-BE49-F238E27FC236}">
                <a16:creationId xmlns:a16="http://schemas.microsoft.com/office/drawing/2014/main" id="{8A50D26C-7346-F0B6-C7A5-89A430AF2ADB}"/>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sp>
        <p:nvSpPr>
          <p:cNvPr id="12" name="Slide Number Placeholder 5">
            <a:extLst>
              <a:ext uri="{FF2B5EF4-FFF2-40B4-BE49-F238E27FC236}">
                <a16:creationId xmlns:a16="http://schemas.microsoft.com/office/drawing/2014/main" id="{8D152480-EA9A-B2B2-0180-83B2EFCF3D77}"/>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287987644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ext - Hexagon - White 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862956"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pic>
        <p:nvPicPr>
          <p:cNvPr id="10" name="Picture 9">
            <a:extLst>
              <a:ext uri="{FF2B5EF4-FFF2-40B4-BE49-F238E27FC236}">
                <a16:creationId xmlns:a16="http://schemas.microsoft.com/office/drawing/2014/main" id="{BAAF4AA0-F32F-41AD-B30B-8C28E369767D}"/>
              </a:ext>
            </a:extLst>
          </p:cNvPr>
          <p:cNvPicPr/>
          <p:nvPr userDrawn="1"/>
        </p:nvPicPr>
        <p:blipFill>
          <a:blip r:embed="rId2"/>
          <a:srcRect/>
          <a:stretch/>
        </p:blipFill>
        <p:spPr>
          <a:xfrm>
            <a:off x="10119504" y="350702"/>
            <a:ext cx="1589081" cy="296554"/>
          </a:xfrm>
          <a:prstGeom prst="rect">
            <a:avLst/>
          </a:prstGeom>
        </p:spPr>
      </p:pic>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accent3"/>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pic>
        <p:nvPicPr>
          <p:cNvPr id="5" name="Picture 4" descr="Background pattern&#10;&#10;Description automatically generated">
            <a:extLst>
              <a:ext uri="{FF2B5EF4-FFF2-40B4-BE49-F238E27FC236}">
                <a16:creationId xmlns:a16="http://schemas.microsoft.com/office/drawing/2014/main" id="{92B0E136-47FD-6B54-DE6F-1379612009B3}"/>
              </a:ext>
            </a:extLst>
          </p:cNvPr>
          <p:cNvPicPr>
            <a:picLocks noChangeAspect="1"/>
          </p:cNvPicPr>
          <p:nvPr userDrawn="1"/>
        </p:nvPicPr>
        <p:blipFill>
          <a:blip r:embed="rId3"/>
          <a:stretch>
            <a:fillRect/>
          </a:stretch>
        </p:blipFill>
        <p:spPr>
          <a:xfrm>
            <a:off x="7066629" y="1371600"/>
            <a:ext cx="4641956" cy="4638673"/>
          </a:xfrm>
          <a:prstGeom prst="rect">
            <a:avLst/>
          </a:prstGeom>
        </p:spPr>
      </p:pic>
      <p:pic>
        <p:nvPicPr>
          <p:cNvPr id="6" name="Picture 5">
            <a:extLst>
              <a:ext uri="{FF2B5EF4-FFF2-40B4-BE49-F238E27FC236}">
                <a16:creationId xmlns:a16="http://schemas.microsoft.com/office/drawing/2014/main" id="{CD962274-383A-BDCA-CD1C-762307F0832E}"/>
              </a:ext>
            </a:extLst>
          </p:cNvPr>
          <p:cNvPicPr>
            <a:picLocks noChangeAspect="1"/>
          </p:cNvPicPr>
          <p:nvPr userDrawn="1"/>
        </p:nvPicPr>
        <p:blipFill>
          <a:blip r:embed="rId4"/>
          <a:srcRect/>
          <a:stretch/>
        </p:blipFill>
        <p:spPr>
          <a:xfrm>
            <a:off x="7284813" y="1607139"/>
            <a:ext cx="4203028" cy="4165048"/>
          </a:xfrm>
          <a:prstGeom prst="rect">
            <a:avLst/>
          </a:prstGeom>
        </p:spPr>
      </p:pic>
      <p:sp>
        <p:nvSpPr>
          <p:cNvPr id="7" name="Slide Number Placeholder 5">
            <a:extLst>
              <a:ext uri="{FF2B5EF4-FFF2-40B4-BE49-F238E27FC236}">
                <a16:creationId xmlns:a16="http://schemas.microsoft.com/office/drawing/2014/main" id="{8A50D26C-7346-F0B6-C7A5-89A430AF2ADB}"/>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sp>
        <p:nvSpPr>
          <p:cNvPr id="12" name="Slide Number Placeholder 5">
            <a:extLst>
              <a:ext uri="{FF2B5EF4-FFF2-40B4-BE49-F238E27FC236}">
                <a16:creationId xmlns:a16="http://schemas.microsoft.com/office/drawing/2014/main" id="{8D152480-EA9A-B2B2-0180-83B2EFCF3D77}"/>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228127014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Text - Hexagon - White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862956"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pic>
        <p:nvPicPr>
          <p:cNvPr id="10" name="Picture 9">
            <a:extLst>
              <a:ext uri="{FF2B5EF4-FFF2-40B4-BE49-F238E27FC236}">
                <a16:creationId xmlns:a16="http://schemas.microsoft.com/office/drawing/2014/main" id="{BAAF4AA0-F32F-41AD-B30B-8C28E369767D}"/>
              </a:ext>
            </a:extLst>
          </p:cNvPr>
          <p:cNvPicPr/>
          <p:nvPr userDrawn="1"/>
        </p:nvPicPr>
        <p:blipFill>
          <a:blip r:embed="rId2"/>
          <a:srcRect/>
          <a:stretch/>
        </p:blipFill>
        <p:spPr>
          <a:xfrm>
            <a:off x="10119504" y="350702"/>
            <a:ext cx="1589081" cy="296554"/>
          </a:xfrm>
          <a:prstGeom prst="rect">
            <a:avLst/>
          </a:prstGeom>
        </p:spPr>
      </p:pic>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accent3"/>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pic>
        <p:nvPicPr>
          <p:cNvPr id="7" name="Picture 6">
            <a:extLst>
              <a:ext uri="{FF2B5EF4-FFF2-40B4-BE49-F238E27FC236}">
                <a16:creationId xmlns:a16="http://schemas.microsoft.com/office/drawing/2014/main" id="{903657FE-3B2D-84E7-54D1-80F76892BAD9}"/>
              </a:ext>
            </a:extLst>
          </p:cNvPr>
          <p:cNvPicPr>
            <a:picLocks noChangeAspect="1"/>
          </p:cNvPicPr>
          <p:nvPr userDrawn="1"/>
        </p:nvPicPr>
        <p:blipFill>
          <a:blip r:embed="rId3"/>
          <a:srcRect/>
          <a:stretch/>
        </p:blipFill>
        <p:spPr>
          <a:xfrm>
            <a:off x="7066629" y="1371601"/>
            <a:ext cx="4641956" cy="4638671"/>
          </a:xfrm>
          <a:prstGeom prst="rect">
            <a:avLst/>
          </a:prstGeom>
        </p:spPr>
      </p:pic>
      <p:pic>
        <p:nvPicPr>
          <p:cNvPr id="12" name="Picture 11">
            <a:extLst>
              <a:ext uri="{FF2B5EF4-FFF2-40B4-BE49-F238E27FC236}">
                <a16:creationId xmlns:a16="http://schemas.microsoft.com/office/drawing/2014/main" id="{F674F76A-DAB9-3C0E-7A4B-C660B49908F6}"/>
              </a:ext>
            </a:extLst>
          </p:cNvPr>
          <p:cNvPicPr>
            <a:picLocks noChangeAspect="1"/>
          </p:cNvPicPr>
          <p:nvPr userDrawn="1"/>
        </p:nvPicPr>
        <p:blipFill>
          <a:blip r:embed="rId4"/>
          <a:srcRect/>
          <a:stretch/>
        </p:blipFill>
        <p:spPr>
          <a:xfrm>
            <a:off x="7284813" y="1607138"/>
            <a:ext cx="4203028" cy="4165048"/>
          </a:xfrm>
          <a:prstGeom prst="rect">
            <a:avLst/>
          </a:prstGeom>
        </p:spPr>
      </p:pic>
      <p:sp>
        <p:nvSpPr>
          <p:cNvPr id="13" name="Slide Number Placeholder 5">
            <a:extLst>
              <a:ext uri="{FF2B5EF4-FFF2-40B4-BE49-F238E27FC236}">
                <a16:creationId xmlns:a16="http://schemas.microsoft.com/office/drawing/2014/main" id="{160987F2-4C3A-6B51-537F-52E468C11067}"/>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sp>
        <p:nvSpPr>
          <p:cNvPr id="14" name="Slide Number Placeholder 5">
            <a:extLst>
              <a:ext uri="{FF2B5EF4-FFF2-40B4-BE49-F238E27FC236}">
                <a16:creationId xmlns:a16="http://schemas.microsoft.com/office/drawing/2014/main" id="{C2DC93F5-2011-58D4-1782-38651928FE4F}"/>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1316352877"/>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Text 2 columns -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438413"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pic>
        <p:nvPicPr>
          <p:cNvPr id="10" name="Picture 9">
            <a:extLst>
              <a:ext uri="{FF2B5EF4-FFF2-40B4-BE49-F238E27FC236}">
                <a16:creationId xmlns:a16="http://schemas.microsoft.com/office/drawing/2014/main" id="{BAAF4AA0-F32F-41AD-B30B-8C28E369767D}"/>
              </a:ext>
            </a:extLst>
          </p:cNvPr>
          <p:cNvPicPr/>
          <p:nvPr userDrawn="1"/>
        </p:nvPicPr>
        <p:blipFill>
          <a:blip r:embed="rId2"/>
          <a:srcRect/>
          <a:stretch/>
        </p:blipFill>
        <p:spPr>
          <a:xfrm>
            <a:off x="10119504" y="350702"/>
            <a:ext cx="1589081" cy="296554"/>
          </a:xfrm>
          <a:prstGeom prst="rect">
            <a:avLst/>
          </a:prstGeom>
        </p:spPr>
      </p:pic>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accent3"/>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13" name="Content Placeholder 2">
            <a:extLst>
              <a:ext uri="{FF2B5EF4-FFF2-40B4-BE49-F238E27FC236}">
                <a16:creationId xmlns:a16="http://schemas.microsoft.com/office/drawing/2014/main" id="{8018B9B1-C9B0-D3F5-2FF0-F2753A31B9DA}"/>
              </a:ext>
            </a:extLst>
          </p:cNvPr>
          <p:cNvSpPr>
            <a:spLocks noGrp="1"/>
          </p:cNvSpPr>
          <p:nvPr>
            <p:ph idx="11" hasCustomPrompt="1"/>
          </p:nvPr>
        </p:nvSpPr>
        <p:spPr>
          <a:xfrm>
            <a:off x="6274616" y="2082909"/>
            <a:ext cx="5438413"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sp>
        <p:nvSpPr>
          <p:cNvPr id="14" name="Slide Number Placeholder 5">
            <a:extLst>
              <a:ext uri="{FF2B5EF4-FFF2-40B4-BE49-F238E27FC236}">
                <a16:creationId xmlns:a16="http://schemas.microsoft.com/office/drawing/2014/main" id="{51E2588A-F550-C104-3508-8B4A40320581}"/>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sp>
        <p:nvSpPr>
          <p:cNvPr id="15" name="Slide Number Placeholder 5">
            <a:extLst>
              <a:ext uri="{FF2B5EF4-FFF2-40B4-BE49-F238E27FC236}">
                <a16:creationId xmlns:a16="http://schemas.microsoft.com/office/drawing/2014/main" id="{F2D637E3-F841-2D06-46A2-7A75CFC01286}"/>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84732902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xt 3 columns -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3576955"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pic>
        <p:nvPicPr>
          <p:cNvPr id="10" name="Picture 9">
            <a:extLst>
              <a:ext uri="{FF2B5EF4-FFF2-40B4-BE49-F238E27FC236}">
                <a16:creationId xmlns:a16="http://schemas.microsoft.com/office/drawing/2014/main" id="{BAAF4AA0-F32F-41AD-B30B-8C28E369767D}"/>
              </a:ext>
            </a:extLst>
          </p:cNvPr>
          <p:cNvPicPr/>
          <p:nvPr userDrawn="1"/>
        </p:nvPicPr>
        <p:blipFill>
          <a:blip r:embed="rId2"/>
          <a:srcRect/>
          <a:stretch/>
        </p:blipFill>
        <p:spPr>
          <a:xfrm>
            <a:off x="10119504" y="350702"/>
            <a:ext cx="1589081" cy="296554"/>
          </a:xfrm>
          <a:prstGeom prst="rect">
            <a:avLst/>
          </a:prstGeom>
        </p:spPr>
      </p:pic>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accent3"/>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5" name="Content Placeholder 2">
            <a:extLst>
              <a:ext uri="{FF2B5EF4-FFF2-40B4-BE49-F238E27FC236}">
                <a16:creationId xmlns:a16="http://schemas.microsoft.com/office/drawing/2014/main" id="{F6AFB6C2-D330-7E98-CE89-B53228C709D2}"/>
              </a:ext>
            </a:extLst>
          </p:cNvPr>
          <p:cNvSpPr>
            <a:spLocks noGrp="1"/>
          </p:cNvSpPr>
          <p:nvPr>
            <p:ph idx="11" hasCustomPrompt="1"/>
          </p:nvPr>
        </p:nvSpPr>
        <p:spPr>
          <a:xfrm>
            <a:off x="4307522" y="2082909"/>
            <a:ext cx="3576955"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sp>
        <p:nvSpPr>
          <p:cNvPr id="6" name="Content Placeholder 2">
            <a:extLst>
              <a:ext uri="{FF2B5EF4-FFF2-40B4-BE49-F238E27FC236}">
                <a16:creationId xmlns:a16="http://schemas.microsoft.com/office/drawing/2014/main" id="{16343C83-9CCA-D975-BA26-C5F708C4A31E}"/>
              </a:ext>
            </a:extLst>
          </p:cNvPr>
          <p:cNvSpPr>
            <a:spLocks noGrp="1"/>
          </p:cNvSpPr>
          <p:nvPr>
            <p:ph idx="12" hasCustomPrompt="1"/>
          </p:nvPr>
        </p:nvSpPr>
        <p:spPr>
          <a:xfrm>
            <a:off x="8131629" y="2082909"/>
            <a:ext cx="3576955"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sp>
        <p:nvSpPr>
          <p:cNvPr id="7" name="Slide Number Placeholder 5">
            <a:extLst>
              <a:ext uri="{FF2B5EF4-FFF2-40B4-BE49-F238E27FC236}">
                <a16:creationId xmlns:a16="http://schemas.microsoft.com/office/drawing/2014/main" id="{AA9AF041-7FE4-8E72-16FA-B7B093756FED}"/>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sp>
        <p:nvSpPr>
          <p:cNvPr id="12" name="Slide Number Placeholder 5">
            <a:extLst>
              <a:ext uri="{FF2B5EF4-FFF2-40B4-BE49-F238E27FC236}">
                <a16:creationId xmlns:a16="http://schemas.microsoft.com/office/drawing/2014/main" id="{587BA298-B3A7-D63A-01E6-46BA66A37788}"/>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326389306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pic>
        <p:nvPicPr>
          <p:cNvPr id="10" name="Picture 9">
            <a:extLst>
              <a:ext uri="{FF2B5EF4-FFF2-40B4-BE49-F238E27FC236}">
                <a16:creationId xmlns:a16="http://schemas.microsoft.com/office/drawing/2014/main" id="{BAAF4AA0-F32F-41AD-B30B-8C28E369767D}"/>
              </a:ext>
            </a:extLst>
          </p:cNvPr>
          <p:cNvPicPr/>
          <p:nvPr userDrawn="1"/>
        </p:nvPicPr>
        <p:blipFill>
          <a:blip r:embed="rId2"/>
          <a:srcRect/>
          <a:stretch/>
        </p:blipFill>
        <p:spPr>
          <a:xfrm>
            <a:off x="10119504" y="350702"/>
            <a:ext cx="1589081" cy="296554"/>
          </a:xfrm>
          <a:prstGeom prst="rect">
            <a:avLst/>
          </a:prstGeom>
        </p:spPr>
      </p:pic>
      <p:sp>
        <p:nvSpPr>
          <p:cNvPr id="5" name="Slide Number Placeholder 5">
            <a:extLst>
              <a:ext uri="{FF2B5EF4-FFF2-40B4-BE49-F238E27FC236}">
                <a16:creationId xmlns:a16="http://schemas.microsoft.com/office/drawing/2014/main" id="{1CC3A131-478F-7358-5149-4495B2461525}"/>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sp>
        <p:nvSpPr>
          <p:cNvPr id="6" name="Slide Number Placeholder 5">
            <a:extLst>
              <a:ext uri="{FF2B5EF4-FFF2-40B4-BE49-F238E27FC236}">
                <a16:creationId xmlns:a16="http://schemas.microsoft.com/office/drawing/2014/main" id="{F1D60D3F-35DD-669C-4E04-5FD5144AD81A}"/>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2353287362"/>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White">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AAF4AA0-F32F-41AD-B30B-8C28E369767D}"/>
              </a:ext>
            </a:extLst>
          </p:cNvPr>
          <p:cNvPicPr/>
          <p:nvPr userDrawn="1"/>
        </p:nvPicPr>
        <p:blipFill>
          <a:blip r:embed="rId2"/>
          <a:srcRect/>
          <a:stretch/>
        </p:blipFill>
        <p:spPr>
          <a:xfrm>
            <a:off x="10119504" y="350702"/>
            <a:ext cx="1589081" cy="296554"/>
          </a:xfrm>
          <a:prstGeom prst="rect">
            <a:avLst/>
          </a:prstGeom>
        </p:spPr>
      </p:pic>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sp>
        <p:nvSpPr>
          <p:cNvPr id="4" name="Slide Number Placeholder 5">
            <a:extLst>
              <a:ext uri="{FF2B5EF4-FFF2-40B4-BE49-F238E27FC236}">
                <a16:creationId xmlns:a16="http://schemas.microsoft.com/office/drawing/2014/main" id="{96AAC242-D1ED-AF35-63F5-AC46C90D8E3C}"/>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407969309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ext - Blu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F22E43-3178-304A-0F2A-7346B0C0F230}"/>
              </a:ext>
            </a:extLst>
          </p:cNvPr>
          <p:cNvSpPr/>
          <p:nvPr userDrawn="1"/>
        </p:nvSpPr>
        <p:spPr>
          <a:xfrm>
            <a:off x="0" y="0"/>
            <a:ext cx="12192000" cy="6858000"/>
          </a:xfrm>
          <a:prstGeom prst="rect">
            <a:avLst/>
          </a:prstGeom>
          <a:solidFill>
            <a:srgbClr val="194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5" y="2082909"/>
            <a:ext cx="11225169"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5" y="1308944"/>
            <a:ext cx="11225169"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pic>
        <p:nvPicPr>
          <p:cNvPr id="12" name="Picture 11">
            <a:extLst>
              <a:ext uri="{FF2B5EF4-FFF2-40B4-BE49-F238E27FC236}">
                <a16:creationId xmlns:a16="http://schemas.microsoft.com/office/drawing/2014/main" id="{B4399EA1-A44F-DBF5-6A4A-BD0EB3659F8E}"/>
              </a:ext>
            </a:extLst>
          </p:cNvPr>
          <p:cNvPicPr/>
          <p:nvPr userDrawn="1"/>
        </p:nvPicPr>
        <p:blipFill>
          <a:blip r:embed="rId2"/>
          <a:srcRect/>
          <a:stretch/>
        </p:blipFill>
        <p:spPr>
          <a:xfrm>
            <a:off x="10119504" y="350702"/>
            <a:ext cx="1589081" cy="296553"/>
          </a:xfrm>
          <a:prstGeom prst="rect">
            <a:avLst/>
          </a:prstGeom>
        </p:spPr>
      </p:pic>
      <p:sp>
        <p:nvSpPr>
          <p:cNvPr id="13" name="Slide Number Placeholder 5">
            <a:extLst>
              <a:ext uri="{FF2B5EF4-FFF2-40B4-BE49-F238E27FC236}">
                <a16:creationId xmlns:a16="http://schemas.microsoft.com/office/drawing/2014/main" id="{1113B8CD-71DA-B13D-E602-E27556F8DB54}"/>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4" name="Slide Number Placeholder 5">
            <a:extLst>
              <a:ext uri="{FF2B5EF4-FFF2-40B4-BE49-F238E27FC236}">
                <a16:creationId xmlns:a16="http://schemas.microsoft.com/office/drawing/2014/main" id="{E64C5340-AE86-368F-B50D-F1C0D52D6CD4}"/>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41774808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reserve="1">
  <p:cSld name="Text - Image - Blu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F22E43-3178-304A-0F2A-7346B0C0F230}"/>
              </a:ext>
            </a:extLst>
          </p:cNvPr>
          <p:cNvSpPr/>
          <p:nvPr userDrawn="1"/>
        </p:nvSpPr>
        <p:spPr>
          <a:xfrm>
            <a:off x="0" y="0"/>
            <a:ext cx="12192000" cy="6858000"/>
          </a:xfrm>
          <a:prstGeom prst="rect">
            <a:avLst/>
          </a:prstGeom>
          <a:solidFill>
            <a:srgbClr val="194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862956"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13" name="Slide Number Placeholder 5">
            <a:extLst>
              <a:ext uri="{FF2B5EF4-FFF2-40B4-BE49-F238E27FC236}">
                <a16:creationId xmlns:a16="http://schemas.microsoft.com/office/drawing/2014/main" id="{1113B8CD-71DA-B13D-E602-E27556F8DB54}"/>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4" name="Slide Number Placeholder 5">
            <a:extLst>
              <a:ext uri="{FF2B5EF4-FFF2-40B4-BE49-F238E27FC236}">
                <a16:creationId xmlns:a16="http://schemas.microsoft.com/office/drawing/2014/main" id="{E64C5340-AE86-368F-B50D-F1C0D52D6CD4}"/>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425484236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ext - Hexagon - Blue 1">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F22E43-3178-304A-0F2A-7346B0C0F230}"/>
              </a:ext>
            </a:extLst>
          </p:cNvPr>
          <p:cNvSpPr/>
          <p:nvPr userDrawn="1"/>
        </p:nvSpPr>
        <p:spPr>
          <a:xfrm>
            <a:off x="0" y="0"/>
            <a:ext cx="12192000" cy="6858000"/>
          </a:xfrm>
          <a:prstGeom prst="rect">
            <a:avLst/>
          </a:prstGeom>
          <a:solidFill>
            <a:srgbClr val="194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862956"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pic>
        <p:nvPicPr>
          <p:cNvPr id="5" name="Picture 4">
            <a:extLst>
              <a:ext uri="{FF2B5EF4-FFF2-40B4-BE49-F238E27FC236}">
                <a16:creationId xmlns:a16="http://schemas.microsoft.com/office/drawing/2014/main" id="{92B0E136-47FD-6B54-DE6F-1379612009B3}"/>
              </a:ext>
            </a:extLst>
          </p:cNvPr>
          <p:cNvPicPr>
            <a:picLocks noChangeAspect="1"/>
          </p:cNvPicPr>
          <p:nvPr userDrawn="1"/>
        </p:nvPicPr>
        <p:blipFill>
          <a:blip r:embed="rId2"/>
          <a:srcRect/>
          <a:stretch/>
        </p:blipFill>
        <p:spPr>
          <a:xfrm>
            <a:off x="7066629" y="1371601"/>
            <a:ext cx="4641956" cy="4638671"/>
          </a:xfrm>
          <a:prstGeom prst="rect">
            <a:avLst/>
          </a:prstGeom>
        </p:spPr>
      </p:pic>
      <p:pic>
        <p:nvPicPr>
          <p:cNvPr id="6" name="Picture 5">
            <a:extLst>
              <a:ext uri="{FF2B5EF4-FFF2-40B4-BE49-F238E27FC236}">
                <a16:creationId xmlns:a16="http://schemas.microsoft.com/office/drawing/2014/main" id="{CD962274-383A-BDCA-CD1C-762307F0832E}"/>
              </a:ext>
            </a:extLst>
          </p:cNvPr>
          <p:cNvPicPr>
            <a:picLocks noChangeAspect="1"/>
          </p:cNvPicPr>
          <p:nvPr userDrawn="1"/>
        </p:nvPicPr>
        <p:blipFill>
          <a:blip r:embed="rId3"/>
          <a:srcRect/>
          <a:stretch/>
        </p:blipFill>
        <p:spPr>
          <a:xfrm>
            <a:off x="7284813" y="1607139"/>
            <a:ext cx="4203028" cy="4165048"/>
          </a:xfrm>
          <a:prstGeom prst="rect">
            <a:avLst/>
          </a:prstGeom>
        </p:spPr>
      </p:pic>
      <p:pic>
        <p:nvPicPr>
          <p:cNvPr id="12" name="Picture 11">
            <a:extLst>
              <a:ext uri="{FF2B5EF4-FFF2-40B4-BE49-F238E27FC236}">
                <a16:creationId xmlns:a16="http://schemas.microsoft.com/office/drawing/2014/main" id="{B4399EA1-A44F-DBF5-6A4A-BD0EB3659F8E}"/>
              </a:ext>
            </a:extLst>
          </p:cNvPr>
          <p:cNvPicPr/>
          <p:nvPr userDrawn="1"/>
        </p:nvPicPr>
        <p:blipFill>
          <a:blip r:embed="rId4"/>
          <a:srcRect/>
          <a:stretch/>
        </p:blipFill>
        <p:spPr>
          <a:xfrm>
            <a:off x="10119504" y="350702"/>
            <a:ext cx="1589081" cy="296553"/>
          </a:xfrm>
          <a:prstGeom prst="rect">
            <a:avLst/>
          </a:prstGeom>
        </p:spPr>
      </p:pic>
      <p:sp>
        <p:nvSpPr>
          <p:cNvPr id="13" name="Slide Number Placeholder 5">
            <a:extLst>
              <a:ext uri="{FF2B5EF4-FFF2-40B4-BE49-F238E27FC236}">
                <a16:creationId xmlns:a16="http://schemas.microsoft.com/office/drawing/2014/main" id="{1113B8CD-71DA-B13D-E602-E27556F8DB54}"/>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4" name="Slide Number Placeholder 5">
            <a:extLst>
              <a:ext uri="{FF2B5EF4-FFF2-40B4-BE49-F238E27FC236}">
                <a16:creationId xmlns:a16="http://schemas.microsoft.com/office/drawing/2014/main" id="{E64C5340-AE86-368F-B50D-F1C0D52D6CD4}"/>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6527526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ext - Hexagon - Blue 2">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F22E43-3178-304A-0F2A-7346B0C0F230}"/>
              </a:ext>
            </a:extLst>
          </p:cNvPr>
          <p:cNvSpPr/>
          <p:nvPr userDrawn="1"/>
        </p:nvSpPr>
        <p:spPr>
          <a:xfrm>
            <a:off x="0" y="0"/>
            <a:ext cx="12192000" cy="6858000"/>
          </a:xfrm>
          <a:prstGeom prst="rect">
            <a:avLst/>
          </a:prstGeom>
          <a:solidFill>
            <a:srgbClr val="194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862956"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pic>
        <p:nvPicPr>
          <p:cNvPr id="12" name="Picture 11">
            <a:extLst>
              <a:ext uri="{FF2B5EF4-FFF2-40B4-BE49-F238E27FC236}">
                <a16:creationId xmlns:a16="http://schemas.microsoft.com/office/drawing/2014/main" id="{B4399EA1-A44F-DBF5-6A4A-BD0EB3659F8E}"/>
              </a:ext>
            </a:extLst>
          </p:cNvPr>
          <p:cNvPicPr/>
          <p:nvPr userDrawn="1"/>
        </p:nvPicPr>
        <p:blipFill>
          <a:blip r:embed="rId2"/>
          <a:srcRect/>
          <a:stretch/>
        </p:blipFill>
        <p:spPr>
          <a:xfrm>
            <a:off x="10119504" y="350702"/>
            <a:ext cx="1589081" cy="296553"/>
          </a:xfrm>
          <a:prstGeom prst="rect">
            <a:avLst/>
          </a:prstGeom>
        </p:spPr>
      </p:pic>
      <p:pic>
        <p:nvPicPr>
          <p:cNvPr id="10" name="Picture 9">
            <a:extLst>
              <a:ext uri="{FF2B5EF4-FFF2-40B4-BE49-F238E27FC236}">
                <a16:creationId xmlns:a16="http://schemas.microsoft.com/office/drawing/2014/main" id="{DC3BCE5D-A113-417B-0442-62C437D955BC}"/>
              </a:ext>
            </a:extLst>
          </p:cNvPr>
          <p:cNvPicPr>
            <a:picLocks noChangeAspect="1"/>
          </p:cNvPicPr>
          <p:nvPr userDrawn="1"/>
        </p:nvPicPr>
        <p:blipFill>
          <a:blip r:embed="rId3"/>
          <a:srcRect/>
          <a:stretch/>
        </p:blipFill>
        <p:spPr>
          <a:xfrm>
            <a:off x="7066629" y="1371601"/>
            <a:ext cx="4641956" cy="4638671"/>
          </a:xfrm>
          <a:prstGeom prst="rect">
            <a:avLst/>
          </a:prstGeom>
        </p:spPr>
      </p:pic>
      <p:pic>
        <p:nvPicPr>
          <p:cNvPr id="13" name="Picture 12">
            <a:extLst>
              <a:ext uri="{FF2B5EF4-FFF2-40B4-BE49-F238E27FC236}">
                <a16:creationId xmlns:a16="http://schemas.microsoft.com/office/drawing/2014/main" id="{39DE3CBB-C3C3-73CD-72CC-C20ACCC1C42D}"/>
              </a:ext>
            </a:extLst>
          </p:cNvPr>
          <p:cNvPicPr>
            <a:picLocks noChangeAspect="1"/>
          </p:cNvPicPr>
          <p:nvPr userDrawn="1"/>
        </p:nvPicPr>
        <p:blipFill>
          <a:blip r:embed="rId4"/>
          <a:srcRect/>
          <a:stretch/>
        </p:blipFill>
        <p:spPr>
          <a:xfrm>
            <a:off x="7284813" y="1607138"/>
            <a:ext cx="4203028" cy="4165048"/>
          </a:xfrm>
          <a:prstGeom prst="rect">
            <a:avLst/>
          </a:prstGeom>
        </p:spPr>
      </p:pic>
      <p:sp>
        <p:nvSpPr>
          <p:cNvPr id="14" name="Slide Number Placeholder 5">
            <a:extLst>
              <a:ext uri="{FF2B5EF4-FFF2-40B4-BE49-F238E27FC236}">
                <a16:creationId xmlns:a16="http://schemas.microsoft.com/office/drawing/2014/main" id="{986C2A2F-9EB4-7D4F-CF5E-A747856D4F1F}"/>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5" name="Slide Number Placeholder 5">
            <a:extLst>
              <a:ext uri="{FF2B5EF4-FFF2-40B4-BE49-F238E27FC236}">
                <a16:creationId xmlns:a16="http://schemas.microsoft.com/office/drawing/2014/main" id="{633F21E3-CAAA-8747-683A-A96583D3DC51}"/>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307556086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ext 2 columns - Blu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E7FA9D4-BEB0-A09E-4298-A0EE819782EF}"/>
              </a:ext>
            </a:extLst>
          </p:cNvPr>
          <p:cNvSpPr/>
          <p:nvPr userDrawn="1"/>
        </p:nvSpPr>
        <p:spPr>
          <a:xfrm>
            <a:off x="0" y="0"/>
            <a:ext cx="12192000" cy="6858000"/>
          </a:xfrm>
          <a:prstGeom prst="rect">
            <a:avLst/>
          </a:prstGeom>
          <a:solidFill>
            <a:srgbClr val="194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438413"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13" name="Content Placeholder 2">
            <a:extLst>
              <a:ext uri="{FF2B5EF4-FFF2-40B4-BE49-F238E27FC236}">
                <a16:creationId xmlns:a16="http://schemas.microsoft.com/office/drawing/2014/main" id="{8018B9B1-C9B0-D3F5-2FF0-F2753A31B9DA}"/>
              </a:ext>
            </a:extLst>
          </p:cNvPr>
          <p:cNvSpPr>
            <a:spLocks noGrp="1"/>
          </p:cNvSpPr>
          <p:nvPr>
            <p:ph idx="11" hasCustomPrompt="1"/>
          </p:nvPr>
        </p:nvSpPr>
        <p:spPr>
          <a:xfrm>
            <a:off x="6274616" y="2082909"/>
            <a:ext cx="5438413"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pic>
        <p:nvPicPr>
          <p:cNvPr id="6" name="Picture 5">
            <a:extLst>
              <a:ext uri="{FF2B5EF4-FFF2-40B4-BE49-F238E27FC236}">
                <a16:creationId xmlns:a16="http://schemas.microsoft.com/office/drawing/2014/main" id="{11B50FC1-3C88-32C9-AA18-FCB1A15A9DC1}"/>
              </a:ext>
            </a:extLst>
          </p:cNvPr>
          <p:cNvPicPr/>
          <p:nvPr userDrawn="1"/>
        </p:nvPicPr>
        <p:blipFill>
          <a:blip r:embed="rId2"/>
          <a:srcRect/>
          <a:stretch/>
        </p:blipFill>
        <p:spPr>
          <a:xfrm>
            <a:off x="10119504" y="350702"/>
            <a:ext cx="1589081" cy="296553"/>
          </a:xfrm>
          <a:prstGeom prst="rect">
            <a:avLst/>
          </a:prstGeom>
        </p:spPr>
      </p:pic>
      <p:sp>
        <p:nvSpPr>
          <p:cNvPr id="14" name="Slide Number Placeholder 5">
            <a:extLst>
              <a:ext uri="{FF2B5EF4-FFF2-40B4-BE49-F238E27FC236}">
                <a16:creationId xmlns:a16="http://schemas.microsoft.com/office/drawing/2014/main" id="{78BE0C6E-1FA3-7528-72A5-BF3F9232E500}"/>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5" name="Slide Number Placeholder 5">
            <a:extLst>
              <a:ext uri="{FF2B5EF4-FFF2-40B4-BE49-F238E27FC236}">
                <a16:creationId xmlns:a16="http://schemas.microsoft.com/office/drawing/2014/main" id="{19E59AD4-27DA-9B84-925A-539F21F0B4C7}"/>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205022188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ext 23 columns - Blu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F81708C-B351-2798-CE06-F68D495AF083}"/>
              </a:ext>
            </a:extLst>
          </p:cNvPr>
          <p:cNvSpPr/>
          <p:nvPr userDrawn="1"/>
        </p:nvSpPr>
        <p:spPr>
          <a:xfrm>
            <a:off x="0" y="0"/>
            <a:ext cx="12192000" cy="6858000"/>
          </a:xfrm>
          <a:prstGeom prst="rect">
            <a:avLst/>
          </a:prstGeom>
          <a:solidFill>
            <a:srgbClr val="194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3576955"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5" name="Content Placeholder 2">
            <a:extLst>
              <a:ext uri="{FF2B5EF4-FFF2-40B4-BE49-F238E27FC236}">
                <a16:creationId xmlns:a16="http://schemas.microsoft.com/office/drawing/2014/main" id="{F6AFB6C2-D330-7E98-CE89-B53228C709D2}"/>
              </a:ext>
            </a:extLst>
          </p:cNvPr>
          <p:cNvSpPr>
            <a:spLocks noGrp="1"/>
          </p:cNvSpPr>
          <p:nvPr>
            <p:ph idx="11" hasCustomPrompt="1"/>
          </p:nvPr>
        </p:nvSpPr>
        <p:spPr>
          <a:xfrm>
            <a:off x="4307522" y="2082909"/>
            <a:ext cx="3576955"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sp>
        <p:nvSpPr>
          <p:cNvPr id="6" name="Content Placeholder 2">
            <a:extLst>
              <a:ext uri="{FF2B5EF4-FFF2-40B4-BE49-F238E27FC236}">
                <a16:creationId xmlns:a16="http://schemas.microsoft.com/office/drawing/2014/main" id="{16343C83-9CCA-D975-BA26-C5F708C4A31E}"/>
              </a:ext>
            </a:extLst>
          </p:cNvPr>
          <p:cNvSpPr>
            <a:spLocks noGrp="1"/>
          </p:cNvSpPr>
          <p:nvPr>
            <p:ph idx="12" hasCustomPrompt="1"/>
          </p:nvPr>
        </p:nvSpPr>
        <p:spPr>
          <a:xfrm>
            <a:off x="8131629" y="2082909"/>
            <a:ext cx="3576955"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pic>
        <p:nvPicPr>
          <p:cNvPr id="12" name="Picture 11">
            <a:extLst>
              <a:ext uri="{FF2B5EF4-FFF2-40B4-BE49-F238E27FC236}">
                <a16:creationId xmlns:a16="http://schemas.microsoft.com/office/drawing/2014/main" id="{AC14BF72-824A-AB1D-B89B-5C07C016946D}"/>
              </a:ext>
            </a:extLst>
          </p:cNvPr>
          <p:cNvPicPr/>
          <p:nvPr userDrawn="1"/>
        </p:nvPicPr>
        <p:blipFill>
          <a:blip r:embed="rId2"/>
          <a:srcRect/>
          <a:stretch/>
        </p:blipFill>
        <p:spPr>
          <a:xfrm>
            <a:off x="10119504" y="350702"/>
            <a:ext cx="1589081" cy="296553"/>
          </a:xfrm>
          <a:prstGeom prst="rect">
            <a:avLst/>
          </a:prstGeom>
        </p:spPr>
      </p:pic>
      <p:sp>
        <p:nvSpPr>
          <p:cNvPr id="13" name="Slide Number Placeholder 5">
            <a:extLst>
              <a:ext uri="{FF2B5EF4-FFF2-40B4-BE49-F238E27FC236}">
                <a16:creationId xmlns:a16="http://schemas.microsoft.com/office/drawing/2014/main" id="{129B4E89-017D-EA89-D384-CAA21A28032D}"/>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4" name="Slide Number Placeholder 5">
            <a:extLst>
              <a:ext uri="{FF2B5EF4-FFF2-40B4-BE49-F238E27FC236}">
                <a16:creationId xmlns:a16="http://schemas.microsoft.com/office/drawing/2014/main" id="{439975AA-365E-F0F7-B6A4-C86F87AF4A89}"/>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1813007365"/>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98ED3D-4C1D-18B1-C757-4A8E3551E9C3}"/>
              </a:ext>
            </a:extLst>
          </p:cNvPr>
          <p:cNvSpPr/>
          <p:nvPr userDrawn="1"/>
        </p:nvSpPr>
        <p:spPr>
          <a:xfrm>
            <a:off x="0" y="0"/>
            <a:ext cx="12192000" cy="6858000"/>
          </a:xfrm>
          <a:prstGeom prst="rect">
            <a:avLst/>
          </a:prstGeom>
          <a:solidFill>
            <a:srgbClr val="194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B9303C-1A66-4748-B626-8DD339D7E36C}"/>
              </a:ext>
            </a:extLst>
          </p:cNvPr>
          <p:cNvSpPr>
            <a:spLocks noGrp="1"/>
          </p:cNvSpPr>
          <p:nvPr>
            <p:ph type="title"/>
          </p:nvPr>
        </p:nvSpPr>
        <p:spPr>
          <a:xfrm>
            <a:off x="482400" y="349200"/>
            <a:ext cx="4738501" cy="432000"/>
          </a:xfrm>
        </p:spPr>
        <p:txBody>
          <a:bodyPr lIns="72000" tIns="36000" rIns="72000" bIns="36000"/>
          <a:lstStyle>
            <a:lvl1pPr>
              <a:defRPr sz="2600"/>
            </a:lvl1pPr>
          </a:lstStyle>
          <a:p>
            <a:r>
              <a:rPr lang="en-US"/>
              <a:t>Click to edit Master title style</a:t>
            </a:r>
            <a:endParaRPr lang="en-GB"/>
          </a:p>
        </p:txBody>
      </p:sp>
      <p:pic>
        <p:nvPicPr>
          <p:cNvPr id="8" name="Picture 7">
            <a:extLst>
              <a:ext uri="{FF2B5EF4-FFF2-40B4-BE49-F238E27FC236}">
                <a16:creationId xmlns:a16="http://schemas.microsoft.com/office/drawing/2014/main" id="{77A95A5A-7EDA-4530-9F96-16A0E2CA69DE}"/>
              </a:ext>
            </a:extLst>
          </p:cNvPr>
          <p:cNvPicPr/>
          <p:nvPr userDrawn="1"/>
        </p:nvPicPr>
        <p:blipFill>
          <a:blip r:embed="rId2"/>
          <a:srcRect/>
          <a:stretch/>
        </p:blipFill>
        <p:spPr>
          <a:xfrm>
            <a:off x="10119504" y="350702"/>
            <a:ext cx="1589081" cy="296553"/>
          </a:xfrm>
          <a:prstGeom prst="rect">
            <a:avLst/>
          </a:prstGeom>
        </p:spPr>
      </p:pic>
      <p:sp>
        <p:nvSpPr>
          <p:cNvPr id="9" name="Slide Number Placeholder 5">
            <a:extLst>
              <a:ext uri="{FF2B5EF4-FFF2-40B4-BE49-F238E27FC236}">
                <a16:creationId xmlns:a16="http://schemas.microsoft.com/office/drawing/2014/main" id="{A8101059-5A5E-E286-B2FB-81E98250C79E}"/>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0" name="Slide Number Placeholder 5">
            <a:extLst>
              <a:ext uri="{FF2B5EF4-FFF2-40B4-BE49-F238E27FC236}">
                <a16:creationId xmlns:a16="http://schemas.microsoft.com/office/drawing/2014/main" id="{78408848-5F14-71C8-95D8-DEEE569318F6}"/>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28749877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98ED3D-4C1D-18B1-C757-4A8E3551E9C3}"/>
              </a:ext>
            </a:extLst>
          </p:cNvPr>
          <p:cNvSpPr/>
          <p:nvPr userDrawn="1"/>
        </p:nvSpPr>
        <p:spPr>
          <a:xfrm>
            <a:off x="0" y="0"/>
            <a:ext cx="12192000" cy="6858000"/>
          </a:xfrm>
          <a:prstGeom prst="rect">
            <a:avLst/>
          </a:prstGeom>
          <a:solidFill>
            <a:srgbClr val="194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A49C3E0-83EB-6264-8CDF-22AAF8CAB992}"/>
              </a:ext>
            </a:extLst>
          </p:cNvPr>
          <p:cNvPicPr/>
          <p:nvPr userDrawn="1"/>
        </p:nvPicPr>
        <p:blipFill>
          <a:blip r:embed="rId2"/>
          <a:srcRect/>
          <a:stretch/>
        </p:blipFill>
        <p:spPr>
          <a:xfrm>
            <a:off x="10119504" y="350702"/>
            <a:ext cx="1589081" cy="296553"/>
          </a:xfrm>
          <a:prstGeom prst="rect">
            <a:avLst/>
          </a:prstGeom>
        </p:spPr>
      </p:pic>
      <p:sp>
        <p:nvSpPr>
          <p:cNvPr id="9" name="Slide Number Placeholder 5">
            <a:extLst>
              <a:ext uri="{FF2B5EF4-FFF2-40B4-BE49-F238E27FC236}">
                <a16:creationId xmlns:a16="http://schemas.microsoft.com/office/drawing/2014/main" id="{5DA0576D-B669-167B-03FD-E669ECE0B285}"/>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0" name="Slide Number Placeholder 5">
            <a:extLst>
              <a:ext uri="{FF2B5EF4-FFF2-40B4-BE49-F238E27FC236}">
                <a16:creationId xmlns:a16="http://schemas.microsoft.com/office/drawing/2014/main" id="{E9D6499A-F9B2-E514-8A32-800319EBC15F}"/>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191146124"/>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Text - Ligh Blu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9CC49CE-6C20-5F08-A00E-E9DA79B41805}"/>
              </a:ext>
            </a:extLst>
          </p:cNvPr>
          <p:cNvSpPr/>
          <p:nvPr userDrawn="1"/>
        </p:nvSpPr>
        <p:spPr>
          <a:xfrm>
            <a:off x="0" y="0"/>
            <a:ext cx="12192000" cy="6858000"/>
          </a:xfrm>
          <a:prstGeom prst="rect">
            <a:avLst/>
          </a:prstGeom>
          <a:solidFill>
            <a:srgbClr val="E8E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5" y="2082909"/>
            <a:ext cx="11225170"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pic>
        <p:nvPicPr>
          <p:cNvPr id="10" name="Picture 9">
            <a:extLst>
              <a:ext uri="{FF2B5EF4-FFF2-40B4-BE49-F238E27FC236}">
                <a16:creationId xmlns:a16="http://schemas.microsoft.com/office/drawing/2014/main" id="{BAAF4AA0-F32F-41AD-B30B-8C28E369767D}"/>
              </a:ext>
            </a:extLst>
          </p:cNvPr>
          <p:cNvPicPr/>
          <p:nvPr userDrawn="1"/>
        </p:nvPicPr>
        <p:blipFill>
          <a:blip r:embed="rId2"/>
          <a:srcRect/>
          <a:stretch/>
        </p:blipFill>
        <p:spPr>
          <a:xfrm>
            <a:off x="10119504" y="350702"/>
            <a:ext cx="1589081" cy="296554"/>
          </a:xfrm>
          <a:prstGeom prst="rect">
            <a:avLst/>
          </a:prstGeom>
        </p:spPr>
      </p:pic>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5" y="1308944"/>
            <a:ext cx="11225170"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accent3"/>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6" name="Slide Number Placeholder 5">
            <a:extLst>
              <a:ext uri="{FF2B5EF4-FFF2-40B4-BE49-F238E27FC236}">
                <a16:creationId xmlns:a16="http://schemas.microsoft.com/office/drawing/2014/main" id="{A8BAFE8D-50F2-1958-99B8-B3A36E1F584E}"/>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sp>
        <p:nvSpPr>
          <p:cNvPr id="7" name="Slide Number Placeholder 5">
            <a:extLst>
              <a:ext uri="{FF2B5EF4-FFF2-40B4-BE49-F238E27FC236}">
                <a16:creationId xmlns:a16="http://schemas.microsoft.com/office/drawing/2014/main" id="{5643B595-F912-FD25-DA9D-463645B2EF87}"/>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306010066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Text - Image - Ligh Blu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BBB329-3596-B079-5CB2-208E7D9FE81E}"/>
              </a:ext>
            </a:extLst>
          </p:cNvPr>
          <p:cNvSpPr/>
          <p:nvPr userDrawn="1"/>
        </p:nvSpPr>
        <p:spPr>
          <a:xfrm>
            <a:off x="0" y="0"/>
            <a:ext cx="12192000" cy="6858000"/>
          </a:xfrm>
          <a:prstGeom prst="rect">
            <a:avLst/>
          </a:prstGeom>
          <a:solidFill>
            <a:srgbClr val="E8E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862956"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accent3"/>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12" name="Slide Number Placeholder 5">
            <a:extLst>
              <a:ext uri="{FF2B5EF4-FFF2-40B4-BE49-F238E27FC236}">
                <a16:creationId xmlns:a16="http://schemas.microsoft.com/office/drawing/2014/main" id="{FB91C3F7-4190-5A1D-C32E-4D6E05D1CED4}"/>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sp>
        <p:nvSpPr>
          <p:cNvPr id="13" name="Slide Number Placeholder 5">
            <a:extLst>
              <a:ext uri="{FF2B5EF4-FFF2-40B4-BE49-F238E27FC236}">
                <a16:creationId xmlns:a16="http://schemas.microsoft.com/office/drawing/2014/main" id="{E7B6CC4C-4A5D-45DA-48BF-A135099D772B}"/>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1898589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ext - Hexagon - Ligh Blue 1">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BBB329-3596-B079-5CB2-208E7D9FE81E}"/>
              </a:ext>
            </a:extLst>
          </p:cNvPr>
          <p:cNvSpPr/>
          <p:nvPr userDrawn="1"/>
        </p:nvSpPr>
        <p:spPr>
          <a:xfrm>
            <a:off x="0" y="0"/>
            <a:ext cx="12192000" cy="6858000"/>
          </a:xfrm>
          <a:prstGeom prst="rect">
            <a:avLst/>
          </a:prstGeom>
          <a:solidFill>
            <a:srgbClr val="E8E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862956"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pic>
        <p:nvPicPr>
          <p:cNvPr id="10" name="Picture 9">
            <a:extLst>
              <a:ext uri="{FF2B5EF4-FFF2-40B4-BE49-F238E27FC236}">
                <a16:creationId xmlns:a16="http://schemas.microsoft.com/office/drawing/2014/main" id="{BAAF4AA0-F32F-41AD-B30B-8C28E369767D}"/>
              </a:ext>
            </a:extLst>
          </p:cNvPr>
          <p:cNvPicPr/>
          <p:nvPr userDrawn="1"/>
        </p:nvPicPr>
        <p:blipFill>
          <a:blip r:embed="rId2"/>
          <a:srcRect/>
          <a:stretch/>
        </p:blipFill>
        <p:spPr>
          <a:xfrm>
            <a:off x="10119504" y="350702"/>
            <a:ext cx="1589081" cy="296554"/>
          </a:xfrm>
          <a:prstGeom prst="rect">
            <a:avLst/>
          </a:prstGeom>
        </p:spPr>
      </p:pic>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accent3"/>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pic>
        <p:nvPicPr>
          <p:cNvPr id="5" name="Picture 4" descr="Background pattern&#10;&#10;Description automatically generated">
            <a:extLst>
              <a:ext uri="{FF2B5EF4-FFF2-40B4-BE49-F238E27FC236}">
                <a16:creationId xmlns:a16="http://schemas.microsoft.com/office/drawing/2014/main" id="{92B0E136-47FD-6B54-DE6F-1379612009B3}"/>
              </a:ext>
            </a:extLst>
          </p:cNvPr>
          <p:cNvPicPr>
            <a:picLocks noChangeAspect="1"/>
          </p:cNvPicPr>
          <p:nvPr userDrawn="1"/>
        </p:nvPicPr>
        <p:blipFill>
          <a:blip r:embed="rId3"/>
          <a:stretch>
            <a:fillRect/>
          </a:stretch>
        </p:blipFill>
        <p:spPr>
          <a:xfrm>
            <a:off x="7066629" y="1371600"/>
            <a:ext cx="4641956" cy="4638673"/>
          </a:xfrm>
          <a:prstGeom prst="rect">
            <a:avLst/>
          </a:prstGeom>
        </p:spPr>
      </p:pic>
      <p:pic>
        <p:nvPicPr>
          <p:cNvPr id="6" name="Picture 5">
            <a:extLst>
              <a:ext uri="{FF2B5EF4-FFF2-40B4-BE49-F238E27FC236}">
                <a16:creationId xmlns:a16="http://schemas.microsoft.com/office/drawing/2014/main" id="{CD962274-383A-BDCA-CD1C-762307F0832E}"/>
              </a:ext>
            </a:extLst>
          </p:cNvPr>
          <p:cNvPicPr>
            <a:picLocks noChangeAspect="1"/>
          </p:cNvPicPr>
          <p:nvPr userDrawn="1"/>
        </p:nvPicPr>
        <p:blipFill>
          <a:blip r:embed="rId4"/>
          <a:srcRect/>
          <a:stretch/>
        </p:blipFill>
        <p:spPr>
          <a:xfrm>
            <a:off x="7284813" y="1607139"/>
            <a:ext cx="4203028" cy="4165048"/>
          </a:xfrm>
          <a:prstGeom prst="rect">
            <a:avLst/>
          </a:prstGeom>
        </p:spPr>
      </p:pic>
      <p:sp>
        <p:nvSpPr>
          <p:cNvPr id="12" name="Slide Number Placeholder 5">
            <a:extLst>
              <a:ext uri="{FF2B5EF4-FFF2-40B4-BE49-F238E27FC236}">
                <a16:creationId xmlns:a16="http://schemas.microsoft.com/office/drawing/2014/main" id="{FB91C3F7-4190-5A1D-C32E-4D6E05D1CED4}"/>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sp>
        <p:nvSpPr>
          <p:cNvPr id="13" name="Slide Number Placeholder 5">
            <a:extLst>
              <a:ext uri="{FF2B5EF4-FFF2-40B4-BE49-F238E27FC236}">
                <a16:creationId xmlns:a16="http://schemas.microsoft.com/office/drawing/2014/main" id="{E7B6CC4C-4A5D-45DA-48BF-A135099D772B}"/>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923281354"/>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Text - Hexagon - Ligh Blue 2">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EEE180D-E692-5018-47EC-92A6AE18106F}"/>
              </a:ext>
            </a:extLst>
          </p:cNvPr>
          <p:cNvSpPr/>
          <p:nvPr userDrawn="1"/>
        </p:nvSpPr>
        <p:spPr>
          <a:xfrm>
            <a:off x="0" y="0"/>
            <a:ext cx="12192000" cy="6858000"/>
          </a:xfrm>
          <a:prstGeom prst="rect">
            <a:avLst/>
          </a:prstGeom>
          <a:solidFill>
            <a:srgbClr val="E8E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862956"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pic>
        <p:nvPicPr>
          <p:cNvPr id="10" name="Picture 9">
            <a:extLst>
              <a:ext uri="{FF2B5EF4-FFF2-40B4-BE49-F238E27FC236}">
                <a16:creationId xmlns:a16="http://schemas.microsoft.com/office/drawing/2014/main" id="{BAAF4AA0-F32F-41AD-B30B-8C28E369767D}"/>
              </a:ext>
            </a:extLst>
          </p:cNvPr>
          <p:cNvPicPr/>
          <p:nvPr userDrawn="1"/>
        </p:nvPicPr>
        <p:blipFill>
          <a:blip r:embed="rId2"/>
          <a:srcRect/>
          <a:stretch/>
        </p:blipFill>
        <p:spPr>
          <a:xfrm>
            <a:off x="10119504" y="350702"/>
            <a:ext cx="1589081" cy="296554"/>
          </a:xfrm>
          <a:prstGeom prst="rect">
            <a:avLst/>
          </a:prstGeom>
        </p:spPr>
      </p:pic>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accent3"/>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pic>
        <p:nvPicPr>
          <p:cNvPr id="7" name="Picture 6">
            <a:extLst>
              <a:ext uri="{FF2B5EF4-FFF2-40B4-BE49-F238E27FC236}">
                <a16:creationId xmlns:a16="http://schemas.microsoft.com/office/drawing/2014/main" id="{903657FE-3B2D-84E7-54D1-80F76892BAD9}"/>
              </a:ext>
            </a:extLst>
          </p:cNvPr>
          <p:cNvPicPr>
            <a:picLocks noChangeAspect="1"/>
          </p:cNvPicPr>
          <p:nvPr userDrawn="1"/>
        </p:nvPicPr>
        <p:blipFill>
          <a:blip r:embed="rId3"/>
          <a:srcRect/>
          <a:stretch/>
        </p:blipFill>
        <p:spPr>
          <a:xfrm>
            <a:off x="7066629" y="1371601"/>
            <a:ext cx="4641956" cy="4638671"/>
          </a:xfrm>
          <a:prstGeom prst="rect">
            <a:avLst/>
          </a:prstGeom>
        </p:spPr>
      </p:pic>
      <p:pic>
        <p:nvPicPr>
          <p:cNvPr id="12" name="Picture 11">
            <a:extLst>
              <a:ext uri="{FF2B5EF4-FFF2-40B4-BE49-F238E27FC236}">
                <a16:creationId xmlns:a16="http://schemas.microsoft.com/office/drawing/2014/main" id="{F674F76A-DAB9-3C0E-7A4B-C660B49908F6}"/>
              </a:ext>
            </a:extLst>
          </p:cNvPr>
          <p:cNvPicPr>
            <a:picLocks noChangeAspect="1"/>
          </p:cNvPicPr>
          <p:nvPr userDrawn="1"/>
        </p:nvPicPr>
        <p:blipFill>
          <a:blip r:embed="rId4"/>
          <a:srcRect/>
          <a:stretch/>
        </p:blipFill>
        <p:spPr>
          <a:xfrm>
            <a:off x="7284813" y="1607138"/>
            <a:ext cx="4203028" cy="4165048"/>
          </a:xfrm>
          <a:prstGeom prst="rect">
            <a:avLst/>
          </a:prstGeom>
        </p:spPr>
      </p:pic>
      <p:sp>
        <p:nvSpPr>
          <p:cNvPr id="6" name="Slide Number Placeholder 5">
            <a:extLst>
              <a:ext uri="{FF2B5EF4-FFF2-40B4-BE49-F238E27FC236}">
                <a16:creationId xmlns:a16="http://schemas.microsoft.com/office/drawing/2014/main" id="{DB123846-F94B-039B-852B-86D94A896797}"/>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sp>
        <p:nvSpPr>
          <p:cNvPr id="13" name="Slide Number Placeholder 5">
            <a:extLst>
              <a:ext uri="{FF2B5EF4-FFF2-40B4-BE49-F238E27FC236}">
                <a16:creationId xmlns:a16="http://schemas.microsoft.com/office/drawing/2014/main" id="{FE3C0033-79E8-320F-3EF9-E64D9370CDF0}"/>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3326456237"/>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obj" preserve="1">
  <p:cSld name="Text 2 columns - Ligh Blu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8858B7D-70A1-EE68-CD20-71B9B4CA7F79}"/>
              </a:ext>
            </a:extLst>
          </p:cNvPr>
          <p:cNvSpPr/>
          <p:nvPr userDrawn="1"/>
        </p:nvSpPr>
        <p:spPr>
          <a:xfrm>
            <a:off x="0" y="0"/>
            <a:ext cx="12192000" cy="6858000"/>
          </a:xfrm>
          <a:prstGeom prst="rect">
            <a:avLst/>
          </a:prstGeom>
          <a:solidFill>
            <a:srgbClr val="E8E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438413"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pic>
        <p:nvPicPr>
          <p:cNvPr id="10" name="Picture 9">
            <a:extLst>
              <a:ext uri="{FF2B5EF4-FFF2-40B4-BE49-F238E27FC236}">
                <a16:creationId xmlns:a16="http://schemas.microsoft.com/office/drawing/2014/main" id="{BAAF4AA0-F32F-41AD-B30B-8C28E369767D}"/>
              </a:ext>
            </a:extLst>
          </p:cNvPr>
          <p:cNvPicPr/>
          <p:nvPr userDrawn="1"/>
        </p:nvPicPr>
        <p:blipFill>
          <a:blip r:embed="rId2"/>
          <a:srcRect/>
          <a:stretch/>
        </p:blipFill>
        <p:spPr>
          <a:xfrm>
            <a:off x="10119504" y="350702"/>
            <a:ext cx="1589081" cy="296554"/>
          </a:xfrm>
          <a:prstGeom prst="rect">
            <a:avLst/>
          </a:prstGeom>
        </p:spPr>
      </p:pic>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accent3"/>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13" name="Content Placeholder 2">
            <a:extLst>
              <a:ext uri="{FF2B5EF4-FFF2-40B4-BE49-F238E27FC236}">
                <a16:creationId xmlns:a16="http://schemas.microsoft.com/office/drawing/2014/main" id="{8018B9B1-C9B0-D3F5-2FF0-F2753A31B9DA}"/>
              </a:ext>
            </a:extLst>
          </p:cNvPr>
          <p:cNvSpPr>
            <a:spLocks noGrp="1"/>
          </p:cNvSpPr>
          <p:nvPr>
            <p:ph idx="11" hasCustomPrompt="1"/>
          </p:nvPr>
        </p:nvSpPr>
        <p:spPr>
          <a:xfrm>
            <a:off x="6274616" y="2082909"/>
            <a:ext cx="5438413"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sp>
        <p:nvSpPr>
          <p:cNvPr id="6" name="Slide Number Placeholder 5">
            <a:extLst>
              <a:ext uri="{FF2B5EF4-FFF2-40B4-BE49-F238E27FC236}">
                <a16:creationId xmlns:a16="http://schemas.microsoft.com/office/drawing/2014/main" id="{F4B83962-E666-AEE5-6202-2B9382F01692}"/>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sp>
        <p:nvSpPr>
          <p:cNvPr id="7" name="Slide Number Placeholder 5">
            <a:extLst>
              <a:ext uri="{FF2B5EF4-FFF2-40B4-BE49-F238E27FC236}">
                <a16:creationId xmlns:a16="http://schemas.microsoft.com/office/drawing/2014/main" id="{3D73D27C-AD05-ECB0-DD9B-AE1C2484773E}"/>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898089267"/>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ext 3 columns - Ligh Blu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F47126E-216D-C391-208D-BB929A71ECB5}"/>
              </a:ext>
            </a:extLst>
          </p:cNvPr>
          <p:cNvSpPr/>
          <p:nvPr userDrawn="1"/>
        </p:nvSpPr>
        <p:spPr>
          <a:xfrm>
            <a:off x="0" y="0"/>
            <a:ext cx="12192000" cy="6858000"/>
          </a:xfrm>
          <a:prstGeom prst="rect">
            <a:avLst/>
          </a:prstGeom>
          <a:solidFill>
            <a:srgbClr val="E8E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3576955"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pic>
        <p:nvPicPr>
          <p:cNvPr id="10" name="Picture 9">
            <a:extLst>
              <a:ext uri="{FF2B5EF4-FFF2-40B4-BE49-F238E27FC236}">
                <a16:creationId xmlns:a16="http://schemas.microsoft.com/office/drawing/2014/main" id="{BAAF4AA0-F32F-41AD-B30B-8C28E369767D}"/>
              </a:ext>
            </a:extLst>
          </p:cNvPr>
          <p:cNvPicPr/>
          <p:nvPr userDrawn="1"/>
        </p:nvPicPr>
        <p:blipFill>
          <a:blip r:embed="rId2"/>
          <a:srcRect/>
          <a:stretch/>
        </p:blipFill>
        <p:spPr>
          <a:xfrm>
            <a:off x="10119504" y="350702"/>
            <a:ext cx="1589081" cy="296554"/>
          </a:xfrm>
          <a:prstGeom prst="rect">
            <a:avLst/>
          </a:prstGeom>
        </p:spPr>
      </p:pic>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accent3"/>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5" name="Content Placeholder 2">
            <a:extLst>
              <a:ext uri="{FF2B5EF4-FFF2-40B4-BE49-F238E27FC236}">
                <a16:creationId xmlns:a16="http://schemas.microsoft.com/office/drawing/2014/main" id="{F6AFB6C2-D330-7E98-CE89-B53228C709D2}"/>
              </a:ext>
            </a:extLst>
          </p:cNvPr>
          <p:cNvSpPr>
            <a:spLocks noGrp="1"/>
          </p:cNvSpPr>
          <p:nvPr>
            <p:ph idx="11" hasCustomPrompt="1"/>
          </p:nvPr>
        </p:nvSpPr>
        <p:spPr>
          <a:xfrm>
            <a:off x="4307522" y="2082909"/>
            <a:ext cx="3576955"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sp>
        <p:nvSpPr>
          <p:cNvPr id="6" name="Content Placeholder 2">
            <a:extLst>
              <a:ext uri="{FF2B5EF4-FFF2-40B4-BE49-F238E27FC236}">
                <a16:creationId xmlns:a16="http://schemas.microsoft.com/office/drawing/2014/main" id="{16343C83-9CCA-D975-BA26-C5F708C4A31E}"/>
              </a:ext>
            </a:extLst>
          </p:cNvPr>
          <p:cNvSpPr>
            <a:spLocks noGrp="1"/>
          </p:cNvSpPr>
          <p:nvPr>
            <p:ph idx="12" hasCustomPrompt="1"/>
          </p:nvPr>
        </p:nvSpPr>
        <p:spPr>
          <a:xfrm>
            <a:off x="8131629" y="2082909"/>
            <a:ext cx="3576955" cy="2800767"/>
          </a:xfrm>
          <a:prstGeom prst="rect">
            <a:avLst/>
          </a:prstGeom>
        </p:spPr>
        <p:txBody>
          <a:bodyPr wrap="square">
            <a:spAutoFit/>
          </a:bodyPr>
          <a:lstStyle>
            <a:lvl1pPr marL="358775" indent="-358775" defTabSz="612000">
              <a:buClr>
                <a:schemeClr val="accent1"/>
              </a:buClr>
              <a:buSzPct val="80000"/>
              <a:buFont typeface=".Lucida Grande UI Regular"/>
              <a:buChar char="►"/>
              <a:defRPr sz="1400" b="0" i="0">
                <a:solidFill>
                  <a:srgbClr val="595959"/>
                </a:solidFill>
                <a:latin typeface="Montserrat Medium" pitchFamily="2" charset="77"/>
              </a:defRPr>
            </a:lvl1pPr>
            <a:lvl2pPr marL="717550" indent="-358775">
              <a:buClr>
                <a:schemeClr val="tx2"/>
              </a:buClr>
              <a:buFont typeface="+mj-lt"/>
              <a:buAutoNum type="romanUcPeriod"/>
              <a:defRPr sz="1400" b="0" i="0">
                <a:solidFill>
                  <a:srgbClr val="595959"/>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sp>
        <p:nvSpPr>
          <p:cNvPr id="12" name="Slide Number Placeholder 5">
            <a:extLst>
              <a:ext uri="{FF2B5EF4-FFF2-40B4-BE49-F238E27FC236}">
                <a16:creationId xmlns:a16="http://schemas.microsoft.com/office/drawing/2014/main" id="{C5BD8753-EE4F-7BE4-C865-CF6E9583564A}"/>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sp>
        <p:nvSpPr>
          <p:cNvPr id="13" name="Slide Number Placeholder 5">
            <a:extLst>
              <a:ext uri="{FF2B5EF4-FFF2-40B4-BE49-F238E27FC236}">
                <a16:creationId xmlns:a16="http://schemas.microsoft.com/office/drawing/2014/main" id="{E42F1400-6EE5-0A84-DBBA-24A941E3F24D}"/>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99534481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 Ligh Blu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9D53124-B12B-D07C-612C-517D880A54A6}"/>
              </a:ext>
            </a:extLst>
          </p:cNvPr>
          <p:cNvSpPr/>
          <p:nvPr userDrawn="1"/>
        </p:nvSpPr>
        <p:spPr>
          <a:xfrm>
            <a:off x="0" y="0"/>
            <a:ext cx="12192000" cy="6858000"/>
          </a:xfrm>
          <a:prstGeom prst="rect">
            <a:avLst/>
          </a:prstGeom>
          <a:solidFill>
            <a:srgbClr val="E8E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pic>
        <p:nvPicPr>
          <p:cNvPr id="10" name="Picture 9">
            <a:extLst>
              <a:ext uri="{FF2B5EF4-FFF2-40B4-BE49-F238E27FC236}">
                <a16:creationId xmlns:a16="http://schemas.microsoft.com/office/drawing/2014/main" id="{BAAF4AA0-F32F-41AD-B30B-8C28E369767D}"/>
              </a:ext>
            </a:extLst>
          </p:cNvPr>
          <p:cNvPicPr/>
          <p:nvPr userDrawn="1"/>
        </p:nvPicPr>
        <p:blipFill>
          <a:blip r:embed="rId2"/>
          <a:srcRect/>
          <a:stretch/>
        </p:blipFill>
        <p:spPr>
          <a:xfrm>
            <a:off x="10119504" y="350702"/>
            <a:ext cx="1589081" cy="296554"/>
          </a:xfrm>
          <a:prstGeom prst="rect">
            <a:avLst/>
          </a:prstGeom>
        </p:spPr>
      </p:pic>
      <p:sp>
        <p:nvSpPr>
          <p:cNvPr id="6" name="Slide Number Placeholder 5">
            <a:extLst>
              <a:ext uri="{FF2B5EF4-FFF2-40B4-BE49-F238E27FC236}">
                <a16:creationId xmlns:a16="http://schemas.microsoft.com/office/drawing/2014/main" id="{849A42FA-125C-22CD-4278-0A67C8934404}"/>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sp>
        <p:nvSpPr>
          <p:cNvPr id="7" name="Slide Number Placeholder 5">
            <a:extLst>
              <a:ext uri="{FF2B5EF4-FFF2-40B4-BE49-F238E27FC236}">
                <a16:creationId xmlns:a16="http://schemas.microsoft.com/office/drawing/2014/main" id="{F59A6DC0-D8D5-3EC9-7DBC-E552715DB708}"/>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439115519"/>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Ligh Blu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9D53124-B12B-D07C-612C-517D880A54A6}"/>
              </a:ext>
            </a:extLst>
          </p:cNvPr>
          <p:cNvSpPr/>
          <p:nvPr userDrawn="1"/>
        </p:nvSpPr>
        <p:spPr>
          <a:xfrm>
            <a:off x="0" y="0"/>
            <a:ext cx="12192000" cy="6858000"/>
          </a:xfrm>
          <a:prstGeom prst="rect">
            <a:avLst/>
          </a:prstGeom>
          <a:solidFill>
            <a:srgbClr val="E8E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pic>
        <p:nvPicPr>
          <p:cNvPr id="10" name="Picture 9">
            <a:extLst>
              <a:ext uri="{FF2B5EF4-FFF2-40B4-BE49-F238E27FC236}">
                <a16:creationId xmlns:a16="http://schemas.microsoft.com/office/drawing/2014/main" id="{BAAF4AA0-F32F-41AD-B30B-8C28E369767D}"/>
              </a:ext>
            </a:extLst>
          </p:cNvPr>
          <p:cNvPicPr/>
          <p:nvPr userDrawn="1"/>
        </p:nvPicPr>
        <p:blipFill>
          <a:blip r:embed="rId2"/>
          <a:srcRect/>
          <a:stretch/>
        </p:blipFill>
        <p:spPr>
          <a:xfrm>
            <a:off x="10119504" y="350702"/>
            <a:ext cx="1589081" cy="296554"/>
          </a:xfrm>
          <a:prstGeom prst="rect">
            <a:avLst/>
          </a:prstGeom>
        </p:spPr>
      </p:pic>
      <p:sp>
        <p:nvSpPr>
          <p:cNvPr id="4" name="Slide Number Placeholder 5">
            <a:extLst>
              <a:ext uri="{FF2B5EF4-FFF2-40B4-BE49-F238E27FC236}">
                <a16:creationId xmlns:a16="http://schemas.microsoft.com/office/drawing/2014/main" id="{431799FC-469F-580B-48DA-9BC46B48AAA4}"/>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sp>
        <p:nvSpPr>
          <p:cNvPr id="5" name="Slide Number Placeholder 5">
            <a:extLst>
              <a:ext uri="{FF2B5EF4-FFF2-40B4-BE49-F238E27FC236}">
                <a16:creationId xmlns:a16="http://schemas.microsoft.com/office/drawing/2014/main" id="{C5842039-D254-86F5-6E93-608F88B6D008}"/>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253043711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Text - Gradient">
    <p:bg>
      <p:bgPr>
        <a:solidFill>
          <a:schemeClr val="bg1"/>
        </a:solidFill>
        <a:effectLst/>
      </p:bgPr>
    </p:bg>
    <p:spTree>
      <p:nvGrpSpPr>
        <p:cNvPr id="1" name=""/>
        <p:cNvGrpSpPr/>
        <p:nvPr/>
      </p:nvGrpSpPr>
      <p:grpSpPr>
        <a:xfrm>
          <a:off x="0" y="0"/>
          <a:ext cx="0" cy="0"/>
          <a:chOff x="0" y="0"/>
          <a:chExt cx="0" cy="0"/>
        </a:xfrm>
      </p:grpSpPr>
      <p:sp>
        <p:nvSpPr>
          <p:cNvPr id="5" name="Rechteck 10">
            <a:extLst>
              <a:ext uri="{FF2B5EF4-FFF2-40B4-BE49-F238E27FC236}">
                <a16:creationId xmlns:a16="http://schemas.microsoft.com/office/drawing/2014/main" id="{F7C06E8A-CBF1-05D3-A6EB-A7249CFCE251}"/>
              </a:ext>
            </a:extLst>
          </p:cNvPr>
          <p:cNvSpPr/>
          <p:nvPr userDrawn="1"/>
        </p:nvSpPr>
        <p:spPr>
          <a:xfrm>
            <a:off x="0" y="0"/>
            <a:ext cx="12191999" cy="6858000"/>
          </a:xfrm>
          <a:prstGeom prst="rect">
            <a:avLst/>
          </a:prstGeom>
          <a:gradFill flip="none" rotWithShape="1">
            <a:gsLst>
              <a:gs pos="53000">
                <a:srgbClr val="0A2592"/>
              </a:gs>
              <a:gs pos="100000">
                <a:srgbClr val="2250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5" y="2082909"/>
            <a:ext cx="11225169"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5" y="1308944"/>
            <a:ext cx="11225169"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pic>
        <p:nvPicPr>
          <p:cNvPr id="12" name="Picture 11">
            <a:extLst>
              <a:ext uri="{FF2B5EF4-FFF2-40B4-BE49-F238E27FC236}">
                <a16:creationId xmlns:a16="http://schemas.microsoft.com/office/drawing/2014/main" id="{B4399EA1-A44F-DBF5-6A4A-BD0EB3659F8E}"/>
              </a:ext>
            </a:extLst>
          </p:cNvPr>
          <p:cNvPicPr/>
          <p:nvPr userDrawn="1"/>
        </p:nvPicPr>
        <p:blipFill>
          <a:blip r:embed="rId2"/>
          <a:srcRect/>
          <a:stretch/>
        </p:blipFill>
        <p:spPr>
          <a:xfrm>
            <a:off x="10119504" y="350702"/>
            <a:ext cx="1589081" cy="296553"/>
          </a:xfrm>
          <a:prstGeom prst="rect">
            <a:avLst/>
          </a:prstGeom>
        </p:spPr>
      </p:pic>
      <p:sp>
        <p:nvSpPr>
          <p:cNvPr id="13" name="Slide Number Placeholder 5">
            <a:extLst>
              <a:ext uri="{FF2B5EF4-FFF2-40B4-BE49-F238E27FC236}">
                <a16:creationId xmlns:a16="http://schemas.microsoft.com/office/drawing/2014/main" id="{1113B8CD-71DA-B13D-E602-E27556F8DB54}"/>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4" name="Slide Number Placeholder 5">
            <a:extLst>
              <a:ext uri="{FF2B5EF4-FFF2-40B4-BE49-F238E27FC236}">
                <a16:creationId xmlns:a16="http://schemas.microsoft.com/office/drawing/2014/main" id="{E64C5340-AE86-368F-B50D-F1C0D52D6CD4}"/>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199939203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reserve="1">
  <p:cSld name="Text - Image - Gradient">
    <p:bg>
      <p:bgPr>
        <a:solidFill>
          <a:schemeClr val="bg1"/>
        </a:solidFill>
        <a:effectLst/>
      </p:bgPr>
    </p:bg>
    <p:spTree>
      <p:nvGrpSpPr>
        <p:cNvPr id="1" name=""/>
        <p:cNvGrpSpPr/>
        <p:nvPr/>
      </p:nvGrpSpPr>
      <p:grpSpPr>
        <a:xfrm>
          <a:off x="0" y="0"/>
          <a:ext cx="0" cy="0"/>
          <a:chOff x="0" y="0"/>
          <a:chExt cx="0" cy="0"/>
        </a:xfrm>
      </p:grpSpPr>
      <p:sp>
        <p:nvSpPr>
          <p:cNvPr id="10" name="Rechteck 10">
            <a:extLst>
              <a:ext uri="{FF2B5EF4-FFF2-40B4-BE49-F238E27FC236}">
                <a16:creationId xmlns:a16="http://schemas.microsoft.com/office/drawing/2014/main" id="{F4249F5F-9A66-085C-4C2F-724171CD8734}"/>
              </a:ext>
            </a:extLst>
          </p:cNvPr>
          <p:cNvSpPr/>
          <p:nvPr userDrawn="1"/>
        </p:nvSpPr>
        <p:spPr>
          <a:xfrm>
            <a:off x="0" y="0"/>
            <a:ext cx="12191999" cy="6858000"/>
          </a:xfrm>
          <a:prstGeom prst="rect">
            <a:avLst/>
          </a:prstGeom>
          <a:gradFill flip="none" rotWithShape="1">
            <a:gsLst>
              <a:gs pos="53000">
                <a:srgbClr val="0A2592"/>
              </a:gs>
              <a:gs pos="100000">
                <a:srgbClr val="2250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862956"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13" name="Slide Number Placeholder 5">
            <a:extLst>
              <a:ext uri="{FF2B5EF4-FFF2-40B4-BE49-F238E27FC236}">
                <a16:creationId xmlns:a16="http://schemas.microsoft.com/office/drawing/2014/main" id="{B6F99D34-2B6A-C9DB-81AC-AE756887AFEB}"/>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4" name="Slide Number Placeholder 5">
            <a:extLst>
              <a:ext uri="{FF2B5EF4-FFF2-40B4-BE49-F238E27FC236}">
                <a16:creationId xmlns:a16="http://schemas.microsoft.com/office/drawing/2014/main" id="{4CC1ED71-DC88-C375-59D2-CB2EE11A0390}"/>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92712074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obj" preserve="1">
  <p:cSld name="Text - Hexagon - Gradient 1">
    <p:bg>
      <p:bgPr>
        <a:solidFill>
          <a:schemeClr val="bg1"/>
        </a:solidFill>
        <a:effectLst/>
      </p:bgPr>
    </p:bg>
    <p:spTree>
      <p:nvGrpSpPr>
        <p:cNvPr id="1" name=""/>
        <p:cNvGrpSpPr/>
        <p:nvPr/>
      </p:nvGrpSpPr>
      <p:grpSpPr>
        <a:xfrm>
          <a:off x="0" y="0"/>
          <a:ext cx="0" cy="0"/>
          <a:chOff x="0" y="0"/>
          <a:chExt cx="0" cy="0"/>
        </a:xfrm>
      </p:grpSpPr>
      <p:sp>
        <p:nvSpPr>
          <p:cNvPr id="10" name="Rechteck 10">
            <a:extLst>
              <a:ext uri="{FF2B5EF4-FFF2-40B4-BE49-F238E27FC236}">
                <a16:creationId xmlns:a16="http://schemas.microsoft.com/office/drawing/2014/main" id="{F4249F5F-9A66-085C-4C2F-724171CD8734}"/>
              </a:ext>
            </a:extLst>
          </p:cNvPr>
          <p:cNvSpPr/>
          <p:nvPr userDrawn="1"/>
        </p:nvSpPr>
        <p:spPr>
          <a:xfrm>
            <a:off x="0" y="0"/>
            <a:ext cx="12191999" cy="6858000"/>
          </a:xfrm>
          <a:prstGeom prst="rect">
            <a:avLst/>
          </a:prstGeom>
          <a:gradFill flip="none" rotWithShape="1">
            <a:gsLst>
              <a:gs pos="53000">
                <a:srgbClr val="0A2592"/>
              </a:gs>
              <a:gs pos="100000">
                <a:srgbClr val="2250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862956"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pic>
        <p:nvPicPr>
          <p:cNvPr id="5" name="Picture 4">
            <a:extLst>
              <a:ext uri="{FF2B5EF4-FFF2-40B4-BE49-F238E27FC236}">
                <a16:creationId xmlns:a16="http://schemas.microsoft.com/office/drawing/2014/main" id="{92B0E136-47FD-6B54-DE6F-1379612009B3}"/>
              </a:ext>
            </a:extLst>
          </p:cNvPr>
          <p:cNvPicPr>
            <a:picLocks noChangeAspect="1"/>
          </p:cNvPicPr>
          <p:nvPr userDrawn="1"/>
        </p:nvPicPr>
        <p:blipFill>
          <a:blip r:embed="rId2"/>
          <a:srcRect/>
          <a:stretch/>
        </p:blipFill>
        <p:spPr>
          <a:xfrm>
            <a:off x="7066629" y="1371601"/>
            <a:ext cx="4641956" cy="4638671"/>
          </a:xfrm>
          <a:prstGeom prst="rect">
            <a:avLst/>
          </a:prstGeom>
        </p:spPr>
      </p:pic>
      <p:pic>
        <p:nvPicPr>
          <p:cNvPr id="6" name="Picture 5">
            <a:extLst>
              <a:ext uri="{FF2B5EF4-FFF2-40B4-BE49-F238E27FC236}">
                <a16:creationId xmlns:a16="http://schemas.microsoft.com/office/drawing/2014/main" id="{CD962274-383A-BDCA-CD1C-762307F0832E}"/>
              </a:ext>
            </a:extLst>
          </p:cNvPr>
          <p:cNvPicPr>
            <a:picLocks noChangeAspect="1"/>
          </p:cNvPicPr>
          <p:nvPr userDrawn="1"/>
        </p:nvPicPr>
        <p:blipFill>
          <a:blip r:embed="rId3"/>
          <a:srcRect/>
          <a:stretch/>
        </p:blipFill>
        <p:spPr>
          <a:xfrm>
            <a:off x="7284813" y="1607139"/>
            <a:ext cx="4203028" cy="4165048"/>
          </a:xfrm>
          <a:prstGeom prst="rect">
            <a:avLst/>
          </a:prstGeom>
        </p:spPr>
      </p:pic>
      <p:pic>
        <p:nvPicPr>
          <p:cNvPr id="12" name="Picture 11">
            <a:extLst>
              <a:ext uri="{FF2B5EF4-FFF2-40B4-BE49-F238E27FC236}">
                <a16:creationId xmlns:a16="http://schemas.microsoft.com/office/drawing/2014/main" id="{B4399EA1-A44F-DBF5-6A4A-BD0EB3659F8E}"/>
              </a:ext>
            </a:extLst>
          </p:cNvPr>
          <p:cNvPicPr/>
          <p:nvPr userDrawn="1"/>
        </p:nvPicPr>
        <p:blipFill>
          <a:blip r:embed="rId4"/>
          <a:srcRect/>
          <a:stretch/>
        </p:blipFill>
        <p:spPr>
          <a:xfrm>
            <a:off x="10119504" y="350702"/>
            <a:ext cx="1589081" cy="296553"/>
          </a:xfrm>
          <a:prstGeom prst="rect">
            <a:avLst/>
          </a:prstGeom>
        </p:spPr>
      </p:pic>
      <p:sp>
        <p:nvSpPr>
          <p:cNvPr id="13" name="Slide Number Placeholder 5">
            <a:extLst>
              <a:ext uri="{FF2B5EF4-FFF2-40B4-BE49-F238E27FC236}">
                <a16:creationId xmlns:a16="http://schemas.microsoft.com/office/drawing/2014/main" id="{B6F99D34-2B6A-C9DB-81AC-AE756887AFEB}"/>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4" name="Slide Number Placeholder 5">
            <a:extLst>
              <a:ext uri="{FF2B5EF4-FFF2-40B4-BE49-F238E27FC236}">
                <a16:creationId xmlns:a16="http://schemas.microsoft.com/office/drawing/2014/main" id="{4CC1ED71-DC88-C375-59D2-CB2EE11A0390}"/>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409110389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obj" preserve="1">
  <p:cSld name="Text - Hexagon - Gradient 2">
    <p:bg>
      <p:bgPr>
        <a:solidFill>
          <a:schemeClr val="bg1"/>
        </a:solidFill>
        <a:effectLst/>
      </p:bgPr>
    </p:bg>
    <p:spTree>
      <p:nvGrpSpPr>
        <p:cNvPr id="1" name=""/>
        <p:cNvGrpSpPr/>
        <p:nvPr/>
      </p:nvGrpSpPr>
      <p:grpSpPr>
        <a:xfrm>
          <a:off x="0" y="0"/>
          <a:ext cx="0" cy="0"/>
          <a:chOff x="0" y="0"/>
          <a:chExt cx="0" cy="0"/>
        </a:xfrm>
      </p:grpSpPr>
      <p:sp>
        <p:nvSpPr>
          <p:cNvPr id="5" name="Rechteck 10">
            <a:extLst>
              <a:ext uri="{FF2B5EF4-FFF2-40B4-BE49-F238E27FC236}">
                <a16:creationId xmlns:a16="http://schemas.microsoft.com/office/drawing/2014/main" id="{56ABECD5-69C2-01F6-AA6E-D98E25B0FE61}"/>
              </a:ext>
            </a:extLst>
          </p:cNvPr>
          <p:cNvSpPr/>
          <p:nvPr userDrawn="1"/>
        </p:nvSpPr>
        <p:spPr>
          <a:xfrm>
            <a:off x="0" y="0"/>
            <a:ext cx="12191999" cy="6858000"/>
          </a:xfrm>
          <a:prstGeom prst="rect">
            <a:avLst/>
          </a:prstGeom>
          <a:gradFill flip="none" rotWithShape="1">
            <a:gsLst>
              <a:gs pos="53000">
                <a:srgbClr val="0A2592"/>
              </a:gs>
              <a:gs pos="100000">
                <a:srgbClr val="2250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862956"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pic>
        <p:nvPicPr>
          <p:cNvPr id="12" name="Picture 11">
            <a:extLst>
              <a:ext uri="{FF2B5EF4-FFF2-40B4-BE49-F238E27FC236}">
                <a16:creationId xmlns:a16="http://schemas.microsoft.com/office/drawing/2014/main" id="{B4399EA1-A44F-DBF5-6A4A-BD0EB3659F8E}"/>
              </a:ext>
            </a:extLst>
          </p:cNvPr>
          <p:cNvPicPr/>
          <p:nvPr userDrawn="1"/>
        </p:nvPicPr>
        <p:blipFill>
          <a:blip r:embed="rId2"/>
          <a:srcRect/>
          <a:stretch/>
        </p:blipFill>
        <p:spPr>
          <a:xfrm>
            <a:off x="10119504" y="350702"/>
            <a:ext cx="1589081" cy="296553"/>
          </a:xfrm>
          <a:prstGeom prst="rect">
            <a:avLst/>
          </a:prstGeom>
        </p:spPr>
      </p:pic>
      <p:pic>
        <p:nvPicPr>
          <p:cNvPr id="10" name="Picture 9">
            <a:extLst>
              <a:ext uri="{FF2B5EF4-FFF2-40B4-BE49-F238E27FC236}">
                <a16:creationId xmlns:a16="http://schemas.microsoft.com/office/drawing/2014/main" id="{DC3BCE5D-A113-417B-0442-62C437D955BC}"/>
              </a:ext>
            </a:extLst>
          </p:cNvPr>
          <p:cNvPicPr>
            <a:picLocks noChangeAspect="1"/>
          </p:cNvPicPr>
          <p:nvPr userDrawn="1"/>
        </p:nvPicPr>
        <p:blipFill>
          <a:blip r:embed="rId3"/>
          <a:srcRect/>
          <a:stretch/>
        </p:blipFill>
        <p:spPr>
          <a:xfrm>
            <a:off x="7066629" y="1371601"/>
            <a:ext cx="4641956" cy="4638671"/>
          </a:xfrm>
          <a:prstGeom prst="rect">
            <a:avLst/>
          </a:prstGeom>
        </p:spPr>
      </p:pic>
      <p:pic>
        <p:nvPicPr>
          <p:cNvPr id="13" name="Picture 12">
            <a:extLst>
              <a:ext uri="{FF2B5EF4-FFF2-40B4-BE49-F238E27FC236}">
                <a16:creationId xmlns:a16="http://schemas.microsoft.com/office/drawing/2014/main" id="{39DE3CBB-C3C3-73CD-72CC-C20ACCC1C42D}"/>
              </a:ext>
            </a:extLst>
          </p:cNvPr>
          <p:cNvPicPr>
            <a:picLocks noChangeAspect="1"/>
          </p:cNvPicPr>
          <p:nvPr userDrawn="1"/>
        </p:nvPicPr>
        <p:blipFill>
          <a:blip r:embed="rId4"/>
          <a:srcRect/>
          <a:stretch/>
        </p:blipFill>
        <p:spPr>
          <a:xfrm>
            <a:off x="7284813" y="1607138"/>
            <a:ext cx="4203028" cy="4165048"/>
          </a:xfrm>
          <a:prstGeom prst="rect">
            <a:avLst/>
          </a:prstGeom>
        </p:spPr>
      </p:pic>
      <p:sp>
        <p:nvSpPr>
          <p:cNvPr id="6" name="Slide Number Placeholder 5">
            <a:extLst>
              <a:ext uri="{FF2B5EF4-FFF2-40B4-BE49-F238E27FC236}">
                <a16:creationId xmlns:a16="http://schemas.microsoft.com/office/drawing/2014/main" id="{AEF56B11-2672-9B16-AFAE-2027CDA4F7DD}"/>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4" name="Slide Number Placeholder 5">
            <a:extLst>
              <a:ext uri="{FF2B5EF4-FFF2-40B4-BE49-F238E27FC236}">
                <a16:creationId xmlns:a16="http://schemas.microsoft.com/office/drawing/2014/main" id="{A51362F1-4717-4465-7E09-063D89E80598}"/>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2993950483"/>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 preserve="1">
  <p:cSld name="Text 2 columns - Gradient">
    <p:bg>
      <p:bgPr>
        <a:solidFill>
          <a:schemeClr val="bg1"/>
        </a:solidFill>
        <a:effectLst/>
      </p:bgPr>
    </p:bg>
    <p:spTree>
      <p:nvGrpSpPr>
        <p:cNvPr id="1" name=""/>
        <p:cNvGrpSpPr/>
        <p:nvPr/>
      </p:nvGrpSpPr>
      <p:grpSpPr>
        <a:xfrm>
          <a:off x="0" y="0"/>
          <a:ext cx="0" cy="0"/>
          <a:chOff x="0" y="0"/>
          <a:chExt cx="0" cy="0"/>
        </a:xfrm>
      </p:grpSpPr>
      <p:sp>
        <p:nvSpPr>
          <p:cNvPr id="7" name="Rechteck 10">
            <a:extLst>
              <a:ext uri="{FF2B5EF4-FFF2-40B4-BE49-F238E27FC236}">
                <a16:creationId xmlns:a16="http://schemas.microsoft.com/office/drawing/2014/main" id="{0EF485AE-CDCF-333F-BBE8-EF458BC86918}"/>
              </a:ext>
            </a:extLst>
          </p:cNvPr>
          <p:cNvSpPr/>
          <p:nvPr userDrawn="1"/>
        </p:nvSpPr>
        <p:spPr>
          <a:xfrm>
            <a:off x="0" y="0"/>
            <a:ext cx="12191999" cy="6858000"/>
          </a:xfrm>
          <a:prstGeom prst="rect">
            <a:avLst/>
          </a:prstGeom>
          <a:gradFill flip="none" rotWithShape="1">
            <a:gsLst>
              <a:gs pos="53000">
                <a:srgbClr val="0A2592"/>
              </a:gs>
              <a:gs pos="100000">
                <a:srgbClr val="2250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438413"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13" name="Content Placeholder 2">
            <a:extLst>
              <a:ext uri="{FF2B5EF4-FFF2-40B4-BE49-F238E27FC236}">
                <a16:creationId xmlns:a16="http://schemas.microsoft.com/office/drawing/2014/main" id="{8018B9B1-C9B0-D3F5-2FF0-F2753A31B9DA}"/>
              </a:ext>
            </a:extLst>
          </p:cNvPr>
          <p:cNvSpPr>
            <a:spLocks noGrp="1"/>
          </p:cNvSpPr>
          <p:nvPr>
            <p:ph idx="11" hasCustomPrompt="1"/>
          </p:nvPr>
        </p:nvSpPr>
        <p:spPr>
          <a:xfrm>
            <a:off x="6274616" y="2082909"/>
            <a:ext cx="5438413"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pic>
        <p:nvPicPr>
          <p:cNvPr id="6" name="Picture 5">
            <a:extLst>
              <a:ext uri="{FF2B5EF4-FFF2-40B4-BE49-F238E27FC236}">
                <a16:creationId xmlns:a16="http://schemas.microsoft.com/office/drawing/2014/main" id="{11B50FC1-3C88-32C9-AA18-FCB1A15A9DC1}"/>
              </a:ext>
            </a:extLst>
          </p:cNvPr>
          <p:cNvPicPr/>
          <p:nvPr userDrawn="1"/>
        </p:nvPicPr>
        <p:blipFill>
          <a:blip r:embed="rId2"/>
          <a:srcRect/>
          <a:stretch/>
        </p:blipFill>
        <p:spPr>
          <a:xfrm>
            <a:off x="10119504" y="350702"/>
            <a:ext cx="1589081" cy="296553"/>
          </a:xfrm>
          <a:prstGeom prst="rect">
            <a:avLst/>
          </a:prstGeom>
        </p:spPr>
      </p:pic>
      <p:sp>
        <p:nvSpPr>
          <p:cNvPr id="10" name="Slide Number Placeholder 5">
            <a:extLst>
              <a:ext uri="{FF2B5EF4-FFF2-40B4-BE49-F238E27FC236}">
                <a16:creationId xmlns:a16="http://schemas.microsoft.com/office/drawing/2014/main" id="{DF14C0AB-8FCF-2FCA-039B-DE0760D467E8}"/>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2" name="Slide Number Placeholder 5">
            <a:extLst>
              <a:ext uri="{FF2B5EF4-FFF2-40B4-BE49-F238E27FC236}">
                <a16:creationId xmlns:a16="http://schemas.microsoft.com/office/drawing/2014/main" id="{7F263407-8A16-1A30-C969-918D44E0F7B3}"/>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2620834198"/>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ext 3 columns - Gradient">
    <p:bg>
      <p:bgPr>
        <a:solidFill>
          <a:schemeClr val="bg1"/>
        </a:solidFill>
        <a:effectLst/>
      </p:bgPr>
    </p:bg>
    <p:spTree>
      <p:nvGrpSpPr>
        <p:cNvPr id="1" name=""/>
        <p:cNvGrpSpPr/>
        <p:nvPr/>
      </p:nvGrpSpPr>
      <p:grpSpPr>
        <a:xfrm>
          <a:off x="0" y="0"/>
          <a:ext cx="0" cy="0"/>
          <a:chOff x="0" y="0"/>
          <a:chExt cx="0" cy="0"/>
        </a:xfrm>
      </p:grpSpPr>
      <p:sp>
        <p:nvSpPr>
          <p:cNvPr id="12" name="Rechteck 10">
            <a:extLst>
              <a:ext uri="{FF2B5EF4-FFF2-40B4-BE49-F238E27FC236}">
                <a16:creationId xmlns:a16="http://schemas.microsoft.com/office/drawing/2014/main" id="{6F8BAC4A-9084-01CA-B106-3AB00C0DFD3E}"/>
              </a:ext>
            </a:extLst>
          </p:cNvPr>
          <p:cNvSpPr/>
          <p:nvPr userDrawn="1"/>
        </p:nvSpPr>
        <p:spPr>
          <a:xfrm>
            <a:off x="0" y="0"/>
            <a:ext cx="12191999" cy="6858000"/>
          </a:xfrm>
          <a:prstGeom prst="rect">
            <a:avLst/>
          </a:prstGeom>
          <a:gradFill flip="none" rotWithShape="1">
            <a:gsLst>
              <a:gs pos="53000">
                <a:srgbClr val="0A2592"/>
              </a:gs>
              <a:gs pos="100000">
                <a:srgbClr val="2250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3576955"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5" name="Content Placeholder 2">
            <a:extLst>
              <a:ext uri="{FF2B5EF4-FFF2-40B4-BE49-F238E27FC236}">
                <a16:creationId xmlns:a16="http://schemas.microsoft.com/office/drawing/2014/main" id="{F6AFB6C2-D330-7E98-CE89-B53228C709D2}"/>
              </a:ext>
            </a:extLst>
          </p:cNvPr>
          <p:cNvSpPr>
            <a:spLocks noGrp="1"/>
          </p:cNvSpPr>
          <p:nvPr>
            <p:ph idx="11" hasCustomPrompt="1"/>
          </p:nvPr>
        </p:nvSpPr>
        <p:spPr>
          <a:xfrm>
            <a:off x="4307522" y="2082909"/>
            <a:ext cx="3576955"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sp>
        <p:nvSpPr>
          <p:cNvPr id="6" name="Content Placeholder 2">
            <a:extLst>
              <a:ext uri="{FF2B5EF4-FFF2-40B4-BE49-F238E27FC236}">
                <a16:creationId xmlns:a16="http://schemas.microsoft.com/office/drawing/2014/main" id="{16343C83-9CCA-D975-BA26-C5F708C4A31E}"/>
              </a:ext>
            </a:extLst>
          </p:cNvPr>
          <p:cNvSpPr>
            <a:spLocks noGrp="1"/>
          </p:cNvSpPr>
          <p:nvPr>
            <p:ph idx="12" hasCustomPrompt="1"/>
          </p:nvPr>
        </p:nvSpPr>
        <p:spPr>
          <a:xfrm>
            <a:off x="8131629" y="2082909"/>
            <a:ext cx="3576955"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pic>
        <p:nvPicPr>
          <p:cNvPr id="13" name="Picture 12">
            <a:extLst>
              <a:ext uri="{FF2B5EF4-FFF2-40B4-BE49-F238E27FC236}">
                <a16:creationId xmlns:a16="http://schemas.microsoft.com/office/drawing/2014/main" id="{B4D9F112-C12E-FFC8-DF18-B903D7627877}"/>
              </a:ext>
            </a:extLst>
          </p:cNvPr>
          <p:cNvPicPr/>
          <p:nvPr userDrawn="1"/>
        </p:nvPicPr>
        <p:blipFill>
          <a:blip r:embed="rId2"/>
          <a:srcRect/>
          <a:stretch/>
        </p:blipFill>
        <p:spPr>
          <a:xfrm>
            <a:off x="10119504" y="350702"/>
            <a:ext cx="1589081" cy="296553"/>
          </a:xfrm>
          <a:prstGeom prst="rect">
            <a:avLst/>
          </a:prstGeom>
        </p:spPr>
      </p:pic>
      <p:sp>
        <p:nvSpPr>
          <p:cNvPr id="14" name="Slide Number Placeholder 5">
            <a:extLst>
              <a:ext uri="{FF2B5EF4-FFF2-40B4-BE49-F238E27FC236}">
                <a16:creationId xmlns:a16="http://schemas.microsoft.com/office/drawing/2014/main" id="{9ED57B3A-1189-DEAE-9184-DD769F03CBCE}"/>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5" name="Slide Number Placeholder 5">
            <a:extLst>
              <a:ext uri="{FF2B5EF4-FFF2-40B4-BE49-F238E27FC236}">
                <a16:creationId xmlns:a16="http://schemas.microsoft.com/office/drawing/2014/main" id="{C28850C5-5D11-343B-27A2-07C114CCF2EF}"/>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352110081"/>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 Gradient">
    <p:spTree>
      <p:nvGrpSpPr>
        <p:cNvPr id="1" name=""/>
        <p:cNvGrpSpPr/>
        <p:nvPr/>
      </p:nvGrpSpPr>
      <p:grpSpPr>
        <a:xfrm>
          <a:off x="0" y="0"/>
          <a:ext cx="0" cy="0"/>
          <a:chOff x="0" y="0"/>
          <a:chExt cx="0" cy="0"/>
        </a:xfrm>
      </p:grpSpPr>
      <p:sp>
        <p:nvSpPr>
          <p:cNvPr id="4" name="Rechteck 10">
            <a:extLst>
              <a:ext uri="{FF2B5EF4-FFF2-40B4-BE49-F238E27FC236}">
                <a16:creationId xmlns:a16="http://schemas.microsoft.com/office/drawing/2014/main" id="{92D475C8-E86F-9AAF-1527-5F7C298407F1}"/>
              </a:ext>
            </a:extLst>
          </p:cNvPr>
          <p:cNvSpPr/>
          <p:nvPr userDrawn="1"/>
        </p:nvSpPr>
        <p:spPr>
          <a:xfrm>
            <a:off x="0" y="0"/>
            <a:ext cx="12191999" cy="6858000"/>
          </a:xfrm>
          <a:prstGeom prst="rect">
            <a:avLst/>
          </a:prstGeom>
          <a:gradFill flip="none" rotWithShape="1">
            <a:gsLst>
              <a:gs pos="53000">
                <a:srgbClr val="0A2592"/>
              </a:gs>
              <a:gs pos="100000">
                <a:srgbClr val="2250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a:extLst>
              <a:ext uri="{FF2B5EF4-FFF2-40B4-BE49-F238E27FC236}">
                <a16:creationId xmlns:a16="http://schemas.microsoft.com/office/drawing/2014/main" id="{AAB9303C-1A66-4748-B626-8DD339D7E36C}"/>
              </a:ext>
            </a:extLst>
          </p:cNvPr>
          <p:cNvSpPr>
            <a:spLocks noGrp="1"/>
          </p:cNvSpPr>
          <p:nvPr>
            <p:ph type="title"/>
          </p:nvPr>
        </p:nvSpPr>
        <p:spPr>
          <a:xfrm>
            <a:off x="482400" y="349200"/>
            <a:ext cx="4738501" cy="432000"/>
          </a:xfrm>
        </p:spPr>
        <p:txBody>
          <a:bodyPr lIns="72000" tIns="36000" rIns="72000" bIns="36000"/>
          <a:lstStyle>
            <a:lvl1pPr>
              <a:defRPr sz="2600"/>
            </a:lvl1pPr>
          </a:lstStyle>
          <a:p>
            <a:r>
              <a:rPr lang="en-US"/>
              <a:t>Click to edit Master title style</a:t>
            </a:r>
            <a:endParaRPr lang="en-GB"/>
          </a:p>
        </p:txBody>
      </p:sp>
      <p:pic>
        <p:nvPicPr>
          <p:cNvPr id="8" name="Picture 7">
            <a:extLst>
              <a:ext uri="{FF2B5EF4-FFF2-40B4-BE49-F238E27FC236}">
                <a16:creationId xmlns:a16="http://schemas.microsoft.com/office/drawing/2014/main" id="{77A95A5A-7EDA-4530-9F96-16A0E2CA69DE}"/>
              </a:ext>
            </a:extLst>
          </p:cNvPr>
          <p:cNvPicPr/>
          <p:nvPr userDrawn="1"/>
        </p:nvPicPr>
        <p:blipFill>
          <a:blip r:embed="rId2"/>
          <a:srcRect/>
          <a:stretch/>
        </p:blipFill>
        <p:spPr>
          <a:xfrm>
            <a:off x="10119504" y="350702"/>
            <a:ext cx="1589081" cy="296553"/>
          </a:xfrm>
          <a:prstGeom prst="rect">
            <a:avLst/>
          </a:prstGeom>
        </p:spPr>
      </p:pic>
      <p:sp>
        <p:nvSpPr>
          <p:cNvPr id="9" name="Slide Number Placeholder 5">
            <a:extLst>
              <a:ext uri="{FF2B5EF4-FFF2-40B4-BE49-F238E27FC236}">
                <a16:creationId xmlns:a16="http://schemas.microsoft.com/office/drawing/2014/main" id="{A8101059-5A5E-E286-B2FB-81E98250C79E}"/>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0" name="Slide Number Placeholder 5">
            <a:extLst>
              <a:ext uri="{FF2B5EF4-FFF2-40B4-BE49-F238E27FC236}">
                <a16:creationId xmlns:a16="http://schemas.microsoft.com/office/drawing/2014/main" id="{78408848-5F14-71C8-95D8-DEEE569318F6}"/>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1833244300"/>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adient">
    <p:spTree>
      <p:nvGrpSpPr>
        <p:cNvPr id="1" name=""/>
        <p:cNvGrpSpPr/>
        <p:nvPr/>
      </p:nvGrpSpPr>
      <p:grpSpPr>
        <a:xfrm>
          <a:off x="0" y="0"/>
          <a:ext cx="0" cy="0"/>
          <a:chOff x="0" y="0"/>
          <a:chExt cx="0" cy="0"/>
        </a:xfrm>
      </p:grpSpPr>
      <p:sp>
        <p:nvSpPr>
          <p:cNvPr id="4" name="Rechteck 10">
            <a:extLst>
              <a:ext uri="{FF2B5EF4-FFF2-40B4-BE49-F238E27FC236}">
                <a16:creationId xmlns:a16="http://schemas.microsoft.com/office/drawing/2014/main" id="{6A574E42-9543-D779-8EB7-2C538C77731B}"/>
              </a:ext>
            </a:extLst>
          </p:cNvPr>
          <p:cNvSpPr/>
          <p:nvPr userDrawn="1"/>
        </p:nvSpPr>
        <p:spPr>
          <a:xfrm>
            <a:off x="0" y="0"/>
            <a:ext cx="12191999" cy="6858000"/>
          </a:xfrm>
          <a:prstGeom prst="rect">
            <a:avLst/>
          </a:prstGeom>
          <a:gradFill flip="none" rotWithShape="1">
            <a:gsLst>
              <a:gs pos="53000">
                <a:srgbClr val="0A2592"/>
              </a:gs>
              <a:gs pos="100000">
                <a:srgbClr val="2250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Picture 4">
            <a:extLst>
              <a:ext uri="{FF2B5EF4-FFF2-40B4-BE49-F238E27FC236}">
                <a16:creationId xmlns:a16="http://schemas.microsoft.com/office/drawing/2014/main" id="{39CCF1B8-EB8B-F36D-1158-90FE4F528D9E}"/>
              </a:ext>
            </a:extLst>
          </p:cNvPr>
          <p:cNvPicPr/>
          <p:nvPr userDrawn="1"/>
        </p:nvPicPr>
        <p:blipFill>
          <a:blip r:embed="rId2"/>
          <a:srcRect/>
          <a:stretch/>
        </p:blipFill>
        <p:spPr>
          <a:xfrm>
            <a:off x="10119504" y="350702"/>
            <a:ext cx="1589081" cy="296553"/>
          </a:xfrm>
          <a:prstGeom prst="rect">
            <a:avLst/>
          </a:prstGeom>
        </p:spPr>
      </p:pic>
      <p:sp>
        <p:nvSpPr>
          <p:cNvPr id="7" name="Slide Number Placeholder 5">
            <a:extLst>
              <a:ext uri="{FF2B5EF4-FFF2-40B4-BE49-F238E27FC236}">
                <a16:creationId xmlns:a16="http://schemas.microsoft.com/office/drawing/2014/main" id="{DCAE4310-0013-FF05-48A7-F65D1DD9E69E}"/>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8" name="Slide Number Placeholder 5">
            <a:extLst>
              <a:ext uri="{FF2B5EF4-FFF2-40B4-BE49-F238E27FC236}">
                <a16:creationId xmlns:a16="http://schemas.microsoft.com/office/drawing/2014/main" id="{6A1621DE-885A-25FD-387C-E6916A70151C}"/>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3997497794"/>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obj" preserve="1">
  <p:cSld name="Text - Dark Blue">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821E75C-54D2-1EC4-58CA-F69BEE5292E6}"/>
              </a:ext>
            </a:extLst>
          </p:cNvPr>
          <p:cNvSpPr/>
          <p:nvPr userDrawn="1"/>
        </p:nvSpPr>
        <p:spPr>
          <a:xfrm>
            <a:off x="0" y="0"/>
            <a:ext cx="12192000" cy="6858000"/>
          </a:xfrm>
          <a:prstGeom prst="rect">
            <a:avLst/>
          </a:prstGeom>
          <a:solidFill>
            <a:srgbClr val="010F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5" y="2082909"/>
            <a:ext cx="11225169"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5" y="1308944"/>
            <a:ext cx="11225169"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pic>
        <p:nvPicPr>
          <p:cNvPr id="12" name="Picture 11">
            <a:extLst>
              <a:ext uri="{FF2B5EF4-FFF2-40B4-BE49-F238E27FC236}">
                <a16:creationId xmlns:a16="http://schemas.microsoft.com/office/drawing/2014/main" id="{B4399EA1-A44F-DBF5-6A4A-BD0EB3659F8E}"/>
              </a:ext>
            </a:extLst>
          </p:cNvPr>
          <p:cNvPicPr/>
          <p:nvPr userDrawn="1"/>
        </p:nvPicPr>
        <p:blipFill>
          <a:blip r:embed="rId2"/>
          <a:srcRect/>
          <a:stretch/>
        </p:blipFill>
        <p:spPr>
          <a:xfrm>
            <a:off x="10119504" y="350702"/>
            <a:ext cx="1589081" cy="296553"/>
          </a:xfrm>
          <a:prstGeom prst="rect">
            <a:avLst/>
          </a:prstGeom>
        </p:spPr>
      </p:pic>
      <p:sp>
        <p:nvSpPr>
          <p:cNvPr id="13" name="Slide Number Placeholder 5">
            <a:extLst>
              <a:ext uri="{FF2B5EF4-FFF2-40B4-BE49-F238E27FC236}">
                <a16:creationId xmlns:a16="http://schemas.microsoft.com/office/drawing/2014/main" id="{1113B8CD-71DA-B13D-E602-E27556F8DB54}"/>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4" name="Slide Number Placeholder 5">
            <a:extLst>
              <a:ext uri="{FF2B5EF4-FFF2-40B4-BE49-F238E27FC236}">
                <a16:creationId xmlns:a16="http://schemas.microsoft.com/office/drawing/2014/main" id="{E64C5340-AE86-368F-B50D-F1C0D52D6CD4}"/>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3631875266"/>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obj" preserve="1">
  <p:cSld name="Text - Image - Dark Blu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BE6C5A6-4932-0AD5-691C-BDB6EEBE3D81}"/>
              </a:ext>
            </a:extLst>
          </p:cNvPr>
          <p:cNvSpPr/>
          <p:nvPr userDrawn="1"/>
        </p:nvSpPr>
        <p:spPr>
          <a:xfrm>
            <a:off x="0" y="0"/>
            <a:ext cx="12192000" cy="6858000"/>
          </a:xfrm>
          <a:prstGeom prst="rect">
            <a:avLst/>
          </a:prstGeom>
          <a:solidFill>
            <a:srgbClr val="010F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862956"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13" name="Slide Number Placeholder 5">
            <a:extLst>
              <a:ext uri="{FF2B5EF4-FFF2-40B4-BE49-F238E27FC236}">
                <a16:creationId xmlns:a16="http://schemas.microsoft.com/office/drawing/2014/main" id="{868DE7DC-B94E-3D8A-2B93-5080203FE5CF}"/>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4" name="Slide Number Placeholder 5">
            <a:extLst>
              <a:ext uri="{FF2B5EF4-FFF2-40B4-BE49-F238E27FC236}">
                <a16:creationId xmlns:a16="http://schemas.microsoft.com/office/drawing/2014/main" id="{838747CC-4D62-35A2-BC1F-7BF3F7B0B46F}"/>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738868597"/>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obj" preserve="1">
  <p:cSld name="Text - Hexagon - Dark Blue 1">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BE6C5A6-4932-0AD5-691C-BDB6EEBE3D81}"/>
              </a:ext>
            </a:extLst>
          </p:cNvPr>
          <p:cNvSpPr/>
          <p:nvPr userDrawn="1"/>
        </p:nvSpPr>
        <p:spPr>
          <a:xfrm>
            <a:off x="0" y="0"/>
            <a:ext cx="12192000" cy="6858000"/>
          </a:xfrm>
          <a:prstGeom prst="rect">
            <a:avLst/>
          </a:prstGeom>
          <a:solidFill>
            <a:srgbClr val="010F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862956"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pic>
        <p:nvPicPr>
          <p:cNvPr id="5" name="Picture 4">
            <a:extLst>
              <a:ext uri="{FF2B5EF4-FFF2-40B4-BE49-F238E27FC236}">
                <a16:creationId xmlns:a16="http://schemas.microsoft.com/office/drawing/2014/main" id="{92B0E136-47FD-6B54-DE6F-1379612009B3}"/>
              </a:ext>
            </a:extLst>
          </p:cNvPr>
          <p:cNvPicPr>
            <a:picLocks noChangeAspect="1"/>
          </p:cNvPicPr>
          <p:nvPr userDrawn="1"/>
        </p:nvPicPr>
        <p:blipFill>
          <a:blip r:embed="rId2"/>
          <a:srcRect/>
          <a:stretch/>
        </p:blipFill>
        <p:spPr>
          <a:xfrm>
            <a:off x="7066629" y="1371601"/>
            <a:ext cx="4641956" cy="4638671"/>
          </a:xfrm>
          <a:prstGeom prst="rect">
            <a:avLst/>
          </a:prstGeom>
        </p:spPr>
      </p:pic>
      <p:pic>
        <p:nvPicPr>
          <p:cNvPr id="6" name="Picture 5">
            <a:extLst>
              <a:ext uri="{FF2B5EF4-FFF2-40B4-BE49-F238E27FC236}">
                <a16:creationId xmlns:a16="http://schemas.microsoft.com/office/drawing/2014/main" id="{CD962274-383A-BDCA-CD1C-762307F0832E}"/>
              </a:ext>
            </a:extLst>
          </p:cNvPr>
          <p:cNvPicPr>
            <a:picLocks noChangeAspect="1"/>
          </p:cNvPicPr>
          <p:nvPr userDrawn="1"/>
        </p:nvPicPr>
        <p:blipFill>
          <a:blip r:embed="rId3"/>
          <a:srcRect/>
          <a:stretch/>
        </p:blipFill>
        <p:spPr>
          <a:xfrm>
            <a:off x="7284813" y="1607139"/>
            <a:ext cx="4203028" cy="4165048"/>
          </a:xfrm>
          <a:prstGeom prst="rect">
            <a:avLst/>
          </a:prstGeom>
        </p:spPr>
      </p:pic>
      <p:pic>
        <p:nvPicPr>
          <p:cNvPr id="12" name="Picture 11">
            <a:extLst>
              <a:ext uri="{FF2B5EF4-FFF2-40B4-BE49-F238E27FC236}">
                <a16:creationId xmlns:a16="http://schemas.microsoft.com/office/drawing/2014/main" id="{B4399EA1-A44F-DBF5-6A4A-BD0EB3659F8E}"/>
              </a:ext>
            </a:extLst>
          </p:cNvPr>
          <p:cNvPicPr/>
          <p:nvPr userDrawn="1"/>
        </p:nvPicPr>
        <p:blipFill>
          <a:blip r:embed="rId4"/>
          <a:srcRect/>
          <a:stretch/>
        </p:blipFill>
        <p:spPr>
          <a:xfrm>
            <a:off x="10119504" y="350702"/>
            <a:ext cx="1589081" cy="296553"/>
          </a:xfrm>
          <a:prstGeom prst="rect">
            <a:avLst/>
          </a:prstGeom>
        </p:spPr>
      </p:pic>
      <p:sp>
        <p:nvSpPr>
          <p:cNvPr id="13" name="Slide Number Placeholder 5">
            <a:extLst>
              <a:ext uri="{FF2B5EF4-FFF2-40B4-BE49-F238E27FC236}">
                <a16:creationId xmlns:a16="http://schemas.microsoft.com/office/drawing/2014/main" id="{868DE7DC-B94E-3D8A-2B93-5080203FE5CF}"/>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4" name="Slide Number Placeholder 5">
            <a:extLst>
              <a:ext uri="{FF2B5EF4-FFF2-40B4-BE49-F238E27FC236}">
                <a16:creationId xmlns:a16="http://schemas.microsoft.com/office/drawing/2014/main" id="{838747CC-4D62-35A2-BC1F-7BF3F7B0B46F}"/>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3134096766"/>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obj" preserve="1">
  <p:cSld name="Text - Hexagon - Dark Blue 2">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2B58DC8-5901-7B11-5F4B-21F3E1EE91AB}"/>
              </a:ext>
            </a:extLst>
          </p:cNvPr>
          <p:cNvSpPr/>
          <p:nvPr userDrawn="1"/>
        </p:nvSpPr>
        <p:spPr>
          <a:xfrm>
            <a:off x="0" y="0"/>
            <a:ext cx="12192000" cy="6858000"/>
          </a:xfrm>
          <a:prstGeom prst="rect">
            <a:avLst/>
          </a:prstGeom>
          <a:solidFill>
            <a:srgbClr val="010F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862956"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pic>
        <p:nvPicPr>
          <p:cNvPr id="12" name="Picture 11">
            <a:extLst>
              <a:ext uri="{FF2B5EF4-FFF2-40B4-BE49-F238E27FC236}">
                <a16:creationId xmlns:a16="http://schemas.microsoft.com/office/drawing/2014/main" id="{B4399EA1-A44F-DBF5-6A4A-BD0EB3659F8E}"/>
              </a:ext>
            </a:extLst>
          </p:cNvPr>
          <p:cNvPicPr/>
          <p:nvPr userDrawn="1"/>
        </p:nvPicPr>
        <p:blipFill>
          <a:blip r:embed="rId2"/>
          <a:srcRect/>
          <a:stretch/>
        </p:blipFill>
        <p:spPr>
          <a:xfrm>
            <a:off x="10119504" y="350702"/>
            <a:ext cx="1589081" cy="296553"/>
          </a:xfrm>
          <a:prstGeom prst="rect">
            <a:avLst/>
          </a:prstGeom>
        </p:spPr>
      </p:pic>
      <p:pic>
        <p:nvPicPr>
          <p:cNvPr id="10" name="Picture 9">
            <a:extLst>
              <a:ext uri="{FF2B5EF4-FFF2-40B4-BE49-F238E27FC236}">
                <a16:creationId xmlns:a16="http://schemas.microsoft.com/office/drawing/2014/main" id="{DC3BCE5D-A113-417B-0442-62C437D955BC}"/>
              </a:ext>
            </a:extLst>
          </p:cNvPr>
          <p:cNvPicPr>
            <a:picLocks noChangeAspect="1"/>
          </p:cNvPicPr>
          <p:nvPr userDrawn="1"/>
        </p:nvPicPr>
        <p:blipFill>
          <a:blip r:embed="rId3"/>
          <a:srcRect/>
          <a:stretch/>
        </p:blipFill>
        <p:spPr>
          <a:xfrm>
            <a:off x="7066629" y="1371601"/>
            <a:ext cx="4641956" cy="4638671"/>
          </a:xfrm>
          <a:prstGeom prst="rect">
            <a:avLst/>
          </a:prstGeom>
        </p:spPr>
      </p:pic>
      <p:pic>
        <p:nvPicPr>
          <p:cNvPr id="13" name="Picture 12">
            <a:extLst>
              <a:ext uri="{FF2B5EF4-FFF2-40B4-BE49-F238E27FC236}">
                <a16:creationId xmlns:a16="http://schemas.microsoft.com/office/drawing/2014/main" id="{39DE3CBB-C3C3-73CD-72CC-C20ACCC1C42D}"/>
              </a:ext>
            </a:extLst>
          </p:cNvPr>
          <p:cNvPicPr>
            <a:picLocks noChangeAspect="1"/>
          </p:cNvPicPr>
          <p:nvPr userDrawn="1"/>
        </p:nvPicPr>
        <p:blipFill>
          <a:blip r:embed="rId4"/>
          <a:srcRect/>
          <a:stretch/>
        </p:blipFill>
        <p:spPr>
          <a:xfrm>
            <a:off x="7284813" y="1607138"/>
            <a:ext cx="4203028" cy="4165048"/>
          </a:xfrm>
          <a:prstGeom prst="rect">
            <a:avLst/>
          </a:prstGeom>
        </p:spPr>
      </p:pic>
      <p:sp>
        <p:nvSpPr>
          <p:cNvPr id="7" name="Slide Number Placeholder 5">
            <a:extLst>
              <a:ext uri="{FF2B5EF4-FFF2-40B4-BE49-F238E27FC236}">
                <a16:creationId xmlns:a16="http://schemas.microsoft.com/office/drawing/2014/main" id="{25965D87-A8FC-34AE-DC28-6CC329F496DF}"/>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4" name="Slide Number Placeholder 5">
            <a:extLst>
              <a:ext uri="{FF2B5EF4-FFF2-40B4-BE49-F238E27FC236}">
                <a16:creationId xmlns:a16="http://schemas.microsoft.com/office/drawing/2014/main" id="{5E4FEC87-C30A-FD9E-CBE3-D7ED86D6D84A}"/>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1587663873"/>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ext 2 columns - Dark Blu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B37B4F-A21E-7D41-08AF-8E0768389EAA}"/>
              </a:ext>
            </a:extLst>
          </p:cNvPr>
          <p:cNvSpPr/>
          <p:nvPr userDrawn="1"/>
        </p:nvSpPr>
        <p:spPr>
          <a:xfrm>
            <a:off x="0" y="0"/>
            <a:ext cx="12192000" cy="6858000"/>
          </a:xfrm>
          <a:prstGeom prst="rect">
            <a:avLst/>
          </a:prstGeom>
          <a:solidFill>
            <a:srgbClr val="010F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5438413"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13" name="Content Placeholder 2">
            <a:extLst>
              <a:ext uri="{FF2B5EF4-FFF2-40B4-BE49-F238E27FC236}">
                <a16:creationId xmlns:a16="http://schemas.microsoft.com/office/drawing/2014/main" id="{8018B9B1-C9B0-D3F5-2FF0-F2753A31B9DA}"/>
              </a:ext>
            </a:extLst>
          </p:cNvPr>
          <p:cNvSpPr>
            <a:spLocks noGrp="1"/>
          </p:cNvSpPr>
          <p:nvPr>
            <p:ph idx="11" hasCustomPrompt="1"/>
          </p:nvPr>
        </p:nvSpPr>
        <p:spPr>
          <a:xfrm>
            <a:off x="6274616" y="2082909"/>
            <a:ext cx="5438413"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pic>
        <p:nvPicPr>
          <p:cNvPr id="6" name="Picture 5">
            <a:extLst>
              <a:ext uri="{FF2B5EF4-FFF2-40B4-BE49-F238E27FC236}">
                <a16:creationId xmlns:a16="http://schemas.microsoft.com/office/drawing/2014/main" id="{11B50FC1-3C88-32C9-AA18-FCB1A15A9DC1}"/>
              </a:ext>
            </a:extLst>
          </p:cNvPr>
          <p:cNvPicPr/>
          <p:nvPr userDrawn="1"/>
        </p:nvPicPr>
        <p:blipFill>
          <a:blip r:embed="rId2"/>
          <a:srcRect/>
          <a:stretch/>
        </p:blipFill>
        <p:spPr>
          <a:xfrm>
            <a:off x="10119504" y="350702"/>
            <a:ext cx="1589081" cy="296553"/>
          </a:xfrm>
          <a:prstGeom prst="rect">
            <a:avLst/>
          </a:prstGeom>
        </p:spPr>
      </p:pic>
      <p:sp>
        <p:nvSpPr>
          <p:cNvPr id="10" name="Slide Number Placeholder 5">
            <a:extLst>
              <a:ext uri="{FF2B5EF4-FFF2-40B4-BE49-F238E27FC236}">
                <a16:creationId xmlns:a16="http://schemas.microsoft.com/office/drawing/2014/main" id="{E0990115-D860-EEA0-F01D-766963A53EDB}"/>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2" name="Slide Number Placeholder 5">
            <a:extLst>
              <a:ext uri="{FF2B5EF4-FFF2-40B4-BE49-F238E27FC236}">
                <a16:creationId xmlns:a16="http://schemas.microsoft.com/office/drawing/2014/main" id="{3817ED54-318F-5696-DEBF-15214F782329}"/>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1761813845"/>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ext 3 columns - Dark Blu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6530C6C-8E37-041B-074C-63EDA20F186A}"/>
              </a:ext>
            </a:extLst>
          </p:cNvPr>
          <p:cNvSpPr/>
          <p:nvPr userDrawn="1"/>
        </p:nvSpPr>
        <p:spPr>
          <a:xfrm>
            <a:off x="0" y="0"/>
            <a:ext cx="12192000" cy="6858000"/>
          </a:xfrm>
          <a:prstGeom prst="rect">
            <a:avLst/>
          </a:prstGeom>
          <a:solidFill>
            <a:srgbClr val="010F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92AB77FB-59D1-4D43-83D9-A3EEA39E7F62}"/>
              </a:ext>
            </a:extLst>
          </p:cNvPr>
          <p:cNvSpPr>
            <a:spLocks noGrp="1"/>
          </p:cNvSpPr>
          <p:nvPr>
            <p:ph type="title"/>
          </p:nvPr>
        </p:nvSpPr>
        <p:spPr>
          <a:xfrm>
            <a:off x="482400" y="349200"/>
            <a:ext cx="5218560" cy="432000"/>
          </a:xfrm>
        </p:spPr>
        <p:txBody>
          <a:bodyPr lIns="72000" tIns="36000" rIns="72000" bIns="36000"/>
          <a:lstStyle>
            <a:lvl1pPr>
              <a:defRPr sz="2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16043D-B461-4BE6-B44E-7CD7A8CCB7EC}"/>
              </a:ext>
            </a:extLst>
          </p:cNvPr>
          <p:cNvSpPr>
            <a:spLocks noGrp="1"/>
          </p:cNvSpPr>
          <p:nvPr>
            <p:ph idx="1" hasCustomPrompt="1"/>
          </p:nvPr>
        </p:nvSpPr>
        <p:spPr>
          <a:xfrm>
            <a:off x="483416" y="2082909"/>
            <a:ext cx="3576955"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graphicFrame>
        <p:nvGraphicFramePr>
          <p:cNvPr id="9" name="Table 8">
            <a:extLst>
              <a:ext uri="{FF2B5EF4-FFF2-40B4-BE49-F238E27FC236}">
                <a16:creationId xmlns:a16="http://schemas.microsoft.com/office/drawing/2014/main" id="{56C1704B-87FD-4F5D-A9F2-5B961AD6B37A}"/>
              </a:ext>
            </a:extLst>
          </p:cNvPr>
          <p:cNvGraphicFramePr>
            <a:graphicFrameLocks noGrp="1"/>
          </p:cNvGraphicFramePr>
          <p:nvPr userDrawn="1">
            <p:extLst>
              <p:ext uri="{D42A27DB-BD31-4B8C-83A1-F6EECF244321}">
                <p14:modId xmlns:p14="http://schemas.microsoft.com/office/powerpoint/2010/main" val="4167710136"/>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chemeClr val="tx1"/>
                    </a:solidFill>
                  </a:tcPr>
                </a:tc>
                <a:extLst>
                  <a:ext uri="{0D108BD9-81ED-4DB2-BD59-A6C34878D82A}">
                    <a16:rowId xmlns:a16="http://schemas.microsoft.com/office/drawing/2014/main" val="3097578905"/>
                  </a:ext>
                </a:extLst>
              </a:tr>
              <a:tr h="659503">
                <a:tc>
                  <a:txBody>
                    <a:bodyPr/>
                    <a:lstStyle/>
                    <a:p>
                      <a:r>
                        <a:rPr lang="en-AU" sz="800"/>
                        <a:t>Dark Grey</a:t>
                      </a:r>
                    </a:p>
                    <a:p>
                      <a:r>
                        <a:rPr lang="en-AU" sz="800" b="1"/>
                        <a:t>R </a:t>
                      </a:r>
                      <a:r>
                        <a:rPr lang="en-AU" sz="800"/>
                        <a:t> 89</a:t>
                      </a:r>
                    </a:p>
                    <a:p>
                      <a:r>
                        <a:rPr lang="en-AU" sz="800" b="1"/>
                        <a:t>G</a:t>
                      </a:r>
                      <a:r>
                        <a:rPr lang="en-AU" sz="800"/>
                        <a:t>  89</a:t>
                      </a:r>
                    </a:p>
                    <a:p>
                      <a:r>
                        <a:rPr lang="en-AU" sz="800" b="1"/>
                        <a:t>B  </a:t>
                      </a:r>
                      <a:r>
                        <a:rPr lang="en-AU" sz="800"/>
                        <a:t>89</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sp>
        <p:nvSpPr>
          <p:cNvPr id="4" name="Content Placeholder 2">
            <a:extLst>
              <a:ext uri="{FF2B5EF4-FFF2-40B4-BE49-F238E27FC236}">
                <a16:creationId xmlns:a16="http://schemas.microsoft.com/office/drawing/2014/main" id="{DE1503DE-B6CE-E979-7F60-BE09735D9031}"/>
              </a:ext>
            </a:extLst>
          </p:cNvPr>
          <p:cNvSpPr>
            <a:spLocks noGrp="1"/>
          </p:cNvSpPr>
          <p:nvPr>
            <p:ph idx="10"/>
          </p:nvPr>
        </p:nvSpPr>
        <p:spPr>
          <a:xfrm>
            <a:off x="483416" y="1308944"/>
            <a:ext cx="5862956" cy="327654"/>
          </a:xfrm>
          <a:prstGeom prst="rect">
            <a:avLst/>
          </a:prstGeom>
        </p:spPr>
        <p:txBody>
          <a:bodyPr wrap="square">
            <a:spAutoFit/>
          </a:bodyPr>
          <a:lstStyle>
            <a:lvl1pPr marL="0" indent="-358775" defTabSz="612000">
              <a:buClr>
                <a:schemeClr val="accent1"/>
              </a:buClr>
              <a:buSzPct val="80000"/>
              <a:buFont typeface=".Lucida Grande UI Regular"/>
              <a:buNone/>
              <a:defRPr sz="1600" b="1" i="0">
                <a:solidFill>
                  <a:schemeClr val="bg1"/>
                </a:solidFill>
                <a:latin typeface="Montserrat" pitchFamily="2" charset="77"/>
              </a:defRPr>
            </a:lvl1pPr>
            <a:lvl2pPr marL="717550" indent="-358775">
              <a:buClr>
                <a:schemeClr val="tx2"/>
              </a:buClr>
              <a:buFont typeface="+mj-lt"/>
              <a:buAutoNum type="romanUcPeriod"/>
              <a:defRPr sz="1600" b="0" i="0">
                <a:solidFill>
                  <a:srgbClr val="595959"/>
                </a:solidFill>
                <a:latin typeface="+mn-lt"/>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Click to edit Master text styles</a:t>
            </a:r>
          </a:p>
        </p:txBody>
      </p:sp>
      <p:sp>
        <p:nvSpPr>
          <p:cNvPr id="5" name="Content Placeholder 2">
            <a:extLst>
              <a:ext uri="{FF2B5EF4-FFF2-40B4-BE49-F238E27FC236}">
                <a16:creationId xmlns:a16="http://schemas.microsoft.com/office/drawing/2014/main" id="{F6AFB6C2-D330-7E98-CE89-B53228C709D2}"/>
              </a:ext>
            </a:extLst>
          </p:cNvPr>
          <p:cNvSpPr>
            <a:spLocks noGrp="1"/>
          </p:cNvSpPr>
          <p:nvPr>
            <p:ph idx="11" hasCustomPrompt="1"/>
          </p:nvPr>
        </p:nvSpPr>
        <p:spPr>
          <a:xfrm>
            <a:off x="4307522" y="2082909"/>
            <a:ext cx="3576955"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sp>
        <p:nvSpPr>
          <p:cNvPr id="6" name="Content Placeholder 2">
            <a:extLst>
              <a:ext uri="{FF2B5EF4-FFF2-40B4-BE49-F238E27FC236}">
                <a16:creationId xmlns:a16="http://schemas.microsoft.com/office/drawing/2014/main" id="{16343C83-9CCA-D975-BA26-C5F708C4A31E}"/>
              </a:ext>
            </a:extLst>
          </p:cNvPr>
          <p:cNvSpPr>
            <a:spLocks noGrp="1"/>
          </p:cNvSpPr>
          <p:nvPr>
            <p:ph idx="12" hasCustomPrompt="1"/>
          </p:nvPr>
        </p:nvSpPr>
        <p:spPr>
          <a:xfrm>
            <a:off x="8131629" y="2082909"/>
            <a:ext cx="3576955" cy="2800767"/>
          </a:xfrm>
          <a:prstGeom prst="rect">
            <a:avLst/>
          </a:prstGeom>
        </p:spPr>
        <p:txBody>
          <a:bodyPr wrap="square">
            <a:spAutoFit/>
          </a:bodyPr>
          <a:lstStyle>
            <a:lvl1pPr marL="358775" indent="-358775" defTabSz="612000">
              <a:buClr>
                <a:schemeClr val="bg1"/>
              </a:buClr>
              <a:buSzPct val="80000"/>
              <a:buFont typeface=".Lucida Grande UI Regular"/>
              <a:buChar char="►"/>
              <a:defRPr sz="1400" b="0" i="0">
                <a:solidFill>
                  <a:schemeClr val="bg1"/>
                </a:solidFill>
                <a:latin typeface="Montserrat Medium" pitchFamily="2" charset="77"/>
              </a:defRPr>
            </a:lvl1pPr>
            <a:lvl2pPr marL="717550" indent="-358775">
              <a:buClr>
                <a:schemeClr val="bg1"/>
              </a:buClr>
              <a:buFont typeface="+mj-lt"/>
              <a:buAutoNum type="romanUcPeriod"/>
              <a:defRPr sz="1400" b="0" i="0">
                <a:solidFill>
                  <a:schemeClr val="bg1"/>
                </a:solidFill>
                <a:latin typeface="Montserrat" pitchFamily="2" charset="77"/>
              </a:defRPr>
            </a:lvl2pPr>
            <a:lvl3pPr marL="1076325" indent="-358775">
              <a:buClr>
                <a:schemeClr val="tx2"/>
              </a:buClr>
              <a:buFont typeface="+mj-lt"/>
              <a:buAutoNum type="romanUcPeriod"/>
              <a:defRPr b="0">
                <a:solidFill>
                  <a:schemeClr val="tx2"/>
                </a:solidFill>
                <a:latin typeface="+mn-lt"/>
              </a:defRPr>
            </a:lvl3pPr>
            <a:lvl4pPr marL="358775" indent="0">
              <a:buClr>
                <a:schemeClr val="accent1"/>
              </a:buClr>
              <a:buFont typeface="Wingdings" panose="05000000000000000000" pitchFamily="2" charset="2"/>
              <a:buNone/>
              <a:defRPr b="0">
                <a:solidFill>
                  <a:schemeClr val="tx2"/>
                </a:solidFill>
              </a:defRPr>
            </a:lvl4pPr>
            <a:lvl5pPr marL="717550" indent="-179388">
              <a:buClr>
                <a:schemeClr val="accent1"/>
              </a:buClr>
              <a:buFont typeface="Wingdings" panose="05000000000000000000" pitchFamily="2" charset="2"/>
              <a:buChar char="§"/>
              <a:defRPr b="0">
                <a:solidFill>
                  <a:schemeClr val="tx2"/>
                </a:solidFill>
              </a:defRPr>
            </a:lvl5pPr>
          </a:lstStyle>
          <a:p>
            <a:pPr lvl="0"/>
            <a:r>
              <a:rPr lang="en-GB"/>
              <a:t>1.	Click to edit Master text styles</a:t>
            </a:r>
          </a:p>
          <a:p>
            <a:pPr lvl="0"/>
            <a:r>
              <a:rPr lang="en-GB"/>
              <a:t>2. Second Section</a:t>
            </a:r>
          </a:p>
          <a:p>
            <a:pPr lvl="1"/>
            <a:r>
              <a:rPr lang="en-GB"/>
              <a:t>Sub</a:t>
            </a:r>
          </a:p>
          <a:p>
            <a:pPr lvl="1"/>
            <a:r>
              <a:rPr lang="en-GB"/>
              <a:t>Sub</a:t>
            </a:r>
          </a:p>
          <a:p>
            <a:pPr lvl="0"/>
            <a:r>
              <a:rPr lang="en-GB"/>
              <a:t>3. Third Section</a:t>
            </a:r>
          </a:p>
          <a:p>
            <a:pPr lvl="0"/>
            <a:r>
              <a:rPr lang="en-GB"/>
              <a:t>4.	Fourth</a:t>
            </a:r>
          </a:p>
          <a:p>
            <a:pPr lvl="1"/>
            <a:r>
              <a:rPr lang="en-GB"/>
              <a:t>Sub</a:t>
            </a:r>
          </a:p>
          <a:p>
            <a:pPr lvl="1"/>
            <a:r>
              <a:rPr lang="en-GB"/>
              <a:t>Sub</a:t>
            </a:r>
          </a:p>
        </p:txBody>
      </p:sp>
      <p:pic>
        <p:nvPicPr>
          <p:cNvPr id="13" name="Picture 12">
            <a:extLst>
              <a:ext uri="{FF2B5EF4-FFF2-40B4-BE49-F238E27FC236}">
                <a16:creationId xmlns:a16="http://schemas.microsoft.com/office/drawing/2014/main" id="{B4D9F112-C12E-FFC8-DF18-B903D7627877}"/>
              </a:ext>
            </a:extLst>
          </p:cNvPr>
          <p:cNvPicPr/>
          <p:nvPr userDrawn="1"/>
        </p:nvPicPr>
        <p:blipFill>
          <a:blip r:embed="rId2"/>
          <a:srcRect/>
          <a:stretch/>
        </p:blipFill>
        <p:spPr>
          <a:xfrm>
            <a:off x="10119504" y="350702"/>
            <a:ext cx="1589081" cy="296553"/>
          </a:xfrm>
          <a:prstGeom prst="rect">
            <a:avLst/>
          </a:prstGeom>
        </p:spPr>
      </p:pic>
      <p:sp>
        <p:nvSpPr>
          <p:cNvPr id="10" name="Slide Number Placeholder 5">
            <a:extLst>
              <a:ext uri="{FF2B5EF4-FFF2-40B4-BE49-F238E27FC236}">
                <a16:creationId xmlns:a16="http://schemas.microsoft.com/office/drawing/2014/main" id="{6A373795-3254-679C-59E2-782654991E6B}"/>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14" name="Slide Number Placeholder 5">
            <a:extLst>
              <a:ext uri="{FF2B5EF4-FFF2-40B4-BE49-F238E27FC236}">
                <a16:creationId xmlns:a16="http://schemas.microsoft.com/office/drawing/2014/main" id="{B9B85E77-736B-2725-053E-8F07217C4BDC}"/>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1584421133"/>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 Dark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98362EC-5BF8-8DD6-8B43-5DF9FD194A2B}"/>
              </a:ext>
            </a:extLst>
          </p:cNvPr>
          <p:cNvSpPr/>
          <p:nvPr userDrawn="1"/>
        </p:nvSpPr>
        <p:spPr>
          <a:xfrm>
            <a:off x="0" y="0"/>
            <a:ext cx="12192000" cy="6858000"/>
          </a:xfrm>
          <a:prstGeom prst="rect">
            <a:avLst/>
          </a:prstGeom>
          <a:solidFill>
            <a:srgbClr val="010F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 name="Title 1">
            <a:extLst>
              <a:ext uri="{FF2B5EF4-FFF2-40B4-BE49-F238E27FC236}">
                <a16:creationId xmlns:a16="http://schemas.microsoft.com/office/drawing/2014/main" id="{9439EBBF-FF78-466E-2EE5-04BB33BCCE62}"/>
              </a:ext>
            </a:extLst>
          </p:cNvPr>
          <p:cNvSpPr>
            <a:spLocks noGrp="1"/>
          </p:cNvSpPr>
          <p:nvPr>
            <p:ph type="title"/>
          </p:nvPr>
        </p:nvSpPr>
        <p:spPr/>
        <p:txBody>
          <a:bodyPr/>
          <a:lstStyle/>
          <a:p>
            <a:r>
              <a:rPr lang="en-GB"/>
              <a:t>Click to edit Master title style</a:t>
            </a:r>
            <a:endParaRPr lang="en-PT"/>
          </a:p>
        </p:txBody>
      </p:sp>
      <p:pic>
        <p:nvPicPr>
          <p:cNvPr id="6" name="Picture 5">
            <a:extLst>
              <a:ext uri="{FF2B5EF4-FFF2-40B4-BE49-F238E27FC236}">
                <a16:creationId xmlns:a16="http://schemas.microsoft.com/office/drawing/2014/main" id="{87FA70BC-2B24-3B04-F6B0-C104E7DED06A}"/>
              </a:ext>
            </a:extLst>
          </p:cNvPr>
          <p:cNvPicPr/>
          <p:nvPr userDrawn="1"/>
        </p:nvPicPr>
        <p:blipFill>
          <a:blip r:embed="rId2"/>
          <a:srcRect/>
          <a:stretch/>
        </p:blipFill>
        <p:spPr>
          <a:xfrm>
            <a:off x="10119504" y="350702"/>
            <a:ext cx="1589081" cy="296553"/>
          </a:xfrm>
          <a:prstGeom prst="rect">
            <a:avLst/>
          </a:prstGeom>
        </p:spPr>
      </p:pic>
      <p:sp>
        <p:nvSpPr>
          <p:cNvPr id="8" name="Slide Number Placeholder 5">
            <a:extLst>
              <a:ext uri="{FF2B5EF4-FFF2-40B4-BE49-F238E27FC236}">
                <a16:creationId xmlns:a16="http://schemas.microsoft.com/office/drawing/2014/main" id="{EA00C6F3-88A1-CAF2-BE79-B535F3EDB5B8}"/>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9" name="Slide Number Placeholder 5">
            <a:extLst>
              <a:ext uri="{FF2B5EF4-FFF2-40B4-BE49-F238E27FC236}">
                <a16:creationId xmlns:a16="http://schemas.microsoft.com/office/drawing/2014/main" id="{25339B7A-057A-1605-D614-269065367828}"/>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92022041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ark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98362EC-5BF8-8DD6-8B43-5DF9FD194A2B}"/>
              </a:ext>
            </a:extLst>
          </p:cNvPr>
          <p:cNvSpPr/>
          <p:nvPr userDrawn="1"/>
        </p:nvSpPr>
        <p:spPr>
          <a:xfrm>
            <a:off x="0" y="0"/>
            <a:ext cx="12192000" cy="6858000"/>
          </a:xfrm>
          <a:prstGeom prst="rect">
            <a:avLst/>
          </a:prstGeom>
          <a:solidFill>
            <a:srgbClr val="010F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pic>
        <p:nvPicPr>
          <p:cNvPr id="6" name="Picture 5">
            <a:extLst>
              <a:ext uri="{FF2B5EF4-FFF2-40B4-BE49-F238E27FC236}">
                <a16:creationId xmlns:a16="http://schemas.microsoft.com/office/drawing/2014/main" id="{87FA70BC-2B24-3B04-F6B0-C104E7DED06A}"/>
              </a:ext>
            </a:extLst>
          </p:cNvPr>
          <p:cNvPicPr/>
          <p:nvPr userDrawn="1"/>
        </p:nvPicPr>
        <p:blipFill>
          <a:blip r:embed="rId2"/>
          <a:srcRect/>
          <a:stretch/>
        </p:blipFill>
        <p:spPr>
          <a:xfrm>
            <a:off x="10119504" y="350702"/>
            <a:ext cx="1589081" cy="296553"/>
          </a:xfrm>
          <a:prstGeom prst="rect">
            <a:avLst/>
          </a:prstGeom>
        </p:spPr>
      </p:pic>
      <p:sp>
        <p:nvSpPr>
          <p:cNvPr id="7" name="Slide Number Placeholder 5">
            <a:extLst>
              <a:ext uri="{FF2B5EF4-FFF2-40B4-BE49-F238E27FC236}">
                <a16:creationId xmlns:a16="http://schemas.microsoft.com/office/drawing/2014/main" id="{FA455A05-7234-2683-78DA-B2B18F90AB70}"/>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bg1"/>
                </a:solidFill>
                <a:latin typeface="Montserrat Medium" pitchFamily="2" charset="77"/>
              </a:defRPr>
            </a:lvl1pPr>
          </a:lstStyle>
          <a:p>
            <a:fld id="{992B96C7-85A4-4A4A-B6EF-66E274A71D4B}" type="slidenum">
              <a:rPr lang="en-GB" smtClean="0"/>
              <a:pPr/>
              <a:t>‹#›</a:t>
            </a:fld>
            <a:endParaRPr lang="en-GB"/>
          </a:p>
        </p:txBody>
      </p:sp>
      <p:sp>
        <p:nvSpPr>
          <p:cNvPr id="8" name="Slide Number Placeholder 5">
            <a:extLst>
              <a:ext uri="{FF2B5EF4-FFF2-40B4-BE49-F238E27FC236}">
                <a16:creationId xmlns:a16="http://schemas.microsoft.com/office/drawing/2014/main" id="{36496F57-92C5-2726-5037-7C5661E2FF99}"/>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solidFill>
                  <a:schemeClr val="bg1"/>
                </a:solidFill>
              </a:rPr>
              <a:t>Logicalis</a:t>
            </a:r>
          </a:p>
        </p:txBody>
      </p:sp>
    </p:spTree>
    <p:extLst>
      <p:ext uri="{BB962C8B-B14F-4D97-AF65-F5344CB8AC3E}">
        <p14:creationId xmlns:p14="http://schemas.microsoft.com/office/powerpoint/2010/main" val="3141808678"/>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Rechteck 10">
            <a:extLst>
              <a:ext uri="{FF2B5EF4-FFF2-40B4-BE49-F238E27FC236}">
                <a16:creationId xmlns:a16="http://schemas.microsoft.com/office/drawing/2014/main" id="{77616D71-A116-9CE5-43D9-8D796F2E894C}"/>
              </a:ext>
            </a:extLst>
          </p:cNvPr>
          <p:cNvSpPr/>
          <p:nvPr userDrawn="1"/>
        </p:nvSpPr>
        <p:spPr>
          <a:xfrm>
            <a:off x="0" y="0"/>
            <a:ext cx="12191999" cy="6858000"/>
          </a:xfrm>
          <a:prstGeom prst="rect">
            <a:avLst/>
          </a:prstGeom>
          <a:gradFill flip="none" rotWithShape="1">
            <a:gsLst>
              <a:gs pos="53000">
                <a:srgbClr val="0A2592"/>
              </a:gs>
              <a:gs pos="100000">
                <a:srgbClr val="2250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itle 1">
            <a:extLst>
              <a:ext uri="{FF2B5EF4-FFF2-40B4-BE49-F238E27FC236}">
                <a16:creationId xmlns:a16="http://schemas.microsoft.com/office/drawing/2014/main" id="{78CF1E45-A99B-2BE7-01FE-0DA7EBC90F8C}"/>
              </a:ext>
            </a:extLst>
          </p:cNvPr>
          <p:cNvSpPr>
            <a:spLocks noGrp="1"/>
          </p:cNvSpPr>
          <p:nvPr>
            <p:ph type="ctrTitle" hasCustomPrompt="1"/>
          </p:nvPr>
        </p:nvSpPr>
        <p:spPr>
          <a:xfrm>
            <a:off x="633599" y="2286000"/>
            <a:ext cx="4482687" cy="720000"/>
          </a:xfrm>
          <a:solidFill>
            <a:srgbClr val="FF1414"/>
          </a:solidFill>
        </p:spPr>
        <p:txBody>
          <a:bodyPr anchor="ctr" anchorCtr="0"/>
          <a:lstStyle>
            <a:lvl1pPr algn="l">
              <a:defRPr sz="4200">
                <a:latin typeface="Roboto Slab" pitchFamily="2" charset="0"/>
                <a:ea typeface="Roboto Slab" pitchFamily="2" charset="0"/>
              </a:defRPr>
            </a:lvl1pPr>
          </a:lstStyle>
          <a:p>
            <a:r>
              <a:rPr lang="en-US"/>
              <a:t>Title here</a:t>
            </a:r>
            <a:endParaRPr lang="en-GB"/>
          </a:p>
        </p:txBody>
      </p:sp>
      <p:sp>
        <p:nvSpPr>
          <p:cNvPr id="10" name="Subtitle 2">
            <a:extLst>
              <a:ext uri="{FF2B5EF4-FFF2-40B4-BE49-F238E27FC236}">
                <a16:creationId xmlns:a16="http://schemas.microsoft.com/office/drawing/2014/main" id="{8E9911E9-EAA2-0691-47D0-AB5873D716C1}"/>
              </a:ext>
            </a:extLst>
          </p:cNvPr>
          <p:cNvSpPr>
            <a:spLocks noGrp="1"/>
          </p:cNvSpPr>
          <p:nvPr>
            <p:ph type="subTitle" idx="1" hasCustomPrompt="1"/>
          </p:nvPr>
        </p:nvSpPr>
        <p:spPr>
          <a:xfrm>
            <a:off x="633599" y="3099759"/>
            <a:ext cx="4482687" cy="719034"/>
          </a:xfrm>
          <a:prstGeom prst="rect">
            <a:avLst/>
          </a:prstGeom>
          <a:solidFill>
            <a:srgbClr val="FF1414"/>
          </a:solidFill>
        </p:spPr>
        <p:txBody>
          <a:bodyPr wrap="square" lIns="72000" tIns="36000" rIns="72000" bIns="36000" anchor="ctr" anchorCtr="0">
            <a:spAutoFit/>
          </a:bodyPr>
          <a:lstStyle>
            <a:lvl1pPr marL="0" indent="0" algn="l">
              <a:lnSpc>
                <a:spcPct val="100000"/>
              </a:lnSpc>
              <a:spcAft>
                <a:spcPts val="0"/>
              </a:spcAft>
              <a:buNone/>
              <a:defRPr sz="4200">
                <a:solidFill>
                  <a:schemeClr val="bg1"/>
                </a:solidFill>
                <a:latin typeface="Roboto Slab" pitchFamily="2" charset="0"/>
                <a:ea typeface="Roboto Slab"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To edit</a:t>
            </a:r>
            <a:endParaRPr lang="en-GB"/>
          </a:p>
        </p:txBody>
      </p:sp>
      <p:pic>
        <p:nvPicPr>
          <p:cNvPr id="3" name="Picture 2">
            <a:extLst>
              <a:ext uri="{FF2B5EF4-FFF2-40B4-BE49-F238E27FC236}">
                <a16:creationId xmlns:a16="http://schemas.microsoft.com/office/drawing/2014/main" id="{00399047-3BA6-1228-99FC-3B406BF2F0D9}"/>
              </a:ext>
            </a:extLst>
          </p:cNvPr>
          <p:cNvPicPr/>
          <p:nvPr userDrawn="1"/>
        </p:nvPicPr>
        <p:blipFill>
          <a:blip r:embed="rId2"/>
          <a:srcRect/>
          <a:stretch/>
        </p:blipFill>
        <p:spPr>
          <a:xfrm>
            <a:off x="10119504" y="350702"/>
            <a:ext cx="1589081" cy="296553"/>
          </a:xfrm>
          <a:prstGeom prst="rect">
            <a:avLst/>
          </a:prstGeom>
        </p:spPr>
      </p:pic>
    </p:spTree>
    <p:extLst>
      <p:ext uri="{BB962C8B-B14F-4D97-AF65-F5344CB8AC3E}">
        <p14:creationId xmlns:p14="http://schemas.microsoft.com/office/powerpoint/2010/main" val="3577161626"/>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sp>
        <p:nvSpPr>
          <p:cNvPr id="3" name="Rechteck 10">
            <a:extLst>
              <a:ext uri="{FF2B5EF4-FFF2-40B4-BE49-F238E27FC236}">
                <a16:creationId xmlns:a16="http://schemas.microsoft.com/office/drawing/2014/main" id="{19C2A041-55EE-50E0-6893-655ACB93D4D5}"/>
              </a:ext>
            </a:extLst>
          </p:cNvPr>
          <p:cNvSpPr/>
          <p:nvPr userDrawn="1"/>
        </p:nvSpPr>
        <p:spPr>
          <a:xfrm>
            <a:off x="0" y="0"/>
            <a:ext cx="12191999" cy="6858000"/>
          </a:xfrm>
          <a:prstGeom prst="rect">
            <a:avLst/>
          </a:prstGeom>
          <a:gradFill flip="none" rotWithShape="1">
            <a:gsLst>
              <a:gs pos="53000">
                <a:srgbClr val="0A2592"/>
              </a:gs>
              <a:gs pos="100000">
                <a:srgbClr val="2250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 name="Graphic 11">
            <a:extLst>
              <a:ext uri="{FF2B5EF4-FFF2-40B4-BE49-F238E27FC236}">
                <a16:creationId xmlns:a16="http://schemas.microsoft.com/office/drawing/2014/main" id="{6D897F45-4856-0508-472A-A886A70DD882}"/>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25436" y="501128"/>
            <a:ext cx="2271188" cy="417321"/>
          </a:xfrm>
          <a:prstGeom prst="rect">
            <a:avLst/>
          </a:prstGeom>
        </p:spPr>
      </p:pic>
      <p:sp>
        <p:nvSpPr>
          <p:cNvPr id="2" name="Title 1">
            <a:extLst>
              <a:ext uri="{FF2B5EF4-FFF2-40B4-BE49-F238E27FC236}">
                <a16:creationId xmlns:a16="http://schemas.microsoft.com/office/drawing/2014/main" id="{1AAE017B-85BA-45CF-9E93-A6B67CF242F7}"/>
              </a:ext>
            </a:extLst>
          </p:cNvPr>
          <p:cNvSpPr>
            <a:spLocks noGrp="1"/>
          </p:cNvSpPr>
          <p:nvPr>
            <p:ph type="ctrTitle"/>
          </p:nvPr>
        </p:nvSpPr>
        <p:spPr>
          <a:xfrm>
            <a:off x="633599" y="2286000"/>
            <a:ext cx="7186697" cy="648000"/>
          </a:xfrm>
        </p:spPr>
        <p:txBody>
          <a:bodyPr anchor="ctr" anchorCtr="0"/>
          <a:lstStyle>
            <a:lvl1pPr algn="l">
              <a:defRPr sz="4000"/>
            </a:lvl1pPr>
          </a:lstStyle>
          <a:p>
            <a:r>
              <a:rPr lang="en-US"/>
              <a:t>Click to edit Master title style</a:t>
            </a:r>
            <a:endParaRPr lang="en-GB"/>
          </a:p>
        </p:txBody>
      </p:sp>
      <p:sp>
        <p:nvSpPr>
          <p:cNvPr id="10" name="Text Placeholder 9">
            <a:extLst>
              <a:ext uri="{FF2B5EF4-FFF2-40B4-BE49-F238E27FC236}">
                <a16:creationId xmlns:a16="http://schemas.microsoft.com/office/drawing/2014/main" id="{321C17C7-87A8-4096-AA87-B54E1020D40F}"/>
              </a:ext>
            </a:extLst>
          </p:cNvPr>
          <p:cNvSpPr>
            <a:spLocks noGrp="1"/>
          </p:cNvSpPr>
          <p:nvPr>
            <p:ph type="body" sz="quarter" idx="14"/>
          </p:nvPr>
        </p:nvSpPr>
        <p:spPr>
          <a:xfrm>
            <a:off x="624600" y="3166877"/>
            <a:ext cx="3095625" cy="1041400"/>
          </a:xfrm>
          <a:prstGeom prst="rect">
            <a:avLst/>
          </a:prstGeom>
        </p:spPr>
        <p:txBody>
          <a:bodyPr>
            <a:noAutofit/>
          </a:bodyPr>
          <a:lstStyle>
            <a:lvl1pPr>
              <a:spcAft>
                <a:spcPts val="0"/>
              </a:spcAft>
              <a:defRPr sz="1500" b="0">
                <a:solidFill>
                  <a:schemeClr val="bg1"/>
                </a:solidFill>
                <a:latin typeface="+mn-lt"/>
              </a:defRPr>
            </a:lvl1pPr>
            <a:lvl2pPr>
              <a:spcAft>
                <a:spcPts val="0"/>
              </a:spcAft>
              <a:defRPr sz="1500" b="0">
                <a:solidFill>
                  <a:schemeClr val="bg1"/>
                </a:solidFill>
                <a:latin typeface="+mn-lt"/>
              </a:defRPr>
            </a:lvl2pPr>
            <a:lvl3pPr marL="0" indent="0">
              <a:spcAft>
                <a:spcPts val="0"/>
              </a:spcAft>
              <a:buNone/>
              <a:defRPr sz="1500" b="0">
                <a:solidFill>
                  <a:schemeClr val="bg1"/>
                </a:solidFill>
                <a:latin typeface="+mn-lt"/>
              </a:defRPr>
            </a:lvl3pPr>
            <a:lvl4pPr>
              <a:spcAft>
                <a:spcPts val="0"/>
              </a:spcAft>
              <a:defRPr sz="1500"/>
            </a:lvl4pPr>
            <a:lvl5pPr>
              <a:spcAft>
                <a:spcPts val="0"/>
              </a:spcAft>
              <a:defRPr sz="1500"/>
            </a:lvl5pPr>
          </a:lstStyle>
          <a:p>
            <a:pPr lvl="0"/>
            <a:r>
              <a:rPr lang="en-US"/>
              <a:t>Edit Master text styles</a:t>
            </a:r>
          </a:p>
          <a:p>
            <a:pPr lvl="1"/>
            <a:r>
              <a:rPr lang="en-US"/>
              <a:t>Second level</a:t>
            </a:r>
          </a:p>
          <a:p>
            <a:pPr lvl="2"/>
            <a:r>
              <a:rPr lang="en-US"/>
              <a:t>Third level</a:t>
            </a:r>
          </a:p>
        </p:txBody>
      </p:sp>
      <p:sp>
        <p:nvSpPr>
          <p:cNvPr id="5" name="TextBox 4">
            <a:extLst>
              <a:ext uri="{FF2B5EF4-FFF2-40B4-BE49-F238E27FC236}">
                <a16:creationId xmlns:a16="http://schemas.microsoft.com/office/drawing/2014/main" id="{2699616B-69D4-FF49-A2CC-47F9D9FE5395}"/>
              </a:ext>
            </a:extLst>
          </p:cNvPr>
          <p:cNvSpPr txBox="1"/>
          <p:nvPr userDrawn="1"/>
        </p:nvSpPr>
        <p:spPr>
          <a:xfrm>
            <a:off x="633600" y="6213687"/>
            <a:ext cx="1569552" cy="184666"/>
          </a:xfrm>
          <a:prstGeom prst="rect">
            <a:avLst/>
          </a:prstGeom>
          <a:solidFill>
            <a:schemeClr val="accent3"/>
          </a:solidFill>
        </p:spPr>
        <p:txBody>
          <a:bodyPr wrap="square" lIns="72000" tIns="0" rIns="72000" bIns="0" rtlCol="0" anchor="ctr" anchorCtr="0">
            <a:spAutoFit/>
          </a:bodyPr>
          <a:lstStyle/>
          <a:p>
            <a:pPr algn="l"/>
            <a:r>
              <a:rPr lang="en-US" sz="1200" b="0" i="0">
                <a:solidFill>
                  <a:schemeClr val="bg1"/>
                </a:solidFill>
                <a:latin typeface="+mn-lt"/>
                <a:cs typeface="Times New Roman" panose="02020603050405020304" pitchFamily="18" charset="0"/>
              </a:rPr>
              <a:t>www.logicalis.com</a:t>
            </a:r>
          </a:p>
        </p:txBody>
      </p:sp>
      <p:graphicFrame>
        <p:nvGraphicFramePr>
          <p:cNvPr id="9" name="Table 8">
            <a:extLst>
              <a:ext uri="{FF2B5EF4-FFF2-40B4-BE49-F238E27FC236}">
                <a16:creationId xmlns:a16="http://schemas.microsoft.com/office/drawing/2014/main" id="{FC86C905-64BE-4506-8C3E-41AF052ACC23}"/>
              </a:ext>
            </a:extLst>
          </p:cNvPr>
          <p:cNvGraphicFramePr>
            <a:graphicFrameLocks noGrp="1"/>
          </p:cNvGraphicFramePr>
          <p:nvPr userDrawn="1">
            <p:extLst>
              <p:ext uri="{D42A27DB-BD31-4B8C-83A1-F6EECF244321}">
                <p14:modId xmlns:p14="http://schemas.microsoft.com/office/powerpoint/2010/main" val="1647176111"/>
              </p:ext>
            </p:extLst>
          </p:nvPr>
        </p:nvGraphicFramePr>
        <p:xfrm>
          <a:off x="12261669" y="55995"/>
          <a:ext cx="768985" cy="6746010"/>
        </p:xfrm>
        <a:graphic>
          <a:graphicData uri="http://schemas.openxmlformats.org/drawingml/2006/table">
            <a:tbl>
              <a:tblPr firstRow="1" bandRow="1">
                <a:tableStyleId>{2D5ABB26-0587-4C30-8999-92F81FD0307C}</a:tableStyleId>
              </a:tblPr>
              <a:tblGrid>
                <a:gridCol w="768985">
                  <a:extLst>
                    <a:ext uri="{9D8B030D-6E8A-4147-A177-3AD203B41FA5}">
                      <a16:colId xmlns:a16="http://schemas.microsoft.com/office/drawing/2014/main" val="810250890"/>
                    </a:ext>
                  </a:extLst>
                </a:gridCol>
              </a:tblGrid>
              <a:tr h="188806">
                <a:tc>
                  <a:txBody>
                    <a:bodyPr/>
                    <a:lstStyle/>
                    <a:p>
                      <a:r>
                        <a:rPr lang="en-AU" sz="800" b="1"/>
                        <a:t>Primary</a:t>
                      </a:r>
                    </a:p>
                  </a:txBody>
                  <a:tcPr>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3279011"/>
                  </a:ext>
                </a:extLst>
              </a:tr>
              <a:tr h="447100">
                <a:tc>
                  <a:txBody>
                    <a:bodyPr/>
                    <a:lstStyle/>
                    <a:p>
                      <a:endParaRPr lang="en-AU"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18051925"/>
                  </a:ext>
                </a:extLst>
              </a:tr>
              <a:tr h="609600">
                <a:tc>
                  <a:txBody>
                    <a:bodyPr/>
                    <a:lstStyle/>
                    <a:p>
                      <a:r>
                        <a:rPr lang="en-AU" sz="800"/>
                        <a:t>White</a:t>
                      </a:r>
                    </a:p>
                    <a:p>
                      <a:r>
                        <a:rPr lang="en-AU" sz="800" b="1"/>
                        <a:t>R</a:t>
                      </a:r>
                      <a:r>
                        <a:rPr lang="en-AU" sz="800"/>
                        <a:t>  255</a:t>
                      </a:r>
                    </a:p>
                    <a:p>
                      <a:r>
                        <a:rPr lang="en-AU" sz="800" b="1"/>
                        <a:t>G</a:t>
                      </a:r>
                      <a:r>
                        <a:rPr lang="en-AU" sz="800"/>
                        <a:t>  255</a:t>
                      </a:r>
                    </a:p>
                    <a:p>
                      <a:r>
                        <a:rPr lang="en-AU" sz="800" b="1"/>
                        <a:t>B  </a:t>
                      </a:r>
                      <a:r>
                        <a:rPr lang="en-AU" sz="800"/>
                        <a:t>255</a:t>
                      </a:r>
                    </a:p>
                  </a:txBody>
                  <a:tcPr>
                    <a:lnT w="9525" cap="flat" cmpd="sng" algn="ctr">
                      <a:solidFill>
                        <a:schemeClr val="bg1">
                          <a:lumMod val="6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2331952173"/>
                  </a:ext>
                </a:extLst>
              </a:tr>
              <a:tr h="446400">
                <a:tc>
                  <a:txBody>
                    <a:bodyPr/>
                    <a:lstStyle/>
                    <a:p>
                      <a:endParaRPr lang="en-AU" sz="900"/>
                    </a:p>
                  </a:txBody>
                  <a:tcPr>
                    <a:solidFill>
                      <a:schemeClr val="accent1"/>
                    </a:solidFill>
                  </a:tcPr>
                </a:tc>
                <a:extLst>
                  <a:ext uri="{0D108BD9-81ED-4DB2-BD59-A6C34878D82A}">
                    <a16:rowId xmlns:a16="http://schemas.microsoft.com/office/drawing/2014/main" val="2927308719"/>
                  </a:ext>
                </a:extLst>
              </a:tr>
              <a:tr h="602287">
                <a:tc>
                  <a:txBody>
                    <a:bodyPr/>
                    <a:lstStyle/>
                    <a:p>
                      <a:r>
                        <a:rPr lang="en-AU" sz="800"/>
                        <a:t>Red</a:t>
                      </a:r>
                    </a:p>
                    <a:p>
                      <a:r>
                        <a:rPr lang="en-AU" sz="800" b="1"/>
                        <a:t>R </a:t>
                      </a:r>
                      <a:r>
                        <a:rPr lang="en-AU" sz="800"/>
                        <a:t> 255</a:t>
                      </a:r>
                    </a:p>
                    <a:p>
                      <a:r>
                        <a:rPr lang="en-AU" sz="800" b="1"/>
                        <a:t>G</a:t>
                      </a:r>
                      <a:r>
                        <a:rPr lang="en-AU" sz="800"/>
                        <a:t>  20</a:t>
                      </a:r>
                    </a:p>
                    <a:p>
                      <a:r>
                        <a:rPr lang="en-AU" sz="800" b="1"/>
                        <a:t>B  </a:t>
                      </a:r>
                      <a:r>
                        <a:rPr lang="en-AU" sz="800" b="0"/>
                        <a:t>20</a:t>
                      </a:r>
                    </a:p>
                  </a:txBody>
                  <a:tcPr>
                    <a:solidFill>
                      <a:schemeClr val="bg1"/>
                    </a:solidFill>
                  </a:tcPr>
                </a:tc>
                <a:extLst>
                  <a:ext uri="{0D108BD9-81ED-4DB2-BD59-A6C34878D82A}">
                    <a16:rowId xmlns:a16="http://schemas.microsoft.com/office/drawing/2014/main" val="2703549456"/>
                  </a:ext>
                </a:extLst>
              </a:tr>
              <a:tr h="446400">
                <a:tc>
                  <a:txBody>
                    <a:bodyPr/>
                    <a:lstStyle/>
                    <a:p>
                      <a:endParaRPr lang="en-AU" sz="800"/>
                    </a:p>
                  </a:txBody>
                  <a:tcPr>
                    <a:solidFill>
                      <a:srgbClr val="000000"/>
                    </a:solidFill>
                  </a:tcPr>
                </a:tc>
                <a:extLst>
                  <a:ext uri="{0D108BD9-81ED-4DB2-BD59-A6C34878D82A}">
                    <a16:rowId xmlns:a16="http://schemas.microsoft.com/office/drawing/2014/main" val="3097578905"/>
                  </a:ext>
                </a:extLst>
              </a:tr>
              <a:tr h="659503">
                <a:tc>
                  <a:txBody>
                    <a:bodyPr/>
                    <a:lstStyle/>
                    <a:p>
                      <a:r>
                        <a:rPr lang="en-AU" sz="800"/>
                        <a:t>Black</a:t>
                      </a:r>
                    </a:p>
                    <a:p>
                      <a:r>
                        <a:rPr lang="en-AU" sz="800" b="1"/>
                        <a:t>R </a:t>
                      </a:r>
                      <a:r>
                        <a:rPr lang="en-AU" sz="800"/>
                        <a:t> 0</a:t>
                      </a:r>
                    </a:p>
                    <a:p>
                      <a:r>
                        <a:rPr lang="en-AU" sz="800" b="1"/>
                        <a:t>G</a:t>
                      </a:r>
                      <a:r>
                        <a:rPr lang="en-AU" sz="800"/>
                        <a:t>  0</a:t>
                      </a:r>
                    </a:p>
                    <a:p>
                      <a:r>
                        <a:rPr lang="en-AU" sz="800" b="1"/>
                        <a:t>B  </a:t>
                      </a:r>
                      <a:r>
                        <a:rPr lang="en-AU" sz="800"/>
                        <a:t>0</a:t>
                      </a:r>
                    </a:p>
                  </a:txBody>
                  <a:tcPr>
                    <a:solidFill>
                      <a:schemeClr val="bg1"/>
                    </a:solidFill>
                  </a:tcPr>
                </a:tc>
                <a:extLst>
                  <a:ext uri="{0D108BD9-81ED-4DB2-BD59-A6C34878D82A}">
                    <a16:rowId xmlns:a16="http://schemas.microsoft.com/office/drawing/2014/main" val="2902646226"/>
                  </a:ext>
                </a:extLst>
              </a:tr>
              <a:tr h="244800">
                <a:tc>
                  <a:txBody>
                    <a:bodyPr/>
                    <a:lstStyle/>
                    <a:p>
                      <a:r>
                        <a:rPr lang="en-AU" sz="800" b="1"/>
                        <a:t>Accent</a:t>
                      </a:r>
                    </a:p>
                  </a:txBody>
                  <a:tcPr>
                    <a:solidFill>
                      <a:schemeClr val="bg1"/>
                    </a:solidFill>
                  </a:tcPr>
                </a:tc>
                <a:extLst>
                  <a:ext uri="{0D108BD9-81ED-4DB2-BD59-A6C34878D82A}">
                    <a16:rowId xmlns:a16="http://schemas.microsoft.com/office/drawing/2014/main" val="2015077312"/>
                  </a:ext>
                </a:extLst>
              </a:tr>
              <a:tr h="446400">
                <a:tc>
                  <a:txBody>
                    <a:bodyPr/>
                    <a:lstStyle/>
                    <a:p>
                      <a:endParaRPr lang="en-AU" sz="800"/>
                    </a:p>
                  </a:txBody>
                  <a:tcPr>
                    <a:solidFill>
                      <a:schemeClr val="accent3"/>
                    </a:solidFill>
                  </a:tcPr>
                </a:tc>
                <a:extLst>
                  <a:ext uri="{0D108BD9-81ED-4DB2-BD59-A6C34878D82A}">
                    <a16:rowId xmlns:a16="http://schemas.microsoft.com/office/drawing/2014/main" val="1047808385"/>
                  </a:ext>
                </a:extLst>
              </a:tr>
              <a:tr h="244800">
                <a:tc>
                  <a:txBody>
                    <a:bodyPr/>
                    <a:lstStyle/>
                    <a:p>
                      <a:r>
                        <a:rPr lang="en-AU" sz="800"/>
                        <a:t>Blue</a:t>
                      </a:r>
                    </a:p>
                    <a:p>
                      <a:r>
                        <a:rPr lang="en-AU" sz="800" b="1"/>
                        <a:t>R</a:t>
                      </a:r>
                      <a:r>
                        <a:rPr lang="en-AU" sz="800"/>
                        <a:t>  25</a:t>
                      </a:r>
                    </a:p>
                    <a:p>
                      <a:r>
                        <a:rPr lang="en-AU" sz="800" b="1"/>
                        <a:t>G</a:t>
                      </a:r>
                      <a:r>
                        <a:rPr lang="en-AU" sz="800"/>
                        <a:t>  75</a:t>
                      </a:r>
                    </a:p>
                    <a:p>
                      <a:r>
                        <a:rPr lang="en-AU" sz="800" b="1"/>
                        <a:t>B  </a:t>
                      </a:r>
                      <a:r>
                        <a:rPr lang="en-AU" sz="800" b="0"/>
                        <a:t>255</a:t>
                      </a:r>
                    </a:p>
                  </a:txBody>
                  <a:tcPr>
                    <a:solidFill>
                      <a:schemeClr val="bg1"/>
                    </a:solidFill>
                  </a:tcPr>
                </a:tc>
                <a:extLst>
                  <a:ext uri="{0D108BD9-81ED-4DB2-BD59-A6C34878D82A}">
                    <a16:rowId xmlns:a16="http://schemas.microsoft.com/office/drawing/2014/main" val="634976284"/>
                  </a:ext>
                </a:extLst>
              </a:tr>
              <a:tr h="446400">
                <a:tc>
                  <a:txBody>
                    <a:bodyPr/>
                    <a:lstStyle/>
                    <a:p>
                      <a:endParaRPr lang="en-AU" sz="800"/>
                    </a:p>
                  </a:txBody>
                  <a:tcPr>
                    <a:solidFill>
                      <a:schemeClr val="accent4"/>
                    </a:solidFill>
                  </a:tcPr>
                </a:tc>
                <a:extLst>
                  <a:ext uri="{0D108BD9-81ED-4DB2-BD59-A6C34878D82A}">
                    <a16:rowId xmlns:a16="http://schemas.microsoft.com/office/drawing/2014/main" val="1872049601"/>
                  </a:ext>
                </a:extLst>
              </a:tr>
              <a:tr h="244800">
                <a:tc>
                  <a:txBody>
                    <a:bodyPr/>
                    <a:lstStyle/>
                    <a:p>
                      <a:r>
                        <a:rPr lang="en-AU" sz="800"/>
                        <a:t>Teal</a:t>
                      </a:r>
                    </a:p>
                    <a:p>
                      <a:r>
                        <a:rPr lang="en-AU" sz="800" b="1"/>
                        <a:t>R</a:t>
                      </a:r>
                      <a:r>
                        <a:rPr lang="en-AU" sz="800"/>
                        <a:t>  0</a:t>
                      </a:r>
                    </a:p>
                    <a:p>
                      <a:r>
                        <a:rPr lang="en-AU" sz="800" b="1"/>
                        <a:t>G</a:t>
                      </a:r>
                      <a:r>
                        <a:rPr lang="en-AU" sz="800"/>
                        <a:t>  255</a:t>
                      </a:r>
                    </a:p>
                    <a:p>
                      <a:r>
                        <a:rPr lang="en-AU" sz="800" b="1"/>
                        <a:t>B  </a:t>
                      </a:r>
                      <a:r>
                        <a:rPr lang="en-AU" sz="800" b="0"/>
                        <a:t>205</a:t>
                      </a:r>
                    </a:p>
                  </a:txBody>
                  <a:tcPr>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99998906"/>
                  </a:ext>
                </a:extLst>
              </a:tr>
              <a:tr h="446400">
                <a:tc>
                  <a:txBody>
                    <a:bodyPr/>
                    <a:lstStyle/>
                    <a:p>
                      <a:endParaRPr lang="en-AU" sz="80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616707040"/>
                  </a:ext>
                </a:extLst>
              </a:tr>
              <a:tr h="244800">
                <a:tc>
                  <a:txBody>
                    <a:bodyPr/>
                    <a:lstStyle/>
                    <a:p>
                      <a:r>
                        <a:rPr lang="en-AU" sz="800"/>
                        <a:t>Light Grey</a:t>
                      </a:r>
                    </a:p>
                    <a:p>
                      <a:r>
                        <a:rPr lang="en-AU" sz="800" b="1"/>
                        <a:t>R</a:t>
                      </a:r>
                      <a:r>
                        <a:rPr lang="en-AU" sz="800"/>
                        <a:t>  230</a:t>
                      </a:r>
                    </a:p>
                    <a:p>
                      <a:r>
                        <a:rPr lang="en-AU" sz="800" b="1"/>
                        <a:t>G</a:t>
                      </a:r>
                      <a:r>
                        <a:rPr lang="en-AU" sz="800"/>
                        <a:t>  230</a:t>
                      </a:r>
                    </a:p>
                    <a:p>
                      <a:r>
                        <a:rPr lang="en-AU" sz="800" b="1"/>
                        <a:t>B  </a:t>
                      </a:r>
                      <a:r>
                        <a:rPr lang="en-AU" sz="800" b="0"/>
                        <a:t>230</a:t>
                      </a:r>
                    </a:p>
                  </a:txBody>
                  <a:tcPr>
                    <a:lnT w="9525" cap="flat" cmpd="sng" algn="ctr">
                      <a:solidFill>
                        <a:schemeClr val="bg1"/>
                      </a:solidFill>
                      <a:prstDash val="solid"/>
                      <a:round/>
                      <a:headEnd type="none" w="med" len="med"/>
                      <a:tailEnd type="none" w="med" len="med"/>
                    </a:lnT>
                    <a:solidFill>
                      <a:schemeClr val="bg1"/>
                    </a:solidFill>
                  </a:tcPr>
                </a:tc>
                <a:extLst>
                  <a:ext uri="{0D108BD9-81ED-4DB2-BD59-A6C34878D82A}">
                    <a16:rowId xmlns:a16="http://schemas.microsoft.com/office/drawing/2014/main" val="3478243751"/>
                  </a:ext>
                </a:extLst>
              </a:tr>
            </a:tbl>
          </a:graphicData>
        </a:graphic>
      </p:graphicFrame>
    </p:spTree>
    <p:extLst>
      <p:ext uri="{BB962C8B-B14F-4D97-AF65-F5344CB8AC3E}">
        <p14:creationId xmlns:p14="http://schemas.microsoft.com/office/powerpoint/2010/main" val="338437170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 Id="rId4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3FD339-BB19-4043-A166-4FFEA6AB4615}"/>
              </a:ext>
            </a:extLst>
          </p:cNvPr>
          <p:cNvSpPr>
            <a:spLocks noGrp="1"/>
          </p:cNvSpPr>
          <p:nvPr>
            <p:ph type="title"/>
          </p:nvPr>
        </p:nvSpPr>
        <p:spPr>
          <a:xfrm>
            <a:off x="482400" y="349200"/>
            <a:ext cx="4751202" cy="432000"/>
          </a:xfrm>
          <a:prstGeom prst="rect">
            <a:avLst/>
          </a:prstGeom>
          <a:solidFill>
            <a:srgbClr val="FF1414"/>
          </a:solidFill>
        </p:spPr>
        <p:txBody>
          <a:bodyPr vert="horz" wrap="square" lIns="72000" tIns="36000" rIns="72000" bIns="3600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08FAE61-913B-4243-9F6F-41F836C740A0}"/>
              </a:ext>
            </a:extLst>
          </p:cNvPr>
          <p:cNvSpPr>
            <a:spLocks noGrp="1"/>
          </p:cNvSpPr>
          <p:nvPr>
            <p:ph type="body" idx="1"/>
          </p:nvPr>
        </p:nvSpPr>
        <p:spPr>
          <a:xfrm>
            <a:off x="483417" y="1308944"/>
            <a:ext cx="11225167" cy="3600000"/>
          </a:xfrm>
          <a:prstGeom prst="rect">
            <a:avLst/>
          </a:prstGeom>
        </p:spPr>
        <p:txBody>
          <a:bodyPr vert="horz" lIns="0" tIns="0" rIns="0" bIns="0" rtlCol="0">
            <a:noAutofit/>
          </a:bodyPr>
          <a:lstStyle/>
          <a:p>
            <a:pPr lvl="0"/>
            <a:r>
              <a:rPr lang="en-US"/>
              <a:t>Edit Master text styles</a:t>
            </a:r>
          </a:p>
          <a:p>
            <a:pPr lvl="0"/>
            <a:endParaRPr lang="en-US"/>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5">
            <a:extLst>
              <a:ext uri="{FF2B5EF4-FFF2-40B4-BE49-F238E27FC236}">
                <a16:creationId xmlns:a16="http://schemas.microsoft.com/office/drawing/2014/main" id="{EEED1DBC-3E6C-A386-4841-19F228B628A3}"/>
              </a:ext>
            </a:extLst>
          </p:cNvPr>
          <p:cNvSpPr>
            <a:spLocks noGrp="1"/>
          </p:cNvSpPr>
          <p:nvPr>
            <p:ph type="sldNum" sz="quarter" idx="4"/>
          </p:nvPr>
        </p:nvSpPr>
        <p:spPr>
          <a:xfrm>
            <a:off x="11049785" y="6507298"/>
            <a:ext cx="658800" cy="123111"/>
          </a:xfrm>
          <a:prstGeom prst="rect">
            <a:avLst/>
          </a:prstGeom>
        </p:spPr>
        <p:txBody>
          <a:bodyPr tIns="0" rIns="0" bIns="0" anchor="t">
            <a:spAutoFit/>
          </a:bodyPr>
          <a:lstStyle>
            <a:lvl1pPr algn="r">
              <a:defRPr sz="800" b="0" i="0">
                <a:solidFill>
                  <a:schemeClr val="accent1"/>
                </a:solidFill>
                <a:latin typeface="Montserrat Medium" pitchFamily="2" charset="77"/>
              </a:defRPr>
            </a:lvl1pPr>
          </a:lstStyle>
          <a:p>
            <a:fld id="{992B96C7-85A4-4A4A-B6EF-66E274A71D4B}" type="slidenum">
              <a:rPr lang="en-GB" smtClean="0"/>
              <a:pPr/>
              <a:t>‹#›</a:t>
            </a:fld>
            <a:endParaRPr lang="en-GB" sz="800"/>
          </a:p>
        </p:txBody>
      </p:sp>
      <p:pic>
        <p:nvPicPr>
          <p:cNvPr id="8" name="Picture 7">
            <a:extLst>
              <a:ext uri="{FF2B5EF4-FFF2-40B4-BE49-F238E27FC236}">
                <a16:creationId xmlns:a16="http://schemas.microsoft.com/office/drawing/2014/main" id="{7904ACAE-EE43-8A60-F34C-23DD4D038152}"/>
              </a:ext>
            </a:extLst>
          </p:cNvPr>
          <p:cNvPicPr/>
          <p:nvPr userDrawn="1"/>
        </p:nvPicPr>
        <p:blipFill>
          <a:blip r:embed="rId45"/>
          <a:srcRect/>
          <a:stretch/>
        </p:blipFill>
        <p:spPr>
          <a:xfrm>
            <a:off x="10119504" y="350702"/>
            <a:ext cx="1589081" cy="296554"/>
          </a:xfrm>
          <a:prstGeom prst="rect">
            <a:avLst/>
          </a:prstGeom>
        </p:spPr>
      </p:pic>
      <p:sp>
        <p:nvSpPr>
          <p:cNvPr id="9" name="Slide Number Placeholder 5">
            <a:extLst>
              <a:ext uri="{FF2B5EF4-FFF2-40B4-BE49-F238E27FC236}">
                <a16:creationId xmlns:a16="http://schemas.microsoft.com/office/drawing/2014/main" id="{3DAE6ED0-2B14-2B0D-C9F0-EB643D210B43}"/>
              </a:ext>
            </a:extLst>
          </p:cNvPr>
          <p:cNvSpPr txBox="1">
            <a:spLocks/>
          </p:cNvSpPr>
          <p:nvPr userDrawn="1"/>
        </p:nvSpPr>
        <p:spPr>
          <a:xfrm>
            <a:off x="482400" y="6507298"/>
            <a:ext cx="658800" cy="123111"/>
          </a:xfrm>
          <a:prstGeom prst="rect">
            <a:avLst/>
          </a:prstGeom>
        </p:spPr>
        <p:txBody>
          <a:bodyPr lIns="0" tIns="0" bIns="0" anchor="t">
            <a:spAutoFit/>
          </a:bodyPr>
          <a:lstStyle>
            <a:defPPr>
              <a:defRPr lang="en-PT"/>
            </a:defPPr>
            <a:lvl1pPr marL="0" algn="r" defTabSz="914400" rtl="0" eaLnBrk="1" latinLnBrk="0" hangingPunct="1">
              <a:defRPr sz="1000" b="0" i="0" kern="1200">
                <a:solidFill>
                  <a:schemeClr val="accent1"/>
                </a:solidFill>
                <a:latin typeface="Montserrat Medium"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800"/>
              <a:t>Logicalis</a:t>
            </a:r>
          </a:p>
        </p:txBody>
      </p:sp>
    </p:spTree>
    <p:extLst>
      <p:ext uri="{BB962C8B-B14F-4D97-AF65-F5344CB8AC3E}">
        <p14:creationId xmlns:p14="http://schemas.microsoft.com/office/powerpoint/2010/main" val="2086366242"/>
      </p:ext>
    </p:extLst>
  </p:cSld>
  <p:clrMap bg1="lt1" tx1="dk1" bg2="lt2" tx2="dk2" accent1="accent1" accent2="accent2" accent3="accent3" accent4="accent4" accent5="accent5" accent6="accent6" hlink="hlink" folHlink="folHlink"/>
  <p:sldLayoutIdLst>
    <p:sldLayoutId id="2147483661" r:id="rId1"/>
    <p:sldLayoutId id="2147483729" r:id="rId2"/>
    <p:sldLayoutId id="2147483730" r:id="rId3"/>
    <p:sldLayoutId id="2147483765" r:id="rId4"/>
    <p:sldLayoutId id="2147483731" r:id="rId5"/>
    <p:sldLayoutId id="2147483732" r:id="rId6"/>
    <p:sldLayoutId id="2147483733" r:id="rId7"/>
    <p:sldLayoutId id="2147483697" r:id="rId8"/>
    <p:sldLayoutId id="2147483734" r:id="rId9"/>
    <p:sldLayoutId id="2147483735" r:id="rId10"/>
    <p:sldLayoutId id="2147483736" r:id="rId11"/>
    <p:sldLayoutId id="2147483737" r:id="rId12"/>
    <p:sldLayoutId id="2147483738" r:id="rId13"/>
    <p:sldLayoutId id="2147483739" r:id="rId14"/>
    <p:sldLayoutId id="2147483740" r:id="rId15"/>
    <p:sldLayoutId id="2147483677" r:id="rId16"/>
    <p:sldLayoutId id="2147483741" r:id="rId17"/>
    <p:sldLayoutId id="2147483742" r:id="rId18"/>
    <p:sldLayoutId id="2147483743" r:id="rId19"/>
    <p:sldLayoutId id="2147483744" r:id="rId20"/>
    <p:sldLayoutId id="2147483745" r:id="rId21"/>
    <p:sldLayoutId id="2147483746" r:id="rId22"/>
    <p:sldLayoutId id="2147483747" r:id="rId23"/>
    <p:sldLayoutId id="2147483704" r:id="rId24"/>
    <p:sldLayoutId id="2147483749" r:id="rId25"/>
    <p:sldLayoutId id="2147483750" r:id="rId26"/>
    <p:sldLayoutId id="2147483751" r:id="rId27"/>
    <p:sldLayoutId id="2147483752" r:id="rId28"/>
    <p:sldLayoutId id="2147483753" r:id="rId29"/>
    <p:sldLayoutId id="2147483754" r:id="rId30"/>
    <p:sldLayoutId id="2147483755" r:id="rId31"/>
    <p:sldLayoutId id="2147483726" r:id="rId32"/>
    <p:sldLayoutId id="2147483756" r:id="rId33"/>
    <p:sldLayoutId id="2147483757" r:id="rId34"/>
    <p:sldLayoutId id="2147483758" r:id="rId35"/>
    <p:sldLayoutId id="2147483759" r:id="rId36"/>
    <p:sldLayoutId id="2147483760" r:id="rId37"/>
    <p:sldLayoutId id="2147483761" r:id="rId38"/>
    <p:sldLayoutId id="2147483762" r:id="rId39"/>
    <p:sldLayoutId id="2147483684" r:id="rId40"/>
    <p:sldLayoutId id="2147483764" r:id="rId41"/>
    <p:sldLayoutId id="2147483727" r:id="rId42"/>
    <p:sldLayoutId id="2147483672" r:id="rId43"/>
  </p:sldLayoutIdLst>
  <p:transition>
    <p:fade/>
  </p:transition>
  <p:hf hdr="0"/>
  <p:txStyles>
    <p:titleStyle>
      <a:lvl1pPr algn="l" defTabSz="914400" rtl="0" eaLnBrk="1" latinLnBrk="0" hangingPunct="1">
        <a:lnSpc>
          <a:spcPct val="90000"/>
        </a:lnSpc>
        <a:spcBef>
          <a:spcPct val="0"/>
        </a:spcBef>
        <a:buNone/>
        <a:defRPr sz="2600" kern="1200">
          <a:solidFill>
            <a:schemeClr val="bg1"/>
          </a:solidFill>
          <a:latin typeface="Roboto Slab" pitchFamily="2" charset="0"/>
          <a:ea typeface="Roboto Slab" pitchFamily="2" charset="0"/>
          <a:cs typeface="+mj-cs"/>
        </a:defRPr>
      </a:lvl1pPr>
    </p:titleStyle>
    <p:bodyStyle>
      <a:lvl1pPr marL="0" indent="0" algn="l" defTabSz="914400" rtl="0" eaLnBrk="1" latinLnBrk="0" hangingPunct="1">
        <a:lnSpc>
          <a:spcPct val="150000"/>
        </a:lnSpc>
        <a:spcBef>
          <a:spcPts val="0"/>
        </a:spcBef>
        <a:spcAft>
          <a:spcPts val="1200"/>
        </a:spcAft>
        <a:buFont typeface="Arial" panose="020B0604020202020204" pitchFamily="34" charset="0"/>
        <a:buNone/>
        <a:defRPr sz="1400" b="0" i="0" kern="1200">
          <a:solidFill>
            <a:srgbClr val="595959"/>
          </a:solidFill>
          <a:latin typeface="Montserrat Medium" pitchFamily="2" charset="77"/>
          <a:ea typeface="+mn-ea"/>
          <a:cs typeface="+mn-cs"/>
        </a:defRPr>
      </a:lvl1pPr>
      <a:lvl2pPr marL="0" indent="0" algn="l" defTabSz="914400" rtl="0" eaLnBrk="1" latinLnBrk="0" hangingPunct="1">
        <a:lnSpc>
          <a:spcPct val="150000"/>
        </a:lnSpc>
        <a:spcBef>
          <a:spcPts val="0"/>
        </a:spcBef>
        <a:spcAft>
          <a:spcPts val="1200"/>
        </a:spcAft>
        <a:buClr>
          <a:schemeClr val="accent1"/>
        </a:buClr>
        <a:buSzPct val="90000"/>
        <a:buFont typeface="Arial" panose="020B0604020202020204" pitchFamily="34" charset="0"/>
        <a:buNone/>
        <a:defRPr sz="2000" b="0" i="0" kern="1200">
          <a:solidFill>
            <a:schemeClr val="accent1"/>
          </a:solidFill>
          <a:latin typeface="Roboto Slab" pitchFamily="2" charset="0"/>
          <a:ea typeface="Roboto Slab" pitchFamily="2" charset="0"/>
          <a:cs typeface="Times New Roman" panose="02020603050405020304" pitchFamily="18" charset="0"/>
        </a:defRPr>
      </a:lvl2pPr>
      <a:lvl3pPr marL="252000" indent="-252000" algn="l" defTabSz="914400" rtl="0" eaLnBrk="1" latinLnBrk="0" hangingPunct="1">
        <a:lnSpc>
          <a:spcPct val="150000"/>
        </a:lnSpc>
        <a:spcBef>
          <a:spcPts val="0"/>
        </a:spcBef>
        <a:spcAft>
          <a:spcPts val="1200"/>
        </a:spcAft>
        <a:buClr>
          <a:schemeClr val="accent1"/>
        </a:buClr>
        <a:buSzPct val="80000"/>
        <a:buFont typeface=".Lucida Grande UI Regular"/>
        <a:buChar char="►"/>
        <a:defRPr sz="1400" b="0" i="0" kern="1200">
          <a:solidFill>
            <a:srgbClr val="595959"/>
          </a:solidFill>
          <a:latin typeface="Montserrat Medium" pitchFamily="2" charset="77"/>
          <a:ea typeface="+mn-ea"/>
          <a:cs typeface="+mn-cs"/>
        </a:defRPr>
      </a:lvl3pPr>
      <a:lvl4pPr marL="540000" indent="-252000" algn="l" defTabSz="914400" rtl="0" eaLnBrk="1" latinLnBrk="0" hangingPunct="1">
        <a:lnSpc>
          <a:spcPct val="150000"/>
        </a:lnSpc>
        <a:spcBef>
          <a:spcPts val="0"/>
        </a:spcBef>
        <a:spcAft>
          <a:spcPts val="1200"/>
        </a:spcAft>
        <a:buClr>
          <a:schemeClr val="tx2"/>
        </a:buClr>
        <a:buSzPct val="80000"/>
        <a:buFont typeface=".Lucida Grande UI Regular"/>
        <a:buChar char="►"/>
        <a:defRPr sz="1400" b="0" i="0" kern="1200">
          <a:solidFill>
            <a:srgbClr val="595959"/>
          </a:solidFill>
          <a:latin typeface="Montserrat" pitchFamily="2" charset="77"/>
          <a:ea typeface="+mn-ea"/>
          <a:cs typeface="+mn-cs"/>
        </a:defRPr>
      </a:lvl4pPr>
      <a:lvl5pPr marL="792000" indent="-252000" algn="l" defTabSz="914400" rtl="0" eaLnBrk="1" latinLnBrk="0" hangingPunct="1">
        <a:lnSpc>
          <a:spcPct val="150000"/>
        </a:lnSpc>
        <a:spcBef>
          <a:spcPts val="0"/>
        </a:spcBef>
        <a:spcAft>
          <a:spcPts val="1200"/>
        </a:spcAft>
        <a:buClr>
          <a:schemeClr val="tx2"/>
        </a:buClr>
        <a:buSzPct val="90000"/>
        <a:buFont typeface="Monaco" pitchFamily="2" charset="77"/>
        <a:buChar char="⎻"/>
        <a:defRPr sz="1400" b="0" i="0" kern="1200">
          <a:solidFill>
            <a:srgbClr val="595959"/>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98">
          <p15:clr>
            <a:srgbClr val="F26B43"/>
          </p15:clr>
        </p15:guide>
        <p15:guide id="4" pos="7197">
          <p15:clr>
            <a:srgbClr val="F26B43"/>
          </p15:clr>
        </p15:guide>
        <p15:guide id="5" orient="horz" pos="1132">
          <p15:clr>
            <a:srgbClr val="F26B43"/>
          </p15:clr>
        </p15:guide>
        <p15:guide id="6" orient="horz" pos="3401">
          <p15:clr>
            <a:srgbClr val="F26B43"/>
          </p15:clr>
        </p15:guide>
        <p15:guide id="7" orient="horz" pos="489">
          <p15:clr>
            <a:srgbClr val="F26B43"/>
          </p15:clr>
        </p15:guide>
        <p15:guide id="8" orient="horz" pos="1253">
          <p15:clr>
            <a:srgbClr val="F26B43"/>
          </p15:clr>
        </p15:guide>
      </p15:sldGuideLst>
    </p:ext>
  </p:extLst>
</p:sldMaster>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3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3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4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4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4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4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4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image" Target="../media/image4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4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4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image" Target="../media/image5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 Id="rId3" Type="http://schemas.openxmlformats.org/officeDocument/2006/relationships/image" Target="../media/image5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 Id="rId3" Type="http://schemas.openxmlformats.org/officeDocument/2006/relationships/image" Target="../media/image5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 Id="rId3" Type="http://schemas.openxmlformats.org/officeDocument/2006/relationships/image" Target="../media/image5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 Id="rId3" Type="http://schemas.openxmlformats.org/officeDocument/2006/relationships/image" Target="../media/image5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 Id="rId3" Type="http://schemas.openxmlformats.org/officeDocument/2006/relationships/image" Target="../media/image5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 Id="rId3" Type="http://schemas.openxmlformats.org/officeDocument/2006/relationships/image" Target="../media/image5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 Id="rId3" Type="http://schemas.openxmlformats.org/officeDocument/2006/relationships/image" Target="../media/image5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 Id="rId3" Type="http://schemas.openxmlformats.org/officeDocument/2006/relationships/image" Target="../media/image5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 Id="rId3" Type="http://schemas.openxmlformats.org/officeDocument/2006/relationships/image" Target="../media/image6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6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Relationship Id="rId3" Type="http://schemas.openxmlformats.org/officeDocument/2006/relationships/image" Target="../media/image6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Relationship Id="rId3" Type="http://schemas.openxmlformats.org/officeDocument/2006/relationships/image" Target="../media/image6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6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0.xml"/><Relationship Id="rId3" Type="http://schemas.openxmlformats.org/officeDocument/2006/relationships/image" Target="../media/image6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1.xml"/><Relationship Id="rId3" Type="http://schemas.openxmlformats.org/officeDocument/2006/relationships/image" Target="../media/image6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6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3.xml"/><Relationship Id="rId3" Type="http://schemas.openxmlformats.org/officeDocument/2006/relationships/image" Target="../media/image6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6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Relationship Id="rId3" Type="http://schemas.openxmlformats.org/officeDocument/2006/relationships/image" Target="../media/image6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6.xml"/><Relationship Id="rId3" Type="http://schemas.openxmlformats.org/officeDocument/2006/relationships/image" Target="../media/image70.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7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8.xml"/><Relationship Id="rId3" Type="http://schemas.openxmlformats.org/officeDocument/2006/relationships/image" Target="../media/image7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9.xml"/><Relationship Id="rId3" Type="http://schemas.openxmlformats.org/officeDocument/2006/relationships/image" Target="../media/image7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0.xml"/><Relationship Id="rId3" Type="http://schemas.openxmlformats.org/officeDocument/2006/relationships/image" Target="../media/image7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7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2.xml"/><Relationship Id="rId3" Type="http://schemas.openxmlformats.org/officeDocument/2006/relationships/image" Target="../media/image7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7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4.xml"/><Relationship Id="rId3" Type="http://schemas.openxmlformats.org/officeDocument/2006/relationships/image" Target="../media/image7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76.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6.xml"/><Relationship Id="rId3" Type="http://schemas.openxmlformats.org/officeDocument/2006/relationships/image" Target="../media/image76.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77.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8.xml"/><Relationship Id="rId3" Type="http://schemas.openxmlformats.org/officeDocument/2006/relationships/image" Target="../media/image7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7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0.xml"/><Relationship Id="rId3" Type="http://schemas.openxmlformats.org/officeDocument/2006/relationships/image" Target="../media/image7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1.xml"/><Relationship Id="rId3" Type="http://schemas.openxmlformats.org/officeDocument/2006/relationships/image" Target="../media/image7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23.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hyperlink" Target="https://www.mckinsey.com/capabilities/quantumblack/our-insights/the-state-of-ai" TargetMode="External"/><Relationship Id="rId4" Type="http://schemas.openxmlformats.org/officeDocument/2006/relationships/hyperlink" Target="https://www.gartner.com/en/newsroom/press-releases/2025-06-25-gartner-predicts-over-40-percent-of-agentic-ai-projects-will-be-canceled-by-end-of-2027" TargetMode="External"/><Relationship Id="rId5" Type="http://schemas.openxmlformats.org/officeDocument/2006/relationships/hyperlink" Target="https://fortune.com/2025/08/18/mit-report-95-percent-generative-ai-pilots-at-companies-failing-cfo/" TargetMode="External"/><Relationship Id="rId6" Type="http://schemas.openxmlformats.org/officeDocument/2006/relationships/hyperlink" Target="https://conning.com/about-us/news/ir-pr---ai-survey-2025" TargetMode="External"/><Relationship Id="rId7" Type="http://schemas.openxmlformats.org/officeDocument/2006/relationships/hyperlink" Target="https://eur-lex.europa.eu/eli/reg/2024/1689/oj" TargetMode="External"/><Relationship Id="rId8" Type="http://schemas.openxmlformats.org/officeDocument/2006/relationships/hyperlink" Target="https://eur-lex.europa.eu/eli/reg/2016/679/oj" TargetMode="External"/><Relationship Id="rId9" Type="http://schemas.openxmlformats.org/officeDocument/2006/relationships/hyperlink" Target="https://eur-lex.europa.eu/eli/reg/2022/2554/oj" TargetMode="External"/><Relationship Id="rId10" Type="http://schemas.openxmlformats.org/officeDocument/2006/relationships/hyperlink" Target="https://eur-lex.europa.eu/eli/dir/2022/2555/oj" TargetMode="External"/><Relationship Id="rId11" Type="http://schemas.openxmlformats.org/officeDocument/2006/relationships/hyperlink" Target="https://www.gibsondunn.com/eu-ai-act-omnibus-agreement-postponed-high-risk-deadlines-and-other-key-changes/" TargetMode="External"/><Relationship Id="rId12" Type="http://schemas.openxmlformats.org/officeDocument/2006/relationships/hyperlink" Target="https://curia.europa.eu/juris/liste.jsf?num=C-634/21" TargetMode="External"/><Relationship Id="rId13" Type="http://schemas.openxmlformats.org/officeDocument/2006/relationships/hyperlink" Target="https://curia.europa.eu/juris/liste.jsf?num=C-203/22" TargetMode="External"/><Relationship Id="rId14" Type="http://schemas.openxmlformats.org/officeDocument/2006/relationships/hyperlink" Target="https://www.eiopa.europa.eu/eiopa-publishes-opinion-ai-governance-and-risk-management-2025-08-06_en" TargetMode="External"/><Relationship Id="rId15" Type="http://schemas.openxmlformats.org/officeDocument/2006/relationships/hyperlink" Target="https://www.iso.org/standard/42001" TargetMode="External"/><Relationship Id="rId16" Type="http://schemas.openxmlformats.org/officeDocument/2006/relationships/hyperlink" Target="https://www.nist.gov/itl/ai-risk-management-framework" TargetMode="Externa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38.png"/></Relationships>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itle 3">
            <a:extLst>
              <a:ext uri="{FF2B5EF4-FFF2-40B4-BE49-F238E27FC236}">
                <a16:creationId xmlns:a16="http://schemas.microsoft.com/office/drawing/2014/main" id="{25921E48-B7DB-6CFD-42FD-BACF049CF695}"/>
              </a:ext>
            </a:extLst>
          </p:cNvPr>
          <p:cNvSpPr>
            <a:spLocks noGrp="1"/>
          </p:cNvSpPr>
          <p:nvPr>
            <p:ph type="ctrTitle"/>
          </p:nvPr>
        </p:nvSpPr>
        <p:spPr>
          <a:xfrm>
            <a:off x="630936" y="2011680"/>
            <a:ext cx="4496308" cy="688848"/>
          </a:xfrm>
        </p:spPr>
        <p:txBody>
          <a:bodyPr wrap="none" anchor="ctr">
            <a:noAutofit/>
          </a:bodyPr>
          <a:lstStyle/>
          <a:p>
            <a:r>
              <a:rPr lang="en-PT" sz="4200"/>
              <a:t>Observabilidad y</a:t>
            </a:r>
          </a:p>
        </p:txBody>
      </p:sp>
      <p:sp>
        <p:nvSpPr>
          <p:cNvPr id="5" name="Subtitle 4">
            <a:extLst>
              <a:ext uri="{FF2B5EF4-FFF2-40B4-BE49-F238E27FC236}">
                <a16:creationId xmlns:a16="http://schemas.microsoft.com/office/drawing/2014/main" id="{A3839338-4607-518B-5A15-89D10D8B7E1A}"/>
              </a:ext>
            </a:extLst>
          </p:cNvPr>
          <p:cNvSpPr>
            <a:spLocks noGrp="1"/>
          </p:cNvSpPr>
          <p:nvPr>
            <p:ph type="subTitle" idx="1"/>
          </p:nvPr>
        </p:nvSpPr>
        <p:spPr>
          <a:xfrm>
            <a:off x="630936" y="2791968"/>
            <a:ext cx="4525518" cy="688848"/>
          </a:xfrm>
        </p:spPr>
        <p:txBody>
          <a:bodyPr wrap="none" anchor="ctr">
            <a:noAutofit/>
          </a:bodyPr>
          <a:lstStyle/>
          <a:p>
            <a:r>
              <a:rPr lang="pt-PT" err="1" sz="4200"/>
              <a:t>gobierno de la IA</a:t>
            </a:r>
          </a:p>
        </p:txBody>
      </p:sp>
      <p:sp>
        <p:nvSpPr>
          <p:cNvPr id="5" name="Subtitle 4">
            <a:extLst>
              <a:ext uri="{FF2B5EF4-FFF2-40B4-BE49-F238E27FC236}">
                <a16:creationId xmlns:a16="http://schemas.microsoft.com/office/drawing/2014/main" id="{A3839338-4607-518B-5A15-89D10D8B7E1A}"/>
              </a:ext>
            </a:extLst>
          </p:cNvPr>
          <p:cNvSpPr>
            <a:spLocks noGrp="1"/>
          </p:cNvSpPr>
          <p:nvPr>
            <p:ph type="subTitle" idx="1"/>
          </p:nvPr>
        </p:nvSpPr>
        <p:spPr>
          <a:xfrm>
            <a:off x="630936" y="3572256"/>
            <a:ext cx="2446528" cy="688848"/>
          </a:xfrm>
        </p:spPr>
        <p:txBody>
          <a:bodyPr wrap="none" anchor="ctr">
            <a:noAutofit/>
          </a:bodyPr>
          <a:lstStyle/>
          <a:p>
            <a:r>
              <a:rPr lang="pt-PT" err="1" sz="4200"/>
              <a:t>agéntica</a:t>
            </a:r>
          </a:p>
        </p:txBody>
      </p:sp>
      <p:sp>
        <p:nvSpPr>
          <p:cNvPr id="6" name="Title 3">
            <a:extLst>
              <a:ext uri="{FF2B5EF4-FFF2-40B4-BE49-F238E27FC236}">
                <a16:creationId xmlns:a16="http://schemas.microsoft.com/office/drawing/2014/main" id="{84D23A1D-92A7-B8F8-A6A5-CA7C51F45A8F}"/>
              </a:ext>
            </a:extLst>
          </p:cNvPr>
          <p:cNvSpPr txBox="1">
            <a:spLocks/>
          </p:cNvSpPr>
          <p:nvPr/>
        </p:nvSpPr>
        <p:spPr>
          <a:xfrm>
            <a:off x="630936" y="5303520"/>
            <a:ext cx="4572000" cy="356616"/>
          </a:xfrm>
          <a:prstGeom prst="rect">
            <a:avLst/>
          </a:prstGeom>
          <a:noFill/>
        </p:spPr>
        <p:txBody>
          <a:bodyPr vert="horz" wrap="square" lIns="72000" tIns="36000" rIns="72000" bIns="36000" rtlCol="0" anchor="ctr" anchorCtr="0">
            <a:noAutofit/>
          </a:bodyPr>
          <a:lstStyle>
            <a:lvl1pPr algn="l" defTabSz="914400" rtl="0" eaLnBrk="1" latinLnBrk="0" hangingPunct="1">
              <a:lnSpc>
                <a:spcPct val="90000"/>
              </a:lnSpc>
              <a:spcBef>
                <a:spcPct val="0"/>
              </a:spcBef>
              <a:buNone/>
              <a:defRPr sz="4200" kern="1200">
                <a:solidFill>
                  <a:schemeClr val="bg1"/>
                </a:solidFill>
                <a:latin typeface="Roboto Slab" pitchFamily="2" charset="0"/>
                <a:ea typeface="Roboto Slab" pitchFamily="2" charset="0"/>
                <a:cs typeface="+mj-cs"/>
              </a:defRPr>
            </a:lvl1pPr>
          </a:lstStyle>
          <a:p>
            <a:r>
              <a:rPr lang="en-PT" sz="1200">
                <a:latin typeface="Montserrat" pitchFamily="2" charset="77"/>
              </a:rPr>
              <a:t>Octubre 2026</a:t>
            </a:r>
          </a:p>
        </p:txBody>
      </p:sp>
      <p:pic>
        <p:nvPicPr>
          <p:cNvPr id="7" name="Picture 6" descr="A person with her arms crossed&#10;&#10;Description automatically generated">
            <a:extLst>
              <a:ext uri="{FF2B5EF4-FFF2-40B4-BE49-F238E27FC236}">
                <a16:creationId xmlns:a16="http://schemas.microsoft.com/office/drawing/2014/main" id="{B28B268F-CE6A-5453-5C27-75301FD49E59}"/>
              </a:ext>
            </a:extLst>
          </p:cNvPr>
          <p:cNvPicPr>
            <a:picLocks noChangeAspect="1"/>
          </p:cNvPicPr>
          <p:nvPr/>
        </p:nvPicPr>
        <p:blipFill>
          <a:blip r:embed="rId2"/>
          <a:stretch>
            <a:fillRect/>
          </a:stretch>
        </p:blipFill>
        <p:spPr>
          <a:xfrm>
            <a:off x="4405778" y="1346330"/>
            <a:ext cx="8553692" cy="5511670"/>
          </a:xfrm>
          <a:prstGeom prst="rect">
            <a:avLst/>
          </a:prstGeom>
        </p:spPr>
      </p:pic>
      <p:sp>
        <p:nvSpPr>
          <p:cNvPr id="8" name="TextBox 7"/>
          <p:cNvSpPr txBox="1"/>
          <p:nvPr/>
        </p:nvSpPr>
        <p:spPr>
          <a:xfrm>
            <a:off x="630936" y="4489704"/>
            <a:ext cx="5303520" cy="676656"/>
          </a:xfrm>
          <a:prstGeom prst="rect">
            <a:avLst/>
          </a:prstGeom>
          <a:noFill/>
        </p:spPr>
        <p:txBody>
          <a:bodyPr wrap="square" lIns="45720" rIns="45720" tIns="27432" bIns="27432" anchor="t">
            <a:noAutofit/>
          </a:bodyPr>
          <a:lstStyle/>
          <a:p>
            <a:pPr>
              <a:lnSpc>
                <a:spcPct val="115000"/>
              </a:lnSpc>
              <a:spcAft>
                <a:spcPts val="0"/>
              </a:spcAft>
            </a:pPr>
            <a:r>
              <a:rPr sz="1600">
                <a:solidFill>
                  <a:srgbClr val="FFFFFF"/>
                </a:solidFill>
                <a:latin typeface="Montserrat Medium"/>
              </a:rPr>
              <a:t>De agentes que funcionan a agentes en los que se puede confiar</a:t>
            </a:r>
          </a:p>
        </p:txBody>
      </p:sp>
      <p:sp>
        <p:nvSpPr>
          <p:cNvPr id="9" name="TextBox 8"/>
          <p:cNvSpPr txBox="1"/>
          <p:nvPr/>
        </p:nvSpPr>
        <p:spPr>
          <a:xfrm>
            <a:off x="630936" y="5687568"/>
            <a:ext cx="2574289" cy="292608"/>
          </a:xfrm>
          <a:prstGeom prst="rect">
            <a:avLst/>
          </a:prstGeom>
          <a:solidFill>
            <a:srgbClr val="194BFF"/>
          </a:solidFill>
        </p:spPr>
        <p:txBody>
          <a:bodyPr wrap="none" lIns="73152" rIns="73152" tIns="18288" bIns="18288" anchor="ctr">
            <a:noAutofit/>
          </a:bodyPr>
          <a:lstStyle/>
          <a:p>
            <a:r>
              <a:rPr sz="1100">
                <a:solidFill>
                  <a:srgbClr val="FFFFFF"/>
                </a:solidFill>
                <a:latin typeface="Montserrat Medium"/>
              </a:rPr>
              <a:t>Presentado por Ignacio Sánchez</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1445768" cy="429768"/>
          </a:xfrm>
        </p:spPr>
        <p:txBody>
          <a:bodyPr wrap="none"/>
          <a:lstStyle/>
          <a:p>
            <a:r>
              <a:rPr sz="2600"/>
              <a:t>Agenda</a:t>
            </a:r>
          </a:p>
        </p:txBody>
      </p:sp>
      <p:pic>
        <p:nvPicPr>
          <p:cNvPr id="3" name="Picture 2" descr="wave_symbol_light.png"/>
          <p:cNvPicPr>
            <a:picLocks noChangeAspect="1"/>
          </p:cNvPicPr>
          <p:nvPr/>
        </p:nvPicPr>
        <p:blipFill>
          <a:blip r:embed="rId2"/>
          <a:stretch>
            <a:fillRect/>
          </a:stretch>
        </p:blipFill>
        <p:spPr>
          <a:xfrm>
            <a:off x="6583680" y="1920240"/>
            <a:ext cx="5303520" cy="2515857"/>
          </a:xfrm>
          <a:prstGeom prst="rect">
            <a:avLst/>
          </a:prstGeom>
        </p:spPr>
      </p:pic>
      <p:sp>
        <p:nvSpPr>
          <p:cNvPr id="4" name="AGENDA_ITEMS"/>
          <p:cNvSpPr txBox="1"/>
          <p:nvPr/>
        </p:nvSpPr>
        <p:spPr>
          <a:xfrm>
            <a:off x="484632" y="1600200"/>
            <a:ext cx="6949440" cy="4572000"/>
          </a:xfrm>
          <a:prstGeom prst="rect">
            <a:avLst/>
          </a:prstGeom>
          <a:noFill/>
        </p:spPr>
        <p:txBody>
          <a:bodyPr wrap="square" anchor="t" lIns="72000" rIns="72000" tIns="36000" bIns="36000">
            <a:noAutofit/>
          </a:bodyPr>
          <a:lstStyle/>
          <a:p>
            <a:pPr>
              <a:spcAft>
                <a:spcPts val="1800"/>
              </a:spcAft>
            </a:pPr>
            <a:r>
              <a:rPr sz="3600" b="0">
                <a:solidFill>
                  <a:srgbClr val="194BFF"/>
                </a:solidFill>
                <a:latin typeface="Roboto Slab"/>
              </a:rPr>
              <a:t>01</a:t>
            </a:r>
            <a:r>
              <a:rPr sz="2200" b="0">
                <a:solidFill>
                  <a:srgbClr val="595959"/>
                </a:solidFill>
                <a:latin typeface="Montserrat Medium"/>
              </a:rPr>
              <a:t>   Por qué ahora</a:t>
            </a:r>
          </a:p>
          <a:p>
            <a:pPr>
              <a:spcAft>
                <a:spcPts val="1800"/>
              </a:spcAft>
            </a:pPr>
            <a:r>
              <a:rPr sz="3600" b="0">
                <a:solidFill>
                  <a:srgbClr val="194BFF"/>
                </a:solidFill>
                <a:latin typeface="Roboto Slab"/>
              </a:rPr>
              <a:t>02</a:t>
            </a:r>
            <a:r>
              <a:rPr sz="2200" b="0">
                <a:solidFill>
                  <a:srgbClr val="595959"/>
                </a:solidFill>
                <a:latin typeface="Montserrat Medium"/>
              </a:rPr>
              <a:t>   Qué cambia con los agentes</a:t>
            </a:r>
          </a:p>
          <a:p>
            <a:pPr>
              <a:spcAft>
                <a:spcPts val="1800"/>
              </a:spcAft>
            </a:pPr>
            <a:r>
              <a:rPr sz="3600" b="0">
                <a:solidFill>
                  <a:srgbClr val="194BFF"/>
                </a:solidFill>
                <a:latin typeface="Roboto Slab"/>
              </a:rPr>
              <a:t>03</a:t>
            </a:r>
            <a:r>
              <a:rPr sz="2200" b="0">
                <a:solidFill>
                  <a:srgbClr val="595959"/>
                </a:solidFill>
                <a:latin typeface="Montserrat Medium"/>
              </a:rPr>
              <a:t>   Lo que exige la regulación</a:t>
            </a:r>
          </a:p>
          <a:p>
            <a:pPr>
              <a:spcAft>
                <a:spcPts val="1800"/>
              </a:spcAft>
            </a:pPr>
            <a:r>
              <a:rPr sz="3600" b="0">
                <a:solidFill>
                  <a:srgbClr val="194BFF"/>
                </a:solidFill>
                <a:latin typeface="Roboto Slab"/>
              </a:rPr>
              <a:t>04</a:t>
            </a:r>
            <a:r>
              <a:rPr sz="2200" b="0">
                <a:solidFill>
                  <a:srgbClr val="595959"/>
                </a:solidFill>
                <a:latin typeface="Montserrat Medium"/>
              </a:rPr>
              <a:t>   Capacidades</a:t>
            </a:r>
          </a:p>
          <a:p>
            <a:pPr>
              <a:spcAft>
                <a:spcPts val="1800"/>
              </a:spcAft>
            </a:pPr>
            <a:r>
              <a:rPr sz="3600" b="0">
                <a:solidFill>
                  <a:srgbClr val="194BFF"/>
                </a:solidFill>
                <a:latin typeface="Roboto Slab"/>
              </a:rPr>
              <a:t>05</a:t>
            </a:r>
            <a:r>
              <a:rPr sz="2200" b="0">
                <a:solidFill>
                  <a:srgbClr val="595959"/>
                </a:solidFill>
                <a:latin typeface="Montserrat Medium"/>
              </a:rPr>
              <a:t>   Cómo implantarlo</a:t>
            </a:r>
          </a:p>
        </p:txBody>
      </p:sp>
      <p:sp>
        <p:nvSpPr>
          <p:cNvPr id="5" name="Slide Number Placeholder 5">
            <a:extLst>
              <a:ext uri="{FF2B5EF4-FFF2-40B4-BE49-F238E27FC236}">
                <a16:creationId xmlns:a16="http://schemas.microsoft.com/office/drawing/2014/main" id="{1CC3A131-478F-7358-5149-4495B2461525}"/>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x_photo_divider.png"/>
          <p:cNvPicPr>
            <a:picLocks noChangeAspect="1"/>
          </p:cNvPicPr>
          <p:nvPr/>
        </p:nvPicPr>
        <p:blipFill>
          <a:blip r:embed="rId2"/>
          <a:stretch>
            <a:fillRect/>
          </a:stretch>
        </p:blipFill>
        <p:spPr>
          <a:xfrm>
            <a:off x="502920" y="566928"/>
            <a:ext cx="6035040" cy="5683392"/>
          </a:xfrm>
          <a:prstGeom prst="rect">
            <a:avLst/>
          </a:prstGeom>
        </p:spPr>
      </p:pic>
      <p:sp>
        <p:nvSpPr>
          <p:cNvPr id="3" name="NUM"/>
          <p:cNvSpPr txBox="1"/>
          <p:nvPr/>
        </p:nvSpPr>
        <p:spPr>
          <a:xfrm>
            <a:off x="6720840" y="2331720"/>
            <a:ext cx="566928" cy="329184"/>
          </a:xfrm>
          <a:prstGeom prst="rect">
            <a:avLst/>
          </a:prstGeom>
          <a:solidFill>
            <a:srgbClr val="194BFF"/>
          </a:solidFill>
        </p:spPr>
        <p:txBody>
          <a:bodyPr wrap="none" anchor="ctr" lIns="72000" rIns="72000" tIns="36000" bIns="36000">
            <a:noAutofit/>
          </a:bodyPr>
          <a:lstStyle/>
          <a:p>
            <a:r>
              <a:rPr sz="1400" b="0">
                <a:solidFill>
                  <a:srgbClr val="FFFFFF"/>
                </a:solidFill>
                <a:latin typeface="Roboto Slab"/>
              </a:rPr>
              <a:t>01</a:t>
            </a:r>
          </a:p>
        </p:txBody>
      </p:sp>
      <p:sp>
        <p:nvSpPr>
          <p:cNvPr id="4" name="REDTITLE"/>
          <p:cNvSpPr txBox="1"/>
          <p:nvPr/>
        </p:nvSpPr>
        <p:spPr>
          <a:xfrm>
            <a:off x="6720840" y="2788920"/>
            <a:ext cx="2929128" cy="546608"/>
          </a:xfrm>
          <a:prstGeom prst="rect">
            <a:avLst/>
          </a:prstGeom>
          <a:solidFill>
            <a:srgbClr val="FF1414"/>
          </a:solidFill>
        </p:spPr>
        <p:txBody>
          <a:bodyPr wrap="none" anchor="ctr" lIns="72000" rIns="72000" tIns="36000" bIns="36000">
            <a:noAutofit/>
          </a:bodyPr>
          <a:lstStyle/>
          <a:p>
            <a:r>
              <a:rPr sz="3200" b="0">
                <a:solidFill>
                  <a:srgbClr val="FFFFFF"/>
                </a:solidFill>
                <a:latin typeface="Roboto Slab"/>
              </a:rPr>
              <a:t>Por qué ahora</a:t>
            </a:r>
          </a:p>
        </p:txBody>
      </p:sp>
      <p:sp>
        <p:nvSpPr>
          <p:cNvPr id="5" name="TextBox 4"/>
          <p:cNvSpPr txBox="1"/>
          <p:nvPr/>
        </p:nvSpPr>
        <p:spPr>
          <a:xfrm>
            <a:off x="6720840" y="3609848"/>
            <a:ext cx="5120640" cy="1097280"/>
          </a:xfrm>
          <a:prstGeom prst="rect">
            <a:avLst/>
          </a:prstGeom>
          <a:noFill/>
        </p:spPr>
        <p:txBody>
          <a:bodyPr wrap="square" lIns="45720" rIns="45720" tIns="27432" bIns="27432" anchor="t">
            <a:noAutofit/>
          </a:bodyPr>
          <a:lstStyle/>
          <a:p>
            <a:pPr>
              <a:lnSpc>
                <a:spcPct val="130000"/>
              </a:lnSpc>
              <a:spcAft>
                <a:spcPts val="0"/>
              </a:spcAft>
            </a:pPr>
            <a:r>
              <a:rPr sz="1400">
                <a:solidFill>
                  <a:srgbClr val="FFFFFF"/>
                </a:solidFill>
                <a:latin typeface="Montserrat Medium"/>
              </a:rPr>
              <a:t>Todas las empresas prueban agentes. Muy pocas los tienen en producción.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5353558" cy="429768"/>
          </a:xfrm>
        </p:spPr>
        <p:txBody>
          <a:bodyPr wrap="none"/>
          <a:lstStyle/>
          <a:p>
            <a:r>
              <a:rPr sz="2600"/>
              <a:t>La IA agéntica llega a la empresa</a:t>
            </a:r>
          </a:p>
        </p:txBody>
      </p:sp>
      <p:sp>
        <p:nvSpPr>
          <p:cNvPr id="5" name="Slide Number Placeholder 5">
            <a:extLst>
              <a:ext uri="{FF2B5EF4-FFF2-40B4-BE49-F238E27FC236}">
                <a16:creationId xmlns:a16="http://schemas.microsoft.com/office/drawing/2014/main" id="{1CC3A131-478F-7358-5149-4495B2461525}"/>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
        <p:nvSpPr>
          <p:cNvPr id="6" name="TextBox 5"/>
          <p:cNvSpPr txBox="1"/>
          <p:nvPr/>
        </p:nvSpPr>
        <p:spPr>
          <a:xfrm>
            <a:off x="484632" y="1307592"/>
            <a:ext cx="11228832" cy="347472"/>
          </a:xfrm>
          <a:prstGeom prst="rect">
            <a:avLst/>
          </a:prstGeom>
          <a:noFill/>
        </p:spPr>
        <p:txBody>
          <a:bodyPr wrap="square" lIns="45720" rIns="45720" tIns="27432" bIns="27432" anchor="t">
            <a:noAutofit/>
          </a:bodyPr>
          <a:lstStyle/>
          <a:p>
            <a:pPr>
              <a:lnSpc>
                <a:spcPct val="120000"/>
              </a:lnSpc>
              <a:spcAft>
                <a:spcPts val="0"/>
              </a:spcAft>
            </a:pPr>
            <a:r>
              <a:rPr sz="1600" b="1">
                <a:solidFill>
                  <a:srgbClr val="194BFF"/>
                </a:solidFill>
                <a:latin typeface="Montserrat"/>
              </a:rPr>
              <a:t>Los agentes ya no solo responden: deciden y actúan sobre sistemas de negocio.</a:t>
            </a:r>
          </a:p>
        </p:txBody>
      </p:sp>
      <p:sp>
        <p:nvSpPr>
          <p:cNvPr id="7" name="TextBox 6"/>
          <p:cNvSpPr txBox="1"/>
          <p:nvPr/>
        </p:nvSpPr>
        <p:spPr>
          <a:xfrm>
            <a:off x="667512" y="2702052"/>
            <a:ext cx="2441448" cy="1097280"/>
          </a:xfrm>
          <a:prstGeom prst="rect">
            <a:avLst/>
          </a:prstGeom>
          <a:noFill/>
        </p:spPr>
        <p:txBody>
          <a:bodyPr wrap="none" lIns="45720" rIns="45720" tIns="27432" bIns="27432" anchor="b">
            <a:noAutofit/>
          </a:bodyPr>
          <a:lstStyle/>
          <a:p>
            <a:r>
              <a:rPr sz="4400">
                <a:solidFill>
                  <a:srgbClr val="194BFF"/>
                </a:solidFill>
                <a:latin typeface="Roboto Slab"/>
              </a:rPr>
              <a:t>88 %</a:t>
            </a:r>
          </a:p>
        </p:txBody>
      </p:sp>
      <p:cxnSp>
        <p:nvCxnSpPr>
          <p:cNvPr id="8" name="Connector 7"/>
          <p:cNvCxnSpPr/>
          <p:nvPr/>
        </p:nvCxnSpPr>
        <p:spPr>
          <a:xfrm>
            <a:off x="731520" y="3936491"/>
            <a:ext cx="758952" cy="0"/>
          </a:xfrm>
          <a:prstGeom prst="line">
            <a:avLst/>
          </a:prstGeom>
          <a:ln w="38100">
            <a:solidFill>
              <a:srgbClr val="FF141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67512" y="4073652"/>
            <a:ext cx="2441448" cy="2189987"/>
          </a:xfrm>
          <a:prstGeom prst="rect">
            <a:avLst/>
          </a:prstGeom>
          <a:noFill/>
        </p:spPr>
        <p:txBody>
          <a:bodyPr wrap="square" lIns="45720" rIns="45720" tIns="27432" bIns="27432" anchor="t">
            <a:noAutofit/>
          </a:bodyPr>
          <a:lstStyle/>
          <a:p>
            <a:pPr>
              <a:lnSpc>
                <a:spcPct val="130000"/>
              </a:lnSpc>
              <a:spcAft>
                <a:spcPts val="0"/>
              </a:spcAft>
            </a:pPr>
            <a:r>
              <a:rPr sz="1200">
                <a:solidFill>
                  <a:srgbClr val="595959"/>
                </a:solidFill>
                <a:latin typeface="Montserrat Medium"/>
              </a:rPr>
              <a:t>de las organizaciones usa IA en al menos una función de negocio (McKinsey, 2025)</a:t>
            </a:r>
          </a:p>
        </p:txBody>
      </p:sp>
      <p:cxnSp>
        <p:nvCxnSpPr>
          <p:cNvPr id="10" name="Connector 9"/>
          <p:cNvCxnSpPr/>
          <p:nvPr/>
        </p:nvCxnSpPr>
        <p:spPr>
          <a:xfrm>
            <a:off x="3291839" y="2702052"/>
            <a:ext cx="0" cy="265176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474720" y="2702052"/>
            <a:ext cx="2441448" cy="1097280"/>
          </a:xfrm>
          <a:prstGeom prst="rect">
            <a:avLst/>
          </a:prstGeom>
          <a:noFill/>
        </p:spPr>
        <p:txBody>
          <a:bodyPr wrap="none" lIns="45720" rIns="45720" tIns="27432" bIns="27432" anchor="b">
            <a:noAutofit/>
          </a:bodyPr>
          <a:lstStyle/>
          <a:p>
            <a:r>
              <a:rPr sz="4400">
                <a:solidFill>
                  <a:srgbClr val="194BFF"/>
                </a:solidFill>
                <a:latin typeface="Roboto Slab"/>
              </a:rPr>
              <a:t>62 %</a:t>
            </a:r>
          </a:p>
        </p:txBody>
      </p:sp>
      <p:cxnSp>
        <p:nvCxnSpPr>
          <p:cNvPr id="12" name="Connector 11"/>
          <p:cNvCxnSpPr/>
          <p:nvPr/>
        </p:nvCxnSpPr>
        <p:spPr>
          <a:xfrm>
            <a:off x="3538727" y="3936491"/>
            <a:ext cx="758952" cy="0"/>
          </a:xfrm>
          <a:prstGeom prst="line">
            <a:avLst/>
          </a:prstGeom>
          <a:ln w="38100">
            <a:solidFill>
              <a:srgbClr val="FF141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474720" y="4073652"/>
            <a:ext cx="2441448" cy="2189987"/>
          </a:xfrm>
          <a:prstGeom prst="rect">
            <a:avLst/>
          </a:prstGeom>
          <a:noFill/>
        </p:spPr>
        <p:txBody>
          <a:bodyPr wrap="square" lIns="45720" rIns="45720" tIns="27432" bIns="27432" anchor="t">
            <a:noAutofit/>
          </a:bodyPr>
          <a:lstStyle/>
          <a:p>
            <a:pPr>
              <a:lnSpc>
                <a:spcPct val="130000"/>
              </a:lnSpc>
              <a:spcAft>
                <a:spcPts val="0"/>
              </a:spcAft>
            </a:pPr>
            <a:r>
              <a:rPr sz="1200">
                <a:solidFill>
                  <a:srgbClr val="595959"/>
                </a:solidFill>
                <a:latin typeface="Montserrat Medium"/>
              </a:rPr>
              <a:t>ya usa o experimenta con agentes de IA (McKinsey, 2025)</a:t>
            </a:r>
          </a:p>
        </p:txBody>
      </p:sp>
      <p:cxnSp>
        <p:nvCxnSpPr>
          <p:cNvPr id="14" name="Connector 13"/>
          <p:cNvCxnSpPr/>
          <p:nvPr/>
        </p:nvCxnSpPr>
        <p:spPr>
          <a:xfrm>
            <a:off x="6099048" y="2702052"/>
            <a:ext cx="0" cy="265176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81928" y="2702052"/>
            <a:ext cx="2441448" cy="1097280"/>
          </a:xfrm>
          <a:prstGeom prst="rect">
            <a:avLst/>
          </a:prstGeom>
          <a:noFill/>
        </p:spPr>
        <p:txBody>
          <a:bodyPr wrap="none" lIns="45720" rIns="45720" tIns="27432" bIns="27432" anchor="b">
            <a:noAutofit/>
          </a:bodyPr>
          <a:lstStyle/>
          <a:p>
            <a:r>
              <a:rPr sz="4400">
                <a:solidFill>
                  <a:srgbClr val="194BFF"/>
                </a:solidFill>
                <a:latin typeface="Roboto Slab"/>
              </a:rPr>
              <a:t>33 %</a:t>
            </a:r>
          </a:p>
        </p:txBody>
      </p:sp>
      <p:cxnSp>
        <p:nvCxnSpPr>
          <p:cNvPr id="16" name="Connector 15"/>
          <p:cNvCxnSpPr/>
          <p:nvPr/>
        </p:nvCxnSpPr>
        <p:spPr>
          <a:xfrm>
            <a:off x="6345936" y="3936491"/>
            <a:ext cx="758952" cy="0"/>
          </a:xfrm>
          <a:prstGeom prst="line">
            <a:avLst/>
          </a:prstGeom>
          <a:ln w="38100">
            <a:solidFill>
              <a:srgbClr val="FF141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281928" y="4073652"/>
            <a:ext cx="2441448" cy="2189987"/>
          </a:xfrm>
          <a:prstGeom prst="rect">
            <a:avLst/>
          </a:prstGeom>
          <a:noFill/>
        </p:spPr>
        <p:txBody>
          <a:bodyPr wrap="square" lIns="45720" rIns="45720" tIns="27432" bIns="27432" anchor="t">
            <a:noAutofit/>
          </a:bodyPr>
          <a:lstStyle/>
          <a:p>
            <a:pPr>
              <a:lnSpc>
                <a:spcPct val="130000"/>
              </a:lnSpc>
              <a:spcAft>
                <a:spcPts val="0"/>
              </a:spcAft>
            </a:pPr>
            <a:r>
              <a:rPr sz="1200">
                <a:solidFill>
                  <a:srgbClr val="595959"/>
                </a:solidFill>
                <a:latin typeface="Montserrat Medium"/>
              </a:rPr>
              <a:t>de las aplicaciones empresariales incluirá IA agéntica en 2028 (Gartner)</a:t>
            </a:r>
          </a:p>
        </p:txBody>
      </p:sp>
      <p:cxnSp>
        <p:nvCxnSpPr>
          <p:cNvPr id="18" name="Connector 17"/>
          <p:cNvCxnSpPr/>
          <p:nvPr/>
        </p:nvCxnSpPr>
        <p:spPr>
          <a:xfrm>
            <a:off x="8906255" y="2702052"/>
            <a:ext cx="0" cy="265176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089135" y="2702052"/>
            <a:ext cx="2441448" cy="1097280"/>
          </a:xfrm>
          <a:prstGeom prst="rect">
            <a:avLst/>
          </a:prstGeom>
          <a:noFill/>
        </p:spPr>
        <p:txBody>
          <a:bodyPr wrap="none" lIns="45720" rIns="45720" tIns="27432" bIns="27432" anchor="b">
            <a:noAutofit/>
          </a:bodyPr>
          <a:lstStyle/>
          <a:p>
            <a:r>
              <a:rPr sz="4400">
                <a:solidFill>
                  <a:srgbClr val="194BFF"/>
                </a:solidFill>
                <a:latin typeface="Roboto Slab"/>
              </a:rPr>
              <a:t>15 %</a:t>
            </a:r>
          </a:p>
        </p:txBody>
      </p:sp>
      <p:cxnSp>
        <p:nvCxnSpPr>
          <p:cNvPr id="20" name="Connector 19"/>
          <p:cNvCxnSpPr/>
          <p:nvPr/>
        </p:nvCxnSpPr>
        <p:spPr>
          <a:xfrm>
            <a:off x="9153143" y="3936491"/>
            <a:ext cx="758952" cy="0"/>
          </a:xfrm>
          <a:prstGeom prst="line">
            <a:avLst/>
          </a:prstGeom>
          <a:ln w="38100">
            <a:solidFill>
              <a:srgbClr val="FF1414"/>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089135" y="4073652"/>
            <a:ext cx="2441448" cy="2189987"/>
          </a:xfrm>
          <a:prstGeom prst="rect">
            <a:avLst/>
          </a:prstGeom>
          <a:noFill/>
        </p:spPr>
        <p:txBody>
          <a:bodyPr wrap="square" lIns="45720" rIns="45720" tIns="27432" bIns="27432" anchor="t">
            <a:noAutofit/>
          </a:bodyPr>
          <a:lstStyle/>
          <a:p>
            <a:pPr>
              <a:lnSpc>
                <a:spcPct val="130000"/>
              </a:lnSpc>
              <a:spcAft>
                <a:spcPts val="0"/>
              </a:spcAft>
            </a:pPr>
            <a:r>
              <a:rPr sz="1200">
                <a:solidFill>
                  <a:srgbClr val="595959"/>
                </a:solidFill>
                <a:latin typeface="Montserrat Medium"/>
              </a:rPr>
              <a:t>de las decisiones del día a día se tomarán de forma autónoma en 2028 (Gartner)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3805427" cy="429768"/>
          </a:xfrm>
        </p:spPr>
        <p:txBody>
          <a:bodyPr wrap="none"/>
          <a:lstStyle/>
          <a:p>
            <a:r>
              <a:rPr sz="2600"/>
              <a:t>Del piloto a producción</a:t>
            </a:r>
          </a:p>
        </p:txBody>
      </p:sp>
      <p:sp>
        <p:nvSpPr>
          <p:cNvPr id="5" name="Slide Number Placeholder 5">
            <a:extLst>
              <a:ext uri="{FF2B5EF4-FFF2-40B4-BE49-F238E27FC236}">
                <a16:creationId xmlns:a16="http://schemas.microsoft.com/office/drawing/2014/main" id="{1CC3A131-478F-7358-5149-4495B2461525}"/>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
        <p:nvSpPr>
          <p:cNvPr id="6" name="TextBox 5"/>
          <p:cNvSpPr txBox="1"/>
          <p:nvPr/>
        </p:nvSpPr>
        <p:spPr>
          <a:xfrm>
            <a:off x="484632" y="1307592"/>
            <a:ext cx="11228832" cy="621792"/>
          </a:xfrm>
          <a:prstGeom prst="rect">
            <a:avLst/>
          </a:prstGeom>
          <a:noFill/>
        </p:spPr>
        <p:txBody>
          <a:bodyPr wrap="square" lIns="45720" rIns="45720" tIns="27432" bIns="27432" anchor="t">
            <a:noAutofit/>
          </a:bodyPr>
          <a:lstStyle/>
          <a:p>
            <a:pPr>
              <a:lnSpc>
                <a:spcPct val="120000"/>
              </a:lnSpc>
              <a:spcAft>
                <a:spcPts val="0"/>
              </a:spcAft>
            </a:pPr>
            <a:r>
              <a:rPr sz="1600" b="1">
                <a:solidFill>
                  <a:srgbClr val="194BFF"/>
                </a:solidFill>
                <a:latin typeface="Montserrat"/>
              </a:rPr>
              <a:t>Por qué se cancelan, según Gartner: costes que se disparan, valor de negocio poco claro y controles de riesgo insuficientes.</a:t>
            </a:r>
          </a:p>
        </p:txBody>
      </p:sp>
      <p:sp>
        <p:nvSpPr>
          <p:cNvPr id="7" name="TextBox 6"/>
          <p:cNvSpPr txBox="1"/>
          <p:nvPr/>
        </p:nvSpPr>
        <p:spPr>
          <a:xfrm>
            <a:off x="667512" y="2839211"/>
            <a:ext cx="3377183" cy="1097280"/>
          </a:xfrm>
          <a:prstGeom prst="rect">
            <a:avLst/>
          </a:prstGeom>
          <a:noFill/>
        </p:spPr>
        <p:txBody>
          <a:bodyPr wrap="none" lIns="45720" rIns="45720" tIns="27432" bIns="27432" anchor="b">
            <a:noAutofit/>
          </a:bodyPr>
          <a:lstStyle/>
          <a:p>
            <a:r>
              <a:rPr sz="5400">
                <a:solidFill>
                  <a:srgbClr val="194BFF"/>
                </a:solidFill>
                <a:latin typeface="Roboto Slab"/>
              </a:rPr>
              <a:t>62 %</a:t>
            </a:r>
          </a:p>
        </p:txBody>
      </p:sp>
      <p:cxnSp>
        <p:nvCxnSpPr>
          <p:cNvPr id="8" name="Connector 7"/>
          <p:cNvCxnSpPr/>
          <p:nvPr/>
        </p:nvCxnSpPr>
        <p:spPr>
          <a:xfrm>
            <a:off x="731520" y="4073652"/>
            <a:ext cx="758952" cy="0"/>
          </a:xfrm>
          <a:prstGeom prst="line">
            <a:avLst/>
          </a:prstGeom>
          <a:ln w="38100">
            <a:solidFill>
              <a:srgbClr val="FF141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67512" y="4210812"/>
            <a:ext cx="3377183" cy="2052828"/>
          </a:xfrm>
          <a:prstGeom prst="rect">
            <a:avLst/>
          </a:prstGeom>
          <a:noFill/>
        </p:spPr>
        <p:txBody>
          <a:bodyPr wrap="square" lIns="45720" rIns="45720" tIns="27432" bIns="27432" anchor="t">
            <a:noAutofit/>
          </a:bodyPr>
          <a:lstStyle/>
          <a:p>
            <a:pPr>
              <a:lnSpc>
                <a:spcPct val="130000"/>
              </a:lnSpc>
              <a:spcAft>
                <a:spcPts val="0"/>
              </a:spcAft>
            </a:pPr>
            <a:r>
              <a:rPr sz="1400">
                <a:solidFill>
                  <a:srgbClr val="595959"/>
                </a:solidFill>
                <a:latin typeface="Montserrat Medium"/>
              </a:rPr>
              <a:t>experimenta con agentes (McKinsey, 2025)</a:t>
            </a:r>
          </a:p>
        </p:txBody>
      </p:sp>
      <p:cxnSp>
        <p:nvCxnSpPr>
          <p:cNvPr id="10" name="Connector 9"/>
          <p:cNvCxnSpPr/>
          <p:nvPr/>
        </p:nvCxnSpPr>
        <p:spPr>
          <a:xfrm>
            <a:off x="4227576" y="2839211"/>
            <a:ext cx="0" cy="265176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410456" y="2839211"/>
            <a:ext cx="3377183" cy="1097280"/>
          </a:xfrm>
          <a:prstGeom prst="rect">
            <a:avLst/>
          </a:prstGeom>
          <a:noFill/>
        </p:spPr>
        <p:txBody>
          <a:bodyPr wrap="none" lIns="45720" rIns="45720" tIns="27432" bIns="27432" anchor="b">
            <a:noAutofit/>
          </a:bodyPr>
          <a:lstStyle/>
          <a:p>
            <a:r>
              <a:rPr sz="5400">
                <a:solidFill>
                  <a:srgbClr val="194BFF"/>
                </a:solidFill>
                <a:latin typeface="Roboto Slab"/>
              </a:rPr>
              <a:t>23 %</a:t>
            </a:r>
          </a:p>
        </p:txBody>
      </p:sp>
      <p:cxnSp>
        <p:nvCxnSpPr>
          <p:cNvPr id="12" name="Connector 11"/>
          <p:cNvCxnSpPr/>
          <p:nvPr/>
        </p:nvCxnSpPr>
        <p:spPr>
          <a:xfrm>
            <a:off x="4474463" y="4073652"/>
            <a:ext cx="758952" cy="0"/>
          </a:xfrm>
          <a:prstGeom prst="line">
            <a:avLst/>
          </a:prstGeom>
          <a:ln w="38100">
            <a:solidFill>
              <a:srgbClr val="FF141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410456" y="4210812"/>
            <a:ext cx="3377183" cy="2052828"/>
          </a:xfrm>
          <a:prstGeom prst="rect">
            <a:avLst/>
          </a:prstGeom>
          <a:noFill/>
        </p:spPr>
        <p:txBody>
          <a:bodyPr wrap="square" lIns="45720" rIns="45720" tIns="27432" bIns="27432" anchor="t">
            <a:noAutofit/>
          </a:bodyPr>
          <a:lstStyle/>
          <a:p>
            <a:pPr>
              <a:lnSpc>
                <a:spcPct val="130000"/>
              </a:lnSpc>
              <a:spcAft>
                <a:spcPts val="0"/>
              </a:spcAft>
            </a:pPr>
            <a:r>
              <a:rPr sz="1400">
                <a:solidFill>
                  <a:srgbClr val="595959"/>
                </a:solidFill>
                <a:latin typeface="Montserrat Medium"/>
              </a:rPr>
              <a:t>los está escalando en alguna parte de la empresa; en ninguna función pasa del 10 % (McKinsey, 2025)</a:t>
            </a:r>
          </a:p>
        </p:txBody>
      </p:sp>
      <p:cxnSp>
        <p:nvCxnSpPr>
          <p:cNvPr id="14" name="Connector 13"/>
          <p:cNvCxnSpPr/>
          <p:nvPr/>
        </p:nvCxnSpPr>
        <p:spPr>
          <a:xfrm>
            <a:off x="7970519" y="2839211"/>
            <a:ext cx="0" cy="265176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153399" y="2839211"/>
            <a:ext cx="3377183" cy="1097280"/>
          </a:xfrm>
          <a:prstGeom prst="rect">
            <a:avLst/>
          </a:prstGeom>
          <a:noFill/>
        </p:spPr>
        <p:txBody>
          <a:bodyPr wrap="none" lIns="45720" rIns="45720" tIns="27432" bIns="27432" anchor="b">
            <a:noAutofit/>
          </a:bodyPr>
          <a:lstStyle/>
          <a:p>
            <a:r>
              <a:rPr sz="5400">
                <a:solidFill>
                  <a:srgbClr val="194BFF"/>
                </a:solidFill>
                <a:latin typeface="Roboto Slab"/>
              </a:rPr>
              <a:t>&gt;40 %</a:t>
            </a:r>
          </a:p>
        </p:txBody>
      </p:sp>
      <p:cxnSp>
        <p:nvCxnSpPr>
          <p:cNvPr id="16" name="Connector 15"/>
          <p:cNvCxnSpPr/>
          <p:nvPr/>
        </p:nvCxnSpPr>
        <p:spPr>
          <a:xfrm>
            <a:off x="8217407" y="4073652"/>
            <a:ext cx="758952" cy="0"/>
          </a:xfrm>
          <a:prstGeom prst="line">
            <a:avLst/>
          </a:prstGeom>
          <a:ln w="38100">
            <a:solidFill>
              <a:srgbClr val="FF141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153399" y="4210812"/>
            <a:ext cx="3377183" cy="2052828"/>
          </a:xfrm>
          <a:prstGeom prst="rect">
            <a:avLst/>
          </a:prstGeom>
          <a:noFill/>
        </p:spPr>
        <p:txBody>
          <a:bodyPr wrap="square" lIns="45720" rIns="45720" tIns="27432" bIns="27432" anchor="t">
            <a:noAutofit/>
          </a:bodyPr>
          <a:lstStyle/>
          <a:p>
            <a:pPr>
              <a:lnSpc>
                <a:spcPct val="130000"/>
              </a:lnSpc>
              <a:spcAft>
                <a:spcPts val="0"/>
              </a:spcAft>
            </a:pPr>
            <a:r>
              <a:rPr sz="1400">
                <a:solidFill>
                  <a:srgbClr val="595959"/>
                </a:solidFill>
                <a:latin typeface="Montserrat Medium"/>
              </a:rPr>
              <a:t>de los proyectos agénticos se cancelará antes de finales de 2027 (Gartner)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5071617" cy="429768"/>
          </a:xfrm>
        </p:spPr>
        <p:txBody>
          <a:bodyPr wrap="none"/>
          <a:lstStyle/>
          <a:p>
            <a:r>
              <a:rPr sz="2600"/>
              <a:t>Cuatro preguntas sin respuesta</a:t>
            </a:r>
          </a:p>
        </p:txBody>
      </p:sp>
      <p:sp>
        <p:nvSpPr>
          <p:cNvPr id="5" name="Slide Number Placeholder 5">
            <a:extLst>
              <a:ext uri="{FF2B5EF4-FFF2-40B4-BE49-F238E27FC236}">
                <a16:creationId xmlns:a16="http://schemas.microsoft.com/office/drawing/2014/main" id="{1CC3A131-478F-7358-5149-4495B2461525}"/>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
        <p:nvSpPr>
          <p:cNvPr id="6" name="TextBox 5"/>
          <p:cNvSpPr txBox="1"/>
          <p:nvPr/>
        </p:nvSpPr>
        <p:spPr>
          <a:xfrm>
            <a:off x="484632" y="1307592"/>
            <a:ext cx="11228832" cy="347472"/>
          </a:xfrm>
          <a:prstGeom prst="rect">
            <a:avLst/>
          </a:prstGeom>
          <a:noFill/>
        </p:spPr>
        <p:txBody>
          <a:bodyPr wrap="square" lIns="45720" rIns="45720" tIns="27432" bIns="27432" anchor="t">
            <a:noAutofit/>
          </a:bodyPr>
          <a:lstStyle/>
          <a:p>
            <a:pPr>
              <a:lnSpc>
                <a:spcPct val="120000"/>
              </a:lnSpc>
              <a:spcAft>
                <a:spcPts val="0"/>
              </a:spcAft>
            </a:pPr>
            <a:r>
              <a:rPr sz="1600" b="1">
                <a:solidFill>
                  <a:srgbClr val="194BFF"/>
                </a:solidFill>
                <a:latin typeface="Montserrat"/>
              </a:rPr>
              <a:t>La observabilidad y el gobierno son lo que permite responder a estas cuatro preguntas.</a:t>
            </a:r>
          </a:p>
        </p:txBody>
      </p:sp>
      <p:sp>
        <p:nvSpPr>
          <p:cNvPr id="3" name="Freeform 2"/>
          <p:cNvSpPr/>
          <p:nvPr/>
        </p:nvSpPr>
        <p:spPr>
          <a:xfrm>
            <a:off x="1294315" y="2884932"/>
            <a:ext cx="1187841" cy="1371600"/>
          </a:xfrm>
          <a:custGeom>
            <a:avLst/>
            <a:gdLst/>
            <a:ahLst/>
            <a:cxnLst/>
            <a:rect l="l" t="t" r="r" b="b"/>
            <a:pathLst>
              <a:path w="1187841" h="1371600">
                <a:moveTo>
                  <a:pt x="593921" y="0"/>
                </a:moveTo>
                <a:lnTo>
                  <a:pt x="1187841" y="342900"/>
                </a:lnTo>
                <a:lnTo>
                  <a:pt x="1187841" y="1028700"/>
                </a:lnTo>
                <a:lnTo>
                  <a:pt x="593921" y="1371600"/>
                </a:lnTo>
                <a:lnTo>
                  <a:pt x="0" y="1028700"/>
                </a:lnTo>
                <a:lnTo>
                  <a:pt x="0" y="342900"/>
                </a:lnTo>
                <a:close/>
              </a:path>
            </a:pathLst>
          </a:cu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2436" y="3296412"/>
            <a:ext cx="1371600" cy="548640"/>
          </a:xfrm>
          <a:prstGeom prst="rect">
            <a:avLst/>
          </a:prstGeom>
          <a:noFill/>
        </p:spPr>
        <p:txBody>
          <a:bodyPr wrap="none" lIns="0" rIns="0" tIns="0" bIns="0" anchor="ctr">
            <a:noAutofit/>
          </a:bodyPr>
          <a:lstStyle/>
          <a:p>
            <a:pPr algn="ctr"/>
            <a:r>
              <a:rPr sz="2200">
                <a:solidFill>
                  <a:srgbClr val="FFFFFF"/>
                </a:solidFill>
                <a:latin typeface="Roboto Slab"/>
              </a:rPr>
              <a:t>01</a:t>
            </a:r>
          </a:p>
        </p:txBody>
      </p:sp>
      <p:sp>
        <p:nvSpPr>
          <p:cNvPr id="8" name="TextBox 7"/>
          <p:cNvSpPr txBox="1"/>
          <p:nvPr/>
        </p:nvSpPr>
        <p:spPr>
          <a:xfrm>
            <a:off x="576072" y="4439412"/>
            <a:ext cx="2624327" cy="1824227"/>
          </a:xfrm>
          <a:prstGeom prst="rect">
            <a:avLst/>
          </a:prstGeom>
          <a:noFill/>
        </p:spPr>
        <p:txBody>
          <a:bodyPr wrap="square" lIns="45720" rIns="45720" tIns="27432" bIns="27432" anchor="t">
            <a:noAutofit/>
          </a:bodyPr>
          <a:lstStyle/>
          <a:p>
            <a:pPr algn="ctr">
              <a:lnSpc>
                <a:spcPct val="115000"/>
              </a:lnSpc>
              <a:spcAft>
                <a:spcPts val="600"/>
              </a:spcAft>
            </a:pPr>
            <a:r>
              <a:rPr sz="1600" b="1">
                <a:solidFill>
                  <a:srgbClr val="194BFF"/>
                </a:solidFill>
                <a:latin typeface="Montserrat"/>
              </a:rPr>
              <a:t>¿Por qué decidió eso?</a:t>
            </a:r>
          </a:p>
          <a:p>
            <a:pPr algn="ctr">
              <a:lnSpc>
                <a:spcPct val="130000"/>
              </a:lnSpc>
              <a:spcAft>
                <a:spcPts val="0"/>
              </a:spcAft>
            </a:pPr>
            <a:r>
              <a:rPr sz="1400">
                <a:solidFill>
                  <a:srgbClr val="595959"/>
                </a:solidFill>
                <a:latin typeface="Montserrat Medium"/>
              </a:rPr>
              <a:t>explicabilidad. El cliente, el auditor o el regulador pueden preguntarlo.</a:t>
            </a:r>
          </a:p>
        </p:txBody>
      </p:sp>
      <p:sp>
        <p:nvSpPr>
          <p:cNvPr id="4" name="Freeform 3"/>
          <p:cNvSpPr/>
          <p:nvPr/>
        </p:nvSpPr>
        <p:spPr>
          <a:xfrm>
            <a:off x="4101523" y="2884932"/>
            <a:ext cx="1187841" cy="1371600"/>
          </a:xfrm>
          <a:custGeom>
            <a:avLst/>
            <a:gdLst/>
            <a:ahLst/>
            <a:cxnLst/>
            <a:rect l="l" t="t" r="r" b="b"/>
            <a:pathLst>
              <a:path w="1187841" h="1371600">
                <a:moveTo>
                  <a:pt x="593921" y="0"/>
                </a:moveTo>
                <a:lnTo>
                  <a:pt x="1187841" y="342900"/>
                </a:lnTo>
                <a:lnTo>
                  <a:pt x="1187841" y="1028700"/>
                </a:lnTo>
                <a:lnTo>
                  <a:pt x="593921" y="1371600"/>
                </a:lnTo>
                <a:lnTo>
                  <a:pt x="0" y="1028700"/>
                </a:lnTo>
                <a:lnTo>
                  <a:pt x="0" y="342900"/>
                </a:lnTo>
                <a:close/>
              </a:path>
            </a:pathLst>
          </a:custGeom>
          <a:solidFill>
            <a:srgbClr val="0A2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09644" y="3296412"/>
            <a:ext cx="1371600" cy="548640"/>
          </a:xfrm>
          <a:prstGeom prst="rect">
            <a:avLst/>
          </a:prstGeom>
          <a:noFill/>
        </p:spPr>
        <p:txBody>
          <a:bodyPr wrap="none" lIns="0" rIns="0" tIns="0" bIns="0" anchor="ctr">
            <a:noAutofit/>
          </a:bodyPr>
          <a:lstStyle/>
          <a:p>
            <a:pPr algn="ctr"/>
            <a:r>
              <a:rPr sz="2200">
                <a:solidFill>
                  <a:srgbClr val="FFFFFF"/>
                </a:solidFill>
                <a:latin typeface="Roboto Slab"/>
              </a:rPr>
              <a:t>02</a:t>
            </a:r>
          </a:p>
        </p:txBody>
      </p:sp>
      <p:sp>
        <p:nvSpPr>
          <p:cNvPr id="10" name="TextBox 9"/>
          <p:cNvSpPr txBox="1"/>
          <p:nvPr/>
        </p:nvSpPr>
        <p:spPr>
          <a:xfrm>
            <a:off x="3383279" y="4439412"/>
            <a:ext cx="2624327" cy="1824227"/>
          </a:xfrm>
          <a:prstGeom prst="rect">
            <a:avLst/>
          </a:prstGeom>
          <a:noFill/>
        </p:spPr>
        <p:txBody>
          <a:bodyPr wrap="square" lIns="45720" rIns="45720" tIns="27432" bIns="27432" anchor="t">
            <a:noAutofit/>
          </a:bodyPr>
          <a:lstStyle/>
          <a:p>
            <a:pPr algn="ctr">
              <a:lnSpc>
                <a:spcPct val="115000"/>
              </a:lnSpc>
              <a:spcAft>
                <a:spcPts val="600"/>
              </a:spcAft>
            </a:pPr>
            <a:r>
              <a:rPr sz="1600" b="1">
                <a:solidFill>
                  <a:srgbClr val="194BFF"/>
                </a:solidFill>
                <a:latin typeface="Montserrat"/>
              </a:rPr>
              <a:t>¿Quién lo controla?</a:t>
            </a:r>
          </a:p>
          <a:p>
            <a:pPr algn="ctr">
              <a:lnSpc>
                <a:spcPct val="130000"/>
              </a:lnSpc>
              <a:spcAft>
                <a:spcPts val="0"/>
              </a:spcAft>
            </a:pPr>
            <a:r>
              <a:rPr sz="1400">
                <a:solidFill>
                  <a:srgbClr val="595959"/>
                </a:solidFill>
                <a:latin typeface="Montserrat Medium"/>
              </a:rPr>
              <a:t>autonomía, límites, responsables y capacidad de pararlo.</a:t>
            </a:r>
          </a:p>
        </p:txBody>
      </p:sp>
      <p:sp>
        <p:nvSpPr>
          <p:cNvPr id="11" name="Freeform 10"/>
          <p:cNvSpPr/>
          <p:nvPr/>
        </p:nvSpPr>
        <p:spPr>
          <a:xfrm>
            <a:off x="6908731" y="2884932"/>
            <a:ext cx="1187841" cy="1371600"/>
          </a:xfrm>
          <a:custGeom>
            <a:avLst/>
            <a:gdLst/>
            <a:ahLst/>
            <a:cxnLst/>
            <a:rect l="l" t="t" r="r" b="b"/>
            <a:pathLst>
              <a:path w="1187841" h="1371600">
                <a:moveTo>
                  <a:pt x="593921" y="0"/>
                </a:moveTo>
                <a:lnTo>
                  <a:pt x="1187841" y="342900"/>
                </a:lnTo>
                <a:lnTo>
                  <a:pt x="1187841" y="1028700"/>
                </a:lnTo>
                <a:lnTo>
                  <a:pt x="593921" y="1371600"/>
                </a:lnTo>
                <a:lnTo>
                  <a:pt x="0" y="1028700"/>
                </a:lnTo>
                <a:lnTo>
                  <a:pt x="0" y="342900"/>
                </a:lnTo>
                <a:close/>
              </a:path>
            </a:pathLst>
          </a:cu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6852" y="3296412"/>
            <a:ext cx="1371600" cy="548640"/>
          </a:xfrm>
          <a:prstGeom prst="rect">
            <a:avLst/>
          </a:prstGeom>
          <a:noFill/>
        </p:spPr>
        <p:txBody>
          <a:bodyPr wrap="none" lIns="0" rIns="0" tIns="0" bIns="0" anchor="ctr">
            <a:noAutofit/>
          </a:bodyPr>
          <a:lstStyle/>
          <a:p>
            <a:pPr algn="ctr"/>
            <a:r>
              <a:rPr sz="2200">
                <a:solidFill>
                  <a:srgbClr val="FFFFFF"/>
                </a:solidFill>
                <a:latin typeface="Roboto Slab"/>
              </a:rPr>
              <a:t>03</a:t>
            </a:r>
          </a:p>
        </p:txBody>
      </p:sp>
      <p:sp>
        <p:nvSpPr>
          <p:cNvPr id="13" name="TextBox 12"/>
          <p:cNvSpPr txBox="1"/>
          <p:nvPr/>
        </p:nvSpPr>
        <p:spPr>
          <a:xfrm>
            <a:off x="6190488" y="4439412"/>
            <a:ext cx="2624327" cy="1824227"/>
          </a:xfrm>
          <a:prstGeom prst="rect">
            <a:avLst/>
          </a:prstGeom>
          <a:noFill/>
        </p:spPr>
        <p:txBody>
          <a:bodyPr wrap="square" lIns="45720" rIns="45720" tIns="27432" bIns="27432" anchor="t">
            <a:noAutofit/>
          </a:bodyPr>
          <a:lstStyle/>
          <a:p>
            <a:pPr algn="ctr">
              <a:lnSpc>
                <a:spcPct val="115000"/>
              </a:lnSpc>
              <a:spcAft>
                <a:spcPts val="600"/>
              </a:spcAft>
            </a:pPr>
            <a:r>
              <a:rPr sz="1600" b="1">
                <a:solidFill>
                  <a:srgbClr val="194BFF"/>
                </a:solidFill>
                <a:latin typeface="Montserrat"/>
              </a:rPr>
              <a:t>¿Cuánto cuesta?</a:t>
            </a:r>
          </a:p>
          <a:p>
            <a:pPr algn="ctr">
              <a:lnSpc>
                <a:spcPct val="130000"/>
              </a:lnSpc>
              <a:spcAft>
                <a:spcPts val="0"/>
              </a:spcAft>
            </a:pPr>
            <a:r>
              <a:rPr sz="1400">
                <a:solidFill>
                  <a:srgbClr val="595959"/>
                </a:solidFill>
                <a:latin typeface="Montserrat Medium"/>
              </a:rPr>
              <a:t>coste por decisión y por agente, no una factura mensual del proveedor.</a:t>
            </a:r>
          </a:p>
        </p:txBody>
      </p:sp>
      <p:sp>
        <p:nvSpPr>
          <p:cNvPr id="14" name="Freeform 13"/>
          <p:cNvSpPr/>
          <p:nvPr/>
        </p:nvSpPr>
        <p:spPr>
          <a:xfrm>
            <a:off x="9715939" y="2884932"/>
            <a:ext cx="1187841" cy="1371600"/>
          </a:xfrm>
          <a:custGeom>
            <a:avLst/>
            <a:gdLst/>
            <a:ahLst/>
            <a:cxnLst/>
            <a:rect l="l" t="t" r="r" b="b"/>
            <a:pathLst>
              <a:path w="1187841" h="1371600">
                <a:moveTo>
                  <a:pt x="593920" y="0"/>
                </a:moveTo>
                <a:lnTo>
                  <a:pt x="1187841" y="342900"/>
                </a:lnTo>
                <a:lnTo>
                  <a:pt x="1187841" y="1028700"/>
                </a:lnTo>
                <a:lnTo>
                  <a:pt x="593920" y="1371600"/>
                </a:lnTo>
                <a:lnTo>
                  <a:pt x="0" y="1028700"/>
                </a:lnTo>
                <a:lnTo>
                  <a:pt x="0" y="342900"/>
                </a:lnTo>
                <a:close/>
              </a:path>
            </a:pathLst>
          </a:custGeom>
          <a:solidFill>
            <a:srgbClr val="0A2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24059" y="3296412"/>
            <a:ext cx="1371600" cy="548640"/>
          </a:xfrm>
          <a:prstGeom prst="rect">
            <a:avLst/>
          </a:prstGeom>
          <a:noFill/>
        </p:spPr>
        <p:txBody>
          <a:bodyPr wrap="none" lIns="0" rIns="0" tIns="0" bIns="0" anchor="ctr">
            <a:noAutofit/>
          </a:bodyPr>
          <a:lstStyle/>
          <a:p>
            <a:pPr algn="ctr"/>
            <a:r>
              <a:rPr sz="2200">
                <a:solidFill>
                  <a:srgbClr val="FFFFFF"/>
                </a:solidFill>
                <a:latin typeface="Roboto Slab"/>
              </a:rPr>
              <a:t>04</a:t>
            </a:r>
          </a:p>
        </p:txBody>
      </p:sp>
      <p:sp>
        <p:nvSpPr>
          <p:cNvPr id="16" name="TextBox 15"/>
          <p:cNvSpPr txBox="1"/>
          <p:nvPr/>
        </p:nvSpPr>
        <p:spPr>
          <a:xfrm>
            <a:off x="8997695" y="4439412"/>
            <a:ext cx="2624327" cy="1824227"/>
          </a:xfrm>
          <a:prstGeom prst="rect">
            <a:avLst/>
          </a:prstGeom>
          <a:noFill/>
        </p:spPr>
        <p:txBody>
          <a:bodyPr wrap="square" lIns="45720" rIns="45720" tIns="27432" bIns="27432" anchor="t">
            <a:noAutofit/>
          </a:bodyPr>
          <a:lstStyle/>
          <a:p>
            <a:pPr algn="ctr">
              <a:lnSpc>
                <a:spcPct val="115000"/>
              </a:lnSpc>
              <a:spcAft>
                <a:spcPts val="600"/>
              </a:spcAft>
            </a:pPr>
            <a:r>
              <a:rPr sz="1600" b="1">
                <a:solidFill>
                  <a:srgbClr val="194BFF"/>
                </a:solidFill>
                <a:latin typeface="Montserrat"/>
              </a:rPr>
              <a:t>¿Sigue funcionando igual que ayer?</a:t>
            </a:r>
          </a:p>
          <a:p>
            <a:pPr algn="ctr">
              <a:lnSpc>
                <a:spcPct val="130000"/>
              </a:lnSpc>
              <a:spcAft>
                <a:spcPts val="0"/>
              </a:spcAft>
            </a:pPr>
            <a:r>
              <a:rPr sz="1400">
                <a:solidFill>
                  <a:srgbClr val="595959"/>
                </a:solidFill>
                <a:latin typeface="Montserrat Medium"/>
              </a:rPr>
              <a:t>un agente puede degradarse sin que nadie cambie una línea de código.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6F67E73E-630D-5F6F-93A1-C692F05CA37A}"/>
              </a:ext>
            </a:extLst>
          </p:cNvPr>
          <p:cNvSpPr>
            <a:spLocks noGrp="1"/>
          </p:cNvSpPr>
          <p:nvPr>
            <p:ph type="ctrTitle"/>
          </p:nvPr>
        </p:nvSpPr>
        <p:spPr>
          <a:xfrm>
            <a:off x="630936" y="2377440"/>
            <a:ext cx="4088638" cy="660400"/>
          </a:xfrm>
        </p:spPr>
        <p:txBody>
          <a:bodyPr wrap="none" anchor="ctr">
            <a:noAutofit/>
          </a:bodyPr>
          <a:lstStyle/>
          <a:p>
            <a:r>
              <a:rPr sz="4000"/>
              <a:t>Qué cambia con</a:t>
            </a:r>
          </a:p>
        </p:txBody>
      </p:sp>
      <p:sp>
        <p:nvSpPr>
          <p:cNvPr id="5" name="Subtitle 4">
            <a:extLst>
              <a:ext uri="{FF2B5EF4-FFF2-40B4-BE49-F238E27FC236}">
                <a16:creationId xmlns:a16="http://schemas.microsoft.com/office/drawing/2014/main" id="{FA97B2C3-B154-9FFE-9972-3B3059C1111E}"/>
              </a:ext>
            </a:extLst>
          </p:cNvPr>
          <p:cNvSpPr>
            <a:spLocks noGrp="1"/>
          </p:cNvSpPr>
          <p:nvPr>
            <p:ph type="subTitle" idx="1"/>
          </p:nvPr>
        </p:nvSpPr>
        <p:spPr>
          <a:xfrm>
            <a:off x="630936" y="3129280"/>
            <a:ext cx="2969768" cy="660400"/>
          </a:xfrm>
        </p:spPr>
        <p:txBody>
          <a:bodyPr wrap="none" anchor="ctr">
            <a:noAutofit/>
          </a:bodyPr>
          <a:lstStyle/>
          <a:p>
            <a:r>
              <a:rPr sz="4000"/>
              <a:t>los agentes</a:t>
            </a:r>
          </a:p>
        </p:txBody>
      </p:sp>
      <p:sp>
        <p:nvSpPr>
          <p:cNvPr id="4" name="Slide Number Placeholder 3">
            <a:extLst>
              <a:ext uri="{FF2B5EF4-FFF2-40B4-BE49-F238E27FC236}">
                <a16:creationId xmlns:a16="http://schemas.microsoft.com/office/drawing/2014/main" id="{5D204A87-2D05-B819-27E2-B433509BD956}"/>
              </a:ext>
            </a:extLst>
          </p:cNvPr>
          <p:cNvSpPr>
            <a:spLocks noGrp="1"/>
          </p:cNvSpPr>
          <p:nvPr>
            <p:ph type="sldNum" sz="quarter" idx="4294967295"/>
          </p:nvPr>
        </p:nvSpPr>
        <p:spPr>
          <a:xfrm>
            <a:off x="11533188" y="6408738"/>
            <a:ext cx="658812" cy="230187"/>
          </a:xfrm>
        </p:spPr>
        <p:txBody>
          <a:bodyPr/>
          <a:lstStyle/>
          <a:p>
            <a:fld id="{4C86EB02-3AF8-4C19-B0D1-31A9E52C2F89}" type="slidenum">
              <a:rPr lang="en-GB" smtClean="0"/>
              <a:pPr/>
              <a:t>13</a:t>
            </a:fld>
            <a:endParaRPr lang="en-GB"/>
          </a:p>
        </p:txBody>
      </p:sp>
      <p:pic>
        <p:nvPicPr>
          <p:cNvPr id="7" name="Picture 6">
            <a:extLst>
              <a:ext uri="{FF2B5EF4-FFF2-40B4-BE49-F238E27FC236}">
                <a16:creationId xmlns:a16="http://schemas.microsoft.com/office/drawing/2014/main" id="{D1DC48BB-F5E1-0E62-8FFB-51749D3BA669}"/>
              </a:ext>
            </a:extLst>
          </p:cNvPr>
          <p:cNvPicPr>
            <a:picLocks noChangeAspect="1"/>
          </p:cNvPicPr>
          <p:nvPr/>
        </p:nvPicPr>
        <p:blipFill>
          <a:blip r:embed="rId2"/>
          <a:srcRect/>
          <a:stretch/>
        </p:blipFill>
        <p:spPr>
          <a:xfrm>
            <a:off x="4830186" y="1847900"/>
            <a:ext cx="7772396" cy="5010098"/>
          </a:xfrm>
          <a:prstGeom prst="rect">
            <a:avLst/>
          </a:prstGeom>
        </p:spPr>
      </p:pic>
      <p:sp>
        <p:nvSpPr>
          <p:cNvPr id="8" name="TextBox 7"/>
          <p:cNvSpPr txBox="1"/>
          <p:nvPr/>
        </p:nvSpPr>
        <p:spPr>
          <a:xfrm>
            <a:off x="630936" y="1874519"/>
            <a:ext cx="566928" cy="329184"/>
          </a:xfrm>
          <a:prstGeom prst="rect">
            <a:avLst/>
          </a:prstGeom>
          <a:solidFill>
            <a:srgbClr val="194BFF"/>
          </a:solidFill>
        </p:spPr>
        <p:txBody>
          <a:bodyPr wrap="none" lIns="73152" rIns="73152" tIns="18288" bIns="18288" anchor="ctr">
            <a:noAutofit/>
          </a:bodyPr>
          <a:lstStyle/>
          <a:p>
            <a:r>
              <a:rPr sz="1400">
                <a:solidFill>
                  <a:srgbClr val="FFFFFF"/>
                </a:solidFill>
                <a:latin typeface="Roboto Slab"/>
              </a:rPr>
              <a:t>02</a:t>
            </a:r>
          </a:p>
        </p:txBody>
      </p:sp>
      <p:sp>
        <p:nvSpPr>
          <p:cNvPr id="9" name="TextBox 8"/>
          <p:cNvSpPr txBox="1"/>
          <p:nvPr/>
        </p:nvSpPr>
        <p:spPr>
          <a:xfrm>
            <a:off x="630936" y="4155440"/>
            <a:ext cx="4206240" cy="1097280"/>
          </a:xfrm>
          <a:prstGeom prst="rect">
            <a:avLst/>
          </a:prstGeom>
          <a:noFill/>
        </p:spPr>
        <p:txBody>
          <a:bodyPr wrap="square" lIns="45720" rIns="45720" tIns="27432" bIns="27432" anchor="t">
            <a:noAutofit/>
          </a:bodyPr>
          <a:lstStyle/>
          <a:p>
            <a:pPr>
              <a:lnSpc>
                <a:spcPct val="130000"/>
              </a:lnSpc>
              <a:spcAft>
                <a:spcPts val="0"/>
              </a:spcAft>
            </a:pPr>
            <a:r>
              <a:rPr sz="1400">
                <a:solidFill>
                  <a:srgbClr val="FFFFFF"/>
                </a:solidFill>
                <a:latin typeface="Montserrat Medium"/>
              </a:rPr>
              <a:t>Un agente puede cambiar de comportamiento sin que nadie toque su código.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5820917" cy="429768"/>
          </a:xfrm>
        </p:spPr>
        <p:txBody>
          <a:bodyPr wrap="none"/>
          <a:lstStyle/>
          <a:p>
            <a:r>
              <a:rPr sz="2600"/>
              <a:t>Software tradicional frente a agente</a:t>
            </a:r>
          </a:p>
        </p:txBody>
      </p:sp>
      <p:sp>
        <p:nvSpPr>
          <p:cNvPr id="5" name="Slide Number Placeholder 5">
            <a:extLst>
              <a:ext uri="{FF2B5EF4-FFF2-40B4-BE49-F238E27FC236}">
                <a16:creationId xmlns:a16="http://schemas.microsoft.com/office/drawing/2014/main" id="{1CC3A131-478F-7358-5149-4495B2461525}"/>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
        <p:nvSpPr>
          <p:cNvPr id="6" name="TextBox 5"/>
          <p:cNvSpPr txBox="1"/>
          <p:nvPr/>
        </p:nvSpPr>
        <p:spPr>
          <a:xfrm>
            <a:off x="484632" y="1307592"/>
            <a:ext cx="11228832" cy="621792"/>
          </a:xfrm>
          <a:prstGeom prst="rect">
            <a:avLst/>
          </a:prstGeom>
          <a:noFill/>
        </p:spPr>
        <p:txBody>
          <a:bodyPr wrap="square" lIns="45720" rIns="45720" tIns="27432" bIns="27432" anchor="t">
            <a:noAutofit/>
          </a:bodyPr>
          <a:lstStyle/>
          <a:p>
            <a:pPr>
              <a:lnSpc>
                <a:spcPct val="120000"/>
              </a:lnSpc>
              <a:spcAft>
                <a:spcPts val="0"/>
              </a:spcAft>
            </a:pPr>
            <a:r>
              <a:rPr sz="1600" b="1">
                <a:solidFill>
                  <a:srgbClr val="194BFF"/>
                </a:solidFill>
                <a:latin typeface="Montserrat"/>
              </a:rPr>
              <a:t>Un agente cambia sin tocar su código: lo cambian el modelo, el conocimiento, los prompts y los casos nuevos que llegan.</a:t>
            </a:r>
          </a:p>
        </p:txBody>
      </p:sp>
      <p:graphicFrame>
        <p:nvGraphicFramePr>
          <p:cNvPr id="7" name="Table 6"/>
          <p:cNvGraphicFramePr>
            <a:graphicFrameLocks noGrp="1"/>
          </p:cNvGraphicFramePr>
          <p:nvPr/>
        </p:nvGraphicFramePr>
        <p:xfrm>
          <a:off x="484632" y="2157984"/>
          <a:ext cx="11228831" cy="3423916"/>
        </p:xfrm>
        <a:graphic>
          <a:graphicData uri="http://schemas.openxmlformats.org/drawingml/2006/table">
            <a:tbl>
              <a:tblPr firstRow="1" bandRow="0">
                <a:tableStyleId>{2D5ABB26-0587-4C30-8999-92F81FD0307C}</a:tableStyleId>
              </a:tblPr>
              <a:tblGrid>
                <a:gridCol w="1672379"/>
                <a:gridCol w="4778226"/>
                <a:gridCol w="4778226"/>
              </a:tblGrid>
              <a:tr h="496569">
                <a:tc>
                  <a:txBody>
                    <a:bodyPr/>
                    <a:lstStyle/>
                    <a:p>
                      <a:pPr algn="l"/>
                    </a:p>
                  </a:txBody>
                  <a:tcPr marL="91440" marR="91440" marT="45720" marB="45720" anchor="ctr">
                    <a:lnB w="6350">
                      <a:solidFill>
                        <a:srgbClr val="D9D9D9"/>
                      </a:solidFill>
                    </a:lnB>
                    <a:solidFill>
                      <a:srgbClr val="194BFF"/>
                    </a:solidFill>
                  </a:tcPr>
                </a:tc>
                <a:tc>
                  <a:txBody>
                    <a:bodyPr/>
                    <a:lstStyle/>
                    <a:p>
                      <a:pPr algn="l"/>
                      <a:r>
                        <a:rPr sz="1400" b="1">
                          <a:solidFill>
                            <a:srgbClr val="FFFFFF"/>
                          </a:solidFill>
                          <a:latin typeface="Montserrat"/>
                        </a:rPr>
                        <a:t>Software tradicional</a:t>
                      </a:r>
                    </a:p>
                  </a:txBody>
                  <a:tcPr marL="91440" marR="91440" marT="45720" marB="45720" anchor="ctr">
                    <a:lnB w="6350">
                      <a:solidFill>
                        <a:srgbClr val="D9D9D9"/>
                      </a:solidFill>
                    </a:lnB>
                    <a:solidFill>
                      <a:srgbClr val="194BFF"/>
                    </a:solidFill>
                  </a:tcPr>
                </a:tc>
                <a:tc>
                  <a:txBody>
                    <a:bodyPr/>
                    <a:lstStyle/>
                    <a:p>
                      <a:pPr algn="l"/>
                      <a:r>
                        <a:rPr sz="1400" b="1">
                          <a:solidFill>
                            <a:srgbClr val="FFFFFF"/>
                          </a:solidFill>
                          <a:latin typeface="Montserrat"/>
                        </a:rPr>
                        <a:t>Agente de IA</a:t>
                      </a:r>
                    </a:p>
                  </a:txBody>
                  <a:tcPr marL="91440" marR="91440" marT="45720" marB="45720" anchor="ctr">
                    <a:lnB w="6350">
                      <a:solidFill>
                        <a:srgbClr val="D9D9D9"/>
                      </a:solidFill>
                    </a:lnB>
                    <a:solidFill>
                      <a:srgbClr val="194BFF"/>
                    </a:solidFill>
                  </a:tcPr>
                </a:tc>
              </a:tr>
              <a:tr h="496569">
                <a:tc>
                  <a:txBody>
                    <a:bodyPr/>
                    <a:lstStyle/>
                    <a:p>
                      <a:pPr algn="l"/>
                      <a:r>
                        <a:rPr sz="1400">
                          <a:solidFill>
                            <a:srgbClr val="595959"/>
                          </a:solidFill>
                          <a:latin typeface="Montserrat Medium"/>
                        </a:rPr>
                        <a:t>Comportamiento</a:t>
                      </a:r>
                    </a:p>
                  </a:txBody>
                  <a:tcPr marL="91440" marR="91440" marT="45720" marB="45720" anchor="ctr">
                    <a:lnB w="6350">
                      <a:solidFill>
                        <a:srgbClr val="D9D9D9"/>
                      </a:solidFill>
                    </a:lnB>
                    <a:solidFill>
                      <a:srgbClr val="FFFFFF"/>
                    </a:solidFill>
                  </a:tcPr>
                </a:tc>
                <a:tc>
                  <a:txBody>
                    <a:bodyPr/>
                    <a:lstStyle/>
                    <a:p>
                      <a:pPr algn="l"/>
                      <a:r>
                        <a:rPr sz="1400">
                          <a:solidFill>
                            <a:srgbClr val="595959"/>
                          </a:solidFill>
                          <a:latin typeface="Montserrat Medium"/>
                        </a:rPr>
                        <a:t>Determinista: misma entrada, misma salida</a:t>
                      </a:r>
                    </a:p>
                  </a:txBody>
                  <a:tcPr marL="91440" marR="91440" marT="45720" marB="45720" anchor="ctr">
                    <a:lnB w="6350">
                      <a:solidFill>
                        <a:srgbClr val="D9D9D9"/>
                      </a:solidFill>
                    </a:lnB>
                    <a:solidFill>
                      <a:srgbClr val="FFFFFF"/>
                    </a:solidFill>
                  </a:tcPr>
                </a:tc>
                <a:tc>
                  <a:txBody>
                    <a:bodyPr/>
                    <a:lstStyle/>
                    <a:p>
                      <a:pPr algn="l"/>
                      <a:r>
                        <a:rPr sz="1400">
                          <a:solidFill>
                            <a:srgbClr val="595959"/>
                          </a:solidFill>
                          <a:latin typeface="Montserrat Medium"/>
                        </a:rPr>
                        <a:t>Probabilístico: puede variar con la misma entrada</a:t>
                      </a:r>
                    </a:p>
                  </a:txBody>
                  <a:tcPr marL="91440" marR="91440" marT="45720" marB="45720" anchor="ctr">
                    <a:lnB w="6350">
                      <a:solidFill>
                        <a:srgbClr val="D9D9D9"/>
                      </a:solidFill>
                    </a:lnB>
                    <a:solidFill>
                      <a:srgbClr val="FFFFFF"/>
                    </a:solidFill>
                  </a:tcPr>
                </a:tc>
              </a:tr>
              <a:tr h="718820">
                <a:tc>
                  <a:txBody>
                    <a:bodyPr/>
                    <a:lstStyle/>
                    <a:p>
                      <a:pPr algn="l"/>
                      <a:r>
                        <a:rPr sz="1400">
                          <a:solidFill>
                            <a:srgbClr val="595959"/>
                          </a:solidFill>
                          <a:latin typeface="Montserrat Medium"/>
                        </a:rPr>
                        <a:t>Qué lo cambia</a:t>
                      </a:r>
                    </a:p>
                  </a:txBody>
                  <a:tcPr marL="91440" marR="91440" marT="45720" marB="45720" anchor="ctr">
                    <a:lnB w="6350">
                      <a:solidFill>
                        <a:srgbClr val="D9D9D9"/>
                      </a:solidFill>
                    </a:lnB>
                    <a:solidFill>
                      <a:srgbClr val="EEF2FF"/>
                    </a:solidFill>
                  </a:tcPr>
                </a:tc>
                <a:tc>
                  <a:txBody>
                    <a:bodyPr/>
                    <a:lstStyle/>
                    <a:p>
                      <a:pPr algn="l"/>
                      <a:r>
                        <a:rPr sz="1400">
                          <a:solidFill>
                            <a:srgbClr val="595959"/>
                          </a:solidFill>
                          <a:latin typeface="Montserrat Medium"/>
                        </a:rPr>
                        <a:t>Un despliegue de código</a:t>
                      </a:r>
                    </a:p>
                  </a:txBody>
                  <a:tcPr marL="91440" marR="91440" marT="45720" marB="45720" anchor="ctr">
                    <a:lnB w="6350">
                      <a:solidFill>
                        <a:srgbClr val="D9D9D9"/>
                      </a:solidFill>
                    </a:lnB>
                    <a:solidFill>
                      <a:srgbClr val="EEF2FF"/>
                    </a:solidFill>
                  </a:tcPr>
                </a:tc>
                <a:tc>
                  <a:txBody>
                    <a:bodyPr/>
                    <a:lstStyle/>
                    <a:p>
                      <a:pPr algn="l"/>
                      <a:r>
                        <a:rPr sz="1400">
                          <a:solidFill>
                            <a:srgbClr val="595959"/>
                          </a:solidFill>
                          <a:latin typeface="Montserrat Medium"/>
                        </a:rPr>
                        <a:t>El modelo, el prompt, el conocimiento, los datos y el propio lenguaje</a:t>
                      </a:r>
                    </a:p>
                  </a:txBody>
                  <a:tcPr marL="91440" marR="91440" marT="45720" marB="45720" anchor="ctr">
                    <a:lnB w="6350">
                      <a:solidFill>
                        <a:srgbClr val="D9D9D9"/>
                      </a:solidFill>
                    </a:lnB>
                    <a:solidFill>
                      <a:srgbClr val="EEF2FF"/>
                    </a:solidFill>
                  </a:tcPr>
                </a:tc>
              </a:tr>
              <a:tr h="496569">
                <a:tc>
                  <a:txBody>
                    <a:bodyPr/>
                    <a:lstStyle/>
                    <a:p>
                      <a:pPr algn="l"/>
                      <a:r>
                        <a:rPr sz="1400">
                          <a:solidFill>
                            <a:srgbClr val="595959"/>
                          </a:solidFill>
                          <a:latin typeface="Montserrat Medium"/>
                        </a:rPr>
                        <a:t>Errores</a:t>
                      </a:r>
                    </a:p>
                  </a:txBody>
                  <a:tcPr marL="91440" marR="91440" marT="45720" marB="45720" anchor="ctr">
                    <a:lnB w="6350">
                      <a:solidFill>
                        <a:srgbClr val="D9D9D9"/>
                      </a:solidFill>
                    </a:lnB>
                    <a:solidFill>
                      <a:srgbClr val="FFFFFF"/>
                    </a:solidFill>
                  </a:tcPr>
                </a:tc>
                <a:tc>
                  <a:txBody>
                    <a:bodyPr/>
                    <a:lstStyle/>
                    <a:p>
                      <a:pPr algn="l"/>
                      <a:r>
                        <a:rPr sz="1400">
                          <a:solidFill>
                            <a:srgbClr val="595959"/>
                          </a:solidFill>
                          <a:latin typeface="Montserrat Medium"/>
                        </a:rPr>
                        <a:t>Excepciones y fallos visibles</a:t>
                      </a:r>
                    </a:p>
                  </a:txBody>
                  <a:tcPr marL="91440" marR="91440" marT="45720" marB="45720" anchor="ctr">
                    <a:lnB w="6350">
                      <a:solidFill>
                        <a:srgbClr val="D9D9D9"/>
                      </a:solidFill>
                    </a:lnB>
                    <a:solidFill>
                      <a:srgbClr val="FFFFFF"/>
                    </a:solidFill>
                  </a:tcPr>
                </a:tc>
                <a:tc>
                  <a:txBody>
                    <a:bodyPr/>
                    <a:lstStyle/>
                    <a:p>
                      <a:pPr algn="l"/>
                      <a:r>
                        <a:rPr sz="1400">
                          <a:solidFill>
                            <a:srgbClr val="595959"/>
                          </a:solidFill>
                          <a:latin typeface="Montserrat Medium"/>
                        </a:rPr>
                        <a:t>Respuestas plausibles pero incorrectas</a:t>
                      </a:r>
                    </a:p>
                  </a:txBody>
                  <a:tcPr marL="91440" marR="91440" marT="45720" marB="45720" anchor="ctr">
                    <a:lnB w="6350">
                      <a:solidFill>
                        <a:srgbClr val="D9D9D9"/>
                      </a:solidFill>
                    </a:lnB>
                    <a:solidFill>
                      <a:srgbClr val="FFFFFF"/>
                    </a:solidFill>
                  </a:tcPr>
                </a:tc>
              </a:tr>
              <a:tr h="718820">
                <a:tc>
                  <a:txBody>
                    <a:bodyPr/>
                    <a:lstStyle/>
                    <a:p>
                      <a:pPr algn="l"/>
                      <a:r>
                        <a:rPr sz="1400">
                          <a:solidFill>
                            <a:srgbClr val="595959"/>
                          </a:solidFill>
                          <a:latin typeface="Montserrat Medium"/>
                        </a:rPr>
                        <a:t>Lógica</a:t>
                      </a:r>
                    </a:p>
                  </a:txBody>
                  <a:tcPr marL="91440" marR="91440" marT="45720" marB="45720" anchor="ctr">
                    <a:lnB w="6350">
                      <a:solidFill>
                        <a:srgbClr val="D9D9D9"/>
                      </a:solidFill>
                    </a:lnB>
                    <a:solidFill>
                      <a:srgbClr val="EEF2FF"/>
                    </a:solidFill>
                  </a:tcPr>
                </a:tc>
                <a:tc>
                  <a:txBody>
                    <a:bodyPr/>
                    <a:lstStyle/>
                    <a:p>
                      <a:pPr algn="l"/>
                      <a:r>
                        <a:rPr sz="1400">
                          <a:solidFill>
                            <a:srgbClr val="595959"/>
                          </a:solidFill>
                          <a:latin typeface="Montserrat Medium"/>
                        </a:rPr>
                        <a:t>Está en el código y se puede leer</a:t>
                      </a:r>
                    </a:p>
                  </a:txBody>
                  <a:tcPr marL="91440" marR="91440" marT="45720" marB="45720" anchor="ctr">
                    <a:lnB w="6350">
                      <a:solidFill>
                        <a:srgbClr val="D9D9D9"/>
                      </a:solidFill>
                    </a:lnB>
                    <a:solidFill>
                      <a:srgbClr val="EEF2FF"/>
                    </a:solidFill>
                  </a:tcPr>
                </a:tc>
                <a:tc>
                  <a:txBody>
                    <a:bodyPr/>
                    <a:lstStyle/>
                    <a:p>
                      <a:pPr algn="l"/>
                      <a:r>
                        <a:rPr sz="1400">
                          <a:solidFill>
                            <a:srgbClr val="595959"/>
                          </a:solidFill>
                          <a:latin typeface="Montserrat Medium"/>
                        </a:rPr>
                        <a:t>Está en el modelo; hay que registrarla para poder explicarla</a:t>
                      </a:r>
                    </a:p>
                  </a:txBody>
                  <a:tcPr marL="91440" marR="91440" marT="45720" marB="45720" anchor="ctr">
                    <a:lnB w="6350">
                      <a:solidFill>
                        <a:srgbClr val="D9D9D9"/>
                      </a:solidFill>
                    </a:lnB>
                    <a:solidFill>
                      <a:srgbClr val="EEF2FF"/>
                    </a:solidFill>
                  </a:tcPr>
                </a:tc>
              </a:tr>
              <a:tr h="496569">
                <a:tc>
                  <a:txBody>
                    <a:bodyPr/>
                    <a:lstStyle/>
                    <a:p>
                      <a:pPr algn="l"/>
                      <a:r>
                        <a:rPr sz="1400">
                          <a:solidFill>
                            <a:srgbClr val="595959"/>
                          </a:solidFill>
                          <a:latin typeface="Montserrat Medium"/>
                        </a:rPr>
                        <a:t>Coste</a:t>
                      </a:r>
                    </a:p>
                  </a:txBody>
                  <a:tcPr marL="91440" marR="91440" marT="45720" marB="45720" anchor="ctr">
                    <a:lnB w="6350">
                      <a:solidFill>
                        <a:srgbClr val="D9D9D9"/>
                      </a:solidFill>
                    </a:lnB>
                    <a:solidFill>
                      <a:srgbClr val="FFFFFF"/>
                    </a:solidFill>
                  </a:tcPr>
                </a:tc>
                <a:tc>
                  <a:txBody>
                    <a:bodyPr/>
                    <a:lstStyle/>
                    <a:p>
                      <a:pPr algn="l"/>
                      <a:r>
                        <a:rPr sz="1400">
                          <a:solidFill>
                            <a:srgbClr val="595959"/>
                          </a:solidFill>
                          <a:latin typeface="Montserrat Medium"/>
                        </a:rPr>
                        <a:t>Fijo, por infraestructura</a:t>
                      </a:r>
                    </a:p>
                  </a:txBody>
                  <a:tcPr marL="91440" marR="91440" marT="45720" marB="45720" anchor="ctr">
                    <a:lnB w="6350">
                      <a:solidFill>
                        <a:srgbClr val="D9D9D9"/>
                      </a:solidFill>
                    </a:lnB>
                    <a:solidFill>
                      <a:srgbClr val="FFFFFF"/>
                    </a:solidFill>
                  </a:tcPr>
                </a:tc>
                <a:tc>
                  <a:txBody>
                    <a:bodyPr/>
                    <a:lstStyle/>
                    <a:p>
                      <a:pPr algn="l"/>
                      <a:r>
                        <a:rPr sz="1400">
                          <a:solidFill>
                            <a:srgbClr val="595959"/>
                          </a:solidFill>
                          <a:latin typeface="Montserrat Medium"/>
                        </a:rPr>
                        <a:t>Variable, por token y por razonamiento</a:t>
                      </a:r>
                    </a:p>
                  </a:txBody>
                  <a:tcPr marL="91440" marR="91440" marT="45720" marB="45720" anchor="ctr">
                    <a:lnB w="6350">
                      <a:solidFill>
                        <a:srgbClr val="D9D9D9"/>
                      </a:solidFill>
                    </a:lnB>
                    <a:solidFill>
                      <a:srgbClr val="FFFF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2649728" cy="429768"/>
          </a:xfrm>
        </p:spPr>
        <p:txBody>
          <a:bodyPr wrap="none"/>
          <a:lstStyle/>
          <a:p>
            <a:r>
              <a:rPr sz="2600"/>
              <a:t>Riesgos nuevos</a:t>
            </a:r>
          </a:p>
        </p:txBody>
      </p:sp>
      <p:sp>
        <p:nvSpPr>
          <p:cNvPr id="5" name="Slide Number Placeholder 5">
            <a:extLst>
              <a:ext uri="{FF2B5EF4-FFF2-40B4-BE49-F238E27FC236}">
                <a16:creationId xmlns:a16="http://schemas.microsoft.com/office/drawing/2014/main" id="{1CC3A131-478F-7358-5149-4495B2461525}"/>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
        <p:nvSpPr>
          <p:cNvPr id="3" name="Freeform 2"/>
          <p:cNvSpPr/>
          <p:nvPr/>
        </p:nvSpPr>
        <p:spPr>
          <a:xfrm>
            <a:off x="836900" y="2723266"/>
            <a:ext cx="1166935" cy="1347459"/>
          </a:xfrm>
          <a:custGeom>
            <a:avLst/>
            <a:gdLst/>
            <a:ahLst/>
            <a:cxnLst/>
            <a:rect l="l" t="t" r="r" b="b"/>
            <a:pathLst>
              <a:path w="1166935" h="1347459">
                <a:moveTo>
                  <a:pt x="583468" y="0"/>
                </a:moveTo>
                <a:lnTo>
                  <a:pt x="1166935" y="336865"/>
                </a:lnTo>
                <a:lnTo>
                  <a:pt x="1166935" y="1010594"/>
                </a:lnTo>
                <a:lnTo>
                  <a:pt x="583468" y="1347459"/>
                </a:lnTo>
                <a:lnTo>
                  <a:pt x="0" y="1010594"/>
                </a:lnTo>
                <a:lnTo>
                  <a:pt x="0" y="336865"/>
                </a:lnTo>
                <a:close/>
              </a:path>
            </a:pathLst>
          </a:cu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6638" y="3122676"/>
            <a:ext cx="1347459" cy="548640"/>
          </a:xfrm>
          <a:prstGeom prst="rect">
            <a:avLst/>
          </a:prstGeom>
          <a:noFill/>
        </p:spPr>
        <p:txBody>
          <a:bodyPr wrap="none" lIns="0" rIns="0" tIns="0" bIns="0" anchor="ctr">
            <a:noAutofit/>
          </a:bodyPr>
          <a:lstStyle/>
          <a:p>
            <a:pPr algn="ctr"/>
            <a:r>
              <a:rPr sz="2200">
                <a:solidFill>
                  <a:srgbClr val="FFFFFF"/>
                </a:solidFill>
                <a:latin typeface="Roboto Slab"/>
              </a:rPr>
              <a:t>01</a:t>
            </a:r>
          </a:p>
        </p:txBody>
      </p:sp>
      <p:sp>
        <p:nvSpPr>
          <p:cNvPr id="7" name="TextBox 6"/>
          <p:cNvSpPr txBox="1"/>
          <p:nvPr/>
        </p:nvSpPr>
        <p:spPr>
          <a:xfrm>
            <a:off x="576072" y="4253605"/>
            <a:ext cx="1688591" cy="2010034"/>
          </a:xfrm>
          <a:prstGeom prst="rect">
            <a:avLst/>
          </a:prstGeom>
          <a:noFill/>
        </p:spPr>
        <p:txBody>
          <a:bodyPr wrap="square" lIns="45720" rIns="45720" tIns="27432" bIns="27432" anchor="t">
            <a:noAutofit/>
          </a:bodyPr>
          <a:lstStyle/>
          <a:p>
            <a:pPr algn="ctr">
              <a:lnSpc>
                <a:spcPct val="115000"/>
              </a:lnSpc>
              <a:spcAft>
                <a:spcPts val="600"/>
              </a:spcAft>
            </a:pPr>
            <a:r>
              <a:rPr sz="1400" b="1">
                <a:solidFill>
                  <a:srgbClr val="194BFF"/>
                </a:solidFill>
                <a:latin typeface="Montserrat"/>
              </a:rPr>
              <a:t>Decisiones erróneas o inventadas</a:t>
            </a:r>
          </a:p>
          <a:p>
            <a:pPr algn="ctr">
              <a:lnSpc>
                <a:spcPct val="130000"/>
              </a:lnSpc>
              <a:spcAft>
                <a:spcPts val="0"/>
              </a:spcAft>
            </a:pPr>
            <a:r>
              <a:rPr sz="1200">
                <a:solidFill>
                  <a:srgbClr val="595959"/>
                </a:solidFill>
                <a:latin typeface="Montserrat Medium"/>
              </a:rPr>
              <a:t>el modelo rellena huecos con datos que no existen.</a:t>
            </a:r>
          </a:p>
        </p:txBody>
      </p:sp>
      <p:sp>
        <p:nvSpPr>
          <p:cNvPr id="4" name="Freeform 3"/>
          <p:cNvSpPr/>
          <p:nvPr/>
        </p:nvSpPr>
        <p:spPr>
          <a:xfrm>
            <a:off x="2708372" y="2723266"/>
            <a:ext cx="1166935" cy="1347459"/>
          </a:xfrm>
          <a:custGeom>
            <a:avLst/>
            <a:gdLst/>
            <a:ahLst/>
            <a:cxnLst/>
            <a:rect l="l" t="t" r="r" b="b"/>
            <a:pathLst>
              <a:path w="1166935" h="1347459">
                <a:moveTo>
                  <a:pt x="583467" y="0"/>
                </a:moveTo>
                <a:lnTo>
                  <a:pt x="1166935" y="336865"/>
                </a:lnTo>
                <a:lnTo>
                  <a:pt x="1166935" y="1010594"/>
                </a:lnTo>
                <a:lnTo>
                  <a:pt x="583467" y="1347459"/>
                </a:lnTo>
                <a:lnTo>
                  <a:pt x="0" y="1010594"/>
                </a:lnTo>
                <a:lnTo>
                  <a:pt x="0" y="336865"/>
                </a:lnTo>
                <a:close/>
              </a:path>
            </a:pathLst>
          </a:custGeom>
          <a:solidFill>
            <a:srgbClr val="0A2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18110" y="3122676"/>
            <a:ext cx="1347459" cy="548640"/>
          </a:xfrm>
          <a:prstGeom prst="rect">
            <a:avLst/>
          </a:prstGeom>
          <a:noFill/>
        </p:spPr>
        <p:txBody>
          <a:bodyPr wrap="none" lIns="0" rIns="0" tIns="0" bIns="0" anchor="ctr">
            <a:noAutofit/>
          </a:bodyPr>
          <a:lstStyle/>
          <a:p>
            <a:pPr algn="ctr"/>
            <a:r>
              <a:rPr sz="2200">
                <a:solidFill>
                  <a:srgbClr val="FFFFFF"/>
                </a:solidFill>
                <a:latin typeface="Roboto Slab"/>
              </a:rPr>
              <a:t>02</a:t>
            </a:r>
          </a:p>
        </p:txBody>
      </p:sp>
      <p:sp>
        <p:nvSpPr>
          <p:cNvPr id="9" name="TextBox 8"/>
          <p:cNvSpPr txBox="1"/>
          <p:nvPr/>
        </p:nvSpPr>
        <p:spPr>
          <a:xfrm>
            <a:off x="2447543" y="4253605"/>
            <a:ext cx="1688591" cy="2010034"/>
          </a:xfrm>
          <a:prstGeom prst="rect">
            <a:avLst/>
          </a:prstGeom>
          <a:noFill/>
        </p:spPr>
        <p:txBody>
          <a:bodyPr wrap="square" lIns="45720" rIns="45720" tIns="27432" bIns="27432" anchor="t">
            <a:noAutofit/>
          </a:bodyPr>
          <a:lstStyle/>
          <a:p>
            <a:pPr algn="ctr">
              <a:lnSpc>
                <a:spcPct val="115000"/>
              </a:lnSpc>
              <a:spcAft>
                <a:spcPts val="600"/>
              </a:spcAft>
            </a:pPr>
            <a:r>
              <a:rPr sz="1400" b="1">
                <a:solidFill>
                  <a:srgbClr val="194BFF"/>
                </a:solidFill>
                <a:latin typeface="Montserrat"/>
              </a:rPr>
              <a:t>Deriva</a:t>
            </a:r>
          </a:p>
          <a:p>
            <a:pPr algn="ctr">
              <a:lnSpc>
                <a:spcPct val="130000"/>
              </a:lnSpc>
              <a:spcAft>
                <a:spcPts val="0"/>
              </a:spcAft>
            </a:pPr>
            <a:r>
              <a:rPr sz="1200">
                <a:solidFill>
                  <a:srgbClr val="595959"/>
                </a:solidFill>
                <a:latin typeface="Montserrat Medium"/>
              </a:rPr>
              <a:t>la calidad baja poco a poco tras un cambio de modelo, de prompt o de datos.</a:t>
            </a:r>
          </a:p>
        </p:txBody>
      </p:sp>
      <p:sp>
        <p:nvSpPr>
          <p:cNvPr id="10" name="Freeform 9"/>
          <p:cNvSpPr/>
          <p:nvPr/>
        </p:nvSpPr>
        <p:spPr>
          <a:xfrm>
            <a:off x="4579844" y="2723266"/>
            <a:ext cx="1166935" cy="1347459"/>
          </a:xfrm>
          <a:custGeom>
            <a:avLst/>
            <a:gdLst/>
            <a:ahLst/>
            <a:cxnLst/>
            <a:rect l="l" t="t" r="r" b="b"/>
            <a:pathLst>
              <a:path w="1166935" h="1347459">
                <a:moveTo>
                  <a:pt x="583468" y="0"/>
                </a:moveTo>
                <a:lnTo>
                  <a:pt x="1166935" y="336865"/>
                </a:lnTo>
                <a:lnTo>
                  <a:pt x="1166935" y="1010594"/>
                </a:lnTo>
                <a:lnTo>
                  <a:pt x="583468" y="1347459"/>
                </a:lnTo>
                <a:lnTo>
                  <a:pt x="0" y="1010594"/>
                </a:lnTo>
                <a:lnTo>
                  <a:pt x="0" y="336865"/>
                </a:lnTo>
                <a:close/>
              </a:path>
            </a:pathLst>
          </a:cu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582" y="3122676"/>
            <a:ext cx="1347459" cy="548640"/>
          </a:xfrm>
          <a:prstGeom prst="rect">
            <a:avLst/>
          </a:prstGeom>
          <a:noFill/>
        </p:spPr>
        <p:txBody>
          <a:bodyPr wrap="none" lIns="0" rIns="0" tIns="0" bIns="0" anchor="ctr">
            <a:noAutofit/>
          </a:bodyPr>
          <a:lstStyle/>
          <a:p>
            <a:pPr algn="ctr"/>
            <a:r>
              <a:rPr sz="2200">
                <a:solidFill>
                  <a:srgbClr val="FFFFFF"/>
                </a:solidFill>
                <a:latin typeface="Roboto Slab"/>
              </a:rPr>
              <a:t>03</a:t>
            </a:r>
          </a:p>
        </p:txBody>
      </p:sp>
      <p:sp>
        <p:nvSpPr>
          <p:cNvPr id="12" name="TextBox 11"/>
          <p:cNvSpPr txBox="1"/>
          <p:nvPr/>
        </p:nvSpPr>
        <p:spPr>
          <a:xfrm>
            <a:off x="4319015" y="4253605"/>
            <a:ext cx="1688591" cy="2010034"/>
          </a:xfrm>
          <a:prstGeom prst="rect">
            <a:avLst/>
          </a:prstGeom>
          <a:noFill/>
        </p:spPr>
        <p:txBody>
          <a:bodyPr wrap="square" lIns="45720" rIns="45720" tIns="27432" bIns="27432" anchor="t">
            <a:noAutofit/>
          </a:bodyPr>
          <a:lstStyle/>
          <a:p>
            <a:pPr algn="ctr">
              <a:lnSpc>
                <a:spcPct val="115000"/>
              </a:lnSpc>
              <a:spcAft>
                <a:spcPts val="600"/>
              </a:spcAft>
            </a:pPr>
            <a:r>
              <a:rPr sz="1400" b="1">
                <a:solidFill>
                  <a:srgbClr val="194BFF"/>
                </a:solidFill>
                <a:latin typeface="Montserrat"/>
              </a:rPr>
              <a:t>Coste desbocado</a:t>
            </a:r>
          </a:p>
          <a:p>
            <a:pPr algn="ctr">
              <a:lnSpc>
                <a:spcPct val="130000"/>
              </a:lnSpc>
              <a:spcAft>
                <a:spcPts val="0"/>
              </a:spcAft>
            </a:pPr>
            <a:r>
              <a:rPr sz="1200">
                <a:solidFill>
                  <a:srgbClr val="595959"/>
                </a:solidFill>
                <a:latin typeface="Montserrat Medium"/>
              </a:rPr>
              <a:t>tokens de razonamiento, reintentos y bucles entre agentes.</a:t>
            </a:r>
          </a:p>
        </p:txBody>
      </p:sp>
      <p:sp>
        <p:nvSpPr>
          <p:cNvPr id="13" name="Freeform 12"/>
          <p:cNvSpPr/>
          <p:nvPr/>
        </p:nvSpPr>
        <p:spPr>
          <a:xfrm>
            <a:off x="6451316" y="2723266"/>
            <a:ext cx="1166935" cy="1347459"/>
          </a:xfrm>
          <a:custGeom>
            <a:avLst/>
            <a:gdLst/>
            <a:ahLst/>
            <a:cxnLst/>
            <a:rect l="l" t="t" r="r" b="b"/>
            <a:pathLst>
              <a:path w="1166935" h="1347459">
                <a:moveTo>
                  <a:pt x="583467" y="0"/>
                </a:moveTo>
                <a:lnTo>
                  <a:pt x="1166935" y="336865"/>
                </a:lnTo>
                <a:lnTo>
                  <a:pt x="1166935" y="1010594"/>
                </a:lnTo>
                <a:lnTo>
                  <a:pt x="583467" y="1347459"/>
                </a:lnTo>
                <a:lnTo>
                  <a:pt x="0" y="1010594"/>
                </a:lnTo>
                <a:lnTo>
                  <a:pt x="0" y="336865"/>
                </a:lnTo>
                <a:close/>
              </a:path>
            </a:pathLst>
          </a:custGeom>
          <a:solidFill>
            <a:srgbClr val="0A2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1054" y="3122676"/>
            <a:ext cx="1347459" cy="548640"/>
          </a:xfrm>
          <a:prstGeom prst="rect">
            <a:avLst/>
          </a:prstGeom>
          <a:noFill/>
        </p:spPr>
        <p:txBody>
          <a:bodyPr wrap="none" lIns="0" rIns="0" tIns="0" bIns="0" anchor="ctr">
            <a:noAutofit/>
          </a:bodyPr>
          <a:lstStyle/>
          <a:p>
            <a:pPr algn="ctr"/>
            <a:r>
              <a:rPr sz="2200">
                <a:solidFill>
                  <a:srgbClr val="FFFFFF"/>
                </a:solidFill>
                <a:latin typeface="Roboto Slab"/>
              </a:rPr>
              <a:t>04</a:t>
            </a:r>
          </a:p>
        </p:txBody>
      </p:sp>
      <p:sp>
        <p:nvSpPr>
          <p:cNvPr id="15" name="TextBox 14"/>
          <p:cNvSpPr txBox="1"/>
          <p:nvPr/>
        </p:nvSpPr>
        <p:spPr>
          <a:xfrm>
            <a:off x="6190487" y="4253605"/>
            <a:ext cx="1688591" cy="2010034"/>
          </a:xfrm>
          <a:prstGeom prst="rect">
            <a:avLst/>
          </a:prstGeom>
          <a:noFill/>
        </p:spPr>
        <p:txBody>
          <a:bodyPr wrap="square" lIns="45720" rIns="45720" tIns="27432" bIns="27432" anchor="t">
            <a:noAutofit/>
          </a:bodyPr>
          <a:lstStyle/>
          <a:p>
            <a:pPr algn="ctr">
              <a:lnSpc>
                <a:spcPct val="115000"/>
              </a:lnSpc>
              <a:spcAft>
                <a:spcPts val="600"/>
              </a:spcAft>
            </a:pPr>
            <a:r>
              <a:rPr sz="1400" b="1">
                <a:solidFill>
                  <a:srgbClr val="194BFF"/>
                </a:solidFill>
                <a:latin typeface="Montserrat"/>
              </a:rPr>
              <a:t>Permisos excesivos</a:t>
            </a:r>
          </a:p>
          <a:p>
            <a:pPr algn="ctr">
              <a:lnSpc>
                <a:spcPct val="130000"/>
              </a:lnSpc>
              <a:spcAft>
                <a:spcPts val="0"/>
              </a:spcAft>
            </a:pPr>
            <a:r>
              <a:rPr sz="1200">
                <a:solidFill>
                  <a:srgbClr val="595959"/>
                </a:solidFill>
                <a:latin typeface="Montserrat Medium"/>
              </a:rPr>
              <a:t>un agente con más acceso del que necesita para su función.</a:t>
            </a:r>
          </a:p>
        </p:txBody>
      </p:sp>
      <p:sp>
        <p:nvSpPr>
          <p:cNvPr id="16" name="Freeform 15"/>
          <p:cNvSpPr/>
          <p:nvPr/>
        </p:nvSpPr>
        <p:spPr>
          <a:xfrm>
            <a:off x="8322788" y="2723266"/>
            <a:ext cx="1166935" cy="1347459"/>
          </a:xfrm>
          <a:custGeom>
            <a:avLst/>
            <a:gdLst/>
            <a:ahLst/>
            <a:cxnLst/>
            <a:rect l="l" t="t" r="r" b="b"/>
            <a:pathLst>
              <a:path w="1166935" h="1347459">
                <a:moveTo>
                  <a:pt x="583467" y="0"/>
                </a:moveTo>
                <a:lnTo>
                  <a:pt x="1166935" y="336865"/>
                </a:lnTo>
                <a:lnTo>
                  <a:pt x="1166935" y="1010594"/>
                </a:lnTo>
                <a:lnTo>
                  <a:pt x="583467" y="1347459"/>
                </a:lnTo>
                <a:lnTo>
                  <a:pt x="0" y="1010594"/>
                </a:lnTo>
                <a:lnTo>
                  <a:pt x="0" y="336865"/>
                </a:lnTo>
                <a:close/>
              </a:path>
            </a:pathLst>
          </a:cu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32526" y="3122676"/>
            <a:ext cx="1347459" cy="548640"/>
          </a:xfrm>
          <a:prstGeom prst="rect">
            <a:avLst/>
          </a:prstGeom>
          <a:noFill/>
        </p:spPr>
        <p:txBody>
          <a:bodyPr wrap="none" lIns="0" rIns="0" tIns="0" bIns="0" anchor="ctr">
            <a:noAutofit/>
          </a:bodyPr>
          <a:lstStyle/>
          <a:p>
            <a:pPr algn="ctr"/>
            <a:r>
              <a:rPr sz="2200">
                <a:solidFill>
                  <a:srgbClr val="FFFFFF"/>
                </a:solidFill>
                <a:latin typeface="Roboto Slab"/>
              </a:rPr>
              <a:t>05</a:t>
            </a:r>
          </a:p>
        </p:txBody>
      </p:sp>
      <p:sp>
        <p:nvSpPr>
          <p:cNvPr id="18" name="TextBox 17"/>
          <p:cNvSpPr txBox="1"/>
          <p:nvPr/>
        </p:nvSpPr>
        <p:spPr>
          <a:xfrm>
            <a:off x="8061959" y="4253605"/>
            <a:ext cx="1688591" cy="2010034"/>
          </a:xfrm>
          <a:prstGeom prst="rect">
            <a:avLst/>
          </a:prstGeom>
          <a:noFill/>
        </p:spPr>
        <p:txBody>
          <a:bodyPr wrap="square" lIns="45720" rIns="45720" tIns="27432" bIns="27432" anchor="t">
            <a:noAutofit/>
          </a:bodyPr>
          <a:lstStyle/>
          <a:p>
            <a:pPr algn="ctr">
              <a:lnSpc>
                <a:spcPct val="115000"/>
              </a:lnSpc>
              <a:spcAft>
                <a:spcPts val="600"/>
              </a:spcAft>
            </a:pPr>
            <a:r>
              <a:rPr sz="1400" b="1">
                <a:solidFill>
                  <a:srgbClr val="194BFF"/>
                </a:solidFill>
                <a:latin typeface="Montserrat"/>
              </a:rPr>
              <a:t>Prompt injection</a:t>
            </a:r>
          </a:p>
          <a:p>
            <a:pPr algn="ctr">
              <a:lnSpc>
                <a:spcPct val="130000"/>
              </a:lnSpc>
              <a:spcAft>
                <a:spcPts val="0"/>
              </a:spcAft>
            </a:pPr>
            <a:r>
              <a:rPr sz="1200">
                <a:solidFill>
                  <a:srgbClr val="595959"/>
                </a:solidFill>
                <a:latin typeface="Montserrat Medium"/>
              </a:rPr>
              <a:t>instrucciones maliciosas escondidas en un correo, un documento o una web.</a:t>
            </a:r>
          </a:p>
        </p:txBody>
      </p:sp>
      <p:sp>
        <p:nvSpPr>
          <p:cNvPr id="19" name="Freeform 18"/>
          <p:cNvSpPr/>
          <p:nvPr/>
        </p:nvSpPr>
        <p:spPr>
          <a:xfrm>
            <a:off x="10194260" y="2723266"/>
            <a:ext cx="1166935" cy="1347459"/>
          </a:xfrm>
          <a:custGeom>
            <a:avLst/>
            <a:gdLst/>
            <a:ahLst/>
            <a:cxnLst/>
            <a:rect l="l" t="t" r="r" b="b"/>
            <a:pathLst>
              <a:path w="1166935" h="1347459">
                <a:moveTo>
                  <a:pt x="583467" y="0"/>
                </a:moveTo>
                <a:lnTo>
                  <a:pt x="1166935" y="336865"/>
                </a:lnTo>
                <a:lnTo>
                  <a:pt x="1166935" y="1010594"/>
                </a:lnTo>
                <a:lnTo>
                  <a:pt x="583467" y="1347459"/>
                </a:lnTo>
                <a:lnTo>
                  <a:pt x="0" y="1010594"/>
                </a:lnTo>
                <a:lnTo>
                  <a:pt x="0" y="336865"/>
                </a:lnTo>
                <a:close/>
              </a:path>
            </a:pathLst>
          </a:custGeom>
          <a:solidFill>
            <a:srgbClr val="0A2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03998" y="3122676"/>
            <a:ext cx="1347459" cy="548640"/>
          </a:xfrm>
          <a:prstGeom prst="rect">
            <a:avLst/>
          </a:prstGeom>
          <a:noFill/>
        </p:spPr>
        <p:txBody>
          <a:bodyPr wrap="none" lIns="0" rIns="0" tIns="0" bIns="0" anchor="ctr">
            <a:noAutofit/>
          </a:bodyPr>
          <a:lstStyle/>
          <a:p>
            <a:pPr algn="ctr"/>
            <a:r>
              <a:rPr sz="2200">
                <a:solidFill>
                  <a:srgbClr val="FFFFFF"/>
                </a:solidFill>
                <a:latin typeface="Roboto Slab"/>
              </a:rPr>
              <a:t>06</a:t>
            </a:r>
          </a:p>
        </p:txBody>
      </p:sp>
      <p:sp>
        <p:nvSpPr>
          <p:cNvPr id="21" name="TextBox 20"/>
          <p:cNvSpPr txBox="1"/>
          <p:nvPr/>
        </p:nvSpPr>
        <p:spPr>
          <a:xfrm>
            <a:off x="9933431" y="4253605"/>
            <a:ext cx="1688591" cy="2010034"/>
          </a:xfrm>
          <a:prstGeom prst="rect">
            <a:avLst/>
          </a:prstGeom>
          <a:noFill/>
        </p:spPr>
        <p:txBody>
          <a:bodyPr wrap="square" lIns="45720" rIns="45720" tIns="27432" bIns="27432" anchor="t">
            <a:noAutofit/>
          </a:bodyPr>
          <a:lstStyle/>
          <a:p>
            <a:pPr algn="ctr">
              <a:lnSpc>
                <a:spcPct val="115000"/>
              </a:lnSpc>
              <a:spcAft>
                <a:spcPts val="600"/>
              </a:spcAft>
            </a:pPr>
            <a:r>
              <a:rPr sz="1400" b="1">
                <a:solidFill>
                  <a:srgbClr val="194BFF"/>
                </a:solidFill>
                <a:latin typeface="Montserrat"/>
              </a:rPr>
              <a:t>Dependencia de terceros</a:t>
            </a:r>
          </a:p>
          <a:p>
            <a:pPr algn="ctr">
              <a:lnSpc>
                <a:spcPct val="130000"/>
              </a:lnSpc>
              <a:spcAft>
                <a:spcPts val="0"/>
              </a:spcAft>
            </a:pPr>
            <a:r>
              <a:rPr sz="1200">
                <a:solidFill>
                  <a:srgbClr val="595959"/>
                </a:solidFill>
                <a:latin typeface="Montserrat Medium"/>
              </a:rPr>
              <a:t>el proveedor del modelo es un tercero crítico.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4423918" cy="429768"/>
          </a:xfrm>
        </p:spPr>
        <p:txBody>
          <a:bodyPr wrap="none"/>
          <a:lstStyle/>
          <a:p>
            <a:r>
              <a:rPr sz="2600"/>
              <a:t>Monitorizar no es observar</a:t>
            </a:r>
          </a:p>
        </p:txBody>
      </p:sp>
      <p:sp>
        <p:nvSpPr>
          <p:cNvPr id="5" name="Slide Number Placeholder 5">
            <a:extLst>
              <a:ext uri="{FF2B5EF4-FFF2-40B4-BE49-F238E27FC236}">
                <a16:creationId xmlns:a16="http://schemas.microsoft.com/office/drawing/2014/main" id="{1CC3A131-478F-7358-5149-4495B2461525}"/>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
        <p:nvSpPr>
          <p:cNvPr id="6" name="TextBox 5"/>
          <p:cNvSpPr txBox="1"/>
          <p:nvPr/>
        </p:nvSpPr>
        <p:spPr>
          <a:xfrm>
            <a:off x="484632" y="1307592"/>
            <a:ext cx="11228832" cy="347472"/>
          </a:xfrm>
          <a:prstGeom prst="rect">
            <a:avLst/>
          </a:prstGeom>
          <a:noFill/>
        </p:spPr>
        <p:txBody>
          <a:bodyPr wrap="square" lIns="45720" rIns="45720" tIns="27432" bIns="27432" anchor="t">
            <a:noAutofit/>
          </a:bodyPr>
          <a:lstStyle/>
          <a:p>
            <a:pPr>
              <a:lnSpc>
                <a:spcPct val="120000"/>
              </a:lnSpc>
              <a:spcAft>
                <a:spcPts val="0"/>
              </a:spcAft>
            </a:pPr>
            <a:r>
              <a:rPr sz="1600" b="1">
                <a:solidFill>
                  <a:srgbClr val="194BFF"/>
                </a:solidFill>
                <a:latin typeface="Montserrat"/>
              </a:rPr>
              <a:t>El objetivo no es sacar logs del agente, sino construir una traza semántica de cada decisión.</a:t>
            </a:r>
          </a:p>
        </p:txBody>
      </p:sp>
      <p:graphicFrame>
        <p:nvGraphicFramePr>
          <p:cNvPr id="7" name="Table 6"/>
          <p:cNvGraphicFramePr>
            <a:graphicFrameLocks noGrp="1"/>
          </p:cNvGraphicFramePr>
          <p:nvPr/>
        </p:nvGraphicFramePr>
        <p:xfrm>
          <a:off x="484632" y="1883664"/>
          <a:ext cx="11228832" cy="2705096"/>
        </p:xfrm>
        <a:graphic>
          <a:graphicData uri="http://schemas.openxmlformats.org/drawingml/2006/table">
            <a:tbl>
              <a:tblPr firstRow="1" bandRow="0">
                <a:tableStyleId>{2D5ABB26-0587-4C30-8999-92F81FD0307C}</a:tableStyleId>
              </a:tblPr>
              <a:tblGrid>
                <a:gridCol w="5614416"/>
                <a:gridCol w="5614416"/>
              </a:tblGrid>
              <a:tr h="496569">
                <a:tc>
                  <a:txBody>
                    <a:bodyPr/>
                    <a:lstStyle/>
                    <a:p>
                      <a:pPr algn="l"/>
                      <a:r>
                        <a:rPr sz="1400" b="1">
                          <a:solidFill>
                            <a:srgbClr val="FFFFFF"/>
                          </a:solidFill>
                          <a:latin typeface="Montserrat"/>
                        </a:rPr>
                        <a:t>Monitorización técnica</a:t>
                      </a:r>
                    </a:p>
                  </a:txBody>
                  <a:tcPr marL="91440" marR="91440" marT="45720" marB="45720" anchor="ctr">
                    <a:lnB w="6350">
                      <a:solidFill>
                        <a:srgbClr val="D9D9D9"/>
                      </a:solidFill>
                    </a:lnB>
                    <a:solidFill>
                      <a:srgbClr val="194BFF"/>
                    </a:solidFill>
                  </a:tcPr>
                </a:tc>
                <a:tc>
                  <a:txBody>
                    <a:bodyPr/>
                    <a:lstStyle/>
                    <a:p>
                      <a:pPr algn="l"/>
                      <a:r>
                        <a:rPr sz="1400" b="1">
                          <a:solidFill>
                            <a:srgbClr val="FFFFFF"/>
                          </a:solidFill>
                          <a:latin typeface="Montserrat"/>
                        </a:rPr>
                        <a:t>Observabilidad cognitiva</a:t>
                      </a:r>
                    </a:p>
                  </a:txBody>
                  <a:tcPr marL="91440" marR="91440" marT="45720" marB="45720" anchor="ctr">
                    <a:lnB w="6350">
                      <a:solidFill>
                        <a:srgbClr val="D9D9D9"/>
                      </a:solidFill>
                    </a:lnB>
                    <a:solidFill>
                      <a:srgbClr val="194BFF"/>
                    </a:solidFill>
                  </a:tcPr>
                </a:tc>
              </a:tr>
              <a:tr h="496569">
                <a:tc>
                  <a:txBody>
                    <a:bodyPr/>
                    <a:lstStyle/>
                    <a:p>
                      <a:pPr algn="l"/>
                      <a:r>
                        <a:rPr sz="1400">
                          <a:solidFill>
                            <a:srgbClr val="595959"/>
                          </a:solidFill>
                          <a:latin typeface="Montserrat Medium"/>
                        </a:rPr>
                        <a:t>¿Está funcionando?</a:t>
                      </a:r>
                    </a:p>
                  </a:txBody>
                  <a:tcPr marL="91440" marR="91440" marT="45720" marB="45720" anchor="ctr">
                    <a:lnB w="6350">
                      <a:solidFill>
                        <a:srgbClr val="D9D9D9"/>
                      </a:solidFill>
                    </a:lnB>
                    <a:solidFill>
                      <a:srgbClr val="FFFFFF"/>
                    </a:solidFill>
                  </a:tcPr>
                </a:tc>
                <a:tc>
                  <a:txBody>
                    <a:bodyPr/>
                    <a:lstStyle/>
                    <a:p>
                      <a:pPr algn="l"/>
                      <a:r>
                        <a:rPr sz="1400">
                          <a:solidFill>
                            <a:srgbClr val="595959"/>
                          </a:solidFill>
                          <a:latin typeface="Montserrat Medium"/>
                        </a:rPr>
                        <a:t>¿Está decidiendo bien?</a:t>
                      </a:r>
                    </a:p>
                  </a:txBody>
                  <a:tcPr marL="91440" marR="91440" marT="45720" marB="45720" anchor="ctr">
                    <a:lnB w="6350">
                      <a:solidFill>
                        <a:srgbClr val="D9D9D9"/>
                      </a:solidFill>
                    </a:lnB>
                    <a:solidFill>
                      <a:srgbClr val="FFFFFF"/>
                    </a:solidFill>
                  </a:tcPr>
                </a:tc>
              </a:tr>
              <a:tr h="718820">
                <a:tc>
                  <a:txBody>
                    <a:bodyPr/>
                    <a:lstStyle/>
                    <a:p>
                      <a:pPr algn="l"/>
                      <a:r>
                        <a:rPr sz="1400">
                          <a:solidFill>
                            <a:srgbClr val="595959"/>
                          </a:solidFill>
                          <a:latin typeface="Montserrat Medium"/>
                        </a:rPr>
                        <a:t>Latencia, errores, disponibilidad, tokens</a:t>
                      </a:r>
                    </a:p>
                  </a:txBody>
                  <a:tcPr marL="91440" marR="91440" marT="45720" marB="45720" anchor="ctr">
                    <a:lnB w="6350">
                      <a:solidFill>
                        <a:srgbClr val="D9D9D9"/>
                      </a:solidFill>
                    </a:lnB>
                    <a:solidFill>
                      <a:srgbClr val="EEF2FF"/>
                    </a:solidFill>
                  </a:tcPr>
                </a:tc>
                <a:tc>
                  <a:txBody>
                    <a:bodyPr/>
                    <a:lstStyle/>
                    <a:p>
                      <a:pPr algn="l"/>
                      <a:r>
                        <a:rPr sz="1400">
                          <a:solidFill>
                            <a:srgbClr val="595959"/>
                          </a:solidFill>
                          <a:latin typeface="Montserrat Medium"/>
                        </a:rPr>
                        <a:t>Intención interpretada, datos usados, reglas aplicadas, alternativas descartadas</a:t>
                      </a:r>
                    </a:p>
                  </a:txBody>
                  <a:tcPr marL="91440" marR="91440" marT="45720" marB="45720" anchor="ctr">
                    <a:lnB w="6350">
                      <a:solidFill>
                        <a:srgbClr val="D9D9D9"/>
                      </a:solidFill>
                    </a:lnB>
                    <a:solidFill>
                      <a:srgbClr val="EEF2FF"/>
                    </a:solidFill>
                  </a:tcPr>
                </a:tc>
              </a:tr>
              <a:tr h="496569">
                <a:tc>
                  <a:txBody>
                    <a:bodyPr/>
                    <a:lstStyle/>
                    <a:p>
                      <a:pPr algn="l"/>
                      <a:r>
                        <a:rPr sz="1400">
                          <a:solidFill>
                            <a:srgbClr val="595959"/>
                          </a:solidFill>
                          <a:latin typeface="Montserrat Medium"/>
                        </a:rPr>
                        <a:t>Responde a qué pasó</a:t>
                      </a:r>
                    </a:p>
                  </a:txBody>
                  <a:tcPr marL="91440" marR="91440" marT="45720" marB="45720" anchor="ctr">
                    <a:lnB w="6350">
                      <a:solidFill>
                        <a:srgbClr val="D9D9D9"/>
                      </a:solidFill>
                    </a:lnB>
                    <a:solidFill>
                      <a:srgbClr val="FFFFFF"/>
                    </a:solidFill>
                  </a:tcPr>
                </a:tc>
                <a:tc>
                  <a:txBody>
                    <a:bodyPr/>
                    <a:lstStyle/>
                    <a:p>
                      <a:pPr algn="l"/>
                      <a:r>
                        <a:rPr sz="1400">
                          <a:solidFill>
                            <a:srgbClr val="595959"/>
                          </a:solidFill>
                          <a:latin typeface="Montserrat Medium"/>
                        </a:rPr>
                        <a:t>Responde a por qué pasó</a:t>
                      </a:r>
                    </a:p>
                  </a:txBody>
                  <a:tcPr marL="91440" marR="91440" marT="45720" marB="45720" anchor="ctr">
                    <a:lnB w="6350">
                      <a:solidFill>
                        <a:srgbClr val="D9D9D9"/>
                      </a:solidFill>
                    </a:lnB>
                    <a:solidFill>
                      <a:srgbClr val="FFFFFF"/>
                    </a:solidFill>
                  </a:tcPr>
                </a:tc>
              </a:tr>
              <a:tr h="496569">
                <a:tc>
                  <a:txBody>
                    <a:bodyPr/>
                    <a:lstStyle/>
                    <a:p>
                      <a:pPr algn="l"/>
                      <a:r>
                        <a:rPr sz="1400">
                          <a:solidFill>
                            <a:srgbClr val="595959"/>
                          </a:solidFill>
                          <a:latin typeface="Montserrat Medium"/>
                        </a:rPr>
                        <a:t>Para el equipo técnico</a:t>
                      </a:r>
                    </a:p>
                  </a:txBody>
                  <a:tcPr marL="91440" marR="91440" marT="45720" marB="45720" anchor="ctr">
                    <a:lnB w="6350">
                      <a:solidFill>
                        <a:srgbClr val="D9D9D9"/>
                      </a:solidFill>
                    </a:lnB>
                    <a:solidFill>
                      <a:srgbClr val="EEF2FF"/>
                    </a:solidFill>
                  </a:tcPr>
                </a:tc>
                <a:tc>
                  <a:txBody>
                    <a:bodyPr/>
                    <a:lstStyle/>
                    <a:p>
                      <a:pPr algn="l"/>
                      <a:r>
                        <a:rPr sz="1400">
                          <a:solidFill>
                            <a:srgbClr val="595959"/>
                          </a:solidFill>
                          <a:latin typeface="Montserrat Medium"/>
                        </a:rPr>
                        <a:t>Para negocio, riesgos, auditoría y técnico</a:t>
                      </a:r>
                    </a:p>
                  </a:txBody>
                  <a:tcPr marL="91440" marR="91440" marT="45720" marB="45720" anchor="ctr">
                    <a:lnB w="6350">
                      <a:solidFill>
                        <a:srgbClr val="D9D9D9"/>
                      </a:solidFill>
                    </a:lnB>
                    <a:solidFill>
                      <a:srgbClr val="EEF2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ve_big.png"/>
          <p:cNvPicPr>
            <a:picLocks noChangeAspect="1"/>
          </p:cNvPicPr>
          <p:nvPr/>
        </p:nvPicPr>
        <p:blipFill>
          <a:blip r:embed="rId2">
            <a:alphaModFix amt="30000"/>
          </a:blip>
          <a:stretch>
            <a:fillRect/>
          </a:stretch>
        </p:blipFill>
        <p:spPr>
          <a:xfrm>
            <a:off x="3611880" y="2185416"/>
            <a:ext cx="9418320" cy="5297805"/>
          </a:xfrm>
          <a:prstGeom prst="rect">
            <a:avLst/>
          </a:prstGeom>
        </p:spPr>
      </p:pic>
      <p:sp>
        <p:nvSpPr>
          <p:cNvPr id="3" name="NUM"/>
          <p:cNvSpPr txBox="1"/>
          <p:nvPr/>
        </p:nvSpPr>
        <p:spPr>
          <a:xfrm>
            <a:off x="731520" y="1417319"/>
            <a:ext cx="566928" cy="329184"/>
          </a:xfrm>
          <a:prstGeom prst="rect">
            <a:avLst/>
          </a:prstGeom>
          <a:solidFill>
            <a:srgbClr val="0A2592"/>
          </a:solidFill>
        </p:spPr>
        <p:txBody>
          <a:bodyPr wrap="none" anchor="ctr" lIns="72000" rIns="72000" tIns="36000" bIns="36000">
            <a:noAutofit/>
          </a:bodyPr>
          <a:lstStyle/>
          <a:p>
            <a:r>
              <a:rPr sz="1400" b="0">
                <a:solidFill>
                  <a:srgbClr val="FFFFFF"/>
                </a:solidFill>
                <a:latin typeface="Roboto Slab"/>
              </a:rPr>
              <a:t>03</a:t>
            </a:r>
          </a:p>
        </p:txBody>
      </p:sp>
      <p:sp>
        <p:nvSpPr>
          <p:cNvPr id="4" name="REDTITLE"/>
          <p:cNvSpPr txBox="1"/>
          <p:nvPr/>
        </p:nvSpPr>
        <p:spPr>
          <a:xfrm>
            <a:off x="731520" y="1874519"/>
            <a:ext cx="5259578" cy="546608"/>
          </a:xfrm>
          <a:prstGeom prst="rect">
            <a:avLst/>
          </a:prstGeom>
          <a:solidFill>
            <a:srgbClr val="FF1414"/>
          </a:solidFill>
        </p:spPr>
        <p:txBody>
          <a:bodyPr wrap="none" anchor="ctr" lIns="72000" rIns="72000" tIns="36000" bIns="36000">
            <a:noAutofit/>
          </a:bodyPr>
          <a:lstStyle/>
          <a:p>
            <a:r>
              <a:rPr sz="3200" b="0">
                <a:solidFill>
                  <a:srgbClr val="FFFFFF"/>
                </a:solidFill>
                <a:latin typeface="Roboto Slab"/>
              </a:rPr>
              <a:t>Lo que exige la regulación</a:t>
            </a:r>
          </a:p>
        </p:txBody>
      </p:sp>
      <p:sp>
        <p:nvSpPr>
          <p:cNvPr id="5" name="TextBox 4"/>
          <p:cNvSpPr txBox="1"/>
          <p:nvPr/>
        </p:nvSpPr>
        <p:spPr>
          <a:xfrm>
            <a:off x="731520" y="2695447"/>
            <a:ext cx="7315200" cy="1097280"/>
          </a:xfrm>
          <a:prstGeom prst="rect">
            <a:avLst/>
          </a:prstGeom>
          <a:noFill/>
        </p:spPr>
        <p:txBody>
          <a:bodyPr wrap="square" lIns="45720" rIns="45720" tIns="27432" bIns="27432" anchor="t">
            <a:noAutofit/>
          </a:bodyPr>
          <a:lstStyle/>
          <a:p>
            <a:pPr>
              <a:lnSpc>
                <a:spcPct val="130000"/>
              </a:lnSpc>
              <a:spcAft>
                <a:spcPts val="0"/>
              </a:spcAft>
            </a:pPr>
            <a:r>
              <a:rPr sz="1400">
                <a:solidFill>
                  <a:srgbClr val="FFFFFF"/>
                </a:solidFill>
                <a:latin typeface="Montserrat Medium"/>
              </a:rPr>
              <a:t>Lo que ya obliga hoy y lo que llega con el AI Act.</a:t>
            </a:r>
          </a:p>
        </p:txBody>
      </p:sp>
      <p:sp>
        <p:nvSpPr>
          <p:cNvPr id="9" name="Slide Number Placeholder 5">
            <a:extLst>
              <a:ext uri="{FF2B5EF4-FFF2-40B4-BE49-F238E27FC236}">
                <a16:creationId xmlns:a16="http://schemas.microsoft.com/office/drawing/2014/main" id="{5DA0576D-B669-167B-03FD-E669ECE0B285}"/>
              </a:ext>
            </a:extLst>
          </p:cNvPr>
          <p:cNvSpPr>
            <a:spLocks noGrp="1"/>
          </p:cNvSpPr>
          <p:nvPr>
            <p:ph type="sldNum" sz="quarter" idx="4"/>
          </p:nvPr>
        </p:nvSpPr>
        <p:spPr/>
        <p:txBody>
          <a:bodyPr tIns="0" rIns="0" bIns="0" anchor="t">
            <a:spAutoFit/>
          </a:bodyPr>
          <a:lstStyle>
            <a:lvl1pPr algn="r">
              <a:defRPr sz="800" b="0" i="0">
                <a:solidFill>
                  <a:schemeClr val="bg1"/>
                </a:solidFill>
                <a:latin typeface="Montserrat Medium" pitchFamily="2" charset="77"/>
              </a:defRPr>
            </a:lvl1pPr>
          </a:lstStyle>
          <a:p>
            <a:fld id="{B6F15528-21DE-4FAA-801E-634DDDAF4B2B}" type="slidenum">
              <a:rPr lang="es-ES"/>
              <a:t>‹#›</a:t>
            </a:fld>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2954527" cy="429768"/>
          </a:xfrm>
        </p:spPr>
        <p:txBody>
          <a:bodyPr wrap="none"/>
          <a:lstStyle/>
          <a:p>
            <a:r>
              <a:rPr sz="2600"/>
              <a:t>Marco normativo</a:t>
            </a:r>
          </a:p>
        </p:txBody>
      </p:sp>
      <p:sp>
        <p:nvSpPr>
          <p:cNvPr id="3" name="Content Placeholder 2"/>
          <p:cNvSpPr>
            <a:spLocks noGrp="1"/>
          </p:cNvSpPr>
          <p:nvPr>
            <p:ph idx="1"/>
          </p:nvPr>
        </p:nvSpPr>
        <p:spPr>
          <a:xfrm>
            <a:off x="484632" y="1399032"/>
            <a:ext cx="3499103" cy="4864607"/>
          </a:xfrm>
        </p:spPr>
        <p:txBody>
          <a:bodyPr anchor="t">
            <a:noAutofit/>
          </a:bodyPr>
          <a:lstStyle/>
          <a:p>
            <a:pPr marL="0" indent="0">
              <a:lnSpc>
                <a:spcPct val="120000"/>
              </a:lnSpc>
              <a:spcBef>
                <a:spcPts val="400"/>
              </a:spcBef>
              <a:spcAft>
                <a:spcPts val="500"/>
              </a:spcAft>
              <a:buNone/>
            </a:pPr>
            <a:r>
              <a:rPr sz="1500" b="1">
                <a:solidFill>
                  <a:srgbClr val="194BFF"/>
                </a:solidFill>
                <a:latin typeface="Montserrat"/>
              </a:rPr>
              <a:t>Ya en vigor</a:t>
            </a:r>
          </a:p>
          <a:p>
            <a:pPr>
              <a:lnSpc>
                <a:spcPct val="130000"/>
              </a:lnSpc>
              <a:spcAft>
                <a:spcPts val="500"/>
              </a:spcAft>
              <a:buClr>
                <a:srgbClr val="FF1414"/>
              </a:buClr>
              <a:buFont typeface="Arial"/>
              <a:buChar char="►"/>
            </a:pPr>
            <a:r>
              <a:rPr sz="1300" b="1"/>
              <a:t>AI Act art. 4 y 50</a:t>
            </a:r>
            <a:r>
              <a:rPr sz="1300"/>
              <a:t>: alfabetización en IA y transparencia con quien interactúa con una IA.</a:t>
            </a:r>
          </a:p>
          <a:p>
            <a:pPr>
              <a:lnSpc>
                <a:spcPct val="130000"/>
              </a:lnSpc>
              <a:spcAft>
                <a:spcPts val="500"/>
              </a:spcAft>
              <a:buClr>
                <a:srgbClr val="FF1414"/>
              </a:buClr>
              <a:buFont typeface="Arial"/>
              <a:buChar char="►"/>
            </a:pPr>
            <a:r>
              <a:rPr sz="1300" b="1"/>
              <a:t>RGPD art. 22</a:t>
            </a:r>
            <a:r>
              <a:rPr sz="1300"/>
              <a:t>: derecho a no ser objeto de decisiones solo automatizadas. Firmar sin revisar no es intervención humana (TJUE, SCHUFA).</a:t>
            </a:r>
          </a:p>
          <a:p>
            <a:pPr>
              <a:lnSpc>
                <a:spcPct val="130000"/>
              </a:lnSpc>
              <a:spcAft>
                <a:spcPts val="500"/>
              </a:spcAft>
              <a:buClr>
                <a:srgbClr val="FF1414"/>
              </a:buClr>
              <a:buFont typeface="Arial"/>
              <a:buChar char="►"/>
            </a:pPr>
            <a:r>
              <a:rPr sz="1300" b="1"/>
              <a:t>RGPD art. 15</a:t>
            </a:r>
            <a:r>
              <a:rPr sz="1300"/>
              <a:t>: derecho a una explicación con sentido de la lógica aplicada (TJUE, Dun &amp; Bradstreet).</a:t>
            </a:r>
          </a:p>
          <a:p>
            <a:pPr>
              <a:lnSpc>
                <a:spcPct val="130000"/>
              </a:lnSpc>
              <a:spcAft>
                <a:spcPts val="500"/>
              </a:spcAft>
              <a:buClr>
                <a:srgbClr val="FF1414"/>
              </a:buClr>
              <a:buFont typeface="Arial"/>
              <a:buChar char="►"/>
            </a:pPr>
            <a:r>
              <a:rPr sz="1300" b="1"/>
              <a:t>DORA y NIS2</a:t>
            </a:r>
            <a:r>
              <a:rPr sz="1300"/>
              <a:t>: el proveedor del modelo es un tercero crítico.</a:t>
            </a:r>
          </a:p>
          <a:p>
            <a:pPr>
              <a:lnSpc>
                <a:spcPct val="130000"/>
              </a:lnSpc>
              <a:spcAft>
                <a:spcPts val="500"/>
              </a:spcAft>
              <a:buClr>
                <a:srgbClr val="FF1414"/>
              </a:buClr>
              <a:buFont typeface="Arial"/>
              <a:buChar char="►"/>
            </a:pPr>
            <a:r>
              <a:rPr sz="1300" b="1"/>
              <a:t>Supervisores sectoriales</a:t>
            </a:r>
            <a:r>
              <a:rPr sz="1300"/>
              <a:t>: por ejemplo, EIOPA en seguros (agosto de 2025).</a:t>
            </a:r>
          </a:p>
        </p:txBody>
      </p:sp>
      <p:sp>
        <p:nvSpPr>
          <p:cNvPr id="5" name="Content Placeholder 4"/>
          <p:cNvSpPr>
            <a:spLocks noGrp="1"/>
          </p:cNvSpPr>
          <p:nvPr>
            <p:ph idx="11"/>
          </p:nvPr>
        </p:nvSpPr>
        <p:spPr>
          <a:xfrm>
            <a:off x="4349496" y="1399032"/>
            <a:ext cx="3499103" cy="4864607"/>
          </a:xfrm>
        </p:spPr>
        <p:txBody>
          <a:bodyPr anchor="t">
            <a:noAutofit/>
          </a:bodyPr>
          <a:lstStyle/>
          <a:p>
            <a:pPr marL="0" indent="0">
              <a:lnSpc>
                <a:spcPct val="120000"/>
              </a:lnSpc>
              <a:spcBef>
                <a:spcPts val="400"/>
              </a:spcBef>
              <a:spcAft>
                <a:spcPts val="500"/>
              </a:spcAft>
              <a:buNone/>
            </a:pPr>
            <a:r>
              <a:rPr sz="1500" b="1">
                <a:solidFill>
                  <a:srgbClr val="194BFF"/>
                </a:solidFill>
                <a:latin typeface="Montserrat"/>
              </a:rPr>
              <a:t>Lo que llega</a:t>
            </a:r>
          </a:p>
          <a:p>
            <a:pPr>
              <a:lnSpc>
                <a:spcPct val="130000"/>
              </a:lnSpc>
              <a:spcAft>
                <a:spcPts val="500"/>
              </a:spcAft>
              <a:buClr>
                <a:srgbClr val="FF1414"/>
              </a:buClr>
              <a:buFont typeface="Arial"/>
              <a:buChar char="►"/>
            </a:pPr>
            <a:r>
              <a:rPr sz="1300" b="1"/>
              <a:t>AI Act, alto riesgo</a:t>
            </a:r>
            <a:r>
              <a:rPr sz="1300"/>
              <a:t> (2/12/2027, Digital Omnibus): registro de eventos (art. 12), transparencia (art. 13), supervisión humana (art. 14) y robustez (art. 15).</a:t>
            </a:r>
          </a:p>
          <a:p>
            <a:pPr>
              <a:lnSpc>
                <a:spcPct val="130000"/>
              </a:lnSpc>
              <a:spcAft>
                <a:spcPts val="500"/>
              </a:spcAft>
              <a:buClr>
                <a:srgbClr val="FF1414"/>
              </a:buClr>
              <a:buFont typeface="Arial"/>
              <a:buChar char="►"/>
            </a:pPr>
            <a:r>
              <a:rPr sz="1300" b="1"/>
              <a:t>Ley española de IA</a:t>
            </a:r>
            <a:r>
              <a:rPr sz="1300"/>
              <a:t>: en tramitación, con AESIA como supervisora.</a:t>
            </a:r>
          </a:p>
          <a:p>
            <a:pPr>
              <a:lnSpc>
                <a:spcPct val="130000"/>
              </a:lnSpc>
              <a:spcAft>
                <a:spcPts val="500"/>
              </a:spcAft>
              <a:buClr>
                <a:srgbClr val="FF1414"/>
              </a:buClr>
              <a:buFont typeface="Arial"/>
              <a:buChar char="►"/>
            </a:pPr>
            <a:r>
              <a:rPr sz="1300" b="1"/>
              <a:t>Sanciones</a:t>
            </a:r>
            <a:r>
              <a:rPr sz="1300"/>
              <a:t>: hasta 35 M€ o el 7 % de la facturación global.</a:t>
            </a:r>
          </a:p>
        </p:txBody>
      </p:sp>
      <p:sp>
        <p:nvSpPr>
          <p:cNvPr id="6" name="Content Placeholder 5"/>
          <p:cNvSpPr>
            <a:spLocks noGrp="1"/>
          </p:cNvSpPr>
          <p:nvPr>
            <p:ph idx="12"/>
          </p:nvPr>
        </p:nvSpPr>
        <p:spPr>
          <a:xfrm>
            <a:off x="8214359" y="1399032"/>
            <a:ext cx="3499103" cy="4864607"/>
          </a:xfrm>
        </p:spPr>
        <p:txBody>
          <a:bodyPr anchor="t">
            <a:noAutofit/>
          </a:bodyPr>
          <a:lstStyle/>
          <a:p>
            <a:pPr marL="0" indent="0">
              <a:lnSpc>
                <a:spcPct val="120000"/>
              </a:lnSpc>
              <a:spcBef>
                <a:spcPts val="400"/>
              </a:spcBef>
              <a:spcAft>
                <a:spcPts val="500"/>
              </a:spcAft>
              <a:buNone/>
            </a:pPr>
            <a:r>
              <a:rPr sz="1500" b="1">
                <a:solidFill>
                  <a:srgbClr val="194BFF"/>
                </a:solidFill>
                <a:latin typeface="Montserrat"/>
              </a:rPr>
              <a:t>Estándares de referencia</a:t>
            </a:r>
          </a:p>
          <a:p>
            <a:pPr>
              <a:lnSpc>
                <a:spcPct val="130000"/>
              </a:lnSpc>
              <a:spcAft>
                <a:spcPts val="500"/>
              </a:spcAft>
              <a:buClr>
                <a:srgbClr val="FF1414"/>
              </a:buClr>
              <a:buFont typeface="Arial"/>
              <a:buChar char="►"/>
            </a:pPr>
            <a:r>
              <a:rPr sz="1300" b="1"/>
              <a:t>ISO/IEC 42001</a:t>
            </a:r>
            <a:r>
              <a:rPr sz="1300"/>
              <a:t>: sistema de gestión de IA.</a:t>
            </a:r>
          </a:p>
          <a:p>
            <a:pPr>
              <a:lnSpc>
                <a:spcPct val="130000"/>
              </a:lnSpc>
              <a:spcAft>
                <a:spcPts val="500"/>
              </a:spcAft>
              <a:buClr>
                <a:srgbClr val="FF1414"/>
              </a:buClr>
              <a:buFont typeface="Arial"/>
              <a:buChar char="►"/>
            </a:pPr>
            <a:r>
              <a:rPr sz="1300" b="1"/>
              <a:t>NIST AI RMF</a:t>
            </a:r>
            <a:r>
              <a:rPr sz="1300"/>
              <a:t>: marco de gestión del riesgo de IA.</a:t>
            </a:r>
          </a:p>
        </p:txBody>
      </p:sp>
      <p:sp>
        <p:nvSpPr>
          <p:cNvPr id="7" name="Slide Number Placeholder 5">
            <a:extLst>
              <a:ext uri="{FF2B5EF4-FFF2-40B4-BE49-F238E27FC236}">
                <a16:creationId xmlns:a16="http://schemas.microsoft.com/office/drawing/2014/main" id="{AA9AF041-7FE4-8E72-16FA-B7B093756FED}"/>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x_photo_divider.png"/>
          <p:cNvPicPr>
            <a:picLocks noChangeAspect="1"/>
          </p:cNvPicPr>
          <p:nvPr/>
        </p:nvPicPr>
        <p:blipFill>
          <a:blip r:embed="rId2"/>
          <a:stretch>
            <a:fillRect/>
          </a:stretch>
        </p:blipFill>
        <p:spPr>
          <a:xfrm>
            <a:off x="502920" y="566928"/>
            <a:ext cx="6035040" cy="5683392"/>
          </a:xfrm>
          <a:prstGeom prst="rect">
            <a:avLst/>
          </a:prstGeom>
        </p:spPr>
      </p:pic>
      <p:sp>
        <p:nvSpPr>
          <p:cNvPr id="3" name="NUM"/>
          <p:cNvSpPr txBox="1"/>
          <p:nvPr/>
        </p:nvSpPr>
        <p:spPr>
          <a:xfrm>
            <a:off x="6720840" y="2331720"/>
            <a:ext cx="566928" cy="329184"/>
          </a:xfrm>
          <a:prstGeom prst="rect">
            <a:avLst/>
          </a:prstGeom>
          <a:solidFill>
            <a:srgbClr val="194BFF"/>
          </a:solidFill>
        </p:spPr>
        <p:txBody>
          <a:bodyPr wrap="none" anchor="ctr" lIns="72000" rIns="72000" tIns="36000" bIns="36000">
            <a:noAutofit/>
          </a:bodyPr>
          <a:lstStyle/>
          <a:p>
            <a:r>
              <a:rPr sz="1400" b="0">
                <a:solidFill>
                  <a:srgbClr val="FFFFFF"/>
                </a:solidFill>
                <a:latin typeface="Roboto Slab"/>
              </a:rPr>
              <a:t>04</a:t>
            </a:r>
          </a:p>
        </p:txBody>
      </p:sp>
      <p:sp>
        <p:nvSpPr>
          <p:cNvPr id="4" name="REDTITLE"/>
          <p:cNvSpPr txBox="1"/>
          <p:nvPr/>
        </p:nvSpPr>
        <p:spPr>
          <a:xfrm>
            <a:off x="6720840" y="2788920"/>
            <a:ext cx="2691638" cy="546608"/>
          </a:xfrm>
          <a:prstGeom prst="rect">
            <a:avLst/>
          </a:prstGeom>
          <a:solidFill>
            <a:srgbClr val="FF1414"/>
          </a:solidFill>
        </p:spPr>
        <p:txBody>
          <a:bodyPr wrap="none" anchor="ctr" lIns="72000" rIns="72000" tIns="36000" bIns="36000">
            <a:noAutofit/>
          </a:bodyPr>
          <a:lstStyle/>
          <a:p>
            <a:r>
              <a:rPr sz="3200" b="0">
                <a:solidFill>
                  <a:srgbClr val="FFFFFF"/>
                </a:solidFill>
                <a:latin typeface="Roboto Slab"/>
              </a:rPr>
              <a:t>Capacidades</a:t>
            </a:r>
          </a:p>
        </p:txBody>
      </p:sp>
      <p:sp>
        <p:nvSpPr>
          <p:cNvPr id="5" name="TextBox 4"/>
          <p:cNvSpPr txBox="1"/>
          <p:nvPr/>
        </p:nvSpPr>
        <p:spPr>
          <a:xfrm>
            <a:off x="6720840" y="3609848"/>
            <a:ext cx="5120640" cy="1097280"/>
          </a:xfrm>
          <a:prstGeom prst="rect">
            <a:avLst/>
          </a:prstGeom>
          <a:noFill/>
        </p:spPr>
        <p:txBody>
          <a:bodyPr wrap="square" lIns="45720" rIns="45720" tIns="27432" bIns="27432" anchor="t">
            <a:noAutofit/>
          </a:bodyPr>
          <a:lstStyle/>
          <a:p>
            <a:pPr>
              <a:lnSpc>
                <a:spcPct val="130000"/>
              </a:lnSpc>
              <a:spcAft>
                <a:spcPts val="0"/>
              </a:spcAft>
            </a:pPr>
            <a:r>
              <a:rPr sz="1400">
                <a:solidFill>
                  <a:srgbClr val="FFFFFF"/>
                </a:solidFill>
                <a:latin typeface="Montserrat Medium"/>
              </a:rPr>
              <a:t>Ver, entender, limitar, pagar y auditar.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2487168" cy="429768"/>
          </a:xfrm>
        </p:spPr>
        <p:txBody>
          <a:bodyPr wrap="none"/>
          <a:lstStyle/>
          <a:p>
            <a:r>
              <a:rPr sz="2600"/>
              <a:t>Qué buscamos</a:t>
            </a:r>
          </a:p>
        </p:txBody>
      </p:sp>
      <p:sp>
        <p:nvSpPr>
          <p:cNvPr id="5" name="Slide Number Placeholder 5">
            <a:extLst>
              <a:ext uri="{FF2B5EF4-FFF2-40B4-BE49-F238E27FC236}">
                <a16:creationId xmlns:a16="http://schemas.microsoft.com/office/drawing/2014/main" id="{1CC3A131-478F-7358-5149-4495B2461525}"/>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
        <p:nvSpPr>
          <p:cNvPr id="6" name="TextBox 5"/>
          <p:cNvSpPr txBox="1"/>
          <p:nvPr/>
        </p:nvSpPr>
        <p:spPr>
          <a:xfrm>
            <a:off x="484632" y="1307592"/>
            <a:ext cx="11228832" cy="347472"/>
          </a:xfrm>
          <a:prstGeom prst="rect">
            <a:avLst/>
          </a:prstGeom>
          <a:noFill/>
        </p:spPr>
        <p:txBody>
          <a:bodyPr wrap="square" lIns="45720" rIns="45720" tIns="27432" bIns="27432" anchor="t">
            <a:noAutofit/>
          </a:bodyPr>
          <a:lstStyle/>
          <a:p>
            <a:pPr>
              <a:lnSpc>
                <a:spcPct val="120000"/>
              </a:lnSpc>
              <a:spcAft>
                <a:spcPts val="0"/>
              </a:spcAft>
            </a:pPr>
            <a:r>
              <a:rPr sz="1600" b="1">
                <a:solidFill>
                  <a:srgbClr val="194BFF"/>
                </a:solidFill>
                <a:latin typeface="Montserrat"/>
              </a:rPr>
              <a:t>No se trata de desplegar un agente, sino de industrializar su operación.</a:t>
            </a:r>
          </a:p>
        </p:txBody>
      </p:sp>
      <p:sp>
        <p:nvSpPr>
          <p:cNvPr id="3" name="Freeform 2"/>
          <p:cNvSpPr/>
          <p:nvPr/>
        </p:nvSpPr>
        <p:spPr>
          <a:xfrm>
            <a:off x="1013594" y="2884932"/>
            <a:ext cx="1187841" cy="1371600"/>
          </a:xfrm>
          <a:custGeom>
            <a:avLst/>
            <a:gdLst/>
            <a:ahLst/>
            <a:cxnLst/>
            <a:rect l="l" t="t" r="r" b="b"/>
            <a:pathLst>
              <a:path w="1187841" h="1371600">
                <a:moveTo>
                  <a:pt x="593921" y="0"/>
                </a:moveTo>
                <a:lnTo>
                  <a:pt x="1187841" y="342900"/>
                </a:lnTo>
                <a:lnTo>
                  <a:pt x="1187841" y="1028700"/>
                </a:lnTo>
                <a:lnTo>
                  <a:pt x="593921" y="1371600"/>
                </a:lnTo>
                <a:lnTo>
                  <a:pt x="0" y="1028700"/>
                </a:lnTo>
                <a:lnTo>
                  <a:pt x="0" y="342900"/>
                </a:lnTo>
                <a:close/>
              </a:path>
            </a:pathLst>
          </a:cu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1715" y="3296412"/>
            <a:ext cx="1371600" cy="548640"/>
          </a:xfrm>
          <a:prstGeom prst="rect">
            <a:avLst/>
          </a:prstGeom>
          <a:noFill/>
        </p:spPr>
        <p:txBody>
          <a:bodyPr wrap="none" lIns="0" rIns="0" tIns="0" bIns="0" anchor="ctr">
            <a:noAutofit/>
          </a:bodyPr>
          <a:lstStyle/>
          <a:p>
            <a:pPr algn="ctr"/>
            <a:r>
              <a:rPr sz="2200">
                <a:solidFill>
                  <a:srgbClr val="FFFFFF"/>
                </a:solidFill>
                <a:latin typeface="Roboto Slab"/>
              </a:rPr>
              <a:t>01</a:t>
            </a:r>
          </a:p>
        </p:txBody>
      </p:sp>
      <p:sp>
        <p:nvSpPr>
          <p:cNvPr id="8" name="TextBox 7"/>
          <p:cNvSpPr txBox="1"/>
          <p:nvPr/>
        </p:nvSpPr>
        <p:spPr>
          <a:xfrm>
            <a:off x="576072" y="4439412"/>
            <a:ext cx="2062886" cy="1824227"/>
          </a:xfrm>
          <a:prstGeom prst="rect">
            <a:avLst/>
          </a:prstGeom>
          <a:noFill/>
        </p:spPr>
        <p:txBody>
          <a:bodyPr wrap="square" lIns="45720" rIns="45720" tIns="27432" bIns="27432" anchor="t">
            <a:noAutofit/>
          </a:bodyPr>
          <a:lstStyle/>
          <a:p>
            <a:pPr algn="ctr">
              <a:lnSpc>
                <a:spcPct val="115000"/>
              </a:lnSpc>
              <a:spcAft>
                <a:spcPts val="600"/>
              </a:spcAft>
            </a:pPr>
            <a:r>
              <a:rPr sz="1400" b="1">
                <a:solidFill>
                  <a:srgbClr val="194BFF"/>
                </a:solidFill>
                <a:latin typeface="Montserrat"/>
              </a:rPr>
              <a:t>Fiable</a:t>
            </a:r>
          </a:p>
          <a:p>
            <a:pPr algn="ctr">
              <a:lnSpc>
                <a:spcPct val="130000"/>
              </a:lnSpc>
              <a:spcAft>
                <a:spcPts val="0"/>
              </a:spcAft>
            </a:pPr>
            <a:r>
              <a:rPr sz="1200">
                <a:solidFill>
                  <a:srgbClr val="595959"/>
                </a:solidFill>
                <a:latin typeface="Montserrat Medium"/>
              </a:rPr>
              <a:t>estable y con el rendimiento esperado.</a:t>
            </a:r>
          </a:p>
        </p:txBody>
      </p:sp>
      <p:sp>
        <p:nvSpPr>
          <p:cNvPr id="4" name="Freeform 3"/>
          <p:cNvSpPr/>
          <p:nvPr/>
        </p:nvSpPr>
        <p:spPr>
          <a:xfrm>
            <a:off x="3259361" y="2884932"/>
            <a:ext cx="1187840" cy="1371600"/>
          </a:xfrm>
          <a:custGeom>
            <a:avLst/>
            <a:gdLst/>
            <a:ahLst/>
            <a:cxnLst/>
            <a:rect l="l" t="t" r="r" b="b"/>
            <a:pathLst>
              <a:path w="1187840" h="1371600">
                <a:moveTo>
                  <a:pt x="593920" y="0"/>
                </a:moveTo>
                <a:lnTo>
                  <a:pt x="1187840" y="342900"/>
                </a:lnTo>
                <a:lnTo>
                  <a:pt x="1187840" y="1028700"/>
                </a:lnTo>
                <a:lnTo>
                  <a:pt x="593920" y="1371600"/>
                </a:lnTo>
                <a:lnTo>
                  <a:pt x="0" y="1028700"/>
                </a:lnTo>
                <a:lnTo>
                  <a:pt x="0" y="342900"/>
                </a:lnTo>
                <a:close/>
              </a:path>
            </a:pathLst>
          </a:custGeom>
          <a:solidFill>
            <a:srgbClr val="0A2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7481" y="3296412"/>
            <a:ext cx="1371600" cy="548640"/>
          </a:xfrm>
          <a:prstGeom prst="rect">
            <a:avLst/>
          </a:prstGeom>
          <a:noFill/>
        </p:spPr>
        <p:txBody>
          <a:bodyPr wrap="none" lIns="0" rIns="0" tIns="0" bIns="0" anchor="ctr">
            <a:noAutofit/>
          </a:bodyPr>
          <a:lstStyle/>
          <a:p>
            <a:pPr algn="ctr"/>
            <a:r>
              <a:rPr sz="2200">
                <a:solidFill>
                  <a:srgbClr val="FFFFFF"/>
                </a:solidFill>
                <a:latin typeface="Roboto Slab"/>
              </a:rPr>
              <a:t>02</a:t>
            </a:r>
          </a:p>
        </p:txBody>
      </p:sp>
      <p:sp>
        <p:nvSpPr>
          <p:cNvPr id="10" name="TextBox 9"/>
          <p:cNvSpPr txBox="1"/>
          <p:nvPr/>
        </p:nvSpPr>
        <p:spPr>
          <a:xfrm>
            <a:off x="2821838" y="4439412"/>
            <a:ext cx="2062886" cy="1824227"/>
          </a:xfrm>
          <a:prstGeom prst="rect">
            <a:avLst/>
          </a:prstGeom>
          <a:noFill/>
        </p:spPr>
        <p:txBody>
          <a:bodyPr wrap="square" lIns="45720" rIns="45720" tIns="27432" bIns="27432" anchor="t">
            <a:noAutofit/>
          </a:bodyPr>
          <a:lstStyle/>
          <a:p>
            <a:pPr algn="ctr">
              <a:lnSpc>
                <a:spcPct val="115000"/>
              </a:lnSpc>
              <a:spcAft>
                <a:spcPts val="600"/>
              </a:spcAft>
            </a:pPr>
            <a:r>
              <a:rPr sz="1400" b="1">
                <a:solidFill>
                  <a:srgbClr val="194BFF"/>
                </a:solidFill>
                <a:latin typeface="Montserrat"/>
              </a:rPr>
              <a:t>Medible</a:t>
            </a:r>
          </a:p>
          <a:p>
            <a:pPr algn="ctr">
              <a:lnSpc>
                <a:spcPct val="130000"/>
              </a:lnSpc>
              <a:spcAft>
                <a:spcPts val="0"/>
              </a:spcAft>
            </a:pPr>
            <a:r>
              <a:rPr sz="1200">
                <a:solidFill>
                  <a:srgbClr val="595959"/>
                </a:solidFill>
                <a:latin typeface="Montserrat Medium"/>
              </a:rPr>
              <a:t>con su impacto real en el negocio cuantificado.</a:t>
            </a:r>
          </a:p>
        </p:txBody>
      </p:sp>
      <p:sp>
        <p:nvSpPr>
          <p:cNvPr id="11" name="Freeform 10"/>
          <p:cNvSpPr/>
          <p:nvPr/>
        </p:nvSpPr>
        <p:spPr>
          <a:xfrm>
            <a:off x="5505127" y="2884932"/>
            <a:ext cx="1187841" cy="1371600"/>
          </a:xfrm>
          <a:custGeom>
            <a:avLst/>
            <a:gdLst/>
            <a:ahLst/>
            <a:cxnLst/>
            <a:rect l="l" t="t" r="r" b="b"/>
            <a:pathLst>
              <a:path w="1187841" h="1371600">
                <a:moveTo>
                  <a:pt x="593921" y="0"/>
                </a:moveTo>
                <a:lnTo>
                  <a:pt x="1187841" y="342900"/>
                </a:lnTo>
                <a:lnTo>
                  <a:pt x="1187841" y="1028700"/>
                </a:lnTo>
                <a:lnTo>
                  <a:pt x="593921" y="1371600"/>
                </a:lnTo>
                <a:lnTo>
                  <a:pt x="0" y="1028700"/>
                </a:lnTo>
                <a:lnTo>
                  <a:pt x="0" y="342900"/>
                </a:lnTo>
                <a:close/>
              </a:path>
            </a:pathLst>
          </a:cu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13248" y="3296412"/>
            <a:ext cx="1371600" cy="548640"/>
          </a:xfrm>
          <a:prstGeom prst="rect">
            <a:avLst/>
          </a:prstGeom>
          <a:noFill/>
        </p:spPr>
        <p:txBody>
          <a:bodyPr wrap="none" lIns="0" rIns="0" tIns="0" bIns="0" anchor="ctr">
            <a:noAutofit/>
          </a:bodyPr>
          <a:lstStyle/>
          <a:p>
            <a:pPr algn="ctr"/>
            <a:r>
              <a:rPr sz="2200">
                <a:solidFill>
                  <a:srgbClr val="FFFFFF"/>
                </a:solidFill>
                <a:latin typeface="Roboto Slab"/>
              </a:rPr>
              <a:t>03</a:t>
            </a:r>
          </a:p>
        </p:txBody>
      </p:sp>
      <p:sp>
        <p:nvSpPr>
          <p:cNvPr id="13" name="TextBox 12"/>
          <p:cNvSpPr txBox="1"/>
          <p:nvPr/>
        </p:nvSpPr>
        <p:spPr>
          <a:xfrm>
            <a:off x="5067604" y="4439412"/>
            <a:ext cx="2062886" cy="1824227"/>
          </a:xfrm>
          <a:prstGeom prst="rect">
            <a:avLst/>
          </a:prstGeom>
          <a:noFill/>
        </p:spPr>
        <p:txBody>
          <a:bodyPr wrap="square" lIns="45720" rIns="45720" tIns="27432" bIns="27432" anchor="t">
            <a:noAutofit/>
          </a:bodyPr>
          <a:lstStyle/>
          <a:p>
            <a:pPr algn="ctr">
              <a:lnSpc>
                <a:spcPct val="115000"/>
              </a:lnSpc>
              <a:spcAft>
                <a:spcPts val="600"/>
              </a:spcAft>
            </a:pPr>
            <a:r>
              <a:rPr sz="1400" b="1">
                <a:solidFill>
                  <a:srgbClr val="194BFF"/>
                </a:solidFill>
                <a:latin typeface="Montserrat"/>
              </a:rPr>
              <a:t>Auditable</a:t>
            </a:r>
          </a:p>
          <a:p>
            <a:pPr algn="ctr">
              <a:lnSpc>
                <a:spcPct val="130000"/>
              </a:lnSpc>
              <a:spcAft>
                <a:spcPts val="0"/>
              </a:spcAft>
            </a:pPr>
            <a:r>
              <a:rPr sz="1200">
                <a:solidFill>
                  <a:srgbClr val="595959"/>
                </a:solidFill>
                <a:latin typeface="Montserrat Medium"/>
              </a:rPr>
              <a:t>cualquier decisión se puede reconstruir y justificar.</a:t>
            </a:r>
          </a:p>
        </p:txBody>
      </p:sp>
      <p:sp>
        <p:nvSpPr>
          <p:cNvPr id="14" name="Freeform 13"/>
          <p:cNvSpPr/>
          <p:nvPr/>
        </p:nvSpPr>
        <p:spPr>
          <a:xfrm>
            <a:off x="7750894" y="2884932"/>
            <a:ext cx="1187840" cy="1371600"/>
          </a:xfrm>
          <a:custGeom>
            <a:avLst/>
            <a:gdLst/>
            <a:ahLst/>
            <a:cxnLst/>
            <a:rect l="l" t="t" r="r" b="b"/>
            <a:pathLst>
              <a:path w="1187840" h="1371600">
                <a:moveTo>
                  <a:pt x="593920" y="0"/>
                </a:moveTo>
                <a:lnTo>
                  <a:pt x="1187840" y="342900"/>
                </a:lnTo>
                <a:lnTo>
                  <a:pt x="1187840" y="1028700"/>
                </a:lnTo>
                <a:lnTo>
                  <a:pt x="593920" y="1371600"/>
                </a:lnTo>
                <a:lnTo>
                  <a:pt x="0" y="1028700"/>
                </a:lnTo>
                <a:lnTo>
                  <a:pt x="0" y="342900"/>
                </a:lnTo>
                <a:close/>
              </a:path>
            </a:pathLst>
          </a:custGeom>
          <a:solidFill>
            <a:srgbClr val="0A2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59014" y="3296412"/>
            <a:ext cx="1371600" cy="548640"/>
          </a:xfrm>
          <a:prstGeom prst="rect">
            <a:avLst/>
          </a:prstGeom>
          <a:noFill/>
        </p:spPr>
        <p:txBody>
          <a:bodyPr wrap="none" lIns="0" rIns="0" tIns="0" bIns="0" anchor="ctr">
            <a:noAutofit/>
          </a:bodyPr>
          <a:lstStyle/>
          <a:p>
            <a:pPr algn="ctr"/>
            <a:r>
              <a:rPr sz="2200">
                <a:solidFill>
                  <a:srgbClr val="FFFFFF"/>
                </a:solidFill>
                <a:latin typeface="Roboto Slab"/>
              </a:rPr>
              <a:t>04</a:t>
            </a:r>
          </a:p>
        </p:txBody>
      </p:sp>
      <p:sp>
        <p:nvSpPr>
          <p:cNvPr id="16" name="TextBox 15"/>
          <p:cNvSpPr txBox="1"/>
          <p:nvPr/>
        </p:nvSpPr>
        <p:spPr>
          <a:xfrm>
            <a:off x="7313371" y="4439412"/>
            <a:ext cx="2062886" cy="1824227"/>
          </a:xfrm>
          <a:prstGeom prst="rect">
            <a:avLst/>
          </a:prstGeom>
          <a:noFill/>
        </p:spPr>
        <p:txBody>
          <a:bodyPr wrap="square" lIns="45720" rIns="45720" tIns="27432" bIns="27432" anchor="t">
            <a:noAutofit/>
          </a:bodyPr>
          <a:lstStyle/>
          <a:p>
            <a:pPr algn="ctr">
              <a:lnSpc>
                <a:spcPct val="115000"/>
              </a:lnSpc>
              <a:spcAft>
                <a:spcPts val="600"/>
              </a:spcAft>
            </a:pPr>
            <a:r>
              <a:rPr sz="1400" b="1">
                <a:solidFill>
                  <a:srgbClr val="194BFF"/>
                </a:solidFill>
                <a:latin typeface="Montserrat"/>
              </a:rPr>
              <a:t>Gobernable</a:t>
            </a:r>
          </a:p>
          <a:p>
            <a:pPr algn="ctr">
              <a:lnSpc>
                <a:spcPct val="130000"/>
              </a:lnSpc>
              <a:spcAft>
                <a:spcPts val="0"/>
              </a:spcAft>
            </a:pPr>
            <a:r>
              <a:rPr sz="1200">
                <a:solidFill>
                  <a:srgbClr val="595959"/>
                </a:solidFill>
                <a:latin typeface="Montserrat Medium"/>
              </a:rPr>
              <a:t>se controla su evolución, su autonomía y su comportamiento.</a:t>
            </a:r>
          </a:p>
        </p:txBody>
      </p:sp>
      <p:sp>
        <p:nvSpPr>
          <p:cNvPr id="17" name="Freeform 16"/>
          <p:cNvSpPr/>
          <p:nvPr/>
        </p:nvSpPr>
        <p:spPr>
          <a:xfrm>
            <a:off x="9996660" y="2884932"/>
            <a:ext cx="1187841" cy="1371600"/>
          </a:xfrm>
          <a:custGeom>
            <a:avLst/>
            <a:gdLst/>
            <a:ahLst/>
            <a:cxnLst/>
            <a:rect l="l" t="t" r="r" b="b"/>
            <a:pathLst>
              <a:path w="1187841" h="1371600">
                <a:moveTo>
                  <a:pt x="593920" y="0"/>
                </a:moveTo>
                <a:lnTo>
                  <a:pt x="1187841" y="342900"/>
                </a:lnTo>
                <a:lnTo>
                  <a:pt x="1187841" y="1028700"/>
                </a:lnTo>
                <a:lnTo>
                  <a:pt x="593920" y="1371600"/>
                </a:lnTo>
                <a:lnTo>
                  <a:pt x="0" y="1028700"/>
                </a:lnTo>
                <a:lnTo>
                  <a:pt x="0" y="342900"/>
                </a:lnTo>
                <a:close/>
              </a:path>
            </a:pathLst>
          </a:cu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04780" y="3296412"/>
            <a:ext cx="1371600" cy="548640"/>
          </a:xfrm>
          <a:prstGeom prst="rect">
            <a:avLst/>
          </a:prstGeom>
          <a:noFill/>
        </p:spPr>
        <p:txBody>
          <a:bodyPr wrap="none" lIns="0" rIns="0" tIns="0" bIns="0" anchor="ctr">
            <a:noAutofit/>
          </a:bodyPr>
          <a:lstStyle/>
          <a:p>
            <a:pPr algn="ctr"/>
            <a:r>
              <a:rPr sz="2200">
                <a:solidFill>
                  <a:srgbClr val="FFFFFF"/>
                </a:solidFill>
                <a:latin typeface="Roboto Slab"/>
              </a:rPr>
              <a:t>05</a:t>
            </a:r>
          </a:p>
        </p:txBody>
      </p:sp>
      <p:sp>
        <p:nvSpPr>
          <p:cNvPr id="19" name="TextBox 18"/>
          <p:cNvSpPr txBox="1"/>
          <p:nvPr/>
        </p:nvSpPr>
        <p:spPr>
          <a:xfrm>
            <a:off x="9559137" y="4439412"/>
            <a:ext cx="2062886" cy="1824227"/>
          </a:xfrm>
          <a:prstGeom prst="rect">
            <a:avLst/>
          </a:prstGeom>
          <a:noFill/>
        </p:spPr>
        <p:txBody>
          <a:bodyPr wrap="square" lIns="45720" rIns="45720" tIns="27432" bIns="27432" anchor="t">
            <a:noAutofit/>
          </a:bodyPr>
          <a:lstStyle/>
          <a:p>
            <a:pPr algn="ctr">
              <a:lnSpc>
                <a:spcPct val="115000"/>
              </a:lnSpc>
              <a:spcAft>
                <a:spcPts val="600"/>
              </a:spcAft>
            </a:pPr>
            <a:r>
              <a:rPr sz="1400" b="1">
                <a:solidFill>
                  <a:srgbClr val="194BFF"/>
                </a:solidFill>
                <a:latin typeface="Montserrat"/>
              </a:rPr>
              <a:t>Evolutiva</a:t>
            </a:r>
          </a:p>
          <a:p>
            <a:pPr algn="ctr">
              <a:lnSpc>
                <a:spcPct val="130000"/>
              </a:lnSpc>
              <a:spcAft>
                <a:spcPts val="0"/>
              </a:spcAft>
            </a:pPr>
            <a:r>
              <a:rPr sz="1200">
                <a:solidFill>
                  <a:srgbClr val="595959"/>
                </a:solidFill>
                <a:latin typeface="Montserrat Medium"/>
              </a:rPr>
              <a:t>mejora de forma continua a partir de evidencia.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4324858" cy="429768"/>
          </a:xfrm>
        </p:spPr>
        <p:txBody>
          <a:bodyPr wrap="none"/>
          <a:lstStyle/>
          <a:p>
            <a:r>
              <a:rPr sz="2600"/>
              <a:t>Arquitectura de referencia</a:t>
            </a:r>
          </a:p>
        </p:txBody>
      </p:sp>
      <p:sp>
        <p:nvSpPr>
          <p:cNvPr id="3" name="Content Placeholder 2"/>
          <p:cNvSpPr>
            <a:spLocks noGrp="1"/>
          </p:cNvSpPr>
          <p:nvPr>
            <p:ph idx="1"/>
          </p:nvPr>
        </p:nvSpPr>
        <p:spPr>
          <a:xfrm>
            <a:off x="484632" y="1932432"/>
            <a:ext cx="3499103" cy="4331208"/>
          </a:xfrm>
        </p:spPr>
        <p:txBody>
          <a:bodyPr anchor="t">
            <a:noAutofit/>
          </a:bodyPr>
          <a:lstStyle/>
          <a:p>
            <a:pPr marL="0" indent="0">
              <a:lnSpc>
                <a:spcPct val="120000"/>
              </a:lnSpc>
              <a:spcBef>
                <a:spcPts val="400"/>
              </a:spcBef>
              <a:spcAft>
                <a:spcPts val="1000"/>
              </a:spcAft>
              <a:buNone/>
            </a:pPr>
            <a:r>
              <a:rPr sz="2000" b="1">
                <a:solidFill>
                  <a:srgbClr val="194BFF"/>
                </a:solidFill>
                <a:latin typeface="Montserrat"/>
              </a:rPr>
              <a:t>Agentes especializados</a:t>
            </a:r>
          </a:p>
          <a:p>
            <a:pPr>
              <a:lnSpc>
                <a:spcPct val="140000"/>
              </a:lnSpc>
              <a:spcAft>
                <a:spcPts val="1000"/>
              </a:spcAft>
              <a:buClr>
                <a:srgbClr val="FF1414"/>
              </a:buClr>
              <a:buFont typeface="Arial"/>
              <a:buChar char="►"/>
            </a:pPr>
            <a:r>
              <a:rPr sz="1800"/>
              <a:t>Una sola función por agente, con su modelo, su prompt y sus límites.</a:t>
            </a:r>
          </a:p>
          <a:p>
            <a:pPr>
              <a:lnSpc>
                <a:spcPct val="140000"/>
              </a:lnSpc>
              <a:spcAft>
                <a:spcPts val="1000"/>
              </a:spcAft>
              <a:buClr>
                <a:srgbClr val="FF1414"/>
              </a:buClr>
              <a:buFont typeface="Arial"/>
              <a:buChar char="►"/>
            </a:pPr>
            <a:r>
              <a:rPr sz="1800"/>
              <a:t>Ejemplo en seguros: recepción multicanal → clasificación → extracción → reglas de negocio.</a:t>
            </a:r>
          </a:p>
        </p:txBody>
      </p:sp>
      <p:sp>
        <p:nvSpPr>
          <p:cNvPr id="4" name="Content Placeholder 3"/>
          <p:cNvSpPr>
            <a:spLocks noGrp="1"/>
          </p:cNvSpPr>
          <p:nvPr>
            <p:ph idx="10"/>
          </p:nvPr>
        </p:nvSpPr>
        <p:spPr>
          <a:xfrm>
            <a:off x="484632" y="1307592"/>
            <a:ext cx="11228832" cy="396240"/>
          </a:xfrm>
        </p:spPr>
        <p:txBody>
          <a:bodyPr anchor="t">
            <a:noAutofit/>
          </a:bodyPr>
          <a:lstStyle/>
          <a:p>
            <a:r>
              <a:t>No es una IA que lo hace todo: son especialistas con límites claros sobre una capa de gobierno común.</a:t>
            </a:r>
          </a:p>
        </p:txBody>
      </p:sp>
      <p:sp>
        <p:nvSpPr>
          <p:cNvPr id="5" name="Content Placeholder 4"/>
          <p:cNvSpPr>
            <a:spLocks noGrp="1"/>
          </p:cNvSpPr>
          <p:nvPr>
            <p:ph idx="11"/>
          </p:nvPr>
        </p:nvSpPr>
        <p:spPr>
          <a:xfrm>
            <a:off x="4349496" y="1932432"/>
            <a:ext cx="3499103" cy="4331208"/>
          </a:xfrm>
        </p:spPr>
        <p:txBody>
          <a:bodyPr anchor="t">
            <a:noAutofit/>
          </a:bodyPr>
          <a:lstStyle/>
          <a:p>
            <a:pPr marL="0" indent="0">
              <a:lnSpc>
                <a:spcPct val="120000"/>
              </a:lnSpc>
              <a:spcBef>
                <a:spcPts val="400"/>
              </a:spcBef>
              <a:spcAft>
                <a:spcPts val="1000"/>
              </a:spcAft>
              <a:buNone/>
            </a:pPr>
            <a:r>
              <a:rPr sz="2000" b="1">
                <a:solidFill>
                  <a:srgbClr val="194BFF"/>
                </a:solidFill>
                <a:latin typeface="Montserrat"/>
              </a:rPr>
              <a:t>Capa de gobierno común</a:t>
            </a:r>
          </a:p>
          <a:p>
            <a:pPr>
              <a:lnSpc>
                <a:spcPct val="140000"/>
              </a:lnSpc>
              <a:spcAft>
                <a:spcPts val="1000"/>
              </a:spcAft>
              <a:buClr>
                <a:srgbClr val="FF1414"/>
              </a:buClr>
              <a:buFont typeface="Arial"/>
              <a:buChar char="►"/>
            </a:pPr>
            <a:r>
              <a:rPr sz="1800"/>
              <a:t>Trazas, replay, autonomía, guardrails, FinOps e histórico.</a:t>
            </a:r>
          </a:p>
          <a:p>
            <a:pPr>
              <a:lnSpc>
                <a:spcPct val="140000"/>
              </a:lnSpc>
              <a:spcAft>
                <a:spcPts val="1000"/>
              </a:spcAft>
              <a:buClr>
                <a:srgbClr val="FF1414"/>
              </a:buClr>
              <a:buFont typeface="Arial"/>
              <a:buChar char="►"/>
            </a:pPr>
            <a:r>
              <a:rPr sz="1800"/>
              <a:t>Los mismos controles para todos los agentes, no uno por proyecto.</a:t>
            </a:r>
          </a:p>
        </p:txBody>
      </p:sp>
      <p:sp>
        <p:nvSpPr>
          <p:cNvPr id="6" name="Content Placeholder 5"/>
          <p:cNvSpPr>
            <a:spLocks noGrp="1"/>
          </p:cNvSpPr>
          <p:nvPr>
            <p:ph idx="12"/>
          </p:nvPr>
        </p:nvSpPr>
        <p:spPr>
          <a:xfrm>
            <a:off x="8214359" y="1932432"/>
            <a:ext cx="3499103" cy="4331208"/>
          </a:xfrm>
        </p:spPr>
        <p:txBody>
          <a:bodyPr anchor="t">
            <a:noAutofit/>
          </a:bodyPr>
          <a:lstStyle/>
          <a:p>
            <a:pPr marL="0" indent="0">
              <a:lnSpc>
                <a:spcPct val="120000"/>
              </a:lnSpc>
              <a:spcBef>
                <a:spcPts val="400"/>
              </a:spcBef>
              <a:spcAft>
                <a:spcPts val="1000"/>
              </a:spcAft>
              <a:buNone/>
            </a:pPr>
            <a:r>
              <a:rPr sz="2000" b="1">
                <a:solidFill>
                  <a:srgbClr val="194BFF"/>
                </a:solidFill>
                <a:latin typeface="Montserrat"/>
              </a:rPr>
              <a:t>Instrumentación estándar</a:t>
            </a:r>
          </a:p>
          <a:p>
            <a:pPr>
              <a:lnSpc>
                <a:spcPct val="140000"/>
              </a:lnSpc>
              <a:spcAft>
                <a:spcPts val="1000"/>
              </a:spcAft>
              <a:buClr>
                <a:srgbClr val="FF1414"/>
              </a:buClr>
              <a:buFont typeface="Arial"/>
              <a:buChar char="►"/>
            </a:pPr>
            <a:r>
              <a:rPr sz="1800"/>
              <a:t>OpenTelemetry genera trazas, métricas y logs.</a:t>
            </a:r>
          </a:p>
          <a:p>
            <a:pPr>
              <a:lnSpc>
                <a:spcPct val="140000"/>
              </a:lnSpc>
              <a:spcAft>
                <a:spcPts val="1000"/>
              </a:spcAft>
              <a:buClr>
                <a:srgbClr val="FF1414"/>
              </a:buClr>
              <a:buFont typeface="Arial"/>
              <a:buChar char="►"/>
            </a:pPr>
            <a:r>
              <a:rPr sz="1800"/>
              <a:t>Las herramientas de explotación (CloudWatch, Azure Monitor, Datadog, Langfuse…) consumen los datos: se cambian sin tocar el agente.</a:t>
            </a:r>
          </a:p>
        </p:txBody>
      </p:sp>
      <p:sp>
        <p:nvSpPr>
          <p:cNvPr id="7" name="Slide Number Placeholder 5">
            <a:extLst>
              <a:ext uri="{FF2B5EF4-FFF2-40B4-BE49-F238E27FC236}">
                <a16:creationId xmlns:a16="http://schemas.microsoft.com/office/drawing/2014/main" id="{AA9AF041-7FE4-8E72-16FA-B7B093756FED}"/>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4967477" cy="429768"/>
          </a:xfrm>
        </p:spPr>
        <p:txBody>
          <a:bodyPr wrap="none"/>
          <a:lstStyle/>
          <a:p>
            <a:r>
              <a:rPr sz="2600"/>
              <a:t>Tres niveles de observabilidad</a:t>
            </a:r>
          </a:p>
        </p:txBody>
      </p:sp>
      <p:sp>
        <p:nvSpPr>
          <p:cNvPr id="5" name="Slide Number Placeholder 5">
            <a:extLst>
              <a:ext uri="{FF2B5EF4-FFF2-40B4-BE49-F238E27FC236}">
                <a16:creationId xmlns:a16="http://schemas.microsoft.com/office/drawing/2014/main" id="{1CC3A131-478F-7358-5149-4495B2461525}"/>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
        <p:nvSpPr>
          <p:cNvPr id="6" name="TextBox 5"/>
          <p:cNvSpPr txBox="1"/>
          <p:nvPr/>
        </p:nvSpPr>
        <p:spPr>
          <a:xfrm>
            <a:off x="484632" y="1307592"/>
            <a:ext cx="11228832" cy="621792"/>
          </a:xfrm>
          <a:prstGeom prst="rect">
            <a:avLst/>
          </a:prstGeom>
          <a:noFill/>
        </p:spPr>
        <p:txBody>
          <a:bodyPr wrap="square" lIns="45720" rIns="45720" tIns="27432" bIns="27432" anchor="t">
            <a:noAutofit/>
          </a:bodyPr>
          <a:lstStyle/>
          <a:p>
            <a:pPr>
              <a:lnSpc>
                <a:spcPct val="120000"/>
              </a:lnSpc>
              <a:spcAft>
                <a:spcPts val="0"/>
              </a:spcAft>
            </a:pPr>
            <a:r>
              <a:rPr sz="1600" b="1">
                <a:solidFill>
                  <a:srgbClr val="194BFF"/>
                </a:solidFill>
                <a:latin typeface="Montserrat"/>
              </a:rPr>
              <a:t>Un mismo trace_id une los tres: del problema técnico a su impacto en negocio y a su causa en el razonamiento.</a:t>
            </a:r>
          </a:p>
        </p:txBody>
      </p:sp>
      <p:graphicFrame>
        <p:nvGraphicFramePr>
          <p:cNvPr id="7" name="Table 6"/>
          <p:cNvGraphicFramePr>
            <a:graphicFrameLocks noGrp="1"/>
          </p:cNvGraphicFramePr>
          <p:nvPr/>
        </p:nvGraphicFramePr>
        <p:xfrm>
          <a:off x="484632" y="2157984"/>
          <a:ext cx="11228830" cy="3371847"/>
        </p:xfrm>
        <a:graphic>
          <a:graphicData uri="http://schemas.openxmlformats.org/drawingml/2006/table">
            <a:tbl>
              <a:tblPr firstRow="1" bandRow="0">
                <a:tableStyleId>{2D5ABB26-0587-4C30-8999-92F81FD0307C}</a:tableStyleId>
              </a:tblPr>
              <a:tblGrid>
                <a:gridCol w="1020802"/>
                <a:gridCol w="3402676"/>
                <a:gridCol w="3402676"/>
                <a:gridCol w="3402676"/>
              </a:tblGrid>
              <a:tr h="496569">
                <a:tc>
                  <a:txBody>
                    <a:bodyPr/>
                    <a:lstStyle/>
                    <a:p>
                      <a:pPr algn="l"/>
                    </a:p>
                  </a:txBody>
                  <a:tcPr marL="91440" marR="91440" marT="45720" marB="45720" anchor="ctr">
                    <a:lnB w="6350">
                      <a:solidFill>
                        <a:srgbClr val="D9D9D9"/>
                      </a:solidFill>
                    </a:lnB>
                    <a:solidFill>
                      <a:srgbClr val="194BFF"/>
                    </a:solidFill>
                  </a:tcPr>
                </a:tc>
                <a:tc>
                  <a:txBody>
                    <a:bodyPr/>
                    <a:lstStyle/>
                    <a:p>
                      <a:pPr algn="l"/>
                      <a:r>
                        <a:rPr sz="1400" b="1">
                          <a:solidFill>
                            <a:srgbClr val="FFFFFF"/>
                          </a:solidFill>
                          <a:latin typeface="Montserrat"/>
                        </a:rPr>
                        <a:t>Nivel 1 · Técnica</a:t>
                      </a:r>
                    </a:p>
                  </a:txBody>
                  <a:tcPr marL="91440" marR="91440" marT="45720" marB="45720" anchor="ctr">
                    <a:lnB w="6350">
                      <a:solidFill>
                        <a:srgbClr val="D9D9D9"/>
                      </a:solidFill>
                    </a:lnB>
                    <a:solidFill>
                      <a:srgbClr val="194BFF"/>
                    </a:solidFill>
                  </a:tcPr>
                </a:tc>
                <a:tc>
                  <a:txBody>
                    <a:bodyPr/>
                    <a:lstStyle/>
                    <a:p>
                      <a:pPr algn="l"/>
                      <a:r>
                        <a:rPr sz="1400" b="1">
                          <a:solidFill>
                            <a:srgbClr val="FFFFFF"/>
                          </a:solidFill>
                          <a:latin typeface="Montserrat"/>
                        </a:rPr>
                        <a:t>Nivel 2 · Operativa</a:t>
                      </a:r>
                    </a:p>
                  </a:txBody>
                  <a:tcPr marL="91440" marR="91440" marT="45720" marB="45720" anchor="ctr">
                    <a:lnB w="6350">
                      <a:solidFill>
                        <a:srgbClr val="D9D9D9"/>
                      </a:solidFill>
                    </a:lnB>
                    <a:solidFill>
                      <a:srgbClr val="194BFF"/>
                    </a:solidFill>
                  </a:tcPr>
                </a:tc>
                <a:tc>
                  <a:txBody>
                    <a:bodyPr/>
                    <a:lstStyle/>
                    <a:p>
                      <a:pPr algn="l"/>
                      <a:r>
                        <a:rPr sz="1400" b="1">
                          <a:solidFill>
                            <a:srgbClr val="FFFFFF"/>
                          </a:solidFill>
                          <a:latin typeface="Montserrat"/>
                        </a:rPr>
                        <a:t>Nivel 3 · Cognitiva</a:t>
                      </a:r>
                    </a:p>
                  </a:txBody>
                  <a:tcPr marL="91440" marR="91440" marT="45720" marB="45720" anchor="ctr">
                    <a:lnB w="6350">
                      <a:solidFill>
                        <a:srgbClr val="D9D9D9"/>
                      </a:solidFill>
                    </a:lnB>
                    <a:solidFill>
                      <a:srgbClr val="194BFF"/>
                    </a:solidFill>
                  </a:tcPr>
                </a:tc>
              </a:tr>
              <a:tr h="496569">
                <a:tc>
                  <a:txBody>
                    <a:bodyPr/>
                    <a:lstStyle/>
                    <a:p>
                      <a:pPr algn="l"/>
                      <a:r>
                        <a:rPr sz="1400">
                          <a:solidFill>
                            <a:srgbClr val="595959"/>
                          </a:solidFill>
                          <a:latin typeface="Montserrat Medium"/>
                        </a:rPr>
                        <a:t>Pregunta</a:t>
                      </a:r>
                    </a:p>
                  </a:txBody>
                  <a:tcPr marL="91440" marR="91440" marT="45720" marB="45720" anchor="ctr">
                    <a:lnB w="6350">
                      <a:solidFill>
                        <a:srgbClr val="D9D9D9"/>
                      </a:solidFill>
                    </a:lnB>
                    <a:solidFill>
                      <a:srgbClr val="FFFFFF"/>
                    </a:solidFill>
                  </a:tcPr>
                </a:tc>
                <a:tc>
                  <a:txBody>
                    <a:bodyPr/>
                    <a:lstStyle/>
                    <a:p>
                      <a:pPr algn="l"/>
                      <a:r>
                        <a:rPr sz="1400">
                          <a:solidFill>
                            <a:srgbClr val="595959"/>
                          </a:solidFill>
                          <a:latin typeface="Montserrat Medium"/>
                        </a:rPr>
                        <a:t>¿Funciona?</a:t>
                      </a:r>
                    </a:p>
                  </a:txBody>
                  <a:tcPr marL="91440" marR="91440" marT="45720" marB="45720" anchor="ctr">
                    <a:lnB w="6350">
                      <a:solidFill>
                        <a:srgbClr val="D9D9D9"/>
                      </a:solidFill>
                    </a:lnB>
                    <a:solidFill>
                      <a:srgbClr val="FFFFFF"/>
                    </a:solidFill>
                  </a:tcPr>
                </a:tc>
                <a:tc>
                  <a:txBody>
                    <a:bodyPr/>
                    <a:lstStyle/>
                    <a:p>
                      <a:pPr algn="l"/>
                      <a:r>
                        <a:rPr sz="1400">
                          <a:solidFill>
                            <a:srgbClr val="595959"/>
                          </a:solidFill>
                          <a:latin typeface="Montserrat Medium"/>
                        </a:rPr>
                        <a:t>¿Aporta?</a:t>
                      </a:r>
                    </a:p>
                  </a:txBody>
                  <a:tcPr marL="91440" marR="91440" marT="45720" marB="45720" anchor="ctr">
                    <a:lnB w="6350">
                      <a:solidFill>
                        <a:srgbClr val="D9D9D9"/>
                      </a:solidFill>
                    </a:lnB>
                    <a:solidFill>
                      <a:srgbClr val="FFFFFF"/>
                    </a:solidFill>
                  </a:tcPr>
                </a:tc>
                <a:tc>
                  <a:txBody>
                    <a:bodyPr/>
                    <a:lstStyle/>
                    <a:p>
                      <a:pPr algn="l"/>
                      <a:r>
                        <a:rPr sz="1400">
                          <a:solidFill>
                            <a:srgbClr val="595959"/>
                          </a:solidFill>
                          <a:latin typeface="Montserrat Medium"/>
                        </a:rPr>
                        <a:t>¿Decide bien?</a:t>
                      </a:r>
                    </a:p>
                  </a:txBody>
                  <a:tcPr marL="91440" marR="91440" marT="45720" marB="45720" anchor="ctr">
                    <a:lnB w="6350">
                      <a:solidFill>
                        <a:srgbClr val="D9D9D9"/>
                      </a:solidFill>
                    </a:lnB>
                    <a:solidFill>
                      <a:srgbClr val="FFFFFF"/>
                    </a:solidFill>
                  </a:tcPr>
                </a:tc>
              </a:tr>
              <a:tr h="941069">
                <a:tc>
                  <a:txBody>
                    <a:bodyPr/>
                    <a:lstStyle/>
                    <a:p>
                      <a:pPr algn="l"/>
                      <a:r>
                        <a:rPr sz="1400">
                          <a:solidFill>
                            <a:srgbClr val="595959"/>
                          </a:solidFill>
                          <a:latin typeface="Montserrat Medium"/>
                        </a:rPr>
                        <a:t>Qué mide</a:t>
                      </a:r>
                    </a:p>
                  </a:txBody>
                  <a:tcPr marL="91440" marR="91440" marT="45720" marB="45720" anchor="ctr">
                    <a:lnB w="6350">
                      <a:solidFill>
                        <a:srgbClr val="D9D9D9"/>
                      </a:solidFill>
                    </a:lnB>
                    <a:solidFill>
                      <a:srgbClr val="EEF2FF"/>
                    </a:solidFill>
                  </a:tcPr>
                </a:tc>
                <a:tc>
                  <a:txBody>
                    <a:bodyPr/>
                    <a:lstStyle/>
                    <a:p>
                      <a:pPr algn="l"/>
                      <a:r>
                        <a:rPr sz="1400">
                          <a:solidFill>
                            <a:srgbClr val="595959"/>
                          </a:solidFill>
                          <a:latin typeface="Montserrat Medium"/>
                        </a:rPr>
                        <a:t>Latencia, errores, disponibilidad, tokens</a:t>
                      </a:r>
                    </a:p>
                  </a:txBody>
                  <a:tcPr marL="91440" marR="91440" marT="45720" marB="45720" anchor="ctr">
                    <a:lnB w="6350">
                      <a:solidFill>
                        <a:srgbClr val="D9D9D9"/>
                      </a:solidFill>
                    </a:lnB>
                    <a:solidFill>
                      <a:srgbClr val="EEF2FF"/>
                    </a:solidFill>
                  </a:tcPr>
                </a:tc>
                <a:tc>
                  <a:txBody>
                    <a:bodyPr/>
                    <a:lstStyle/>
                    <a:p>
                      <a:pPr algn="l"/>
                      <a:r>
                        <a:rPr sz="1400">
                          <a:solidFill>
                            <a:srgbClr val="595959"/>
                          </a:solidFill>
                          <a:latin typeface="Montserrat Medium"/>
                        </a:rPr>
                        <a:t>Automatización, escalados, precisión, tiempo de resolución</a:t>
                      </a:r>
                    </a:p>
                  </a:txBody>
                  <a:tcPr marL="91440" marR="91440" marT="45720" marB="45720" anchor="ctr">
                    <a:lnB w="6350">
                      <a:solidFill>
                        <a:srgbClr val="D9D9D9"/>
                      </a:solidFill>
                    </a:lnB>
                    <a:solidFill>
                      <a:srgbClr val="EEF2FF"/>
                    </a:solidFill>
                  </a:tcPr>
                </a:tc>
                <a:tc>
                  <a:txBody>
                    <a:bodyPr/>
                    <a:lstStyle/>
                    <a:p>
                      <a:pPr algn="l"/>
                      <a:r>
                        <a:rPr sz="1400">
                          <a:solidFill>
                            <a:srgbClr val="595959"/>
                          </a:solidFill>
                          <a:latin typeface="Montserrat Medium"/>
                        </a:rPr>
                        <a:t>Intención, datos usados, reglas, decisiones intermedias, alternativas descartadas</a:t>
                      </a:r>
                    </a:p>
                  </a:txBody>
                  <a:tcPr marL="91440" marR="91440" marT="45720" marB="45720" anchor="ctr">
                    <a:lnB w="6350">
                      <a:solidFill>
                        <a:srgbClr val="D9D9D9"/>
                      </a:solidFill>
                    </a:lnB>
                    <a:solidFill>
                      <a:srgbClr val="EEF2FF"/>
                    </a:solidFill>
                  </a:tcPr>
                </a:tc>
              </a:tr>
              <a:tr h="718820">
                <a:tc>
                  <a:txBody>
                    <a:bodyPr/>
                    <a:lstStyle/>
                    <a:p>
                      <a:pPr algn="l"/>
                      <a:r>
                        <a:rPr sz="1400">
                          <a:solidFill>
                            <a:srgbClr val="595959"/>
                          </a:solidFill>
                          <a:latin typeface="Montserrat Medium"/>
                        </a:rPr>
                        <a:t>Quién lo usa</a:t>
                      </a:r>
                    </a:p>
                  </a:txBody>
                  <a:tcPr marL="91440" marR="91440" marT="45720" marB="45720" anchor="ctr">
                    <a:lnB w="6350">
                      <a:solidFill>
                        <a:srgbClr val="D9D9D9"/>
                      </a:solidFill>
                    </a:lnB>
                    <a:solidFill>
                      <a:srgbClr val="FFFFFF"/>
                    </a:solidFill>
                  </a:tcPr>
                </a:tc>
                <a:tc>
                  <a:txBody>
                    <a:bodyPr/>
                    <a:lstStyle/>
                    <a:p>
                      <a:pPr algn="l"/>
                      <a:r>
                        <a:rPr sz="1400">
                          <a:solidFill>
                            <a:srgbClr val="595959"/>
                          </a:solidFill>
                          <a:latin typeface="Montserrat Medium"/>
                        </a:rPr>
                        <a:t>Equipos técnicos</a:t>
                      </a:r>
                    </a:p>
                  </a:txBody>
                  <a:tcPr marL="91440" marR="91440" marT="45720" marB="45720" anchor="ctr">
                    <a:lnB w="6350">
                      <a:solidFill>
                        <a:srgbClr val="D9D9D9"/>
                      </a:solidFill>
                    </a:lnB>
                    <a:solidFill>
                      <a:srgbClr val="FFFFFF"/>
                    </a:solidFill>
                  </a:tcPr>
                </a:tc>
                <a:tc>
                  <a:txBody>
                    <a:bodyPr/>
                    <a:lstStyle/>
                    <a:p>
                      <a:pPr algn="l"/>
                      <a:r>
                        <a:rPr sz="1400">
                          <a:solidFill>
                            <a:srgbClr val="595959"/>
                          </a:solidFill>
                          <a:latin typeface="Montserrat Medium"/>
                        </a:rPr>
                        <a:t>Negocio y operación</a:t>
                      </a:r>
                    </a:p>
                  </a:txBody>
                  <a:tcPr marL="91440" marR="91440" marT="45720" marB="45720" anchor="ctr">
                    <a:lnB w="6350">
                      <a:solidFill>
                        <a:srgbClr val="D9D9D9"/>
                      </a:solidFill>
                    </a:lnB>
                    <a:solidFill>
                      <a:srgbClr val="FFFFFF"/>
                    </a:solidFill>
                  </a:tcPr>
                </a:tc>
                <a:tc>
                  <a:txBody>
                    <a:bodyPr/>
                    <a:lstStyle/>
                    <a:p>
                      <a:pPr algn="l"/>
                      <a:r>
                        <a:rPr sz="1400">
                          <a:solidFill>
                            <a:srgbClr val="595959"/>
                          </a:solidFill>
                          <a:latin typeface="Montserrat Medium"/>
                        </a:rPr>
                        <a:t>Riesgos, compliance y auditoría</a:t>
                      </a:r>
                    </a:p>
                  </a:txBody>
                  <a:tcPr marL="91440" marR="91440" marT="45720" marB="45720" anchor="ctr">
                    <a:lnB w="6350">
                      <a:solidFill>
                        <a:srgbClr val="D9D9D9"/>
                      </a:solidFill>
                    </a:lnB>
                    <a:solidFill>
                      <a:srgbClr val="FFFFFF"/>
                    </a:solidFill>
                  </a:tcPr>
                </a:tc>
              </a:tr>
              <a:tr h="718820">
                <a:tc>
                  <a:txBody>
                    <a:bodyPr/>
                    <a:lstStyle/>
                    <a:p>
                      <a:pPr algn="l"/>
                      <a:r>
                        <a:rPr sz="1400">
                          <a:solidFill>
                            <a:srgbClr val="595959"/>
                          </a:solidFill>
                          <a:latin typeface="Montserrat Medium"/>
                        </a:rPr>
                        <a:t>Valor</a:t>
                      </a:r>
                    </a:p>
                  </a:txBody>
                  <a:tcPr marL="91440" marR="91440" marT="45720" marB="45720" anchor="ctr">
                    <a:lnB w="6350">
                      <a:solidFill>
                        <a:srgbClr val="D9D9D9"/>
                      </a:solidFill>
                    </a:lnB>
                    <a:solidFill>
                      <a:srgbClr val="EEF2FF"/>
                    </a:solidFill>
                  </a:tcPr>
                </a:tc>
                <a:tc>
                  <a:txBody>
                    <a:bodyPr/>
                    <a:lstStyle/>
                    <a:p>
                      <a:pPr algn="l"/>
                      <a:r>
                        <a:rPr sz="1400">
                          <a:solidFill>
                            <a:srgbClr val="595959"/>
                          </a:solidFill>
                          <a:latin typeface="Montserrat Medium"/>
                        </a:rPr>
                        <a:t>Prevenir degradaciones y cumplir SLA</a:t>
                      </a:r>
                    </a:p>
                  </a:txBody>
                  <a:tcPr marL="91440" marR="91440" marT="45720" marB="45720" anchor="ctr">
                    <a:lnB w="6350">
                      <a:solidFill>
                        <a:srgbClr val="D9D9D9"/>
                      </a:solidFill>
                    </a:lnB>
                    <a:solidFill>
                      <a:srgbClr val="EEF2FF"/>
                    </a:solidFill>
                  </a:tcPr>
                </a:tc>
                <a:tc>
                  <a:txBody>
                    <a:bodyPr/>
                    <a:lstStyle/>
                    <a:p>
                      <a:pPr algn="l"/>
                      <a:r>
                        <a:rPr sz="1400">
                          <a:solidFill>
                            <a:srgbClr val="595959"/>
                          </a:solidFill>
                          <a:latin typeface="Montserrat Medium"/>
                        </a:rPr>
                        <a:t>Ver el retorno del proyecto</a:t>
                      </a:r>
                    </a:p>
                  </a:txBody>
                  <a:tcPr marL="91440" marR="91440" marT="45720" marB="45720" anchor="ctr">
                    <a:lnB w="6350">
                      <a:solidFill>
                        <a:srgbClr val="D9D9D9"/>
                      </a:solidFill>
                    </a:lnB>
                    <a:solidFill>
                      <a:srgbClr val="EEF2FF"/>
                    </a:solidFill>
                  </a:tcPr>
                </a:tc>
                <a:tc>
                  <a:txBody>
                    <a:bodyPr/>
                    <a:lstStyle/>
                    <a:p>
                      <a:pPr algn="l"/>
                      <a:r>
                        <a:rPr sz="1400">
                          <a:solidFill>
                            <a:srgbClr val="595959"/>
                          </a:solidFill>
                          <a:latin typeface="Montserrat Medium"/>
                        </a:rPr>
                        <a:t>Explicar y auditar cada decisión</a:t>
                      </a:r>
                    </a:p>
                  </a:txBody>
                  <a:tcPr marL="91440" marR="91440" marT="45720" marB="45720" anchor="ctr">
                    <a:lnB w="6350">
                      <a:solidFill>
                        <a:srgbClr val="D9D9D9"/>
                      </a:solidFill>
                    </a:lnB>
                    <a:solidFill>
                      <a:srgbClr val="EEF2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3567938" cy="429768"/>
          </a:xfrm>
        </p:spPr>
        <p:txBody>
          <a:bodyPr wrap="none"/>
          <a:lstStyle/>
          <a:p>
            <a:r>
              <a:rPr sz="2600"/>
              <a:t>Mapa de capacidades</a:t>
            </a:r>
          </a:p>
        </p:txBody>
      </p:sp>
      <p:sp>
        <p:nvSpPr>
          <p:cNvPr id="5" name="Slide Number Placeholder 5">
            <a:extLst>
              <a:ext uri="{FF2B5EF4-FFF2-40B4-BE49-F238E27FC236}">
                <a16:creationId xmlns:a16="http://schemas.microsoft.com/office/drawing/2014/main" id="{1CC3A131-478F-7358-5149-4495B2461525}"/>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
        <p:nvSpPr>
          <p:cNvPr id="6" name="TextBox 5"/>
          <p:cNvSpPr txBox="1"/>
          <p:nvPr/>
        </p:nvSpPr>
        <p:spPr>
          <a:xfrm>
            <a:off x="484632" y="1307592"/>
            <a:ext cx="11228832" cy="347472"/>
          </a:xfrm>
          <a:prstGeom prst="rect">
            <a:avLst/>
          </a:prstGeom>
          <a:noFill/>
        </p:spPr>
        <p:txBody>
          <a:bodyPr wrap="square" lIns="45720" rIns="45720" tIns="27432" bIns="27432" anchor="t">
            <a:noAutofit/>
          </a:bodyPr>
          <a:lstStyle/>
          <a:p>
            <a:pPr>
              <a:lnSpc>
                <a:spcPct val="120000"/>
              </a:lnSpc>
              <a:spcAft>
                <a:spcPts val="0"/>
              </a:spcAft>
            </a:pPr>
            <a:r>
              <a:rPr sz="1600" b="1">
                <a:solidFill>
                  <a:srgbClr val="194BFF"/>
                </a:solidFill>
                <a:latin typeface="Montserrat"/>
              </a:rPr>
              <a:t>Cada capacidad responde a una de las cuatro preguntas del principio.</a:t>
            </a:r>
          </a:p>
        </p:txBody>
      </p:sp>
      <p:graphicFrame>
        <p:nvGraphicFramePr>
          <p:cNvPr id="7" name="Table 6"/>
          <p:cNvGraphicFramePr>
            <a:graphicFrameLocks noGrp="1"/>
          </p:cNvGraphicFramePr>
          <p:nvPr/>
        </p:nvGraphicFramePr>
        <p:xfrm>
          <a:off x="484632" y="1883664"/>
          <a:ext cx="11228831" cy="2240025"/>
        </p:xfrm>
        <a:graphic>
          <a:graphicData uri="http://schemas.openxmlformats.org/drawingml/2006/table">
            <a:tbl>
              <a:tblPr firstRow="1" bandRow="0">
                <a:tableStyleId>{2D5ABB26-0587-4C30-8999-92F81FD0307C}</a:tableStyleId>
              </a:tblPr>
              <a:tblGrid>
                <a:gridCol w="1675945"/>
                <a:gridCol w="1675945"/>
                <a:gridCol w="1675945"/>
                <a:gridCol w="1215060"/>
                <a:gridCol w="1675945"/>
                <a:gridCol w="1634046"/>
                <a:gridCol w="1675945"/>
              </a:tblGrid>
              <a:tr h="339217">
                <a:tc>
                  <a:txBody>
                    <a:bodyPr/>
                    <a:lstStyle/>
                    <a:p>
                      <a:pPr algn="l"/>
                      <a:r>
                        <a:rPr sz="1100" b="1">
                          <a:solidFill>
                            <a:srgbClr val="FFFFFF"/>
                          </a:solidFill>
                          <a:latin typeface="Montserrat"/>
                        </a:rPr>
                        <a:t>Ver</a:t>
                      </a:r>
                    </a:p>
                  </a:txBody>
                  <a:tcPr marL="91440" marR="91440" marT="45720" marB="45720" anchor="ctr">
                    <a:lnB w="6350">
                      <a:solidFill>
                        <a:srgbClr val="D9D9D9"/>
                      </a:solidFill>
                    </a:lnB>
                    <a:solidFill>
                      <a:srgbClr val="194BFF"/>
                    </a:solidFill>
                  </a:tcPr>
                </a:tc>
                <a:tc>
                  <a:txBody>
                    <a:bodyPr/>
                    <a:lstStyle/>
                    <a:p>
                      <a:pPr algn="l"/>
                      <a:r>
                        <a:rPr sz="1100" b="1">
                          <a:solidFill>
                            <a:srgbClr val="FFFFFF"/>
                          </a:solidFill>
                          <a:latin typeface="Montserrat"/>
                        </a:rPr>
                        <a:t>Entender</a:t>
                      </a:r>
                    </a:p>
                  </a:txBody>
                  <a:tcPr marL="91440" marR="91440" marT="45720" marB="45720" anchor="ctr">
                    <a:lnB w="6350">
                      <a:solidFill>
                        <a:srgbClr val="D9D9D9"/>
                      </a:solidFill>
                    </a:lnB>
                    <a:solidFill>
                      <a:srgbClr val="194BFF"/>
                    </a:solidFill>
                  </a:tcPr>
                </a:tc>
                <a:tc>
                  <a:txBody>
                    <a:bodyPr/>
                    <a:lstStyle/>
                    <a:p>
                      <a:pPr algn="l"/>
                      <a:r>
                        <a:rPr sz="1100" b="1">
                          <a:solidFill>
                            <a:srgbClr val="FFFFFF"/>
                          </a:solidFill>
                          <a:latin typeface="Montserrat"/>
                        </a:rPr>
                        <a:t>Limitar</a:t>
                      </a:r>
                    </a:p>
                  </a:txBody>
                  <a:tcPr marL="91440" marR="91440" marT="45720" marB="45720" anchor="ctr">
                    <a:lnB w="6350">
                      <a:solidFill>
                        <a:srgbClr val="D9D9D9"/>
                      </a:solidFill>
                    </a:lnB>
                    <a:solidFill>
                      <a:srgbClr val="194BFF"/>
                    </a:solidFill>
                  </a:tcPr>
                </a:tc>
                <a:tc>
                  <a:txBody>
                    <a:bodyPr/>
                    <a:lstStyle/>
                    <a:p>
                      <a:pPr algn="l"/>
                      <a:r>
                        <a:rPr sz="1100" b="1">
                          <a:solidFill>
                            <a:srgbClr val="FFFFFF"/>
                          </a:solidFill>
                          <a:latin typeface="Montserrat"/>
                        </a:rPr>
                        <a:t>Conocer</a:t>
                      </a:r>
                    </a:p>
                  </a:txBody>
                  <a:tcPr marL="91440" marR="91440" marT="45720" marB="45720" anchor="ctr">
                    <a:lnB w="6350">
                      <a:solidFill>
                        <a:srgbClr val="D9D9D9"/>
                      </a:solidFill>
                    </a:lnB>
                    <a:solidFill>
                      <a:srgbClr val="194BFF"/>
                    </a:solidFill>
                  </a:tcPr>
                </a:tc>
                <a:tc>
                  <a:txBody>
                    <a:bodyPr/>
                    <a:lstStyle/>
                    <a:p>
                      <a:pPr algn="l"/>
                      <a:r>
                        <a:rPr sz="1100" b="1">
                          <a:solidFill>
                            <a:srgbClr val="FFFFFF"/>
                          </a:solidFill>
                          <a:latin typeface="Montserrat"/>
                        </a:rPr>
                        <a:t>Pagar</a:t>
                      </a:r>
                    </a:p>
                  </a:txBody>
                  <a:tcPr marL="91440" marR="91440" marT="45720" marB="45720" anchor="ctr">
                    <a:lnB w="6350">
                      <a:solidFill>
                        <a:srgbClr val="D9D9D9"/>
                      </a:solidFill>
                    </a:lnB>
                    <a:solidFill>
                      <a:srgbClr val="194BFF"/>
                    </a:solidFill>
                  </a:tcPr>
                </a:tc>
                <a:tc>
                  <a:txBody>
                    <a:bodyPr/>
                    <a:lstStyle/>
                    <a:p>
                      <a:pPr algn="l"/>
                      <a:r>
                        <a:rPr sz="1100" b="1">
                          <a:solidFill>
                            <a:srgbClr val="FFFFFF"/>
                          </a:solidFill>
                          <a:latin typeface="Montserrat"/>
                        </a:rPr>
                        <a:t>Corregir</a:t>
                      </a:r>
                    </a:p>
                  </a:txBody>
                  <a:tcPr marL="91440" marR="91440" marT="45720" marB="45720" anchor="ctr">
                    <a:lnB w="6350">
                      <a:solidFill>
                        <a:srgbClr val="D9D9D9"/>
                      </a:solidFill>
                    </a:lnB>
                    <a:solidFill>
                      <a:srgbClr val="194BFF"/>
                    </a:solidFill>
                  </a:tcPr>
                </a:tc>
                <a:tc>
                  <a:txBody>
                    <a:bodyPr/>
                    <a:lstStyle/>
                    <a:p>
                      <a:pPr algn="l"/>
                      <a:r>
                        <a:rPr sz="1100" b="1">
                          <a:solidFill>
                            <a:srgbClr val="FFFFFF"/>
                          </a:solidFill>
                          <a:latin typeface="Montserrat"/>
                        </a:rPr>
                        <a:t>Auditar</a:t>
                      </a:r>
                    </a:p>
                  </a:txBody>
                  <a:tcPr marL="91440" marR="91440" marT="45720" marB="45720" anchor="ctr">
                    <a:lnB w="6350">
                      <a:solidFill>
                        <a:srgbClr val="D9D9D9"/>
                      </a:solidFill>
                    </a:lnB>
                    <a:solidFill>
                      <a:srgbClr val="194BFF"/>
                    </a:solidFill>
                  </a:tcPr>
                </a:tc>
              </a:tr>
              <a:tr h="688467">
                <a:tc>
                  <a:txBody>
                    <a:bodyPr/>
                    <a:lstStyle/>
                    <a:p>
                      <a:pPr algn="l"/>
                      <a:r>
                        <a:rPr sz="1100">
                          <a:solidFill>
                            <a:srgbClr val="595959"/>
                          </a:solidFill>
                          <a:latin typeface="Montserrat Medium"/>
                        </a:rPr>
                        <a:t>¿Qué está pasando?</a:t>
                      </a:r>
                    </a:p>
                  </a:txBody>
                  <a:tcPr marL="91440" marR="91440" marT="45720" marB="45720" anchor="ctr">
                    <a:lnB w="6350">
                      <a:solidFill>
                        <a:srgbClr val="D9D9D9"/>
                      </a:solidFill>
                    </a:lnB>
                    <a:solidFill>
                      <a:srgbClr val="FFFFFF"/>
                    </a:solidFill>
                  </a:tcPr>
                </a:tc>
                <a:tc>
                  <a:txBody>
                    <a:bodyPr/>
                    <a:lstStyle/>
                    <a:p>
                      <a:pPr algn="l"/>
                      <a:r>
                        <a:rPr sz="1100">
                          <a:solidFill>
                            <a:srgbClr val="595959"/>
                          </a:solidFill>
                          <a:latin typeface="Montserrat Medium"/>
                        </a:rPr>
                        <a:t>¿Por qué decidió eso?</a:t>
                      </a:r>
                    </a:p>
                  </a:txBody>
                  <a:tcPr marL="91440" marR="91440" marT="45720" marB="45720" anchor="ctr">
                    <a:lnB w="6350">
                      <a:solidFill>
                        <a:srgbClr val="D9D9D9"/>
                      </a:solidFill>
                    </a:lnB>
                    <a:solidFill>
                      <a:srgbClr val="FFFFFF"/>
                    </a:solidFill>
                  </a:tcPr>
                </a:tc>
                <a:tc>
                  <a:txBody>
                    <a:bodyPr/>
                    <a:lstStyle/>
                    <a:p>
                      <a:pPr algn="l"/>
                      <a:r>
                        <a:rPr sz="1100">
                          <a:solidFill>
                            <a:srgbClr val="595959"/>
                          </a:solidFill>
                          <a:latin typeface="Montserrat Medium"/>
                        </a:rPr>
                        <a:t>¿Quién lo controla?</a:t>
                      </a:r>
                    </a:p>
                  </a:txBody>
                  <a:tcPr marL="91440" marR="91440" marT="45720" marB="45720" anchor="ctr">
                    <a:lnB w="6350">
                      <a:solidFill>
                        <a:srgbClr val="D9D9D9"/>
                      </a:solidFill>
                    </a:lnB>
                    <a:solidFill>
                      <a:srgbClr val="FFFFFF"/>
                    </a:solidFill>
                  </a:tcPr>
                </a:tc>
                <a:tc>
                  <a:txBody>
                    <a:bodyPr/>
                    <a:lstStyle/>
                    <a:p>
                      <a:pPr algn="l"/>
                      <a:r>
                        <a:rPr sz="1100">
                          <a:solidFill>
                            <a:srgbClr val="595959"/>
                          </a:solidFill>
                          <a:latin typeface="Montserrat Medium"/>
                        </a:rPr>
                        <a:t>¿Con qué conocimiento decide?</a:t>
                      </a:r>
                    </a:p>
                  </a:txBody>
                  <a:tcPr marL="91440" marR="91440" marT="45720" marB="45720" anchor="ctr">
                    <a:lnB w="6350">
                      <a:solidFill>
                        <a:srgbClr val="D9D9D9"/>
                      </a:solidFill>
                    </a:lnB>
                    <a:solidFill>
                      <a:srgbClr val="FFFFFF"/>
                    </a:solidFill>
                  </a:tcPr>
                </a:tc>
                <a:tc>
                  <a:txBody>
                    <a:bodyPr/>
                    <a:lstStyle/>
                    <a:p>
                      <a:pPr algn="l"/>
                      <a:r>
                        <a:rPr sz="1100">
                          <a:solidFill>
                            <a:srgbClr val="595959"/>
                          </a:solidFill>
                          <a:latin typeface="Montserrat Medium"/>
                        </a:rPr>
                        <a:t>¿Cuánto cuesta?</a:t>
                      </a:r>
                    </a:p>
                  </a:txBody>
                  <a:tcPr marL="91440" marR="91440" marT="45720" marB="45720" anchor="ctr">
                    <a:lnB w="6350">
                      <a:solidFill>
                        <a:srgbClr val="D9D9D9"/>
                      </a:solidFill>
                    </a:lnB>
                    <a:solidFill>
                      <a:srgbClr val="FFFFFF"/>
                    </a:solidFill>
                  </a:tcPr>
                </a:tc>
                <a:tc>
                  <a:txBody>
                    <a:bodyPr/>
                    <a:lstStyle/>
                    <a:p>
                      <a:pPr algn="l"/>
                      <a:r>
                        <a:rPr sz="1100">
                          <a:solidFill>
                            <a:srgbClr val="595959"/>
                          </a:solidFill>
                          <a:latin typeface="Montserrat Medium"/>
                        </a:rPr>
                        <a:t>¿Qué hay que arreglar?</a:t>
                      </a:r>
                    </a:p>
                  </a:txBody>
                  <a:tcPr marL="91440" marR="91440" marT="45720" marB="45720" anchor="ctr">
                    <a:lnB w="6350">
                      <a:solidFill>
                        <a:srgbClr val="D9D9D9"/>
                      </a:solidFill>
                    </a:lnB>
                    <a:solidFill>
                      <a:srgbClr val="FFFFFF"/>
                    </a:solidFill>
                  </a:tcPr>
                </a:tc>
                <a:tc>
                  <a:txBody>
                    <a:bodyPr/>
                    <a:lstStyle/>
                    <a:p>
                      <a:pPr algn="l"/>
                      <a:r>
                        <a:rPr sz="1100">
                          <a:solidFill>
                            <a:srgbClr val="595959"/>
                          </a:solidFill>
                          <a:latin typeface="Montserrat Medium"/>
                        </a:rPr>
                        <a:t>¿Podemos demostrarlo?</a:t>
                      </a:r>
                    </a:p>
                  </a:txBody>
                  <a:tcPr marL="91440" marR="91440" marT="45720" marB="45720" anchor="ctr">
                    <a:lnB w="6350">
                      <a:solidFill>
                        <a:srgbClr val="D9D9D9"/>
                      </a:solidFill>
                    </a:lnB>
                    <a:solidFill>
                      <a:srgbClr val="FFFFFF"/>
                    </a:solidFill>
                  </a:tcPr>
                </a:tc>
              </a:tr>
              <a:tr h="1212341">
                <a:tc>
                  <a:txBody>
                    <a:bodyPr/>
                    <a:lstStyle/>
                    <a:p>
                      <a:pPr algn="l"/>
                      <a:r>
                        <a:rPr sz="1100">
                          <a:solidFill>
                            <a:srgbClr val="595959"/>
                          </a:solidFill>
                          <a:latin typeface="Montserrat Medium"/>
                        </a:rPr>
                        <a:t>Portada · Vista de dirección · Trazabilidad</a:t>
                      </a:r>
                    </a:p>
                  </a:txBody>
                  <a:tcPr marL="91440" marR="91440" marT="45720" marB="45720" anchor="ctr">
                    <a:lnB w="6350">
                      <a:solidFill>
                        <a:srgbClr val="D9D9D9"/>
                      </a:solidFill>
                    </a:lnB>
                    <a:solidFill>
                      <a:srgbClr val="EEF2FF"/>
                    </a:solidFill>
                  </a:tcPr>
                </a:tc>
                <a:tc>
                  <a:txBody>
                    <a:bodyPr/>
                    <a:lstStyle/>
                    <a:p>
                      <a:pPr algn="l"/>
                      <a:r>
                        <a:rPr sz="1100">
                          <a:solidFill>
                            <a:srgbClr val="595959"/>
                          </a:solidFill>
                          <a:latin typeface="Montserrat Medium"/>
                        </a:rPr>
                        <a:t>Explicabilidad · Evidencias · Razonamiento y replay · Causa raíz</a:t>
                      </a:r>
                    </a:p>
                  </a:txBody>
                  <a:tcPr marL="91440" marR="91440" marT="45720" marB="45720" anchor="ctr">
                    <a:lnB w="6350">
                      <a:solidFill>
                        <a:srgbClr val="D9D9D9"/>
                      </a:solidFill>
                    </a:lnB>
                    <a:solidFill>
                      <a:srgbClr val="EEF2FF"/>
                    </a:solidFill>
                  </a:tcPr>
                </a:tc>
                <a:tc>
                  <a:txBody>
                    <a:bodyPr/>
                    <a:lstStyle/>
                    <a:p>
                      <a:pPr algn="l"/>
                      <a:r>
                        <a:rPr sz="1100">
                          <a:solidFill>
                            <a:srgbClr val="595959"/>
                          </a:solidFill>
                          <a:latin typeface="Montserrat Medium"/>
                        </a:rPr>
                        <a:t>Identidad, permisos y calidad · Autonomía · Trust Score · Intervención humana · Guardrails · Kill switch</a:t>
                      </a:r>
                    </a:p>
                  </a:txBody>
                  <a:tcPr marL="91440" marR="91440" marT="45720" marB="45720" anchor="ctr">
                    <a:lnB w="6350">
                      <a:solidFill>
                        <a:srgbClr val="D9D9D9"/>
                      </a:solidFill>
                    </a:lnB>
                    <a:solidFill>
                      <a:srgbClr val="EEF2FF"/>
                    </a:solidFill>
                  </a:tcPr>
                </a:tc>
                <a:tc>
                  <a:txBody>
                    <a:bodyPr/>
                    <a:lstStyle/>
                    <a:p>
                      <a:pPr algn="l"/>
                      <a:r>
                        <a:rPr sz="1100">
                          <a:solidFill>
                            <a:srgbClr val="595959"/>
                          </a:solidFill>
                          <a:latin typeface="Montserrat Medium"/>
                        </a:rPr>
                        <a:t>Knowledge Bases · Rúbricas</a:t>
                      </a:r>
                    </a:p>
                  </a:txBody>
                  <a:tcPr marL="91440" marR="91440" marT="45720" marB="45720" anchor="ctr">
                    <a:lnB w="6350">
                      <a:solidFill>
                        <a:srgbClr val="D9D9D9"/>
                      </a:solidFill>
                    </a:lnB>
                    <a:solidFill>
                      <a:srgbClr val="EEF2FF"/>
                    </a:solidFill>
                  </a:tcPr>
                </a:tc>
                <a:tc>
                  <a:txBody>
                    <a:bodyPr/>
                    <a:lstStyle/>
                    <a:p>
                      <a:pPr algn="l"/>
                      <a:r>
                        <a:rPr sz="1100">
                          <a:solidFill>
                            <a:srgbClr val="595959"/>
                          </a:solidFill>
                          <a:latin typeface="Montserrat Medium"/>
                        </a:rPr>
                        <a:t>Caps · Alertas de coste · Modelos · Simulación</a:t>
                      </a:r>
                    </a:p>
                  </a:txBody>
                  <a:tcPr marL="91440" marR="91440" marT="45720" marB="45720" anchor="ctr">
                    <a:lnB w="6350">
                      <a:solidFill>
                        <a:srgbClr val="D9D9D9"/>
                      </a:solidFill>
                    </a:lnB>
                    <a:solidFill>
                      <a:srgbClr val="EEF2FF"/>
                    </a:solidFill>
                  </a:tcPr>
                </a:tc>
                <a:tc>
                  <a:txBody>
                    <a:bodyPr/>
                    <a:lstStyle/>
                    <a:p>
                      <a:pPr algn="l"/>
                      <a:r>
                        <a:rPr sz="1100">
                          <a:solidFill>
                            <a:srgbClr val="595959"/>
                          </a:solidFill>
                          <a:latin typeface="Montserrat Medium"/>
                        </a:rPr>
                        <a:t>Medidas correctivas · Ahorro conseguido</a:t>
                      </a:r>
                    </a:p>
                  </a:txBody>
                  <a:tcPr marL="91440" marR="91440" marT="45720" marB="45720" anchor="ctr">
                    <a:lnB w="6350">
                      <a:solidFill>
                        <a:srgbClr val="D9D9D9"/>
                      </a:solidFill>
                    </a:lnB>
                    <a:solidFill>
                      <a:srgbClr val="EEF2FF"/>
                    </a:solidFill>
                  </a:tcPr>
                </a:tc>
                <a:tc>
                  <a:txBody>
                    <a:bodyPr/>
                    <a:lstStyle/>
                    <a:p>
                      <a:pPr algn="l"/>
                      <a:r>
                        <a:rPr sz="1100">
                          <a:solidFill>
                            <a:srgbClr val="595959"/>
                          </a:solidFill>
                          <a:latin typeface="Montserrat Medium"/>
                        </a:rPr>
                        <a:t>Libro de registro · Cumplimiento · Prueba en cada decisión · Seudonimización · Termómetro</a:t>
                      </a:r>
                    </a:p>
                  </a:txBody>
                  <a:tcPr marL="91440" marR="91440" marT="45720" marB="45720" anchor="ctr">
                    <a:lnB w="6350">
                      <a:solidFill>
                        <a:srgbClr val="D9D9D9"/>
                      </a:solidFill>
                    </a:lnB>
                    <a:solidFill>
                      <a:srgbClr val="EEF2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4006087" cy="429768"/>
          </a:xfrm>
        </p:spPr>
        <p:txBody>
          <a:bodyPr wrap="none"/>
          <a:lstStyle/>
          <a:p>
            <a:r>
              <a:rPr sz="2600"/>
              <a:t>Ver: la portada del panel</a:t>
            </a:r>
          </a:p>
        </p:txBody>
      </p:sp>
      <p:sp>
        <p:nvSpPr>
          <p:cNvPr id="3" name="Content Placeholder 2"/>
          <p:cNvSpPr>
            <a:spLocks noGrp="1"/>
          </p:cNvSpPr>
          <p:nvPr>
            <p:ph idx="1"/>
          </p:nvPr>
        </p:nvSpPr>
        <p:spPr>
          <a:xfrm>
            <a:off x="484632" y="1932432"/>
            <a:ext cx="5861304" cy="4331208"/>
          </a:xfrm>
        </p:spPr>
        <p:txBody>
          <a:bodyPr anchor="t">
            <a:noAutofit/>
          </a:bodyPr>
          <a:lstStyle/>
          <a:p>
            <a:pPr>
              <a:lnSpc>
                <a:spcPct val="140000"/>
              </a:lnSpc>
              <a:spcAft>
                <a:spcPts val="1000"/>
              </a:spcAft>
              <a:buClr>
                <a:srgbClr val="FF1414"/>
              </a:buClr>
              <a:buFont typeface="Arial"/>
              <a:buChar char="►"/>
            </a:pPr>
            <a:r>
              <a:rPr sz="1800" b="1"/>
              <a:t>Una puerta de entrada</a:t>
            </a:r>
            <a:r>
              <a:rPr sz="1800"/>
              <a:t>: doce fichas en los cinco bloques del menú: operación, control, calidad, cumplimiento y coste, y mejora y auditoría.</a:t>
            </a:r>
          </a:p>
          <a:p>
            <a:pPr>
              <a:lnSpc>
                <a:spcPct val="140000"/>
              </a:lnSpc>
              <a:spcAft>
                <a:spcPts val="1000"/>
              </a:spcAft>
              <a:buClr>
                <a:srgbClr val="FF1414"/>
              </a:buClr>
              <a:buFont typeface="Arial"/>
              <a:buChar char="►"/>
            </a:pPr>
            <a:r>
              <a:rPr sz="1800" b="1"/>
              <a:t>Una cifra en vivo por ficha</a:t>
            </a:r>
            <a:r>
              <a:rPr sz="1800"/>
              <a:t>: calculada con los mismos datos que su sección. El estado solo se marca si hay algo que mirar: «Revisar» o «Atención».</a:t>
            </a:r>
          </a:p>
          <a:p>
            <a:pPr>
              <a:lnSpc>
                <a:spcPct val="140000"/>
              </a:lnSpc>
              <a:spcAft>
                <a:spcPts val="1000"/>
              </a:spcAft>
              <a:buClr>
                <a:srgbClr val="FF1414"/>
              </a:buClr>
              <a:buFont typeface="Arial"/>
              <a:buChar char="►"/>
            </a:pPr>
            <a:r>
              <a:rPr sz="1800" b="1"/>
              <a:t>La norma de cada bloque</a:t>
            </a:r>
            <a:r>
              <a:rPr sz="1800"/>
              <a:t>: las etiquetas de cada ficha dicen a qué artículo responde.</a:t>
            </a:r>
          </a:p>
        </p:txBody>
      </p:sp>
      <p:sp>
        <p:nvSpPr>
          <p:cNvPr id="4" name="Content Placeholder 3"/>
          <p:cNvSpPr>
            <a:spLocks noGrp="1"/>
          </p:cNvSpPr>
          <p:nvPr>
            <p:ph idx="10"/>
          </p:nvPr>
        </p:nvSpPr>
        <p:spPr>
          <a:xfrm>
            <a:off x="484632" y="1307592"/>
            <a:ext cx="5861304" cy="396240"/>
          </a:xfrm>
        </p:spPr>
        <p:txBody>
          <a:bodyPr anchor="t">
            <a:noAutofit/>
          </a:bodyPr>
          <a:lstStyle/>
          <a:p>
            <a:r>
              <a:t>Una ficha por sección, con su estado en vivo.</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00-inicio.png"/>
          <p:cNvPicPr>
            <a:picLocks noChangeAspect="1"/>
          </p:cNvPicPr>
          <p:nvPr/>
        </p:nvPicPr>
        <p:blipFill>
          <a:blip r:embed="rId3"/>
          <a:stretch>
            <a:fillRect/>
          </a:stretch>
        </p:blipFill>
        <p:spPr>
          <a:xfrm>
            <a:off x="6364224" y="1307592"/>
            <a:ext cx="5440679" cy="3400424"/>
          </a:xfrm>
          <a:prstGeom prst="rect">
            <a:avLst/>
          </a:prstGeom>
          <a:ln>
            <a:solidFill>
              <a:schemeClr val="bg1">
                <a:lumMod val="50000"/>
              </a:schemeClr>
            </a:solidFill>
          </a:ln>
        </p:spPr>
      </p:pic>
      <p:sp>
        <p:nvSpPr>
          <p:cNvPr id="14" name="TextBox 13"/>
          <p:cNvSpPr txBox="1"/>
          <p:nvPr/>
        </p:nvSpPr>
        <p:spPr>
          <a:xfrm>
            <a:off x="6345936" y="4863465"/>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Inicio: una ficha por sección en los cinco bloques del menú, con su cifra en vivo, su estado y su norma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00-inicio.png"/>
          <p:cNvPicPr>
            <a:picLocks noChangeAspect="1"/>
          </p:cNvPicPr>
          <p:nvPr/>
        </p:nvPicPr>
        <p:blipFill>
          <a:blip r:embed="rId3"/>
          <a:stretch>
            <a:fillRect/>
          </a:stretch>
        </p:blipFill>
        <p:spPr>
          <a:xfrm>
            <a:off x="228600" y="365760"/>
            <a:ext cx="9699955" cy="6062472"/>
          </a:xfrm>
          <a:prstGeom prst="rect">
            <a:avLst/>
          </a:prstGeom>
          <a:ln>
            <a:solidFill>
              <a:schemeClr val="bg1">
                <a:lumMod val="50000"/>
              </a:schemeClr>
            </a:solidFill>
          </a:ln>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4061967" cy="429768"/>
          </a:xfrm>
        </p:spPr>
        <p:txBody>
          <a:bodyPr wrap="none"/>
          <a:lstStyle/>
          <a:p>
            <a:r>
              <a:rPr sz="2600"/>
              <a:t>Ver: la vista de dirección</a:t>
            </a:r>
          </a:p>
        </p:txBody>
      </p:sp>
      <p:sp>
        <p:nvSpPr>
          <p:cNvPr id="3" name="Content Placeholder 2"/>
          <p:cNvSpPr>
            <a:spLocks noGrp="1"/>
          </p:cNvSpPr>
          <p:nvPr>
            <p:ph idx="1"/>
          </p:nvPr>
        </p:nvSpPr>
        <p:spPr>
          <a:xfrm>
            <a:off x="484632" y="1932432"/>
            <a:ext cx="5861304" cy="4331208"/>
          </a:xfrm>
        </p:spPr>
        <p:txBody>
          <a:bodyPr anchor="t">
            <a:noAutofit/>
          </a:bodyPr>
          <a:lstStyle/>
          <a:p>
            <a:pPr>
              <a:lnSpc>
                <a:spcPct val="140000"/>
              </a:lnSpc>
              <a:spcAft>
                <a:spcPts val="1000"/>
              </a:spcAft>
              <a:buClr>
                <a:srgbClr val="FF1414"/>
              </a:buClr>
              <a:buFont typeface="Arial"/>
              <a:buChar char="►"/>
            </a:pPr>
            <a:r>
              <a:rPr sz="1800" b="1"/>
              <a:t>El estado del sistema en una pantalla</a:t>
            </a:r>
            <a:r>
              <a:rPr sz="1800"/>
              <a:t>: mensajes, autonomía efectiva, escalados, overrides, coste frente al cap, alertas, cumplimiento y conocimiento.</a:t>
            </a:r>
          </a:p>
          <a:p>
            <a:pPr>
              <a:lnSpc>
                <a:spcPct val="140000"/>
              </a:lnSpc>
              <a:spcAft>
                <a:spcPts val="1000"/>
              </a:spcAft>
              <a:buClr>
                <a:srgbClr val="FF1414"/>
              </a:buClr>
              <a:buFont typeface="Arial"/>
              <a:buChar char="►"/>
            </a:pPr>
            <a:r>
              <a:rPr sz="1800" b="1"/>
              <a:t>Una tarjeta por agente</a:t>
            </a:r>
            <a:r>
              <a:rPr sz="1800"/>
              <a:t>: modelo, versión de prompt, nivel de autonomía, estado y coste del día frente a su límite.</a:t>
            </a:r>
          </a:p>
          <a:p>
            <a:pPr>
              <a:lnSpc>
                <a:spcPct val="140000"/>
              </a:lnSpc>
              <a:spcAft>
                <a:spcPts val="1000"/>
              </a:spcAft>
              <a:buClr>
                <a:srgbClr val="FF1414"/>
              </a:buClr>
              <a:buFont typeface="Arial"/>
              <a:buChar char="►"/>
            </a:pPr>
            <a:r>
              <a:rPr sz="1800" b="1"/>
              <a:t>Alertas de todas las fuentes</a:t>
            </a:r>
            <a:r>
              <a:rPr sz="1800"/>
              <a:t>: coste, conocimiento y cumplimiento, cada una con su causa y lo que ya se ha hecho.</a:t>
            </a:r>
          </a:p>
        </p:txBody>
      </p:sp>
      <p:sp>
        <p:nvSpPr>
          <p:cNvPr id="4" name="Content Placeholder 3"/>
          <p:cNvSpPr>
            <a:spLocks noGrp="1"/>
          </p:cNvSpPr>
          <p:nvPr>
            <p:ph idx="10"/>
          </p:nvPr>
        </p:nvSpPr>
        <p:spPr>
          <a:xfrm>
            <a:off x="484632" y="1307592"/>
            <a:ext cx="5861304" cy="396240"/>
          </a:xfrm>
        </p:spPr>
        <p:txBody>
          <a:bodyPr anchor="t">
            <a:noAutofit/>
          </a:bodyPr>
          <a:lstStyle/>
          <a:p>
            <a:r>
              <a:t>En diez segundos se sabe si el sistema va bien.</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01-resumen.png"/>
          <p:cNvPicPr>
            <a:picLocks noChangeAspect="1"/>
          </p:cNvPicPr>
          <p:nvPr/>
        </p:nvPicPr>
        <p:blipFill>
          <a:blip r:embed="rId3"/>
          <a:stretch>
            <a:fillRect/>
          </a:stretch>
        </p:blipFill>
        <p:spPr>
          <a:xfrm>
            <a:off x="6364224" y="1307592"/>
            <a:ext cx="5440679" cy="3400424"/>
          </a:xfrm>
          <a:prstGeom prst="rect">
            <a:avLst/>
          </a:prstGeom>
          <a:ln>
            <a:solidFill>
              <a:schemeClr val="bg1">
                <a:lumMod val="50000"/>
              </a:schemeClr>
            </a:solidFill>
          </a:ln>
        </p:spPr>
      </p:pic>
      <p:sp>
        <p:nvSpPr>
          <p:cNvPr id="14" name="TextBox 13"/>
          <p:cNvSpPr txBox="1"/>
          <p:nvPr/>
        </p:nvSpPr>
        <p:spPr>
          <a:xfrm>
            <a:off x="6345936" y="4863465"/>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Resumen: KPIs del periodo, estado de cada agente y coste frente al cap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01-resumen.png"/>
          <p:cNvPicPr>
            <a:picLocks noChangeAspect="1"/>
          </p:cNvPicPr>
          <p:nvPr/>
        </p:nvPicPr>
        <p:blipFill>
          <a:blip r:embed="rId3"/>
          <a:stretch>
            <a:fillRect/>
          </a:stretch>
        </p:blipFill>
        <p:spPr>
          <a:xfrm>
            <a:off x="228600" y="365760"/>
            <a:ext cx="9699955" cy="6062472"/>
          </a:xfrm>
          <a:prstGeom prst="rect">
            <a:avLst/>
          </a:prstGeom>
          <a:ln>
            <a:solidFill>
              <a:schemeClr val="bg1">
                <a:lumMod val="50000"/>
              </a:schemeClr>
            </a:solidFill>
          </a:ln>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6260338" cy="429768"/>
          </a:xfrm>
        </p:spPr>
        <p:txBody>
          <a:bodyPr wrap="none"/>
          <a:lstStyle/>
          <a:p>
            <a:r>
              <a:rPr sz="2600"/>
              <a:t>Ver: trazabilidad de extremo a extremo</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800"/>
              </a:spcAft>
              <a:buFont typeface="+mj-lt"/>
              <a:buAutoNum type="arabicPeriod"/>
            </a:pPr>
            <a:r>
              <a:rPr sz="1600" b="1"/>
              <a:t>Entrada</a:t>
            </a:r>
            <a:r>
              <a:rPr sz="1600"/>
              <a:t>: mensaje original, canal y contexto.</a:t>
            </a:r>
          </a:p>
          <a:p>
            <a:pPr>
              <a:lnSpc>
                <a:spcPct val="140000"/>
              </a:lnSpc>
              <a:spcAft>
                <a:spcPts val="800"/>
              </a:spcAft>
              <a:buFont typeface="+mj-lt"/>
              <a:buAutoNum type="arabicPeriod"/>
            </a:pPr>
            <a:r>
              <a:rPr sz="1600" b="1"/>
              <a:t>Interpretación</a:t>
            </a:r>
            <a:r>
              <a:rPr sz="1600"/>
              <a:t>: intención, clasificación, confianza y alternativas descartadas.</a:t>
            </a:r>
          </a:p>
          <a:p>
            <a:pPr>
              <a:lnSpc>
                <a:spcPct val="140000"/>
              </a:lnSpc>
              <a:spcAft>
                <a:spcPts val="800"/>
              </a:spcAft>
              <a:buFont typeface="+mj-lt"/>
              <a:buAutoNum type="arabicPeriod"/>
            </a:pPr>
            <a:r>
              <a:rPr sz="1600" b="1"/>
              <a:t>Ejecución</a:t>
            </a:r>
            <a:r>
              <a:rPr sz="1600"/>
              <a:t>: agentes invocados, reglas y decisiones intermedias.</a:t>
            </a:r>
          </a:p>
          <a:p>
            <a:pPr>
              <a:lnSpc>
                <a:spcPct val="140000"/>
              </a:lnSpc>
              <a:spcAft>
                <a:spcPts val="800"/>
              </a:spcAft>
              <a:buFont typeface="+mj-lt"/>
              <a:buAutoNum type="arabicPeriod"/>
            </a:pPr>
            <a:r>
              <a:rPr sz="1600" b="1"/>
              <a:t>Conocimiento</a:t>
            </a:r>
            <a:r>
              <a:rPr sz="1600"/>
              <a:t>: fuentes consultadas y su relevancia.</a:t>
            </a:r>
          </a:p>
          <a:p>
            <a:pPr>
              <a:lnSpc>
                <a:spcPct val="140000"/>
              </a:lnSpc>
              <a:spcAft>
                <a:spcPts val="800"/>
              </a:spcAft>
              <a:buFont typeface="+mj-lt"/>
              <a:buAutoNum type="arabicPeriod"/>
            </a:pPr>
            <a:r>
              <a:rPr sz="1600" b="1"/>
              <a:t>Modelo</a:t>
            </a:r>
            <a:r>
              <a:rPr sz="1600"/>
              <a:t>: prompt, respuesta, latencia y tokens.</a:t>
            </a:r>
          </a:p>
          <a:p>
            <a:pPr>
              <a:lnSpc>
                <a:spcPct val="140000"/>
              </a:lnSpc>
              <a:spcAft>
                <a:spcPts val="800"/>
              </a:spcAft>
              <a:buFont typeface="+mj-lt"/>
              <a:buAutoNum type="arabicPeriod"/>
            </a:pPr>
            <a:r>
              <a:rPr sz="1600" b="1"/>
              <a:t>Acción</a:t>
            </a:r>
            <a:r>
              <a:rPr sz="1600"/>
              <a:t>: lo que se ejecutó en los sistemas de negocio.</a:t>
            </a:r>
          </a:p>
          <a:p>
            <a:pPr>
              <a:lnSpc>
                <a:spcPct val="140000"/>
              </a:lnSpc>
              <a:spcAft>
                <a:spcPts val="800"/>
              </a:spcAft>
              <a:buFont typeface="+mj-lt"/>
              <a:buAutoNum type="arabicPeriod"/>
            </a:pPr>
            <a:r>
              <a:rPr sz="1600" b="1"/>
              <a:t>Resultado</a:t>
            </a:r>
            <a:r>
              <a:rPr sz="1600"/>
              <a:t>: decisión final, escalado y corrección humana.</a:t>
            </a:r>
          </a:p>
        </p:txBody>
      </p:sp>
      <p:sp>
        <p:nvSpPr>
          <p:cNvPr id="4" name="Content Placeholder 3"/>
          <p:cNvSpPr>
            <a:spLocks noGrp="1"/>
          </p:cNvSpPr>
          <p:nvPr>
            <p:ph idx="10"/>
          </p:nvPr>
        </p:nvSpPr>
        <p:spPr>
          <a:xfrm>
            <a:off x="484632" y="1307592"/>
            <a:ext cx="5861304" cy="701040"/>
          </a:xfrm>
        </p:spPr>
        <p:txBody>
          <a:bodyPr anchor="t">
            <a:noAutofit/>
          </a:bodyPr>
          <a:lstStyle/>
          <a:p>
            <a:r>
              <a:t>Con un solo identificador: qué pasó con este caso, quién decidió y cuánto costó.</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03-trazabilidad.png"/>
          <p:cNvPicPr>
            <a:picLocks noChangeAspect="1"/>
          </p:cNvPicPr>
          <p:nvPr/>
        </p:nvPicPr>
        <p:blipFill>
          <a:blip r:embed="rId3"/>
          <a:stretch>
            <a:fillRect/>
          </a:stretch>
        </p:blipFill>
        <p:spPr>
          <a:xfrm>
            <a:off x="6364224" y="1307592"/>
            <a:ext cx="5440679" cy="3400424"/>
          </a:xfrm>
          <a:prstGeom prst="rect">
            <a:avLst/>
          </a:prstGeom>
          <a:ln>
            <a:solidFill>
              <a:schemeClr val="bg1">
                <a:lumMod val="50000"/>
              </a:schemeClr>
            </a:solidFill>
          </a:ln>
        </p:spPr>
      </p:pic>
      <p:sp>
        <p:nvSpPr>
          <p:cNvPr id="14" name="TextBox 13"/>
          <p:cNvSpPr txBox="1"/>
          <p:nvPr/>
        </p:nvSpPr>
        <p:spPr>
          <a:xfrm>
            <a:off x="6345936" y="4863465"/>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Traza de un mensaje: cascada de agentes, datos de la traza y override humano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03-trazabilidad.png"/>
          <p:cNvPicPr>
            <a:picLocks noChangeAspect="1"/>
          </p:cNvPicPr>
          <p:nvPr/>
        </p:nvPicPr>
        <p:blipFill>
          <a:blip r:embed="rId3"/>
          <a:stretch>
            <a:fillRect/>
          </a:stretch>
        </p:blipFill>
        <p:spPr>
          <a:xfrm>
            <a:off x="228600" y="365760"/>
            <a:ext cx="9699955" cy="6062472"/>
          </a:xfrm>
          <a:prstGeom prst="rect">
            <a:avLst/>
          </a:prstGeom>
          <a:ln>
            <a:solidFill>
              <a:schemeClr val="bg1">
                <a:lumMod val="50000"/>
              </a:schemeClr>
            </a:solidFill>
          </a:ln>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4021327" cy="429768"/>
          </a:xfrm>
        </p:spPr>
        <p:txBody>
          <a:bodyPr wrap="none"/>
          <a:lstStyle/>
          <a:p>
            <a:r>
              <a:rPr sz="2600"/>
              <a:t>Entender: explicabilidad</a:t>
            </a:r>
          </a:p>
        </p:txBody>
      </p:sp>
      <p:sp>
        <p:nvSpPr>
          <p:cNvPr id="3" name="Content Placeholder 2"/>
          <p:cNvSpPr>
            <a:spLocks noGrp="1"/>
          </p:cNvSpPr>
          <p:nvPr>
            <p:ph idx="1"/>
          </p:nvPr>
        </p:nvSpPr>
        <p:spPr>
          <a:xfrm>
            <a:off x="484632" y="1932432"/>
            <a:ext cx="5861304" cy="4331208"/>
          </a:xfrm>
        </p:spPr>
        <p:txBody>
          <a:bodyPr anchor="t">
            <a:noAutofit/>
          </a:bodyPr>
          <a:lstStyle/>
          <a:p>
            <a:pPr>
              <a:lnSpc>
                <a:spcPct val="140000"/>
              </a:lnSpc>
              <a:spcAft>
                <a:spcPts val="1000"/>
              </a:spcAft>
              <a:buClr>
                <a:srgbClr val="FF1414"/>
              </a:buClr>
              <a:buFont typeface="Arial"/>
              <a:buChar char="►"/>
            </a:pPr>
            <a:r>
              <a:rPr sz="1800" b="1"/>
              <a:t>En lenguaje de negocio, no de log</a:t>
            </a:r>
            <a:r>
              <a:rPr sz="1800"/>
              <a:t>: qué llegó, qué hizo cada agente, qué se decidió y por qué.</a:t>
            </a:r>
          </a:p>
          <a:p>
            <a:pPr>
              <a:lnSpc>
                <a:spcPct val="140000"/>
              </a:lnSpc>
              <a:spcAft>
                <a:spcPts val="1000"/>
              </a:spcAft>
              <a:buClr>
                <a:srgbClr val="FF1414"/>
              </a:buClr>
              <a:buFont typeface="Arial"/>
              <a:buChar char="►"/>
            </a:pPr>
            <a:r>
              <a:rPr sz="1800" b="1"/>
              <a:t>Con la evidencia</a:t>
            </a:r>
            <a:r>
              <a:rPr sz="1800"/>
              <a:t>: la regla incumplida y el dato que falta, enlazados a la traza.</a:t>
            </a:r>
          </a:p>
          <a:p>
            <a:pPr>
              <a:lnSpc>
                <a:spcPct val="140000"/>
              </a:lnSpc>
              <a:spcAft>
                <a:spcPts val="1000"/>
              </a:spcAft>
              <a:buClr>
                <a:srgbClr val="FF1414"/>
              </a:buClr>
              <a:buFont typeface="Arial"/>
              <a:buChar char="►"/>
            </a:pPr>
            <a:r>
              <a:rPr sz="1800" b="1"/>
              <a:t>Para quien no es técnico</a:t>
            </a:r>
            <a:r>
              <a:rPr sz="1800"/>
              <a:t>: operación, atención al cliente, riesgos y auditoría.</a:t>
            </a:r>
          </a:p>
          <a:p>
            <a:pPr>
              <a:lnSpc>
                <a:spcPct val="140000"/>
              </a:lnSpc>
              <a:spcAft>
                <a:spcPts val="1000"/>
              </a:spcAft>
              <a:buClr>
                <a:srgbClr val="FF1414"/>
              </a:buClr>
              <a:buFont typeface="Arial"/>
              <a:buChar char="►"/>
            </a:pPr>
            <a:r>
              <a:rPr sz="1800" b="1"/>
              <a:t>Ejemplo</a:t>
            </a:r>
            <a:r>
              <a:rPr sz="1800"/>
              <a:t>: «Robo en vivienda sin denuncia ni relación de objetos: falta información esencial; se solicita la denuncia y se envía perito».</a:t>
            </a:r>
          </a:p>
        </p:txBody>
      </p:sp>
      <p:sp>
        <p:nvSpPr>
          <p:cNvPr id="4" name="Content Placeholder 3"/>
          <p:cNvSpPr>
            <a:spLocks noGrp="1"/>
          </p:cNvSpPr>
          <p:nvPr>
            <p:ph idx="10"/>
          </p:nvPr>
        </p:nvSpPr>
        <p:spPr>
          <a:xfrm>
            <a:off x="484632" y="1307592"/>
            <a:ext cx="5861304" cy="396240"/>
          </a:xfrm>
        </p:spPr>
        <p:txBody>
          <a:bodyPr anchor="t">
            <a:noAutofit/>
          </a:bodyPr>
          <a:lstStyle/>
          <a:p>
            <a:r>
              <a:t>Si el cliente pregunta por qué, la respuesta está aquí.</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04-traza-explicada.png"/>
          <p:cNvPicPr>
            <a:picLocks noChangeAspect="1"/>
          </p:cNvPicPr>
          <p:nvPr/>
        </p:nvPicPr>
        <p:blipFill>
          <a:blip r:embed="rId3"/>
          <a:stretch>
            <a:fillRect/>
          </a:stretch>
        </p:blipFill>
        <p:spPr>
          <a:xfrm>
            <a:off x="6364224" y="1307592"/>
            <a:ext cx="5440680" cy="3789045"/>
          </a:xfrm>
          <a:prstGeom prst="rect">
            <a:avLst/>
          </a:prstGeom>
          <a:ln>
            <a:solidFill>
              <a:schemeClr val="bg1">
                <a:lumMod val="50000"/>
              </a:schemeClr>
            </a:solidFill>
          </a:ln>
        </p:spPr>
      </p:pic>
      <p:sp>
        <p:nvSpPr>
          <p:cNvPr id="14" name="TextBox 13"/>
          <p:cNvSpPr txBox="1"/>
          <p:nvPr/>
        </p:nvSpPr>
        <p:spPr>
          <a:xfrm>
            <a:off x="6345936" y="5252085"/>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Ficha explicada: qué llegó, qué hizo cada agente y por qué se escaló</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04-traza-explicada.png"/>
          <p:cNvPicPr>
            <a:picLocks noChangeAspect="1"/>
          </p:cNvPicPr>
          <p:nvPr/>
        </p:nvPicPr>
        <p:blipFill>
          <a:blip r:embed="rId3"/>
          <a:stretch>
            <a:fillRect/>
          </a:stretch>
        </p:blipFill>
        <p:spPr>
          <a:xfrm>
            <a:off x="228600" y="365759"/>
            <a:ext cx="8705088" cy="6062472"/>
          </a:xfrm>
          <a:prstGeom prst="rect">
            <a:avLst/>
          </a:prstGeom>
          <a:ln>
            <a:solidFill>
              <a:schemeClr val="bg1">
                <a:lumMod val="50000"/>
              </a:schemeClr>
            </a:solidFill>
          </a:ln>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5309108" cy="429768"/>
          </a:xfrm>
        </p:spPr>
        <p:txBody>
          <a:bodyPr wrap="none"/>
          <a:lstStyle/>
          <a:p>
            <a:r>
              <a:rPr sz="2600"/>
              <a:t>Entender: evidencias verificadas</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1000"/>
              </a:spcAft>
              <a:buClr>
                <a:srgbClr val="FF1414"/>
              </a:buClr>
              <a:buFont typeface="Arial"/>
              <a:buChar char="►"/>
            </a:pPr>
            <a:r>
              <a:rPr sz="1800" b="1"/>
              <a:t>El modelo cita, la plataforma comprueba</a:t>
            </a:r>
            <a:r>
              <a:rPr sz="1800"/>
              <a:t>: solo se resalta una cita que aparece de verdad en el mensaje.</a:t>
            </a:r>
          </a:p>
          <a:p>
            <a:pPr>
              <a:lnSpc>
                <a:spcPct val="140000"/>
              </a:lnSpc>
              <a:spcAft>
                <a:spcPts val="1000"/>
              </a:spcAft>
              <a:buClr>
                <a:srgbClr val="FF1414"/>
              </a:buClr>
              <a:buFont typeface="Arial"/>
              <a:buChar char="►"/>
            </a:pPr>
            <a:r>
              <a:rPr sz="1800" b="1"/>
              <a:t>Un color por tipo de evidencia</a:t>
            </a:r>
            <a:r>
              <a:rPr sz="1800"/>
              <a:t>: ramo, dato extraído, fecha, regla que se cumple y regla que se incumple.</a:t>
            </a:r>
          </a:p>
          <a:p>
            <a:pPr>
              <a:lnSpc>
                <a:spcPct val="140000"/>
              </a:lnSpc>
              <a:spcAft>
                <a:spcPts val="1000"/>
              </a:spcAft>
              <a:buClr>
                <a:srgbClr val="FF1414"/>
              </a:buClr>
              <a:buFont typeface="Arial"/>
              <a:buChar char="►"/>
            </a:pPr>
            <a:r>
              <a:rPr sz="1800" b="1"/>
              <a:t>Lo que falta, también</a:t>
            </a:r>
            <a:r>
              <a:rPr sz="1800"/>
              <a:t>: si un dato esencial no está en el texto, se marca «no consta» y no se inventa.</a:t>
            </a:r>
          </a:p>
        </p:txBody>
      </p:sp>
      <p:sp>
        <p:nvSpPr>
          <p:cNvPr id="4" name="Content Placeholder 3"/>
          <p:cNvSpPr>
            <a:spLocks noGrp="1"/>
          </p:cNvSpPr>
          <p:nvPr>
            <p:ph idx="10"/>
          </p:nvPr>
        </p:nvSpPr>
        <p:spPr>
          <a:xfrm>
            <a:off x="484632" y="1307592"/>
            <a:ext cx="5861304" cy="701040"/>
          </a:xfrm>
        </p:spPr>
        <p:txBody>
          <a:bodyPr anchor="t">
            <a:noAutofit/>
          </a:bodyPr>
          <a:lstStyle/>
          <a:p>
            <a:r>
              <a:t>Cada dato y cada regla, con la frase literal del cliente que lo prueba.</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41-evidencias.png"/>
          <p:cNvPicPr>
            <a:picLocks noChangeAspect="1"/>
          </p:cNvPicPr>
          <p:nvPr/>
        </p:nvPicPr>
        <p:blipFill>
          <a:blip r:embed="rId3"/>
          <a:stretch>
            <a:fillRect/>
          </a:stretch>
        </p:blipFill>
        <p:spPr>
          <a:xfrm>
            <a:off x="6364224" y="1307592"/>
            <a:ext cx="5440680" cy="3789045"/>
          </a:xfrm>
          <a:prstGeom prst="rect">
            <a:avLst/>
          </a:prstGeom>
          <a:ln>
            <a:solidFill>
              <a:schemeClr val="bg1">
                <a:lumMod val="50000"/>
              </a:schemeClr>
            </a:solidFill>
          </a:ln>
        </p:spPr>
      </p:pic>
      <p:sp>
        <p:nvSpPr>
          <p:cNvPr id="14" name="TextBox 13"/>
          <p:cNvSpPr txBox="1"/>
          <p:nvPr/>
        </p:nvSpPr>
        <p:spPr>
          <a:xfrm>
            <a:off x="6345936" y="5252085"/>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Ficha del mensaje: diez evidencias resaltadas y la regla A5 que lo manda a revisión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41-evidencias.png"/>
          <p:cNvPicPr>
            <a:picLocks noChangeAspect="1"/>
          </p:cNvPicPr>
          <p:nvPr/>
        </p:nvPicPr>
        <p:blipFill>
          <a:blip r:embed="rId3"/>
          <a:stretch>
            <a:fillRect/>
          </a:stretch>
        </p:blipFill>
        <p:spPr>
          <a:xfrm>
            <a:off x="228600" y="365759"/>
            <a:ext cx="8705088" cy="6062472"/>
          </a:xfrm>
          <a:prstGeom prst="rect">
            <a:avLst/>
          </a:prstGeom>
          <a:ln>
            <a:solidFill>
              <a:schemeClr val="bg1">
                <a:lumMod val="50000"/>
              </a:schemeClr>
            </a:solidFill>
          </a:ln>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6581648" cy="429768"/>
          </a:xfrm>
        </p:spPr>
        <p:txBody>
          <a:bodyPr wrap="none"/>
          <a:lstStyle/>
          <a:p>
            <a:r>
              <a:rPr sz="2600"/>
              <a:t>Entender: razonamiento y replay what-if</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1000"/>
              </a:spcAft>
              <a:buClr>
                <a:srgbClr val="FF1414"/>
              </a:buClr>
              <a:buFont typeface="Arial"/>
              <a:buChar char="►"/>
            </a:pPr>
            <a:r>
              <a:rPr sz="1800" b="1"/>
              <a:t>Razonamiento registrado</a:t>
            </a:r>
            <a:r>
              <a:rPr sz="1800"/>
              <a:t>: entrada, pasos y salida de cada agente.</a:t>
            </a:r>
          </a:p>
          <a:p>
            <a:pPr>
              <a:lnSpc>
                <a:spcPct val="140000"/>
              </a:lnSpc>
              <a:spcAft>
                <a:spcPts val="1000"/>
              </a:spcAft>
              <a:buClr>
                <a:srgbClr val="FF1414"/>
              </a:buClr>
              <a:buFont typeface="Arial"/>
              <a:buChar char="►"/>
            </a:pPr>
            <a:r>
              <a:rPr sz="1800" b="1"/>
              <a:t>Replay idéntico</a:t>
            </a:r>
            <a:r>
              <a:rPr sz="1800"/>
              <a:t>: reproduce una decisión pasada para verificar que el resultado es estable.</a:t>
            </a:r>
          </a:p>
          <a:p>
            <a:pPr>
              <a:lnSpc>
                <a:spcPct val="140000"/>
              </a:lnSpc>
              <a:spcAft>
                <a:spcPts val="1000"/>
              </a:spcAft>
              <a:buClr>
                <a:srgbClr val="FF1414"/>
              </a:buClr>
              <a:buFont typeface="Arial"/>
              <a:buChar char="►"/>
            </a:pPr>
            <a:r>
              <a:rPr sz="1800" b="1"/>
              <a:t>What-if</a:t>
            </a:r>
            <a:r>
              <a:rPr sz="1800"/>
              <a:t>: la reproduce con otro modelo o prompt y compara decisión, coste y latencia.</a:t>
            </a:r>
          </a:p>
          <a:p>
            <a:pPr>
              <a:lnSpc>
                <a:spcPct val="140000"/>
              </a:lnSpc>
              <a:spcAft>
                <a:spcPts val="1000"/>
              </a:spcAft>
              <a:buClr>
                <a:srgbClr val="FF1414"/>
              </a:buClr>
              <a:buFont typeface="Arial"/>
              <a:buChar char="►"/>
            </a:pPr>
            <a:r>
              <a:rPr sz="1800" b="1"/>
              <a:t>Ejemplo</a:t>
            </a:r>
            <a:r>
              <a:rPr sz="1800"/>
              <a:t>: con un modelo más pequeño en Reglas, misma decisión, −82 % de coste y −41 % de latencia.</a:t>
            </a:r>
          </a:p>
        </p:txBody>
      </p:sp>
      <p:sp>
        <p:nvSpPr>
          <p:cNvPr id="4" name="Content Placeholder 3"/>
          <p:cNvSpPr>
            <a:spLocks noGrp="1"/>
          </p:cNvSpPr>
          <p:nvPr>
            <p:ph idx="10"/>
          </p:nvPr>
        </p:nvSpPr>
        <p:spPr>
          <a:xfrm>
            <a:off x="484632" y="1307592"/>
            <a:ext cx="5861304" cy="701040"/>
          </a:xfrm>
        </p:spPr>
        <p:txBody>
          <a:bodyPr anchor="t">
            <a:noAutofit/>
          </a:bodyPr>
          <a:lstStyle/>
          <a:p>
            <a:r>
              <a:t>Cada cambio se prueba antes de desplegarlo, y la prueba queda registrada.</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c21-replay.png"/>
          <p:cNvPicPr>
            <a:picLocks noChangeAspect="1"/>
          </p:cNvPicPr>
          <p:nvPr/>
        </p:nvPicPr>
        <p:blipFill>
          <a:blip r:embed="rId3"/>
          <a:stretch>
            <a:fillRect/>
          </a:stretch>
        </p:blipFill>
        <p:spPr>
          <a:xfrm>
            <a:off x="6364224" y="1307592"/>
            <a:ext cx="4356775" cy="4105656"/>
          </a:xfrm>
          <a:prstGeom prst="rect">
            <a:avLst/>
          </a:prstGeom>
          <a:ln>
            <a:solidFill>
              <a:schemeClr val="bg1">
                <a:lumMod val="50000"/>
              </a:schemeClr>
            </a:solidFill>
          </a:ln>
        </p:spPr>
      </p:pic>
      <p:sp>
        <p:nvSpPr>
          <p:cNvPr id="14" name="TextBox 13"/>
          <p:cNvSpPr txBox="1"/>
          <p:nvPr/>
        </p:nvSpPr>
        <p:spPr>
          <a:xfrm>
            <a:off x="6345936" y="5568696"/>
            <a:ext cx="5696712" cy="694944"/>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Arriba: Razonamiento registrado por agente: entrada, pasos y salida. Abajo: Replay What-if: misma decisión con un modelo más pequeño.</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05-reasoning-replay.png"/>
          <p:cNvPicPr>
            <a:picLocks noChangeAspect="1"/>
          </p:cNvPicPr>
          <p:nvPr/>
        </p:nvPicPr>
        <p:blipFill>
          <a:blip r:embed="rId3"/>
          <a:stretch>
            <a:fillRect/>
          </a:stretch>
        </p:blipFill>
        <p:spPr>
          <a:xfrm>
            <a:off x="228600" y="365760"/>
            <a:ext cx="9699955" cy="6062472"/>
          </a:xfrm>
          <a:prstGeom prst="rect">
            <a:avLst/>
          </a:prstGeom>
          <a:ln>
            <a:solidFill>
              <a:schemeClr val="bg1">
                <a:lumMod val="50000"/>
              </a:schemeClr>
            </a:solidFill>
          </a:ln>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05b-replay-diff.png"/>
          <p:cNvPicPr>
            <a:picLocks noChangeAspect="1"/>
          </p:cNvPicPr>
          <p:nvPr/>
        </p:nvPicPr>
        <p:blipFill>
          <a:blip r:embed="rId3"/>
          <a:stretch>
            <a:fillRect/>
          </a:stretch>
        </p:blipFill>
        <p:spPr>
          <a:xfrm>
            <a:off x="228600" y="1918989"/>
            <a:ext cx="9701784" cy="2956012"/>
          </a:xfrm>
          <a:prstGeom prst="rect">
            <a:avLst/>
          </a:prstGeom>
          <a:ln>
            <a:solidFill>
              <a:schemeClr val="bg1">
                <a:lumMod val="50000"/>
              </a:schemeClr>
            </a:solidFill>
          </a:ln>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6631177" cy="429768"/>
          </a:xfrm>
        </p:spPr>
        <p:txBody>
          <a:bodyPr wrap="none"/>
          <a:lstStyle/>
          <a:p>
            <a:r>
              <a:rPr sz="2600"/>
              <a:t>Entender: causa raíz del comportamiento</a:t>
            </a:r>
          </a:p>
        </p:txBody>
      </p:sp>
      <p:sp>
        <p:nvSpPr>
          <p:cNvPr id="3" name="Content Placeholder 2"/>
          <p:cNvSpPr>
            <a:spLocks noGrp="1"/>
          </p:cNvSpPr>
          <p:nvPr>
            <p:ph idx="1"/>
          </p:nvPr>
        </p:nvSpPr>
        <p:spPr>
          <a:xfrm>
            <a:off x="484632" y="1932432"/>
            <a:ext cx="5431536" cy="4331208"/>
          </a:xfrm>
        </p:spPr>
        <p:txBody>
          <a:bodyPr anchor="t">
            <a:noAutofit/>
          </a:bodyPr>
          <a:lstStyle/>
          <a:p>
            <a:pPr marL="0" indent="0">
              <a:lnSpc>
                <a:spcPct val="120000"/>
              </a:lnSpc>
              <a:spcBef>
                <a:spcPts val="400"/>
              </a:spcBef>
              <a:spcAft>
                <a:spcPts val="800"/>
              </a:spcAft>
              <a:buNone/>
            </a:pPr>
            <a:r>
              <a:rPr sz="1800" b="1">
                <a:solidFill>
                  <a:srgbClr val="194BFF"/>
                </a:solidFill>
                <a:latin typeface="Montserrat"/>
              </a:rPr>
              <a:t>Causas posibles</a:t>
            </a:r>
          </a:p>
          <a:p>
            <a:pPr>
              <a:lnSpc>
                <a:spcPct val="140000"/>
              </a:lnSpc>
              <a:spcAft>
                <a:spcPts val="800"/>
              </a:spcAft>
              <a:buClr>
                <a:srgbClr val="FF1414"/>
              </a:buClr>
              <a:buFont typeface="Arial"/>
              <a:buChar char="►"/>
            </a:pPr>
            <a:r>
              <a:rPr sz="1600"/>
              <a:t>Se interpretó mal la intención.</a:t>
            </a:r>
          </a:p>
          <a:p>
            <a:pPr>
              <a:lnSpc>
                <a:spcPct val="140000"/>
              </a:lnSpc>
              <a:spcAft>
                <a:spcPts val="800"/>
              </a:spcAft>
              <a:buClr>
                <a:srgbClr val="FF1414"/>
              </a:buClr>
              <a:buFont typeface="Arial"/>
              <a:buChar char="►"/>
            </a:pPr>
            <a:r>
              <a:rPr sz="1600"/>
              <a:t>El conocimiento recuperado era incorrecto o insuficiente.</a:t>
            </a:r>
          </a:p>
          <a:p>
            <a:pPr>
              <a:lnSpc>
                <a:spcPct val="140000"/>
              </a:lnSpc>
              <a:spcAft>
                <a:spcPts val="800"/>
              </a:spcAft>
              <a:buClr>
                <a:srgbClr val="FF1414"/>
              </a:buClr>
              <a:buFont typeface="Arial"/>
              <a:buChar char="►"/>
            </a:pPr>
            <a:r>
              <a:rPr sz="1600"/>
              <a:t>La base documental estaba desactualizada.</a:t>
            </a:r>
          </a:p>
          <a:p>
            <a:pPr>
              <a:lnSpc>
                <a:spcPct val="140000"/>
              </a:lnSpc>
              <a:spcAft>
                <a:spcPts val="800"/>
              </a:spcAft>
              <a:buClr>
                <a:srgbClr val="FF1414"/>
              </a:buClr>
              <a:buFont typeface="Arial"/>
              <a:buChar char="►"/>
            </a:pPr>
            <a:r>
              <a:rPr sz="1600"/>
              <a:t>El modelo hizo una inferencia inconsistente.</a:t>
            </a:r>
          </a:p>
          <a:p>
            <a:pPr>
              <a:lnSpc>
                <a:spcPct val="140000"/>
              </a:lnSpc>
              <a:spcAft>
                <a:spcPts val="800"/>
              </a:spcAft>
              <a:buClr>
                <a:srgbClr val="FF1414"/>
              </a:buClr>
              <a:buFont typeface="Arial"/>
              <a:buChar char="►"/>
            </a:pPr>
            <a:r>
              <a:rPr sz="1600"/>
              <a:t>Las reglas de validación no cubrían el caso.</a:t>
            </a:r>
          </a:p>
          <a:p>
            <a:pPr>
              <a:lnSpc>
                <a:spcPct val="140000"/>
              </a:lnSpc>
              <a:spcAft>
                <a:spcPts val="800"/>
              </a:spcAft>
              <a:buClr>
                <a:srgbClr val="FF1414"/>
              </a:buClr>
              <a:buFont typeface="Arial"/>
              <a:buChar char="►"/>
            </a:pPr>
            <a:r>
              <a:rPr sz="1600"/>
              <a:t>Hubo un fallo técnico o de integración.</a:t>
            </a:r>
          </a:p>
          <a:p>
            <a:pPr>
              <a:lnSpc>
                <a:spcPct val="140000"/>
              </a:lnSpc>
              <a:spcAft>
                <a:spcPts val="800"/>
              </a:spcAft>
              <a:buClr>
                <a:srgbClr val="FF1414"/>
              </a:buClr>
              <a:buFont typeface="Arial"/>
              <a:buChar char="►"/>
            </a:pPr>
            <a:r>
              <a:rPr sz="1600"/>
              <a:t>El nivel de autonomía no era el adecuado.</a:t>
            </a:r>
          </a:p>
        </p:txBody>
      </p:sp>
      <p:sp>
        <p:nvSpPr>
          <p:cNvPr id="4" name="Content Placeholder 3"/>
          <p:cNvSpPr>
            <a:spLocks noGrp="1"/>
          </p:cNvSpPr>
          <p:nvPr>
            <p:ph idx="10"/>
          </p:nvPr>
        </p:nvSpPr>
        <p:spPr>
          <a:xfrm>
            <a:off x="484632" y="1307592"/>
            <a:ext cx="11228832" cy="396240"/>
          </a:xfrm>
        </p:spPr>
        <p:txBody>
          <a:bodyPr anchor="t">
            <a:noAutofit/>
          </a:bodyPr>
          <a:lstStyle/>
          <a:p>
            <a:r>
              <a:t>¿Por qué se equivocó el agente? Cada causa tiene una solución distinta.</a:t>
            </a:r>
          </a:p>
        </p:txBody>
      </p:sp>
      <p:sp>
        <p:nvSpPr>
          <p:cNvPr id="5" name="Content Placeholder 4"/>
          <p:cNvSpPr>
            <a:spLocks noGrp="1"/>
          </p:cNvSpPr>
          <p:nvPr>
            <p:ph idx="11"/>
          </p:nvPr>
        </p:nvSpPr>
        <p:spPr>
          <a:xfrm>
            <a:off x="6281928" y="1932432"/>
            <a:ext cx="5431536" cy="4331208"/>
          </a:xfrm>
        </p:spPr>
        <p:txBody>
          <a:bodyPr anchor="t">
            <a:noAutofit/>
          </a:bodyPr>
          <a:lstStyle/>
          <a:p>
            <a:pPr marL="0" indent="0">
              <a:lnSpc>
                <a:spcPct val="120000"/>
              </a:lnSpc>
              <a:spcBef>
                <a:spcPts val="400"/>
              </a:spcBef>
              <a:spcAft>
                <a:spcPts val="800"/>
              </a:spcAft>
              <a:buNone/>
            </a:pPr>
            <a:r>
              <a:rPr sz="1800" b="1">
                <a:solidFill>
                  <a:srgbClr val="194BFF"/>
                </a:solidFill>
                <a:latin typeface="Montserrat"/>
              </a:rPr>
              <a:t>Qué se obtiene</a:t>
            </a:r>
          </a:p>
          <a:p>
            <a:pPr>
              <a:lnSpc>
                <a:spcPct val="140000"/>
              </a:lnSpc>
              <a:spcAft>
                <a:spcPts val="800"/>
              </a:spcAft>
              <a:buClr>
                <a:srgbClr val="FF1414"/>
              </a:buClr>
              <a:buFont typeface="Arial"/>
              <a:buChar char="►"/>
            </a:pPr>
            <a:r>
              <a:rPr sz="1600"/>
              <a:t>Patrones de error.</a:t>
            </a:r>
          </a:p>
          <a:p>
            <a:pPr>
              <a:lnSpc>
                <a:spcPct val="140000"/>
              </a:lnSpc>
              <a:spcAft>
                <a:spcPts val="800"/>
              </a:spcAft>
              <a:buClr>
                <a:srgbClr val="FF1414"/>
              </a:buClr>
              <a:buFont typeface="Arial"/>
              <a:buChar char="►"/>
            </a:pPr>
            <a:r>
              <a:rPr sz="1600"/>
              <a:t>Procedimientos que no funcionan.</a:t>
            </a:r>
          </a:p>
          <a:p>
            <a:pPr>
              <a:lnSpc>
                <a:spcPct val="140000"/>
              </a:lnSpc>
              <a:spcAft>
                <a:spcPts val="800"/>
              </a:spcAft>
              <a:buClr>
                <a:srgbClr val="FF1414"/>
              </a:buClr>
              <a:buFont typeface="Arial"/>
              <a:buChar char="►"/>
            </a:pPr>
            <a:r>
              <a:rPr sz="1600"/>
              <a:t>Casos que necesitan más intervención humana.</a:t>
            </a:r>
          </a:p>
          <a:p>
            <a:pPr>
              <a:lnSpc>
                <a:spcPct val="140000"/>
              </a:lnSpc>
              <a:spcAft>
                <a:spcPts val="800"/>
              </a:spcAft>
              <a:buClr>
                <a:srgbClr val="FF1414"/>
              </a:buClr>
              <a:buFont typeface="Arial"/>
              <a:buChar char="►"/>
            </a:pPr>
            <a:r>
              <a:rPr sz="1600"/>
              <a:t>Mejoras concretas de prompts, reglas o conocimiento.</a:t>
            </a:r>
          </a:p>
        </p:txBody>
      </p:sp>
      <p:sp>
        <p:nvSpPr>
          <p:cNvPr id="14" name="Slide Number Placeholder 5">
            <a:extLst>
              <a:ext uri="{FF2B5EF4-FFF2-40B4-BE49-F238E27FC236}">
                <a16:creationId xmlns:a16="http://schemas.microsoft.com/office/drawing/2014/main" id="{51E2588A-F550-C104-3508-8B4A40320581}"/>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6549898" cy="429768"/>
          </a:xfrm>
        </p:spPr>
        <p:txBody>
          <a:bodyPr wrap="none"/>
          <a:lstStyle/>
          <a:p>
            <a:r>
              <a:rPr sz="2600"/>
              <a:t>Limitar: identidad y permisos por agente</a:t>
            </a:r>
          </a:p>
        </p:txBody>
      </p:sp>
      <p:sp>
        <p:nvSpPr>
          <p:cNvPr id="3" name="Content Placeholder 2"/>
          <p:cNvSpPr>
            <a:spLocks noGrp="1"/>
          </p:cNvSpPr>
          <p:nvPr>
            <p:ph idx="1"/>
          </p:nvPr>
        </p:nvSpPr>
        <p:spPr>
          <a:xfrm>
            <a:off x="484632" y="1932432"/>
            <a:ext cx="5861304" cy="4331208"/>
          </a:xfrm>
        </p:spPr>
        <p:txBody>
          <a:bodyPr anchor="t">
            <a:noAutofit/>
          </a:bodyPr>
          <a:lstStyle/>
          <a:p>
            <a:pPr>
              <a:lnSpc>
                <a:spcPct val="140000"/>
              </a:lnSpc>
              <a:spcAft>
                <a:spcPts val="800"/>
              </a:spcAft>
              <a:buClr>
                <a:srgbClr val="FF1414"/>
              </a:buClr>
              <a:buFont typeface="Arial"/>
              <a:buChar char="►"/>
            </a:pPr>
            <a:r>
              <a:rPr sz="1600" b="1"/>
              <a:t>Identidad propia</a:t>
            </a:r>
            <a:r>
              <a:rPr sz="1600"/>
              <a:t>: credencial administrada, sin secretos en el código.</a:t>
            </a:r>
          </a:p>
          <a:p>
            <a:pPr>
              <a:lnSpc>
                <a:spcPct val="140000"/>
              </a:lnSpc>
              <a:spcAft>
                <a:spcPts val="800"/>
              </a:spcAft>
              <a:buClr>
                <a:srgbClr val="FF1414"/>
              </a:buClr>
              <a:buFont typeface="Arial"/>
              <a:buChar char="►"/>
            </a:pPr>
            <a:r>
              <a:rPr sz="1600" b="1"/>
              <a:t>Un responsable</a:t>
            </a:r>
            <a:r>
              <a:rPr sz="1600"/>
              <a:t>: un área de negocio y un comité que responden del agente.</a:t>
            </a:r>
          </a:p>
          <a:p>
            <a:pPr>
              <a:lnSpc>
                <a:spcPct val="140000"/>
              </a:lnSpc>
              <a:spcAft>
                <a:spcPts val="800"/>
              </a:spcAft>
              <a:buClr>
                <a:srgbClr val="FF1414"/>
              </a:buClr>
              <a:buFont typeface="Arial"/>
              <a:buChar char="►"/>
            </a:pPr>
            <a:r>
              <a:rPr sz="1600" b="1"/>
              <a:t>Datos que trata y dónde</a:t>
            </a:r>
            <a:r>
              <a:rPr sz="1600"/>
              <a:t>: proveedor del modelo y región.</a:t>
            </a:r>
          </a:p>
          <a:p>
            <a:pPr>
              <a:lnSpc>
                <a:spcPct val="140000"/>
              </a:lnSpc>
              <a:spcAft>
                <a:spcPts val="800"/>
              </a:spcAft>
              <a:buClr>
                <a:srgbClr val="FF1414"/>
              </a:buClr>
              <a:buFont typeface="Arial"/>
              <a:buChar char="►"/>
            </a:pPr>
            <a:r>
              <a:rPr sz="1600" b="1"/>
              <a:t>Qué puede y qué no</a:t>
            </a:r>
            <a:r>
              <a:rPr sz="1600"/>
              <a:t>: el agente de Reglas propone, pero no puede ordenar pagos ni rechazar un siniestro.</a:t>
            </a:r>
          </a:p>
          <a:p>
            <a:pPr>
              <a:lnSpc>
                <a:spcPct val="140000"/>
              </a:lnSpc>
              <a:spcAft>
                <a:spcPts val="800"/>
              </a:spcAft>
              <a:buClr>
                <a:srgbClr val="FF1414"/>
              </a:buClr>
              <a:buFont typeface="Arial"/>
              <a:buChar char="►"/>
            </a:pPr>
            <a:r>
              <a:rPr sz="1600" b="1"/>
              <a:t>Calidad medida</a:t>
            </a:r>
            <a:r>
              <a:rPr sz="1600"/>
              <a:t>: un índice de calidad con semáforo (acierto, explicación y confianza frente al esperado).</a:t>
            </a:r>
          </a:p>
        </p:txBody>
      </p:sp>
      <p:sp>
        <p:nvSpPr>
          <p:cNvPr id="4" name="Content Placeholder 3"/>
          <p:cNvSpPr>
            <a:spLocks noGrp="1"/>
          </p:cNvSpPr>
          <p:nvPr>
            <p:ph idx="10"/>
          </p:nvPr>
        </p:nvSpPr>
        <p:spPr>
          <a:xfrm>
            <a:off x="484632" y="1307592"/>
            <a:ext cx="5861304" cy="396240"/>
          </a:xfrm>
        </p:spPr>
        <p:txBody>
          <a:bodyPr anchor="t">
            <a:noAutofit/>
          </a:bodyPr>
          <a:lstStyle/>
          <a:p>
            <a:r>
              <a:t>Mínimo privilegio también para los agentes.</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06-ficha-agente.png"/>
          <p:cNvPicPr>
            <a:picLocks noChangeAspect="1"/>
          </p:cNvPicPr>
          <p:nvPr/>
        </p:nvPicPr>
        <p:blipFill>
          <a:blip r:embed="rId3"/>
          <a:stretch>
            <a:fillRect/>
          </a:stretch>
        </p:blipFill>
        <p:spPr>
          <a:xfrm>
            <a:off x="6364224" y="1307592"/>
            <a:ext cx="5440680" cy="3498775"/>
          </a:xfrm>
          <a:prstGeom prst="rect">
            <a:avLst/>
          </a:prstGeom>
          <a:ln>
            <a:solidFill>
              <a:schemeClr val="bg1">
                <a:lumMod val="50000"/>
              </a:schemeClr>
            </a:solidFill>
          </a:ln>
        </p:spPr>
      </p:pic>
      <p:sp>
        <p:nvSpPr>
          <p:cNvPr id="14" name="TextBox 13"/>
          <p:cNvSpPr txBox="1"/>
          <p:nvPr/>
        </p:nvSpPr>
        <p:spPr>
          <a:xfrm>
            <a:off x="6345936" y="4961815"/>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Identidad y permisos del agente de Reglas: qué puede y qué no puede hacer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06-ficha-agente.png"/>
          <p:cNvPicPr>
            <a:picLocks noChangeAspect="1"/>
          </p:cNvPicPr>
          <p:nvPr/>
        </p:nvPicPr>
        <p:blipFill>
          <a:blip r:embed="rId3"/>
          <a:stretch>
            <a:fillRect/>
          </a:stretch>
        </p:blipFill>
        <p:spPr>
          <a:xfrm>
            <a:off x="228600" y="365760"/>
            <a:ext cx="9427288" cy="6062472"/>
          </a:xfrm>
          <a:prstGeom prst="rect">
            <a:avLst/>
          </a:prstGeom>
          <a:ln>
            <a:solidFill>
              <a:schemeClr val="bg1">
                <a:lumMod val="50000"/>
              </a:schemeClr>
            </a:solidFill>
          </a:ln>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06b-agente-calidad.png"/>
          <p:cNvPicPr>
            <a:picLocks noChangeAspect="1"/>
          </p:cNvPicPr>
          <p:nvPr/>
        </p:nvPicPr>
        <p:blipFill>
          <a:blip r:embed="rId3"/>
          <a:stretch>
            <a:fillRect/>
          </a:stretch>
        </p:blipFill>
        <p:spPr>
          <a:xfrm>
            <a:off x="228600" y="365760"/>
            <a:ext cx="5410109" cy="6062472"/>
          </a:xfrm>
          <a:prstGeom prst="rect">
            <a:avLst/>
          </a:prstGeom>
          <a:ln>
            <a:solidFill>
              <a:schemeClr val="bg1">
                <a:lumMod val="50000"/>
              </a:schemeClr>
            </a:solidFill>
          </a:ln>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4971288" cy="429768"/>
          </a:xfrm>
        </p:spPr>
        <p:txBody>
          <a:bodyPr wrap="none"/>
          <a:lstStyle/>
          <a:p>
            <a:r>
              <a:rPr sz="2600"/>
              <a:t>Limitar: autonomía progresiva</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800"/>
              </a:spcAft>
              <a:buClr>
                <a:srgbClr val="FF1414"/>
              </a:buClr>
              <a:buFont typeface="Arial"/>
              <a:buChar char="►"/>
            </a:pPr>
            <a:r>
              <a:rPr sz="1600" b="1"/>
              <a:t>L0 · Manual</a:t>
            </a:r>
            <a:r>
              <a:rPr sz="1600"/>
              <a:t>: el agente solo sugiere; una persona decide y ejecuta.</a:t>
            </a:r>
          </a:p>
          <a:p>
            <a:pPr>
              <a:lnSpc>
                <a:spcPct val="140000"/>
              </a:lnSpc>
              <a:spcAft>
                <a:spcPts val="800"/>
              </a:spcAft>
              <a:buClr>
                <a:srgbClr val="FF1414"/>
              </a:buClr>
              <a:buFont typeface="Arial"/>
              <a:buChar char="►"/>
            </a:pPr>
            <a:r>
              <a:rPr sz="1600" b="1"/>
              <a:t>L1 · Asistido</a:t>
            </a:r>
            <a:r>
              <a:rPr sz="1600"/>
              <a:t>: el agente propone; una persona confirma cada caso.</a:t>
            </a:r>
          </a:p>
          <a:p>
            <a:pPr>
              <a:lnSpc>
                <a:spcPct val="140000"/>
              </a:lnSpc>
              <a:spcAft>
                <a:spcPts val="800"/>
              </a:spcAft>
              <a:buClr>
                <a:srgbClr val="FF1414"/>
              </a:buClr>
              <a:buFont typeface="Arial"/>
              <a:buChar char="►"/>
            </a:pPr>
            <a:r>
              <a:rPr sz="1600" b="1"/>
              <a:t>L2 · Supervisado</a:t>
            </a:r>
            <a:r>
              <a:rPr sz="1600"/>
              <a:t>: decide dentro de los guardrails; fuera de ellos escala a una persona.</a:t>
            </a:r>
          </a:p>
          <a:p>
            <a:pPr>
              <a:lnSpc>
                <a:spcPct val="140000"/>
              </a:lnSpc>
              <a:spcAft>
                <a:spcPts val="800"/>
              </a:spcAft>
              <a:buClr>
                <a:srgbClr val="FF1414"/>
              </a:buClr>
              <a:buFont typeface="Arial"/>
              <a:buChar char="►"/>
            </a:pPr>
            <a:r>
              <a:rPr sz="1600" b="1"/>
              <a:t>L3 · Autónomo</a:t>
            </a:r>
            <a:r>
              <a:rPr sz="1600"/>
              <a:t>: decide y ejecuta; solo se audita a posteriori.</a:t>
            </a:r>
          </a:p>
          <a:p>
            <a:pPr>
              <a:lnSpc>
                <a:spcPct val="140000"/>
              </a:lnSpc>
              <a:spcAft>
                <a:spcPts val="800"/>
              </a:spcAft>
              <a:buClr>
                <a:srgbClr val="FF1414"/>
              </a:buClr>
              <a:buFont typeface="Arial"/>
              <a:buChar char="►"/>
            </a:pPr>
            <a:r>
              <a:rPr sz="1600" b="1"/>
              <a:t>Ejemplo</a:t>
            </a:r>
            <a:r>
              <a:rPr sz="1600"/>
              <a:t>: Reglas bajó de L3 a L2 al superar el 3 % de correcciones humanas.</a:t>
            </a:r>
          </a:p>
        </p:txBody>
      </p:sp>
      <p:sp>
        <p:nvSpPr>
          <p:cNvPr id="4" name="Content Placeholder 3"/>
          <p:cNvSpPr>
            <a:spLocks noGrp="1"/>
          </p:cNvSpPr>
          <p:nvPr>
            <p:ph idx="10"/>
          </p:nvPr>
        </p:nvSpPr>
        <p:spPr>
          <a:xfrm>
            <a:off x="484632" y="1307592"/>
            <a:ext cx="5861304" cy="701040"/>
          </a:xfrm>
        </p:spPr>
        <p:txBody>
          <a:bodyPr anchor="t">
            <a:noAutofit/>
          </a:bodyPr>
          <a:lstStyle/>
          <a:p>
            <a:r>
              <a:t>La autonomía se gana con datos y se pierde con datos.</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c24-autonomia.png"/>
          <p:cNvPicPr>
            <a:picLocks noChangeAspect="1"/>
          </p:cNvPicPr>
          <p:nvPr/>
        </p:nvPicPr>
        <p:blipFill>
          <a:blip r:embed="rId3"/>
          <a:stretch>
            <a:fillRect/>
          </a:stretch>
        </p:blipFill>
        <p:spPr>
          <a:xfrm>
            <a:off x="6364224" y="1307592"/>
            <a:ext cx="4034443" cy="4319016"/>
          </a:xfrm>
          <a:prstGeom prst="rect">
            <a:avLst/>
          </a:prstGeom>
          <a:ln>
            <a:solidFill>
              <a:schemeClr val="bg1">
                <a:lumMod val="50000"/>
              </a:schemeClr>
            </a:solidFill>
          </a:ln>
        </p:spPr>
      </p:pic>
      <p:sp>
        <p:nvSpPr>
          <p:cNvPr id="14" name="TextBox 13"/>
          <p:cNvSpPr txBox="1"/>
          <p:nvPr/>
        </p:nvSpPr>
        <p:spPr>
          <a:xfrm>
            <a:off x="6345936" y="5782056"/>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Arriba: Registro de auditoría de la bajada de nivel L3 → L2. Abajo: Evolución del nivel de autonomía del agente de Reglas.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13-autonomia-auditoria.png"/>
          <p:cNvPicPr>
            <a:picLocks noChangeAspect="1"/>
          </p:cNvPicPr>
          <p:nvPr/>
        </p:nvPicPr>
        <p:blipFill>
          <a:blip r:embed="rId3"/>
          <a:stretch>
            <a:fillRect/>
          </a:stretch>
        </p:blipFill>
        <p:spPr>
          <a:xfrm>
            <a:off x="228600" y="365759"/>
            <a:ext cx="8705088" cy="6062472"/>
          </a:xfrm>
          <a:prstGeom prst="rect">
            <a:avLst/>
          </a:prstGeom>
          <a:ln>
            <a:solidFill>
              <a:schemeClr val="bg1">
                <a:lumMod val="50000"/>
              </a:schemeClr>
            </a:solidFill>
          </a:ln>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13b-autonomia-evolucion.png"/>
          <p:cNvPicPr>
            <a:picLocks noChangeAspect="1"/>
          </p:cNvPicPr>
          <p:nvPr/>
        </p:nvPicPr>
        <p:blipFill>
          <a:blip r:embed="rId3"/>
          <a:stretch>
            <a:fillRect/>
          </a:stretch>
        </p:blipFill>
        <p:spPr>
          <a:xfrm>
            <a:off x="228600" y="1660034"/>
            <a:ext cx="9701784" cy="3473922"/>
          </a:xfrm>
          <a:prstGeom prst="rect">
            <a:avLst/>
          </a:prstGeom>
          <a:ln>
            <a:solidFill>
              <a:schemeClr val="bg1">
                <a:lumMod val="50000"/>
              </a:schemeClr>
            </a:solidFill>
          </a:ln>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7259828" cy="429768"/>
          </a:xfrm>
        </p:spPr>
        <p:txBody>
          <a:bodyPr wrap="none"/>
          <a:lstStyle/>
          <a:p>
            <a:r>
              <a:rPr sz="2600"/>
              <a:t>Limitar: Trust Score y supervisión adaptativa</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800"/>
              </a:spcAft>
              <a:buFont typeface="+mj-lt"/>
              <a:buAutoNum type="arabicPeriod"/>
            </a:pPr>
            <a:r>
              <a:rPr sz="1600" b="1"/>
              <a:t>Validación</a:t>
            </a:r>
            <a:r>
              <a:rPr sz="1600"/>
              <a:t>: humana al principio; después por resultado (reaperturas, retrabajos, correcciones) y por evidencia (fuentes válidas).</a:t>
            </a:r>
          </a:p>
          <a:p>
            <a:pPr>
              <a:lnSpc>
                <a:spcPct val="140000"/>
              </a:lnSpc>
              <a:spcAft>
                <a:spcPts val="800"/>
              </a:spcAft>
              <a:buFont typeface="+mj-lt"/>
              <a:buAutoNum type="arabicPeriod"/>
            </a:pPr>
            <a:r>
              <a:rPr sz="1600" b="1"/>
              <a:t>Trust Score</a:t>
            </a:r>
            <a:r>
              <a:rPr sz="1600"/>
              <a:t> por agente, caso de uso y automatismo: no mide lo inteligente que es el modelo, sino cuánta confianza operativa merece.</a:t>
            </a:r>
          </a:p>
          <a:p>
            <a:pPr>
              <a:lnSpc>
                <a:spcPct val="140000"/>
              </a:lnSpc>
              <a:spcAft>
                <a:spcPts val="800"/>
              </a:spcAft>
              <a:buFont typeface="+mj-lt"/>
              <a:buAutoNum type="arabicPeriod"/>
            </a:pPr>
            <a:r>
              <a:rPr sz="1600" b="1"/>
              <a:t>Supervisión adaptativa</a:t>
            </a:r>
            <a:r>
              <a:rPr sz="1600"/>
              <a:t>: confianza baja → intervención obligatoria; media → revisión selectiva; alta → ejecución autónoma con monitorización.</a:t>
            </a:r>
          </a:p>
        </p:txBody>
      </p:sp>
      <p:sp>
        <p:nvSpPr>
          <p:cNvPr id="4" name="Content Placeholder 3"/>
          <p:cNvSpPr>
            <a:spLocks noGrp="1"/>
          </p:cNvSpPr>
          <p:nvPr>
            <p:ph idx="10"/>
          </p:nvPr>
        </p:nvSpPr>
        <p:spPr>
          <a:xfrm>
            <a:off x="484632" y="1307592"/>
            <a:ext cx="5861304" cy="701040"/>
          </a:xfrm>
        </p:spPr>
        <p:txBody>
          <a:bodyPr anchor="t">
            <a:noAutofit/>
          </a:bodyPr>
          <a:lstStyle/>
          <a:p>
            <a:r>
              <a:t>Cada incremento de autonomía es medible, reversible, gobernado, auditado y justificable.</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14-agente-comportamiento.png"/>
          <p:cNvPicPr>
            <a:picLocks noChangeAspect="1"/>
          </p:cNvPicPr>
          <p:nvPr/>
        </p:nvPicPr>
        <p:blipFill>
          <a:blip r:embed="rId3"/>
          <a:stretch>
            <a:fillRect/>
          </a:stretch>
        </p:blipFill>
        <p:spPr>
          <a:xfrm>
            <a:off x="6364224" y="1307592"/>
            <a:ext cx="4849938" cy="4319016"/>
          </a:xfrm>
          <a:prstGeom prst="rect">
            <a:avLst/>
          </a:prstGeom>
          <a:ln>
            <a:solidFill>
              <a:schemeClr val="bg1">
                <a:lumMod val="50000"/>
              </a:schemeClr>
            </a:solidFill>
          </a:ln>
        </p:spPr>
      </p:pic>
      <p:sp>
        <p:nvSpPr>
          <p:cNvPr id="14" name="TextBox 13"/>
          <p:cNvSpPr txBox="1"/>
          <p:nvPr/>
        </p:nvSpPr>
        <p:spPr>
          <a:xfrm>
            <a:off x="6345936" y="5782056"/>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Comportamiento del agente de Reglas por periodo: precisión, escalado, override, coste y latencia</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14-agente-comportamiento.png"/>
          <p:cNvPicPr>
            <a:picLocks noChangeAspect="1"/>
          </p:cNvPicPr>
          <p:nvPr/>
        </p:nvPicPr>
        <p:blipFill>
          <a:blip r:embed="rId3"/>
          <a:stretch>
            <a:fillRect/>
          </a:stretch>
        </p:blipFill>
        <p:spPr>
          <a:xfrm>
            <a:off x="228600" y="365760"/>
            <a:ext cx="6807712" cy="6062472"/>
          </a:xfrm>
          <a:prstGeom prst="rect">
            <a:avLst/>
          </a:prstGeom>
          <a:ln>
            <a:solidFill>
              <a:schemeClr val="bg1">
                <a:lumMod val="50000"/>
              </a:schemeClr>
            </a:solidFill>
          </a:ln>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8702548" cy="429768"/>
          </a:xfrm>
        </p:spPr>
        <p:txBody>
          <a:bodyPr wrap="none"/>
          <a:lstStyle/>
          <a:p>
            <a:r>
              <a:rPr sz="2600"/>
              <a:t>Limitar: intervención humana que se puede demostrar</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1000"/>
              </a:spcAft>
              <a:buClr>
                <a:srgbClr val="FF1414"/>
              </a:buClr>
              <a:buFont typeface="Arial"/>
              <a:buChar char="►"/>
            </a:pPr>
            <a:r>
              <a:rPr sz="1800" b="1"/>
              <a:t>Cola de revisión</a:t>
            </a:r>
            <a:r>
              <a:rPr sz="1800"/>
              <a:t>: cada traza escalada con su motivo, su estado (pendiente, revisada o cambiada), quién la revisó y cuánto tardó.</a:t>
            </a:r>
          </a:p>
          <a:p>
            <a:pPr>
              <a:lnSpc>
                <a:spcPct val="140000"/>
              </a:lnSpc>
              <a:spcAft>
                <a:spcPts val="1000"/>
              </a:spcAft>
              <a:buClr>
                <a:srgbClr val="FF1414"/>
              </a:buClr>
              <a:buFont typeface="Arial"/>
              <a:buChar char="►"/>
            </a:pPr>
            <a:r>
              <a:rPr sz="1800" b="1"/>
              <a:t>Calidad de la revisión</a:t>
            </a:r>
            <a:r>
              <a:rPr sz="1800"/>
              <a:t>: el 3,3 % de las aprobaciones se firma en menos de 30 segundos, con un máximo del 5 %. Tres tramitadores lo superan: uno con el 11 % y los dos sin formación en IA, con el 9 % y el 14 %.</a:t>
            </a:r>
          </a:p>
          <a:p>
            <a:pPr>
              <a:lnSpc>
                <a:spcPct val="140000"/>
              </a:lnSpc>
              <a:spcAft>
                <a:spcPts val="1000"/>
              </a:spcAft>
              <a:buClr>
                <a:srgbClr val="FF1414"/>
              </a:buClr>
              <a:buFont typeface="Arial"/>
              <a:buChar char="►"/>
            </a:pPr>
            <a:r>
              <a:rPr sz="1800" b="1"/>
              <a:t>Formación en IA</a:t>
            </a:r>
            <a:r>
              <a:rPr sz="1800"/>
              <a:t>: 9 de 11 tramitadores formados (AI Act art. 4). Los dos nuevos tienen abierta la medida M-10.</a:t>
            </a:r>
          </a:p>
        </p:txBody>
      </p:sp>
      <p:sp>
        <p:nvSpPr>
          <p:cNvPr id="4" name="Content Placeholder 3"/>
          <p:cNvSpPr>
            <a:spLocks noGrp="1"/>
          </p:cNvSpPr>
          <p:nvPr>
            <p:ph idx="10"/>
          </p:nvPr>
        </p:nvSpPr>
        <p:spPr>
          <a:xfrm>
            <a:off x="484632" y="1307592"/>
            <a:ext cx="5861304" cy="701040"/>
          </a:xfrm>
        </p:spPr>
        <p:txBody>
          <a:bodyPr anchor="t">
            <a:noAutofit/>
          </a:bodyPr>
          <a:lstStyle/>
          <a:p>
            <a:r>
              <a:t>Una aprobación de 10 segundos es una firma. La plataforma mide si la revisión es real.</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c40-hitl.png"/>
          <p:cNvPicPr>
            <a:picLocks noChangeAspect="1"/>
          </p:cNvPicPr>
          <p:nvPr/>
        </p:nvPicPr>
        <p:blipFill>
          <a:blip r:embed="rId3"/>
          <a:stretch>
            <a:fillRect/>
          </a:stretch>
        </p:blipFill>
        <p:spPr>
          <a:xfrm>
            <a:off x="6364224" y="1307592"/>
            <a:ext cx="3067819" cy="3892296"/>
          </a:xfrm>
          <a:prstGeom prst="rect">
            <a:avLst/>
          </a:prstGeom>
          <a:ln>
            <a:solidFill>
              <a:schemeClr val="bg1">
                <a:lumMod val="50000"/>
              </a:schemeClr>
            </a:solidFill>
          </a:ln>
        </p:spPr>
      </p:pic>
      <p:sp>
        <p:nvSpPr>
          <p:cNvPr id="14" name="TextBox 13"/>
          <p:cNvSpPr txBox="1"/>
          <p:nvPr/>
        </p:nvSpPr>
        <p:spPr>
          <a:xfrm>
            <a:off x="6345936" y="5355336"/>
            <a:ext cx="5696712" cy="908304"/>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Arriba: Intervención humana: KPIs, mecanismos de supervisión y cola de revisión. Abajo: Calidad de la revisión: tiempo por tramos y tabla por tramitador con su formación en IA.</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44-intervencion-humana.png"/>
          <p:cNvPicPr>
            <a:picLocks noChangeAspect="1"/>
          </p:cNvPicPr>
          <p:nvPr/>
        </p:nvPicPr>
        <p:blipFill>
          <a:blip r:embed="rId3"/>
          <a:stretch>
            <a:fillRect/>
          </a:stretch>
        </p:blipFill>
        <p:spPr>
          <a:xfrm>
            <a:off x="228600" y="365760"/>
            <a:ext cx="9699955" cy="6062472"/>
          </a:xfrm>
          <a:prstGeom prst="rect">
            <a:avLst/>
          </a:prstGeom>
          <a:ln>
            <a:solidFill>
              <a:schemeClr val="bg1">
                <a:lumMod val="50000"/>
              </a:schemeClr>
            </a:solidFill>
          </a:ln>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45-hitl-calidad.png"/>
          <p:cNvPicPr>
            <a:picLocks noChangeAspect="1"/>
          </p:cNvPicPr>
          <p:nvPr/>
        </p:nvPicPr>
        <p:blipFill>
          <a:blip r:embed="rId3"/>
          <a:stretch>
            <a:fillRect/>
          </a:stretch>
        </p:blipFill>
        <p:spPr>
          <a:xfrm>
            <a:off x="228600" y="365760"/>
            <a:ext cx="9606558" cy="6062471"/>
          </a:xfrm>
          <a:prstGeom prst="rect">
            <a:avLst/>
          </a:prstGeom>
          <a:ln>
            <a:solidFill>
              <a:schemeClr val="bg1">
                <a:lumMod val="50000"/>
              </a:schemeClr>
            </a:solidFill>
          </a:ln>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3148838" cy="429768"/>
          </a:xfrm>
        </p:spPr>
        <p:txBody>
          <a:bodyPr wrap="none"/>
          <a:lstStyle/>
          <a:p>
            <a:r>
              <a:rPr sz="2600"/>
              <a:t>Limitar: guardrails</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800"/>
              </a:spcAft>
              <a:buClr>
                <a:srgbClr val="FF1414"/>
              </a:buClr>
              <a:buFont typeface="Arial"/>
              <a:buChar char="►"/>
            </a:pPr>
            <a:r>
              <a:rPr sz="1600" b="1"/>
              <a:t>Confianza</a:t>
            </a:r>
            <a:r>
              <a:rPr sz="1600"/>
              <a:t>: decisión con confianza &lt; 0,85 → escalar.</a:t>
            </a:r>
          </a:p>
          <a:p>
            <a:pPr>
              <a:lnSpc>
                <a:spcPct val="140000"/>
              </a:lnSpc>
              <a:spcAft>
                <a:spcPts val="800"/>
              </a:spcAft>
              <a:buClr>
                <a:srgbClr val="FF1414"/>
              </a:buClr>
              <a:buFont typeface="Arial"/>
              <a:buChar char="►"/>
            </a:pPr>
            <a:r>
              <a:rPr sz="1600" b="1"/>
              <a:t>Importe</a:t>
            </a:r>
            <a:r>
              <a:rPr sz="1600"/>
              <a:t>: más de 6.000 € en Auto → escalar.</a:t>
            </a:r>
          </a:p>
          <a:p>
            <a:pPr>
              <a:lnSpc>
                <a:spcPct val="140000"/>
              </a:lnSpc>
              <a:spcAft>
                <a:spcPts val="800"/>
              </a:spcAft>
              <a:buClr>
                <a:srgbClr val="FF1414"/>
              </a:buClr>
              <a:buFont typeface="Arial"/>
              <a:buChar char="►"/>
            </a:pPr>
            <a:r>
              <a:rPr sz="1600" b="1"/>
              <a:t>Coherencia</a:t>
            </a:r>
            <a:r>
              <a:rPr sz="1600"/>
              <a:t>: los agentes no coinciden en el ramo → escalar.</a:t>
            </a:r>
          </a:p>
          <a:p>
            <a:pPr>
              <a:lnSpc>
                <a:spcPct val="140000"/>
              </a:lnSpc>
              <a:spcAft>
                <a:spcPts val="800"/>
              </a:spcAft>
              <a:buClr>
                <a:srgbClr val="FF1414"/>
              </a:buClr>
              <a:buFont typeface="Arial"/>
              <a:buChar char="►"/>
            </a:pPr>
            <a:r>
              <a:rPr sz="1600" b="1"/>
              <a:t>Casos sensibles</a:t>
            </a:r>
            <a:r>
              <a:rPr sz="1600"/>
              <a:t>: hay lesionados → gestión especializada.</a:t>
            </a:r>
          </a:p>
          <a:p>
            <a:pPr>
              <a:lnSpc>
                <a:spcPct val="140000"/>
              </a:lnSpc>
              <a:spcAft>
                <a:spcPts val="800"/>
              </a:spcAft>
              <a:buClr>
                <a:srgbClr val="FF1414"/>
              </a:buClr>
              <a:buFont typeface="Arial"/>
              <a:buChar char="►"/>
            </a:pPr>
            <a:r>
              <a:rPr sz="1600" b="1"/>
              <a:t>Datos esenciales</a:t>
            </a:r>
            <a:r>
              <a:rPr sz="1600"/>
              <a:t>: sin póliza ni fecha → pedir datos al cliente.</a:t>
            </a:r>
          </a:p>
          <a:p>
            <a:pPr>
              <a:lnSpc>
                <a:spcPct val="140000"/>
              </a:lnSpc>
              <a:spcAft>
                <a:spcPts val="800"/>
              </a:spcAft>
              <a:buClr>
                <a:srgbClr val="FF1414"/>
              </a:buClr>
              <a:buFont typeface="Arial"/>
              <a:buChar char="►"/>
            </a:pPr>
            <a:r>
              <a:rPr sz="1600" b="1"/>
              <a:t>Coste</a:t>
            </a:r>
            <a:r>
              <a:rPr sz="1600"/>
              <a:t>: cap diario al 100 % → modelo más barato.</a:t>
            </a:r>
          </a:p>
          <a:p>
            <a:pPr>
              <a:lnSpc>
                <a:spcPct val="140000"/>
              </a:lnSpc>
              <a:spcAft>
                <a:spcPts val="800"/>
              </a:spcAft>
              <a:buClr>
                <a:srgbClr val="FF1414"/>
              </a:buClr>
              <a:buFont typeface="Arial"/>
              <a:buChar char="►"/>
            </a:pPr>
            <a:r>
              <a:rPr sz="1600" b="1"/>
              <a:t>Formato</a:t>
            </a:r>
            <a:r>
              <a:rPr sz="1600"/>
              <a:t>: respuesta inválida tras dos reintentos → motor alternativo.</a:t>
            </a:r>
          </a:p>
        </p:txBody>
      </p:sp>
      <p:sp>
        <p:nvSpPr>
          <p:cNvPr id="4" name="Content Placeholder 3"/>
          <p:cNvSpPr>
            <a:spLocks noGrp="1"/>
          </p:cNvSpPr>
          <p:nvPr>
            <p:ph idx="10"/>
          </p:nvPr>
        </p:nvSpPr>
        <p:spPr>
          <a:xfrm>
            <a:off x="484632" y="1307592"/>
            <a:ext cx="5861304" cy="701040"/>
          </a:xfrm>
        </p:spPr>
        <p:txBody>
          <a:bodyPr anchor="t">
            <a:noAutofit/>
          </a:bodyPr>
          <a:lstStyle/>
          <a:p>
            <a:r>
              <a:t>Los guardrails son lo que permite dar autonomía sin perder el control.</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15-guardrail-g02.png"/>
          <p:cNvPicPr>
            <a:picLocks noChangeAspect="1"/>
          </p:cNvPicPr>
          <p:nvPr/>
        </p:nvPicPr>
        <p:blipFill>
          <a:blip r:embed="rId3"/>
          <a:stretch>
            <a:fillRect/>
          </a:stretch>
        </p:blipFill>
        <p:spPr>
          <a:xfrm>
            <a:off x="6364224" y="1307592"/>
            <a:ext cx="5440680" cy="3789045"/>
          </a:xfrm>
          <a:prstGeom prst="rect">
            <a:avLst/>
          </a:prstGeom>
          <a:ln>
            <a:solidFill>
              <a:schemeClr val="bg1">
                <a:lumMod val="50000"/>
              </a:schemeClr>
            </a:solidFill>
          </a:ln>
        </p:spPr>
      </p:pic>
      <p:sp>
        <p:nvSpPr>
          <p:cNvPr id="14" name="TextBox 13"/>
          <p:cNvSpPr txBox="1"/>
          <p:nvPr/>
        </p:nvSpPr>
        <p:spPr>
          <a:xfrm>
            <a:off x="6345936" y="5252085"/>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Ficha del guardrail de importe (G-02): disparos por día, canal y ramo</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15-guardrail-g02.png"/>
          <p:cNvPicPr>
            <a:picLocks noChangeAspect="1"/>
          </p:cNvPicPr>
          <p:nvPr/>
        </p:nvPicPr>
        <p:blipFill>
          <a:blip r:embed="rId3"/>
          <a:stretch>
            <a:fillRect/>
          </a:stretch>
        </p:blipFill>
        <p:spPr>
          <a:xfrm>
            <a:off x="228600" y="365759"/>
            <a:ext cx="8705088" cy="6062472"/>
          </a:xfrm>
          <a:prstGeom prst="rect">
            <a:avLst/>
          </a:prstGeom>
          <a:ln>
            <a:solidFill>
              <a:schemeClr val="bg1">
                <a:lumMod val="50000"/>
              </a:schemeClr>
            </a:solidFill>
          </a:ln>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5206237" cy="429768"/>
          </a:xfrm>
        </p:spPr>
        <p:txBody>
          <a:bodyPr wrap="none"/>
          <a:lstStyle/>
          <a:p>
            <a:r>
              <a:rPr sz="2600"/>
              <a:t>Limitar: kill switch y resiliencia</a:t>
            </a:r>
          </a:p>
        </p:txBody>
      </p:sp>
      <p:sp>
        <p:nvSpPr>
          <p:cNvPr id="3" name="Content Placeholder 2"/>
          <p:cNvSpPr>
            <a:spLocks noGrp="1"/>
          </p:cNvSpPr>
          <p:nvPr>
            <p:ph idx="1"/>
          </p:nvPr>
        </p:nvSpPr>
        <p:spPr>
          <a:xfrm>
            <a:off x="484632" y="1932432"/>
            <a:ext cx="5861304" cy="4331208"/>
          </a:xfrm>
        </p:spPr>
        <p:txBody>
          <a:bodyPr anchor="t">
            <a:noAutofit/>
          </a:bodyPr>
          <a:lstStyle/>
          <a:p>
            <a:pPr>
              <a:lnSpc>
                <a:spcPct val="140000"/>
              </a:lnSpc>
              <a:spcAft>
                <a:spcPts val="800"/>
              </a:spcAft>
              <a:buClr>
                <a:srgbClr val="FF1414"/>
              </a:buClr>
              <a:buFont typeface="Arial"/>
              <a:buChar char="►"/>
            </a:pPr>
            <a:r>
              <a:rPr sz="1600" b="1"/>
              <a:t>Kill switch por agente</a:t>
            </a:r>
            <a:r>
              <a:rPr sz="1600"/>
              <a:t>: se pausa al instante desde el panel.</a:t>
            </a:r>
          </a:p>
          <a:p>
            <a:pPr marL="717550" indent="-300000">
              <a:lnSpc>
                <a:spcPct val="140000"/>
              </a:lnSpc>
              <a:spcAft>
                <a:spcPts val="800"/>
              </a:spcAft>
              <a:buClr>
                <a:srgbClr val="FF1414"/>
              </a:buClr>
              <a:buFont typeface="Arial"/>
              <a:buChar char="–"/>
            </a:pPr>
            <a:r>
              <a:rPr sz="1600"/>
              <a:t>Los casos que dependen de él se encolan: no se pierde ninguno.</a:t>
            </a:r>
          </a:p>
          <a:p>
            <a:pPr marL="717550" indent="-300000">
              <a:lnSpc>
                <a:spcPct val="140000"/>
              </a:lnSpc>
              <a:spcAft>
                <a:spcPts val="800"/>
              </a:spcAft>
              <a:buClr>
                <a:srgbClr val="FF1414"/>
              </a:buClr>
              <a:buFont typeface="Arial"/>
              <a:buChar char="–"/>
            </a:pPr>
            <a:r>
              <a:rPr sz="1600"/>
              <a:t>La pausa queda registrada en el histórico.</a:t>
            </a:r>
          </a:p>
          <a:p>
            <a:pPr>
              <a:lnSpc>
                <a:spcPct val="140000"/>
              </a:lnSpc>
              <a:spcAft>
                <a:spcPts val="800"/>
              </a:spcAft>
              <a:buClr>
                <a:srgbClr val="FF1414"/>
              </a:buClr>
              <a:buFont typeface="Arial"/>
              <a:buChar char="►"/>
            </a:pPr>
            <a:r>
              <a:rPr sz="1600" b="1"/>
              <a:t>Resiliencia ante fallos del modelo</a:t>
            </a:r>
            <a:r>
              <a:rPr sz="1600"/>
              <a:t>:</a:t>
            </a:r>
          </a:p>
          <a:p>
            <a:pPr marL="717550" indent="-300000">
              <a:lnSpc>
                <a:spcPct val="140000"/>
              </a:lnSpc>
              <a:spcAft>
                <a:spcPts val="800"/>
              </a:spcAft>
              <a:buClr>
                <a:srgbClr val="FF1414"/>
              </a:buClr>
              <a:buFont typeface="Arial"/>
              <a:buChar char="–"/>
            </a:pPr>
            <a:r>
              <a:rPr sz="1600"/>
              <a:t>Reintentos con espera creciente ante saturación del proveedor.</a:t>
            </a:r>
          </a:p>
          <a:p>
            <a:pPr marL="717550" indent="-300000">
              <a:lnSpc>
                <a:spcPct val="140000"/>
              </a:lnSpc>
              <a:spcAft>
                <a:spcPts val="800"/>
              </a:spcAft>
              <a:buClr>
                <a:srgbClr val="FF1414"/>
              </a:buClr>
              <a:buFont typeface="Arial"/>
              <a:buChar char="–"/>
            </a:pPr>
            <a:r>
              <a:rPr sz="1600"/>
              <a:t>Degradación a un modelo más barato al llegar al límite de coste.</a:t>
            </a:r>
          </a:p>
          <a:p>
            <a:pPr marL="717550" indent="-300000">
              <a:lnSpc>
                <a:spcPct val="140000"/>
              </a:lnSpc>
              <a:spcAft>
                <a:spcPts val="800"/>
              </a:spcAft>
              <a:buClr>
                <a:srgbClr val="FF1414"/>
              </a:buClr>
              <a:buFont typeface="Arial"/>
              <a:buChar char="–"/>
            </a:pPr>
            <a:r>
              <a:rPr sz="1600"/>
              <a:t>Paso a un motor alternativo si el modelo no responde bien.</a:t>
            </a:r>
          </a:p>
        </p:txBody>
      </p:sp>
      <p:sp>
        <p:nvSpPr>
          <p:cNvPr id="4" name="Content Placeholder 3"/>
          <p:cNvSpPr>
            <a:spLocks noGrp="1"/>
          </p:cNvSpPr>
          <p:nvPr>
            <p:ph idx="10"/>
          </p:nvPr>
        </p:nvSpPr>
        <p:spPr>
          <a:xfrm>
            <a:off x="484632" y="1307592"/>
            <a:ext cx="5861304" cy="396240"/>
          </a:xfrm>
        </p:spPr>
        <p:txBody>
          <a:bodyPr anchor="t">
            <a:noAutofit/>
          </a:bodyPr>
          <a:lstStyle/>
          <a:p>
            <a:r>
              <a:t>Si la IA falla, el proceso sigue.</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02-agentes-kill-switch.png"/>
          <p:cNvPicPr>
            <a:picLocks noChangeAspect="1"/>
          </p:cNvPicPr>
          <p:nvPr/>
        </p:nvPicPr>
        <p:blipFill>
          <a:blip r:embed="rId3"/>
          <a:stretch>
            <a:fillRect/>
          </a:stretch>
        </p:blipFill>
        <p:spPr>
          <a:xfrm>
            <a:off x="6364224" y="1307592"/>
            <a:ext cx="5440680" cy="1945798"/>
          </a:xfrm>
          <a:prstGeom prst="rect">
            <a:avLst/>
          </a:prstGeom>
          <a:ln>
            <a:solidFill>
              <a:schemeClr val="bg1">
                <a:lumMod val="50000"/>
              </a:schemeClr>
            </a:solidFill>
          </a:ln>
        </p:spPr>
      </p:pic>
      <p:sp>
        <p:nvSpPr>
          <p:cNvPr id="14" name="TextBox 13"/>
          <p:cNvSpPr txBox="1"/>
          <p:nvPr/>
        </p:nvSpPr>
        <p:spPr>
          <a:xfrm>
            <a:off x="6345936" y="3408838"/>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Tarjetas de agente con estado, nivel, coste frente al cap e interruptor de pausa</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02-agentes-kill-switch.png"/>
          <p:cNvPicPr>
            <a:picLocks noChangeAspect="1"/>
          </p:cNvPicPr>
          <p:nvPr/>
        </p:nvPicPr>
        <p:blipFill>
          <a:blip r:embed="rId3"/>
          <a:stretch>
            <a:fillRect/>
          </a:stretch>
        </p:blipFill>
        <p:spPr>
          <a:xfrm>
            <a:off x="228600" y="1662128"/>
            <a:ext cx="9701784" cy="3469735"/>
          </a:xfrm>
          <a:prstGeom prst="rect">
            <a:avLst/>
          </a:prstGeom>
          <a:ln>
            <a:solidFill>
              <a:schemeClr val="bg1">
                <a:lumMod val="50000"/>
              </a:schemeClr>
            </a:solidFill>
          </a:ln>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7280147" cy="429768"/>
          </a:xfrm>
        </p:spPr>
        <p:txBody>
          <a:bodyPr wrap="none"/>
          <a:lstStyle/>
          <a:p>
            <a:r>
              <a:rPr sz="2600"/>
              <a:t>Conocer: el conocimiento también se degrada</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1000"/>
              </a:spcAft>
              <a:buClr>
                <a:srgbClr val="FF1414"/>
              </a:buClr>
              <a:buFont typeface="Arial"/>
              <a:buChar char="►"/>
            </a:pPr>
            <a:r>
              <a:rPr sz="1800" b="1"/>
              <a:t>Un inventario de todo el conocimiento</a:t>
            </a:r>
            <a:r>
              <a:rPr sz="1800"/>
              <a:t>: índices RAG de SharePoint o Drive, Markdown, runbooks, tablas de referencia y plantillas.</a:t>
            </a:r>
          </a:p>
          <a:p>
            <a:pPr>
              <a:lnSpc>
                <a:spcPct val="140000"/>
              </a:lnSpc>
              <a:spcAft>
                <a:spcPts val="1000"/>
              </a:spcAft>
              <a:buClr>
                <a:srgbClr val="FF1414"/>
              </a:buClr>
              <a:buFont typeface="Arial"/>
              <a:buChar char="►"/>
            </a:pPr>
            <a:r>
              <a:rPr sz="1800" b="1"/>
              <a:t>Salud medida contra umbrales</a:t>
            </a:r>
            <a:r>
              <a:rPr sz="1800"/>
              <a:t>: recall, fidelidad, citas, frescura, obsoletos, duplicados, deriva y datos personales.</a:t>
            </a:r>
          </a:p>
          <a:p>
            <a:pPr>
              <a:lnSpc>
                <a:spcPct val="140000"/>
              </a:lnSpc>
              <a:spcAft>
                <a:spcPts val="1000"/>
              </a:spcAft>
              <a:buClr>
                <a:srgbClr val="FF1414"/>
              </a:buClr>
              <a:buFont typeface="Arial"/>
              <a:buChar char="►"/>
            </a:pPr>
            <a:r>
              <a:rPr sz="1800" b="1"/>
              <a:t>Comparativa de configuraciones</a:t>
            </a:r>
            <a:r>
              <a:rPr sz="1800"/>
              <a:t>: el mismo corpus con distintos tamaños de chunk y solapamiento, para decidir con datos.</a:t>
            </a:r>
          </a:p>
        </p:txBody>
      </p:sp>
      <p:sp>
        <p:nvSpPr>
          <p:cNvPr id="4" name="Content Placeholder 3"/>
          <p:cNvSpPr>
            <a:spLocks noGrp="1"/>
          </p:cNvSpPr>
          <p:nvPr>
            <p:ph idx="10"/>
          </p:nvPr>
        </p:nvSpPr>
        <p:spPr>
          <a:xfrm>
            <a:off x="484632" y="1307592"/>
            <a:ext cx="5861304" cy="701040"/>
          </a:xfrm>
        </p:spPr>
        <p:txBody>
          <a:bodyPr anchor="t">
            <a:noAutofit/>
          </a:bodyPr>
          <a:lstStyle/>
          <a:p>
            <a:r>
              <a:t>Los agentes deciden con conocimiento que no está en el modelo, y ese conocimiento envejece.</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31-knowledge.png"/>
          <p:cNvPicPr>
            <a:picLocks noChangeAspect="1"/>
          </p:cNvPicPr>
          <p:nvPr/>
        </p:nvPicPr>
        <p:blipFill>
          <a:blip r:embed="rId3"/>
          <a:stretch>
            <a:fillRect/>
          </a:stretch>
        </p:blipFill>
        <p:spPr>
          <a:xfrm>
            <a:off x="6364224" y="1307592"/>
            <a:ext cx="5440679" cy="3400424"/>
          </a:xfrm>
          <a:prstGeom prst="rect">
            <a:avLst/>
          </a:prstGeom>
          <a:ln>
            <a:solidFill>
              <a:schemeClr val="bg1">
                <a:lumMod val="50000"/>
              </a:schemeClr>
            </a:solidFill>
          </a:ln>
        </p:spPr>
      </p:pic>
      <p:sp>
        <p:nvSpPr>
          <p:cNvPr id="14" name="TextBox 13"/>
          <p:cNvSpPr txBox="1"/>
          <p:nvPr/>
        </p:nvSpPr>
        <p:spPr>
          <a:xfrm>
            <a:off x="6345936" y="4863465"/>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Knowledge bases: inventario con la salud de cada base y su tendencia</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31-knowledge.png"/>
          <p:cNvPicPr>
            <a:picLocks noChangeAspect="1"/>
          </p:cNvPicPr>
          <p:nvPr/>
        </p:nvPicPr>
        <p:blipFill>
          <a:blip r:embed="rId3"/>
          <a:stretch>
            <a:fillRect/>
          </a:stretch>
        </p:blipFill>
        <p:spPr>
          <a:xfrm>
            <a:off x="228600" y="365760"/>
            <a:ext cx="9699955" cy="6062472"/>
          </a:xfrm>
          <a:prstGeom prst="rect">
            <a:avLst/>
          </a:prstGeom>
          <a:ln>
            <a:solidFill>
              <a:schemeClr val="bg1">
                <a:lumMod val="50000"/>
              </a:schemeClr>
            </a:solidFill>
          </a:ln>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32-kb-comparativa.png"/>
          <p:cNvPicPr>
            <a:picLocks noChangeAspect="1"/>
          </p:cNvPicPr>
          <p:nvPr/>
        </p:nvPicPr>
        <p:blipFill>
          <a:blip r:embed="rId3"/>
          <a:stretch>
            <a:fillRect/>
          </a:stretch>
        </p:blipFill>
        <p:spPr>
          <a:xfrm>
            <a:off x="228600" y="365759"/>
            <a:ext cx="8705088" cy="6062472"/>
          </a:xfrm>
          <a:prstGeom prst="rect">
            <a:avLst/>
          </a:prstGeom>
          <a:ln>
            <a:solidFill>
              <a:schemeClr val="bg1">
                <a:lumMod val="50000"/>
              </a:schemeClr>
            </a:solidFill>
          </a:ln>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7328408" cy="429768"/>
          </a:xfrm>
        </p:spPr>
        <p:txBody>
          <a:bodyPr wrap="none"/>
          <a:lstStyle/>
          <a:p>
            <a:r>
              <a:rPr sz="2600"/>
              <a:t>Conocer: rúbricas que vigilan el conocimiento</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1000"/>
              </a:spcAft>
              <a:buClr>
                <a:srgbClr val="FF1414"/>
              </a:buClr>
              <a:buFont typeface="Arial"/>
              <a:buChar char="►"/>
            </a:pPr>
            <a:r>
              <a:rPr sz="1800" b="1"/>
              <a:t>Preguntas de referencia por base</a:t>
            </a:r>
            <a:r>
              <a:rPr sz="1800"/>
              <a:t>: factuales, de cláusula, de exclusión, de plazo y preguntas trampa sin respuesta.</a:t>
            </a:r>
          </a:p>
          <a:p>
            <a:pPr>
              <a:lnSpc>
                <a:spcPct val="140000"/>
              </a:lnSpc>
              <a:spcAft>
                <a:spcPts val="1000"/>
              </a:spcAft>
              <a:buClr>
                <a:srgbClr val="FF1414"/>
              </a:buClr>
              <a:buFont typeface="Arial"/>
              <a:buChar char="►"/>
            </a:pPr>
            <a:r>
              <a:rPr sz="1800" b="1"/>
              <a:t>Criterios con peso</a:t>
            </a:r>
            <a:r>
              <a:rPr sz="1800"/>
              <a:t>: fidelidad, cláusula correcta, completitud y rechazo correcto; los pesos deben sumar 100.</a:t>
            </a:r>
          </a:p>
          <a:p>
            <a:pPr>
              <a:lnSpc>
                <a:spcPct val="140000"/>
              </a:lnSpc>
              <a:spcAft>
                <a:spcPts val="1000"/>
              </a:spcAft>
              <a:buClr>
                <a:srgbClr val="FF1414"/>
              </a:buClr>
              <a:buFont typeface="Arial"/>
              <a:buChar char="►"/>
            </a:pPr>
            <a:r>
              <a:rPr sz="1800" b="1"/>
              <a:t>Juez calibrado con personas</a:t>
            </a:r>
            <a:r>
              <a:rPr sz="1800"/>
              <a:t>: el acuerdo entre el modelo juez y los revisores dice si la evaluación es fiable.</a:t>
            </a:r>
          </a:p>
        </p:txBody>
      </p:sp>
      <p:sp>
        <p:nvSpPr>
          <p:cNvPr id="4" name="Content Placeholder 3"/>
          <p:cNvSpPr>
            <a:spLocks noGrp="1"/>
          </p:cNvSpPr>
          <p:nvPr>
            <p:ph idx="10"/>
          </p:nvPr>
        </p:nvSpPr>
        <p:spPr>
          <a:xfrm>
            <a:off x="484632" y="1307592"/>
            <a:ext cx="5861304" cy="701040"/>
          </a:xfrm>
        </p:spPr>
        <p:txBody>
          <a:bodyPr anchor="t">
            <a:noAutofit/>
          </a:bodyPr>
          <a:lstStyle/>
          <a:p>
            <a:r>
              <a:t>La salud solo es tan buena como las pruebas con las que se mide.</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33-rubrica.png"/>
          <p:cNvPicPr>
            <a:picLocks noChangeAspect="1"/>
          </p:cNvPicPr>
          <p:nvPr/>
        </p:nvPicPr>
        <p:blipFill>
          <a:blip r:embed="rId3"/>
          <a:stretch>
            <a:fillRect/>
          </a:stretch>
        </p:blipFill>
        <p:spPr>
          <a:xfrm>
            <a:off x="6364224" y="1307592"/>
            <a:ext cx="5440680" cy="3789045"/>
          </a:xfrm>
          <a:prstGeom prst="rect">
            <a:avLst/>
          </a:prstGeom>
          <a:ln>
            <a:solidFill>
              <a:schemeClr val="bg1">
                <a:lumMod val="50000"/>
              </a:schemeClr>
            </a:solidFill>
          </a:ln>
        </p:spPr>
      </p:pic>
      <p:sp>
        <p:nvSpPr>
          <p:cNvPr id="14" name="TextBox 13"/>
          <p:cNvSpPr txBox="1"/>
          <p:nvPr/>
        </p:nvSpPr>
        <p:spPr>
          <a:xfrm>
            <a:off x="6345936" y="5252085"/>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Editor de la rúbrica de Condicionados Auto: criterios con peso y preguntas de referencia</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33-rubrica.png"/>
          <p:cNvPicPr>
            <a:picLocks noChangeAspect="1"/>
          </p:cNvPicPr>
          <p:nvPr/>
        </p:nvPicPr>
        <p:blipFill>
          <a:blip r:embed="rId3"/>
          <a:stretch>
            <a:fillRect/>
          </a:stretch>
        </p:blipFill>
        <p:spPr>
          <a:xfrm>
            <a:off x="228600" y="365759"/>
            <a:ext cx="8705088" cy="6062472"/>
          </a:xfrm>
          <a:prstGeom prst="rect">
            <a:avLst/>
          </a:prstGeom>
          <a:ln>
            <a:solidFill>
              <a:schemeClr val="bg1">
                <a:lumMod val="50000"/>
              </a:schemeClr>
            </a:solidFill>
          </a:ln>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4252468" cy="429768"/>
          </a:xfrm>
        </p:spPr>
        <p:txBody>
          <a:bodyPr wrap="none"/>
          <a:lstStyle/>
          <a:p>
            <a:r>
              <a:rPr sz="2600"/>
              <a:t>Pagar: caps y presupuesto</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800"/>
              </a:spcAft>
              <a:buClr>
                <a:srgbClr val="FF1414"/>
              </a:buClr>
              <a:buFont typeface="Arial"/>
              <a:buChar char="►"/>
            </a:pPr>
            <a:r>
              <a:rPr sz="1600" b="1"/>
              <a:t>Caps a varios niveles</a:t>
            </a:r>
            <a:r>
              <a:rPr sz="1600"/>
              <a:t>: global, por agente, por caso, por tokens de razonamiento y por llamadas por minuto.</a:t>
            </a:r>
          </a:p>
          <a:p>
            <a:pPr>
              <a:lnSpc>
                <a:spcPct val="140000"/>
              </a:lnSpc>
              <a:spcAft>
                <a:spcPts val="800"/>
              </a:spcAft>
              <a:buClr>
                <a:srgbClr val="FF1414"/>
              </a:buClr>
              <a:buFont typeface="Arial"/>
              <a:buChar char="►"/>
            </a:pPr>
            <a:r>
              <a:rPr sz="1600" b="1"/>
              <a:t>Aviso al 80 % y acción al 100 %</a:t>
            </a:r>
            <a:r>
              <a:rPr sz="1600"/>
              <a:t>: degradar el modelo, pausar lotes no urgentes o marcar el caso.</a:t>
            </a:r>
          </a:p>
          <a:p>
            <a:pPr>
              <a:lnSpc>
                <a:spcPct val="140000"/>
              </a:lnSpc>
              <a:spcAft>
                <a:spcPts val="800"/>
              </a:spcAft>
              <a:buClr>
                <a:srgbClr val="FF1414"/>
              </a:buClr>
              <a:buFont typeface="Arial"/>
              <a:buChar char="►"/>
            </a:pPr>
            <a:r>
              <a:rPr sz="1600" b="1"/>
              <a:t>Cada cap enlazado</a:t>
            </a:r>
            <a:r>
              <a:rPr sz="1600"/>
              <a:t> con los agentes que lo consumen y el guardrail que actúa al superarlo.</a:t>
            </a:r>
          </a:p>
          <a:p>
            <a:pPr>
              <a:lnSpc>
                <a:spcPct val="140000"/>
              </a:lnSpc>
              <a:spcAft>
                <a:spcPts val="800"/>
              </a:spcAft>
              <a:buClr>
                <a:srgbClr val="FF1414"/>
              </a:buClr>
              <a:buFont typeface="Arial"/>
              <a:buChar char="►"/>
            </a:pPr>
            <a:r>
              <a:rPr sz="1600" b="1"/>
              <a:t>Proyección de cierre de mes</a:t>
            </a:r>
            <a:r>
              <a:rPr sz="1600"/>
              <a:t> frente al presupuesto.</a:t>
            </a:r>
          </a:p>
        </p:txBody>
      </p:sp>
      <p:sp>
        <p:nvSpPr>
          <p:cNvPr id="4" name="Content Placeholder 3"/>
          <p:cNvSpPr>
            <a:spLocks noGrp="1"/>
          </p:cNvSpPr>
          <p:nvPr>
            <p:ph idx="10"/>
          </p:nvPr>
        </p:nvSpPr>
        <p:spPr>
          <a:xfrm>
            <a:off x="484632" y="1307592"/>
            <a:ext cx="5861304" cy="701040"/>
          </a:xfrm>
        </p:spPr>
        <p:txBody>
          <a:bodyPr anchor="t">
            <a:noAutofit/>
          </a:bodyPr>
          <a:lstStyle/>
          <a:p>
            <a:r>
              <a:t>El coste se controla por decisión, no con la factura del proveedor a fin de mes.</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c28-caps.png"/>
          <p:cNvPicPr>
            <a:picLocks noChangeAspect="1"/>
          </p:cNvPicPr>
          <p:nvPr/>
        </p:nvPicPr>
        <p:blipFill>
          <a:blip r:embed="rId3"/>
          <a:stretch>
            <a:fillRect/>
          </a:stretch>
        </p:blipFill>
        <p:spPr>
          <a:xfrm>
            <a:off x="6364224" y="1307592"/>
            <a:ext cx="2914027" cy="4105656"/>
          </a:xfrm>
          <a:prstGeom prst="rect">
            <a:avLst/>
          </a:prstGeom>
          <a:ln>
            <a:solidFill>
              <a:schemeClr val="bg1">
                <a:lumMod val="50000"/>
              </a:schemeClr>
            </a:solidFill>
          </a:ln>
        </p:spPr>
      </p:pic>
      <p:sp>
        <p:nvSpPr>
          <p:cNvPr id="14" name="TextBox 13"/>
          <p:cNvSpPr txBox="1"/>
          <p:nvPr/>
        </p:nvSpPr>
        <p:spPr>
          <a:xfrm>
            <a:off x="6345936" y="5568696"/>
            <a:ext cx="5696712" cy="694944"/>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Arriba: Cap diario del agente de Reglas (CAP-03): al 114 % del límite. Abajo: Coste mensual acumulado frente al cap y proyección de cierre.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17-cap03-consumo.png"/>
          <p:cNvPicPr>
            <a:picLocks noChangeAspect="1"/>
          </p:cNvPicPr>
          <p:nvPr/>
        </p:nvPicPr>
        <p:blipFill>
          <a:blip r:embed="rId3"/>
          <a:stretch>
            <a:fillRect/>
          </a:stretch>
        </p:blipFill>
        <p:spPr>
          <a:xfrm>
            <a:off x="228600" y="365759"/>
            <a:ext cx="8705088" cy="6062472"/>
          </a:xfrm>
          <a:prstGeom prst="rect">
            <a:avLst/>
          </a:prstGeom>
          <a:ln>
            <a:solidFill>
              <a:schemeClr val="bg1">
                <a:lumMod val="50000"/>
              </a:schemeClr>
            </a:solidFill>
          </a:ln>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20-coste-mensual.png"/>
          <p:cNvPicPr>
            <a:picLocks noChangeAspect="1"/>
          </p:cNvPicPr>
          <p:nvPr/>
        </p:nvPicPr>
        <p:blipFill>
          <a:blip r:embed="rId3"/>
          <a:stretch>
            <a:fillRect/>
          </a:stretch>
        </p:blipFill>
        <p:spPr>
          <a:xfrm>
            <a:off x="228600" y="365759"/>
            <a:ext cx="8705088" cy="6062472"/>
          </a:xfrm>
          <a:prstGeom prst="rect">
            <a:avLst/>
          </a:prstGeom>
          <a:ln>
            <a:solidFill>
              <a:schemeClr val="bg1">
                <a:lumMod val="50000"/>
              </a:schemeClr>
            </a:solidFill>
          </a:ln>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4743958" cy="429768"/>
          </a:xfrm>
        </p:spPr>
        <p:txBody>
          <a:bodyPr wrap="none"/>
          <a:lstStyle/>
          <a:p>
            <a:r>
              <a:rPr sz="2600"/>
              <a:t>Pagar: de la alerta a la acción</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1000"/>
              </a:spcAft>
              <a:buClr>
                <a:srgbClr val="FF1414"/>
              </a:buClr>
              <a:buFont typeface="Arial"/>
              <a:buChar char="►"/>
            </a:pPr>
            <a:r>
              <a:rPr sz="1800" b="1"/>
              <a:t>Automática</a:t>
            </a:r>
            <a:r>
              <a:rPr sz="1800"/>
              <a:t>: ya aplicada por un guardrail. Ejemplo: modelo más barato hasta medianoche (−82 % de coste por mensaje).</a:t>
            </a:r>
          </a:p>
          <a:p>
            <a:pPr>
              <a:lnSpc>
                <a:spcPct val="140000"/>
              </a:lnSpc>
              <a:spcAft>
                <a:spcPts val="1000"/>
              </a:spcAft>
              <a:buClr>
                <a:srgbClr val="FF1414"/>
              </a:buClr>
              <a:buFont typeface="Arial"/>
              <a:buChar char="►"/>
            </a:pPr>
            <a:r>
              <a:rPr sz="1800" b="1"/>
              <a:t>Simular y aplicar</a:t>
            </a:r>
            <a:r>
              <a:rPr sz="1800"/>
              <a:t>: se prueba con replay antes de activarla. Ejemplo: modelo pequeño en los casos sencillos (−7,9 €/día).</a:t>
            </a:r>
          </a:p>
          <a:p>
            <a:pPr>
              <a:lnSpc>
                <a:spcPct val="140000"/>
              </a:lnSpc>
              <a:spcAft>
                <a:spcPts val="1000"/>
              </a:spcAft>
              <a:buClr>
                <a:srgbClr val="FF1414"/>
              </a:buClr>
              <a:buFont typeface="Arial"/>
              <a:buChar char="►"/>
            </a:pPr>
            <a:r>
              <a:rPr sz="1800" b="1"/>
              <a:t>Solicitar aprobación</a:t>
            </a:r>
            <a:r>
              <a:rPr sz="1800"/>
              <a:t>: los cambios de presupuesto pasan por el comité. Ejemplo: subir el límite de 12 € a 14 €.</a:t>
            </a:r>
          </a:p>
        </p:txBody>
      </p:sp>
      <p:sp>
        <p:nvSpPr>
          <p:cNvPr id="4" name="Content Placeholder 3"/>
          <p:cNvSpPr>
            <a:spLocks noGrp="1"/>
          </p:cNvSpPr>
          <p:nvPr>
            <p:ph idx="10"/>
          </p:nvPr>
        </p:nvSpPr>
        <p:spPr>
          <a:xfrm>
            <a:off x="484632" y="1307592"/>
            <a:ext cx="5861304" cy="701040"/>
          </a:xfrm>
        </p:spPr>
        <p:txBody>
          <a:bodyPr anchor="t">
            <a:noAutofit/>
          </a:bodyPr>
          <a:lstStyle/>
          <a:p>
            <a:r>
              <a:t>Cada alerta llega con su acción, su ahorro estimado y quién tiene que aprobarla.</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c29-acciones.png"/>
          <p:cNvPicPr>
            <a:picLocks noChangeAspect="1"/>
          </p:cNvPicPr>
          <p:nvPr/>
        </p:nvPicPr>
        <p:blipFill>
          <a:blip r:embed="rId3"/>
          <a:stretch>
            <a:fillRect/>
          </a:stretch>
        </p:blipFill>
        <p:spPr>
          <a:xfrm>
            <a:off x="6364224" y="1307592"/>
            <a:ext cx="4715569" cy="4105656"/>
          </a:xfrm>
          <a:prstGeom prst="rect">
            <a:avLst/>
          </a:prstGeom>
          <a:ln>
            <a:solidFill>
              <a:schemeClr val="bg1">
                <a:lumMod val="50000"/>
              </a:schemeClr>
            </a:solidFill>
          </a:ln>
        </p:spPr>
      </p:pic>
      <p:sp>
        <p:nvSpPr>
          <p:cNvPr id="14" name="TextBox 13"/>
          <p:cNvSpPr txBox="1"/>
          <p:nvPr/>
        </p:nvSpPr>
        <p:spPr>
          <a:xfrm>
            <a:off x="6345936" y="5568696"/>
            <a:ext cx="5696712" cy="694944"/>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Arriba: Alertas de coste: CAP-03 superado, CAP-04 y CAP-05 en una traza, CAP-01 al 87 %. Abajo: Acciones correctivas de CAP-03: automática, simular, aplicar o pedir aprobación.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46-alertas-coste.png"/>
          <p:cNvPicPr>
            <a:picLocks noChangeAspect="1"/>
          </p:cNvPicPr>
          <p:nvPr/>
        </p:nvPicPr>
        <p:blipFill>
          <a:blip r:embed="rId3"/>
          <a:stretch>
            <a:fillRect/>
          </a:stretch>
        </p:blipFill>
        <p:spPr>
          <a:xfrm>
            <a:off x="228600" y="1333682"/>
            <a:ext cx="9701784" cy="4126626"/>
          </a:xfrm>
          <a:prstGeom prst="rect">
            <a:avLst/>
          </a:prstGeom>
          <a:ln>
            <a:solidFill>
              <a:schemeClr val="bg1">
                <a:lumMod val="50000"/>
              </a:schemeClr>
            </a:solidFill>
          </a:ln>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17b-cap03-acciones.png"/>
          <p:cNvPicPr>
            <a:picLocks noChangeAspect="1"/>
          </p:cNvPicPr>
          <p:nvPr/>
        </p:nvPicPr>
        <p:blipFill>
          <a:blip r:embed="rId3"/>
          <a:stretch>
            <a:fillRect/>
          </a:stretch>
        </p:blipFill>
        <p:spPr>
          <a:xfrm>
            <a:off x="228600" y="1313542"/>
            <a:ext cx="9701784" cy="4166907"/>
          </a:xfrm>
          <a:prstGeom prst="rect">
            <a:avLst/>
          </a:prstGeom>
          <a:ln>
            <a:solidFill>
              <a:schemeClr val="bg1">
                <a:lumMod val="50000"/>
              </a:schemeClr>
            </a:solidFill>
          </a:ln>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7080758" cy="429768"/>
          </a:xfrm>
        </p:spPr>
        <p:txBody>
          <a:bodyPr wrap="none"/>
          <a:lstStyle/>
          <a:p>
            <a:r>
              <a:rPr sz="2600"/>
              <a:t>Pagar: el modelo adecuado para cada agente</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1000"/>
              </a:spcAft>
              <a:buClr>
                <a:srgbClr val="FF1414"/>
              </a:buClr>
              <a:buFont typeface="Arial"/>
              <a:buChar char="►"/>
            </a:pPr>
            <a:r>
              <a:rPr sz="1800" b="1"/>
              <a:t>Coste frente a calidad</a:t>
            </a:r>
            <a:r>
              <a:rPr sz="1800"/>
              <a:t>: precio, tokens, coste, latencia p95 y calidad de cada modelo.</a:t>
            </a:r>
          </a:p>
          <a:p>
            <a:pPr>
              <a:lnSpc>
                <a:spcPct val="140000"/>
              </a:lnSpc>
              <a:spcAft>
                <a:spcPts val="1000"/>
              </a:spcAft>
              <a:buClr>
                <a:srgbClr val="FF1414"/>
              </a:buClr>
              <a:buFont typeface="Arial"/>
              <a:buChar char="►"/>
            </a:pPr>
            <a:r>
              <a:rPr sz="1800" b="1"/>
              <a:t>Dónde está el gasto</a:t>
            </a:r>
            <a:r>
              <a:rPr sz="1800"/>
              <a:t>: en el ejemplo, un solo agente concentra el 80 % del coste.</a:t>
            </a:r>
          </a:p>
          <a:p>
            <a:pPr>
              <a:lnSpc>
                <a:spcPct val="140000"/>
              </a:lnSpc>
              <a:spcAft>
                <a:spcPts val="1000"/>
              </a:spcAft>
              <a:buClr>
                <a:srgbClr val="FF1414"/>
              </a:buClr>
              <a:buFont typeface="Arial"/>
              <a:buChar char="►"/>
            </a:pPr>
            <a:r>
              <a:rPr sz="1800" b="1"/>
              <a:t>Palancas de ahorro priorizadas</a:t>
            </a:r>
            <a:r>
              <a:rPr sz="1800"/>
              <a:t>: menos razonamiento, modelo pequeño en casos simples, estrategia en dos pasos y caché del prompt base.</a:t>
            </a:r>
          </a:p>
        </p:txBody>
      </p:sp>
      <p:sp>
        <p:nvSpPr>
          <p:cNvPr id="4" name="Content Placeholder 3"/>
          <p:cNvSpPr>
            <a:spLocks noGrp="1"/>
          </p:cNvSpPr>
          <p:nvPr>
            <p:ph idx="10"/>
          </p:nvPr>
        </p:nvSpPr>
        <p:spPr>
          <a:xfrm>
            <a:off x="484632" y="1307592"/>
            <a:ext cx="5861304" cy="701040"/>
          </a:xfrm>
        </p:spPr>
        <p:txBody>
          <a:bodyPr anchor="t">
            <a:noAutofit/>
          </a:bodyPr>
          <a:lstStyle/>
          <a:p>
            <a:r>
              <a:t>No buscamos el modelo más barato, sino el más barato que mantiene la calidad.</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10-finops-modelos.png"/>
          <p:cNvPicPr>
            <a:picLocks noChangeAspect="1"/>
          </p:cNvPicPr>
          <p:nvPr/>
        </p:nvPicPr>
        <p:blipFill>
          <a:blip r:embed="rId3"/>
          <a:stretch>
            <a:fillRect/>
          </a:stretch>
        </p:blipFill>
        <p:spPr>
          <a:xfrm>
            <a:off x="6364224" y="1307592"/>
            <a:ext cx="5440680" cy="2772290"/>
          </a:xfrm>
          <a:prstGeom prst="rect">
            <a:avLst/>
          </a:prstGeom>
          <a:ln>
            <a:solidFill>
              <a:schemeClr val="bg1">
                <a:lumMod val="50000"/>
              </a:schemeClr>
            </a:solidFill>
          </a:ln>
        </p:spPr>
      </p:pic>
      <p:sp>
        <p:nvSpPr>
          <p:cNvPr id="14" name="TextBox 13"/>
          <p:cNvSpPr txBox="1"/>
          <p:nvPr/>
        </p:nvSpPr>
        <p:spPr>
          <a:xfrm>
            <a:off x="6345936" y="4235330"/>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Comparativa de modelos: precio, consumo, coste, latencia y calidad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10-finops-modelos.png"/>
          <p:cNvPicPr>
            <a:picLocks noChangeAspect="1"/>
          </p:cNvPicPr>
          <p:nvPr/>
        </p:nvPicPr>
        <p:blipFill>
          <a:blip r:embed="rId3"/>
          <a:stretch>
            <a:fillRect/>
          </a:stretch>
        </p:blipFill>
        <p:spPr>
          <a:xfrm>
            <a:off x="228600" y="925230"/>
            <a:ext cx="9701784" cy="4943530"/>
          </a:xfrm>
          <a:prstGeom prst="rect">
            <a:avLst/>
          </a:prstGeom>
          <a:ln>
            <a:solidFill>
              <a:schemeClr val="bg1">
                <a:lumMod val="50000"/>
              </a:schemeClr>
            </a:solidFill>
          </a:ln>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4331208" cy="429768"/>
          </a:xfrm>
        </p:spPr>
        <p:txBody>
          <a:bodyPr wrap="none"/>
          <a:lstStyle/>
          <a:p>
            <a:r>
              <a:rPr sz="2600"/>
              <a:t>Antes de cambiar, simular</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1000"/>
              </a:spcAft>
              <a:buClr>
                <a:srgbClr val="FF1414"/>
              </a:buClr>
              <a:buFont typeface="Arial"/>
              <a:buChar char="►"/>
            </a:pPr>
            <a:r>
              <a:rPr sz="1800" b="1"/>
              <a:t>Nuevo cap</a:t>
            </a:r>
            <a:r>
              <a:rPr sz="1800"/>
              <a:t>: cuántas veces se habría superado en los últimos 14 días y si choca con otro cap.</a:t>
            </a:r>
          </a:p>
          <a:p>
            <a:pPr>
              <a:lnSpc>
                <a:spcPct val="140000"/>
              </a:lnSpc>
              <a:spcAft>
                <a:spcPts val="1000"/>
              </a:spcAft>
              <a:buClr>
                <a:srgbClr val="FF1414"/>
              </a:buClr>
              <a:buFont typeface="Arial"/>
              <a:buChar char="►"/>
            </a:pPr>
            <a:r>
              <a:rPr sz="1800" b="1"/>
              <a:t>Nuevo guardrail</a:t>
            </a:r>
            <a:r>
              <a:rPr sz="1800"/>
              <a:t>: cuántos disparos tendría y cuántos mensajes pasarían a una persona.</a:t>
            </a:r>
          </a:p>
          <a:p>
            <a:pPr>
              <a:lnSpc>
                <a:spcPct val="140000"/>
              </a:lnSpc>
              <a:spcAft>
                <a:spcPts val="1000"/>
              </a:spcAft>
              <a:buClr>
                <a:srgbClr val="FF1414"/>
              </a:buClr>
              <a:buFont typeface="Arial"/>
              <a:buChar char="►"/>
            </a:pPr>
            <a:r>
              <a:rPr sz="1800" b="1"/>
              <a:t>Cambio de modelo o de prompt</a:t>
            </a:r>
            <a:r>
              <a:rPr sz="1800"/>
              <a:t>: replay What-if sobre casos reales, con la diferencia en decisión, coste y latencia.</a:t>
            </a:r>
          </a:p>
        </p:txBody>
      </p:sp>
      <p:sp>
        <p:nvSpPr>
          <p:cNvPr id="4" name="Content Placeholder 3"/>
          <p:cNvSpPr>
            <a:spLocks noGrp="1"/>
          </p:cNvSpPr>
          <p:nvPr>
            <p:ph idx="10"/>
          </p:nvPr>
        </p:nvSpPr>
        <p:spPr>
          <a:xfrm>
            <a:off x="484632" y="1307592"/>
            <a:ext cx="5861304" cy="701040"/>
          </a:xfrm>
        </p:spPr>
        <p:txBody>
          <a:bodyPr anchor="t">
            <a:noAutofit/>
          </a:bodyPr>
          <a:lstStyle/>
          <a:p>
            <a:r>
              <a:t>Ningún cambio de gobierno llega a producción sin saber antes su impacto.</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c31-simular.png"/>
          <p:cNvPicPr>
            <a:picLocks noChangeAspect="1"/>
          </p:cNvPicPr>
          <p:nvPr/>
        </p:nvPicPr>
        <p:blipFill>
          <a:blip r:embed="rId3"/>
          <a:stretch>
            <a:fillRect/>
          </a:stretch>
        </p:blipFill>
        <p:spPr>
          <a:xfrm>
            <a:off x="6364224" y="1307592"/>
            <a:ext cx="3065461" cy="4319016"/>
          </a:xfrm>
          <a:prstGeom prst="rect">
            <a:avLst/>
          </a:prstGeom>
          <a:ln>
            <a:solidFill>
              <a:schemeClr val="bg1">
                <a:lumMod val="50000"/>
              </a:schemeClr>
            </a:solidFill>
          </a:ln>
        </p:spPr>
      </p:pic>
      <p:sp>
        <p:nvSpPr>
          <p:cNvPr id="14" name="TextBox 13"/>
          <p:cNvSpPr txBox="1"/>
          <p:nvPr/>
        </p:nvSpPr>
        <p:spPr>
          <a:xfrm>
            <a:off x="6345936" y="5782056"/>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Arriba: Nuevo cap: vista previa del consumo frente al nuevo límite. Abajo: Nuevo guardrail: vista previa e impacto estimado.</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18-nuevo-cap.png"/>
          <p:cNvPicPr>
            <a:picLocks noChangeAspect="1"/>
          </p:cNvPicPr>
          <p:nvPr/>
        </p:nvPicPr>
        <p:blipFill>
          <a:blip r:embed="rId3"/>
          <a:stretch>
            <a:fillRect/>
          </a:stretch>
        </p:blipFill>
        <p:spPr>
          <a:xfrm>
            <a:off x="228600" y="365759"/>
            <a:ext cx="8705088" cy="6062472"/>
          </a:xfrm>
          <a:prstGeom prst="rect">
            <a:avLst/>
          </a:prstGeom>
          <a:ln>
            <a:solidFill>
              <a:schemeClr val="bg1">
                <a:lumMod val="50000"/>
              </a:schemeClr>
            </a:solidFill>
          </a:ln>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16-nuevo-guardrail.png"/>
          <p:cNvPicPr>
            <a:picLocks noChangeAspect="1"/>
          </p:cNvPicPr>
          <p:nvPr/>
        </p:nvPicPr>
        <p:blipFill>
          <a:blip r:embed="rId3"/>
          <a:stretch>
            <a:fillRect/>
          </a:stretch>
        </p:blipFill>
        <p:spPr>
          <a:xfrm>
            <a:off x="228600" y="365759"/>
            <a:ext cx="8705088" cy="6062472"/>
          </a:xfrm>
          <a:prstGeom prst="rect">
            <a:avLst/>
          </a:prstGeom>
          <a:ln>
            <a:solidFill>
              <a:schemeClr val="bg1">
                <a:lumMod val="50000"/>
              </a:schemeClr>
            </a:solidFill>
          </a:ln>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4804917" cy="429768"/>
          </a:xfrm>
        </p:spPr>
        <p:txBody>
          <a:bodyPr wrap="none"/>
          <a:lstStyle/>
          <a:p>
            <a:r>
              <a:rPr sz="2600"/>
              <a:t>Corregir: medidas correctivas</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800"/>
              </a:spcAft>
              <a:buClr>
                <a:srgbClr val="FF1414"/>
              </a:buClr>
              <a:buFont typeface="Arial"/>
              <a:buChar char="►"/>
            </a:pPr>
            <a:r>
              <a:rPr sz="1600" b="1"/>
              <a:t>Un solo sitio</a:t>
            </a:r>
            <a:r>
              <a:rPr sz="1600"/>
              <a:t>: coste, conocimiento, cumplimiento, calidad y resiliencia, con el origen de cada problema.</a:t>
            </a:r>
          </a:p>
          <a:p>
            <a:pPr>
              <a:lnSpc>
                <a:spcPct val="140000"/>
              </a:lnSpc>
              <a:spcAft>
                <a:spcPts val="800"/>
              </a:spcAft>
              <a:buClr>
                <a:srgbClr val="FF1414"/>
              </a:buClr>
              <a:buFont typeface="Arial"/>
              <a:buChar char="►"/>
            </a:pPr>
            <a:r>
              <a:rPr sz="1600" b="1"/>
              <a:t>Alternativas comparadas</a:t>
            </a:r>
            <a:r>
              <a:rPr sz="1600"/>
              <a:t>: impacto, efecto secundario, esfuerzo, quién aprueba y cómo se valida antes.</a:t>
            </a:r>
          </a:p>
          <a:p>
            <a:pPr>
              <a:lnSpc>
                <a:spcPct val="140000"/>
              </a:lnSpc>
              <a:spcAft>
                <a:spcPts val="800"/>
              </a:spcAft>
              <a:buClr>
                <a:srgbClr val="FF1414"/>
              </a:buClr>
              <a:buFont typeface="Arial"/>
              <a:buChar char="►"/>
            </a:pPr>
            <a:r>
              <a:rPr sz="1600" b="1"/>
              <a:t>Prioridad</a:t>
            </a:r>
            <a:r>
              <a:rPr sz="1600"/>
              <a:t>: severidad × impacto ÷ esfuerzo, con las victorias rápidas marcadas.</a:t>
            </a:r>
          </a:p>
          <a:p>
            <a:pPr>
              <a:lnSpc>
                <a:spcPct val="140000"/>
              </a:lnSpc>
              <a:spcAft>
                <a:spcPts val="800"/>
              </a:spcAft>
              <a:buClr>
                <a:srgbClr val="FF1414"/>
              </a:buClr>
              <a:buFont typeface="Arial"/>
              <a:buChar char="►"/>
            </a:pPr>
            <a:r>
              <a:rPr sz="1600" b="1"/>
              <a:t>Ahorro conseguido y termómetro</a:t>
            </a:r>
            <a:r>
              <a:rPr sz="1600"/>
              <a:t>: aplicar una medida de coste sube el ahorro; verificar una de cumplimiento mejora el termómetro; «Deshacer» vuelve al paso anterior.</a:t>
            </a:r>
          </a:p>
        </p:txBody>
      </p:sp>
      <p:sp>
        <p:nvSpPr>
          <p:cNvPr id="4" name="Content Placeholder 3"/>
          <p:cNvSpPr>
            <a:spLocks noGrp="1"/>
          </p:cNvSpPr>
          <p:nvPr>
            <p:ph idx="10"/>
          </p:nvPr>
        </p:nvSpPr>
        <p:spPr>
          <a:xfrm>
            <a:off x="484632" y="1307592"/>
            <a:ext cx="5861304" cy="701040"/>
          </a:xfrm>
        </p:spPr>
        <p:txBody>
          <a:bodyPr anchor="t">
            <a:noAutofit/>
          </a:bodyPr>
          <a:lstStyle/>
          <a:p>
            <a:r>
              <a:t>De lo detectado a lo resuelto: una lista de trabajo priorizada, con alternativas y verificación.</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37-medidas.png"/>
          <p:cNvPicPr>
            <a:picLocks noChangeAspect="1"/>
          </p:cNvPicPr>
          <p:nvPr/>
        </p:nvPicPr>
        <p:blipFill>
          <a:blip r:embed="rId3"/>
          <a:stretch>
            <a:fillRect/>
          </a:stretch>
        </p:blipFill>
        <p:spPr>
          <a:xfrm>
            <a:off x="6364224" y="1307592"/>
            <a:ext cx="5440679" cy="3400424"/>
          </a:xfrm>
          <a:prstGeom prst="rect">
            <a:avLst/>
          </a:prstGeom>
          <a:ln>
            <a:solidFill>
              <a:schemeClr val="bg1">
                <a:lumMod val="50000"/>
              </a:schemeClr>
            </a:solidFill>
          </a:ln>
        </p:spPr>
      </p:pic>
      <p:sp>
        <p:nvSpPr>
          <p:cNvPr id="14" name="TextBox 13"/>
          <p:cNvSpPr txBox="1"/>
          <p:nvPr/>
        </p:nvSpPr>
        <p:spPr>
          <a:xfrm>
            <a:off x="6345936" y="4863465"/>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Medidas correctivas: lista priorizada con sus alternativas y el termómetro arriba a la derecha</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37-medidas.png"/>
          <p:cNvPicPr>
            <a:picLocks noChangeAspect="1"/>
          </p:cNvPicPr>
          <p:nvPr/>
        </p:nvPicPr>
        <p:blipFill>
          <a:blip r:embed="rId3"/>
          <a:stretch>
            <a:fillRect/>
          </a:stretch>
        </p:blipFill>
        <p:spPr>
          <a:xfrm>
            <a:off x="228600" y="365760"/>
            <a:ext cx="9699955" cy="6062472"/>
          </a:xfrm>
          <a:prstGeom prst="rect">
            <a:avLst/>
          </a:prstGeom>
          <a:ln>
            <a:solidFill>
              <a:schemeClr val="bg1">
                <a:lumMod val="50000"/>
              </a:schemeClr>
            </a:solidFill>
          </a:ln>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38-medida-m01.png"/>
          <p:cNvPicPr>
            <a:picLocks noChangeAspect="1"/>
          </p:cNvPicPr>
          <p:nvPr/>
        </p:nvPicPr>
        <p:blipFill>
          <a:blip r:embed="rId3"/>
          <a:stretch>
            <a:fillRect/>
          </a:stretch>
        </p:blipFill>
        <p:spPr>
          <a:xfrm>
            <a:off x="228600" y="365759"/>
            <a:ext cx="8705088" cy="6062472"/>
          </a:xfrm>
          <a:prstGeom prst="rect">
            <a:avLst/>
          </a:prstGeom>
          <a:ln>
            <a:solidFill>
              <a:schemeClr val="bg1">
                <a:lumMod val="50000"/>
              </a:schemeClr>
            </a:solidFill>
          </a:ln>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39-ahorro-conseguido.png"/>
          <p:cNvPicPr>
            <a:picLocks noChangeAspect="1"/>
          </p:cNvPicPr>
          <p:nvPr/>
        </p:nvPicPr>
        <p:blipFill>
          <a:blip r:embed="rId3"/>
          <a:stretch>
            <a:fillRect/>
          </a:stretch>
        </p:blipFill>
        <p:spPr>
          <a:xfrm>
            <a:off x="228600" y="2714839"/>
            <a:ext cx="9701784" cy="1364313"/>
          </a:xfrm>
          <a:prstGeom prst="rect">
            <a:avLst/>
          </a:prstGeom>
          <a:ln>
            <a:solidFill>
              <a:schemeClr val="bg1">
                <a:lumMod val="50000"/>
              </a:schemeClr>
            </a:solidFill>
          </a:ln>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4025138" cy="429768"/>
          </a:xfrm>
        </p:spPr>
        <p:txBody>
          <a:bodyPr wrap="none"/>
          <a:lstStyle/>
          <a:p>
            <a:r>
              <a:rPr sz="2600"/>
              <a:t>Auditar: libro de registro</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800"/>
              </a:spcAft>
              <a:buClr>
                <a:srgbClr val="FF1414"/>
              </a:buClr>
              <a:buFont typeface="Arial"/>
              <a:buChar char="►"/>
            </a:pPr>
            <a:r>
              <a:rPr sz="1600" b="1"/>
              <a:t>Alertas</a:t>
            </a:r>
            <a:r>
              <a:rPr sz="1600"/>
              <a:t>: cap superado, aviso al 80 %.</a:t>
            </a:r>
          </a:p>
          <a:p>
            <a:pPr>
              <a:lnSpc>
                <a:spcPct val="140000"/>
              </a:lnSpc>
              <a:spcAft>
                <a:spcPts val="800"/>
              </a:spcAft>
              <a:buClr>
                <a:srgbClr val="FF1414"/>
              </a:buClr>
              <a:buFont typeface="Arial"/>
              <a:buChar char="►"/>
            </a:pPr>
            <a:r>
              <a:rPr sz="1600" b="1"/>
              <a:t>Políticas y niveles</a:t>
            </a:r>
            <a:r>
              <a:rPr sz="1600"/>
              <a:t>: guardrail activado, cambio de autonomía, acción correctiva aplicada.</a:t>
            </a:r>
          </a:p>
          <a:p>
            <a:pPr>
              <a:lnSpc>
                <a:spcPct val="140000"/>
              </a:lnSpc>
              <a:spcAft>
                <a:spcPts val="800"/>
              </a:spcAft>
              <a:buClr>
                <a:srgbClr val="FF1414"/>
              </a:buClr>
              <a:buFont typeface="Arial"/>
              <a:buChar char="►"/>
            </a:pPr>
            <a:r>
              <a:rPr sz="1600" b="1"/>
              <a:t>Replays</a:t>
            </a:r>
            <a:r>
              <a:rPr sz="1600"/>
              <a:t>: pruebas de modelo o de prompt.</a:t>
            </a:r>
          </a:p>
          <a:p>
            <a:pPr>
              <a:lnSpc>
                <a:spcPct val="140000"/>
              </a:lnSpc>
              <a:spcAft>
                <a:spcPts val="800"/>
              </a:spcAft>
              <a:buClr>
                <a:srgbClr val="FF1414"/>
              </a:buClr>
              <a:buFont typeface="Arial"/>
              <a:buChar char="►"/>
            </a:pPr>
            <a:r>
              <a:rPr sz="1600" b="1"/>
              <a:t>Overrides</a:t>
            </a:r>
            <a:r>
              <a:rPr sz="1600"/>
              <a:t>: decisiones del agente corregidas por una persona.</a:t>
            </a:r>
          </a:p>
          <a:p>
            <a:pPr>
              <a:lnSpc>
                <a:spcPct val="140000"/>
              </a:lnSpc>
              <a:spcAft>
                <a:spcPts val="800"/>
              </a:spcAft>
              <a:buClr>
                <a:srgbClr val="FF1414"/>
              </a:buClr>
              <a:buFont typeface="Arial"/>
              <a:buChar char="►"/>
            </a:pPr>
            <a:r>
              <a:rPr sz="1600" b="1"/>
              <a:t>Despliegues</a:t>
            </a:r>
            <a:r>
              <a:rPr sz="1600"/>
              <a:t>: cambios de prompt o de modelo.</a:t>
            </a:r>
          </a:p>
          <a:p>
            <a:pPr>
              <a:lnSpc>
                <a:spcPct val="140000"/>
              </a:lnSpc>
              <a:spcAft>
                <a:spcPts val="800"/>
              </a:spcAft>
              <a:buClr>
                <a:srgbClr val="FF1414"/>
              </a:buClr>
              <a:buFont typeface="Arial"/>
              <a:buChar char="►"/>
            </a:pPr>
            <a:r>
              <a:rPr sz="1600" b="1"/>
              <a:t>Incidentes</a:t>
            </a:r>
            <a:r>
              <a:rPr sz="1600"/>
              <a:t>: saturación del proveedor, paso a motor alternativo.</a:t>
            </a:r>
          </a:p>
        </p:txBody>
      </p:sp>
      <p:sp>
        <p:nvSpPr>
          <p:cNvPr id="4" name="Content Placeholder 3"/>
          <p:cNvSpPr>
            <a:spLocks noGrp="1"/>
          </p:cNvSpPr>
          <p:nvPr>
            <p:ph idx="10"/>
          </p:nvPr>
        </p:nvSpPr>
        <p:spPr>
          <a:xfrm>
            <a:off x="484632" y="1307592"/>
            <a:ext cx="5861304" cy="701040"/>
          </a:xfrm>
        </p:spPr>
        <p:txBody>
          <a:bodyPr anchor="t">
            <a:noAutofit/>
          </a:bodyPr>
          <a:lstStyle/>
          <a:p>
            <a:r>
              <a:t>Qué cambió, cuándo, por qué y quién lo aprobó. Se rellena solo, sin trabajo extra.</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11-historico.png"/>
          <p:cNvPicPr>
            <a:picLocks noChangeAspect="1"/>
          </p:cNvPicPr>
          <p:nvPr/>
        </p:nvPicPr>
        <p:blipFill>
          <a:blip r:embed="rId3"/>
          <a:stretch>
            <a:fillRect/>
          </a:stretch>
        </p:blipFill>
        <p:spPr>
          <a:xfrm>
            <a:off x="6364224" y="1307592"/>
            <a:ext cx="5440679" cy="3400424"/>
          </a:xfrm>
          <a:prstGeom prst="rect">
            <a:avLst/>
          </a:prstGeom>
          <a:ln>
            <a:solidFill>
              <a:schemeClr val="bg1">
                <a:lumMod val="50000"/>
              </a:schemeClr>
            </a:solidFill>
          </a:ln>
        </p:spPr>
      </p:pic>
      <p:sp>
        <p:nvSpPr>
          <p:cNvPr id="14" name="TextBox 13"/>
          <p:cNvSpPr txBox="1"/>
          <p:nvPr/>
        </p:nvSpPr>
        <p:spPr>
          <a:xfrm>
            <a:off x="6345936" y="4863465"/>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Histórico de gobierno: overrides, incidentes, caps, replays y cambios de nivel</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11-historico.png"/>
          <p:cNvPicPr>
            <a:picLocks noChangeAspect="1"/>
          </p:cNvPicPr>
          <p:nvPr/>
        </p:nvPicPr>
        <p:blipFill>
          <a:blip r:embed="rId3"/>
          <a:stretch>
            <a:fillRect/>
          </a:stretch>
        </p:blipFill>
        <p:spPr>
          <a:xfrm>
            <a:off x="228600" y="365760"/>
            <a:ext cx="9699955" cy="6062472"/>
          </a:xfrm>
          <a:prstGeom prst="rect">
            <a:avLst/>
          </a:prstGeom>
          <a:ln>
            <a:solidFill>
              <a:schemeClr val="bg1">
                <a:lumMod val="50000"/>
              </a:schemeClr>
            </a:solidFill>
          </a:ln>
        </p:spPr>
      </p:pic>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4194047" cy="429768"/>
          </a:xfrm>
        </p:spPr>
        <p:txBody>
          <a:bodyPr wrap="none"/>
          <a:lstStyle/>
          <a:p>
            <a:r>
              <a:rPr sz="2600"/>
              <a:t>Cumplimiento por diseño</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600"/>
              </a:spcAft>
              <a:buClr>
                <a:srgbClr val="FF1414"/>
              </a:buClr>
              <a:buFont typeface="Arial"/>
              <a:buChar char="►"/>
            </a:pPr>
            <a:r>
              <a:rPr sz="1400" b="1"/>
              <a:t>Trazabilidad</a:t>
            </a:r>
            <a:r>
              <a:rPr sz="1400"/>
              <a:t>: AI Act art. 12 · RGPD art. 5.2 y 30.</a:t>
            </a:r>
          </a:p>
          <a:p>
            <a:pPr>
              <a:lnSpc>
                <a:spcPct val="140000"/>
              </a:lnSpc>
              <a:spcAft>
                <a:spcPts val="600"/>
              </a:spcAft>
              <a:buClr>
                <a:srgbClr val="FF1414"/>
              </a:buClr>
              <a:buFont typeface="Arial"/>
              <a:buChar char="►"/>
            </a:pPr>
            <a:r>
              <a:rPr sz="1400" b="1"/>
              <a:t>Explicabilidad</a:t>
            </a:r>
            <a:r>
              <a:rPr sz="1400"/>
              <a:t>: RGPD art. 15 y 22 · AI Act art. 13.</a:t>
            </a:r>
          </a:p>
          <a:p>
            <a:pPr>
              <a:lnSpc>
                <a:spcPct val="140000"/>
              </a:lnSpc>
              <a:spcAft>
                <a:spcPts val="600"/>
              </a:spcAft>
              <a:buClr>
                <a:srgbClr val="FF1414"/>
              </a:buClr>
              <a:buFont typeface="Arial"/>
              <a:buChar char="►"/>
            </a:pPr>
            <a:r>
              <a:rPr sz="1400" b="1"/>
              <a:t>Autonomía y supervisión humana</a:t>
            </a:r>
            <a:r>
              <a:rPr sz="1400"/>
              <a:t>: AI Act art. 14 · RGPD art. 22.</a:t>
            </a:r>
          </a:p>
          <a:p>
            <a:pPr>
              <a:lnSpc>
                <a:spcPct val="140000"/>
              </a:lnSpc>
              <a:spcAft>
                <a:spcPts val="600"/>
              </a:spcAft>
              <a:buClr>
                <a:srgbClr val="FF1414"/>
              </a:buClr>
              <a:buFont typeface="Arial"/>
              <a:buChar char="►"/>
            </a:pPr>
            <a:r>
              <a:rPr sz="1400" b="1"/>
              <a:t>Guardrails y resiliencia</a:t>
            </a:r>
            <a:r>
              <a:rPr sz="1400"/>
              <a:t>: AI Act art. 15 · DORA.</a:t>
            </a:r>
          </a:p>
          <a:p>
            <a:pPr>
              <a:lnSpc>
                <a:spcPct val="140000"/>
              </a:lnSpc>
              <a:spcAft>
                <a:spcPts val="600"/>
              </a:spcAft>
              <a:buClr>
                <a:srgbClr val="FF1414"/>
              </a:buClr>
              <a:buFont typeface="Arial"/>
              <a:buChar char="►"/>
            </a:pPr>
            <a:r>
              <a:rPr sz="1400" b="1"/>
              <a:t>Identidad y permisos</a:t>
            </a:r>
            <a:r>
              <a:rPr sz="1400"/>
              <a:t>: DORA art. 9 · RGPD art. 25 y 32.</a:t>
            </a:r>
          </a:p>
          <a:p>
            <a:pPr>
              <a:lnSpc>
                <a:spcPct val="140000"/>
              </a:lnSpc>
              <a:spcAft>
                <a:spcPts val="600"/>
              </a:spcAft>
              <a:buClr>
                <a:srgbClr val="FF1414"/>
              </a:buClr>
              <a:buFont typeface="Arial"/>
              <a:buChar char="►"/>
            </a:pPr>
            <a:r>
              <a:rPr sz="1400" b="1"/>
              <a:t>Gestión de modelos</a:t>
            </a:r>
            <a:r>
              <a:rPr sz="1400"/>
              <a:t>: DORA art. 28.</a:t>
            </a:r>
          </a:p>
          <a:p>
            <a:pPr>
              <a:lnSpc>
                <a:spcPct val="140000"/>
              </a:lnSpc>
              <a:spcAft>
                <a:spcPts val="600"/>
              </a:spcAft>
              <a:buClr>
                <a:srgbClr val="FF1414"/>
              </a:buClr>
              <a:buFont typeface="Arial"/>
              <a:buChar char="►"/>
            </a:pPr>
            <a:r>
              <a:rPr sz="1400" b="1"/>
              <a:t>FinOps</a:t>
            </a:r>
            <a:r>
              <a:rPr sz="1400"/>
              <a:t>: gobierno interno (p. ej., Solvencia II art. 41 en seguros).</a:t>
            </a:r>
          </a:p>
          <a:p>
            <a:pPr>
              <a:lnSpc>
                <a:spcPct val="140000"/>
              </a:lnSpc>
              <a:spcAft>
                <a:spcPts val="600"/>
              </a:spcAft>
              <a:buClr>
                <a:srgbClr val="FF1414"/>
              </a:buClr>
              <a:buFont typeface="Arial"/>
              <a:buChar char="►"/>
            </a:pPr>
            <a:r>
              <a:rPr sz="1400" b="1"/>
              <a:t>Histórico</a:t>
            </a:r>
            <a:r>
              <a:rPr sz="1400"/>
              <a:t>: AI Act art. 12 · supervisores sectoriales.</a:t>
            </a:r>
          </a:p>
        </p:txBody>
      </p:sp>
      <p:sp>
        <p:nvSpPr>
          <p:cNvPr id="4" name="Content Placeholder 3"/>
          <p:cNvSpPr>
            <a:spLocks noGrp="1"/>
          </p:cNvSpPr>
          <p:nvPr>
            <p:ph idx="10"/>
          </p:nvPr>
        </p:nvSpPr>
        <p:spPr>
          <a:xfrm>
            <a:off x="484632" y="1307592"/>
            <a:ext cx="5861304" cy="701040"/>
          </a:xfrm>
        </p:spPr>
        <p:txBody>
          <a:bodyPr anchor="t">
            <a:noAutofit/>
          </a:bodyPr>
          <a:lstStyle/>
          <a:p>
            <a:r>
              <a:t>Cada bloque del panel lleva su etiqueta normativa: qué exige el artículo y si ya está en vigor.</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12-etiqueta-normativa.png"/>
          <p:cNvPicPr>
            <a:picLocks noChangeAspect="1"/>
          </p:cNvPicPr>
          <p:nvPr/>
        </p:nvPicPr>
        <p:blipFill>
          <a:blip r:embed="rId3"/>
          <a:stretch>
            <a:fillRect/>
          </a:stretch>
        </p:blipFill>
        <p:spPr>
          <a:xfrm>
            <a:off x="6364224" y="1307592"/>
            <a:ext cx="5440680" cy="1166442"/>
          </a:xfrm>
          <a:prstGeom prst="rect">
            <a:avLst/>
          </a:prstGeom>
          <a:ln>
            <a:solidFill>
              <a:schemeClr val="bg1">
                <a:lumMod val="50000"/>
              </a:schemeClr>
            </a:solidFill>
          </a:ln>
        </p:spPr>
      </p:pic>
      <p:sp>
        <p:nvSpPr>
          <p:cNvPr id="14" name="TextBox 13"/>
          <p:cNvSpPr txBox="1"/>
          <p:nvPr/>
        </p:nvSpPr>
        <p:spPr>
          <a:xfrm>
            <a:off x="6345936" y="2629482"/>
            <a:ext cx="5696712" cy="268224"/>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Etiqueta normativa: qué exige el artículo y si ya está en vigor</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12-etiqueta-normativa.png"/>
          <p:cNvPicPr>
            <a:picLocks noChangeAspect="1"/>
          </p:cNvPicPr>
          <p:nvPr/>
        </p:nvPicPr>
        <p:blipFill>
          <a:blip r:embed="rId3"/>
          <a:stretch>
            <a:fillRect/>
          </a:stretch>
        </p:blipFill>
        <p:spPr>
          <a:xfrm>
            <a:off x="228600" y="2356999"/>
            <a:ext cx="9701784" cy="2079992"/>
          </a:xfrm>
          <a:prstGeom prst="rect">
            <a:avLst/>
          </a:prstGeom>
          <a:ln>
            <a:solidFill>
              <a:schemeClr val="bg1">
                <a:lumMod val="50000"/>
              </a:schemeClr>
            </a:solidFill>
          </a:ln>
        </p:spPr>
      </p:pic>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5691378" cy="429768"/>
          </a:xfrm>
        </p:spPr>
        <p:txBody>
          <a:bodyPr wrap="none"/>
          <a:lstStyle/>
          <a:p>
            <a:r>
              <a:rPr sz="2600"/>
              <a:t>Auditar: la prueba en cada decisión</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1000"/>
              </a:spcAft>
              <a:buClr>
                <a:srgbClr val="FF1414"/>
              </a:buClr>
              <a:buFont typeface="Arial"/>
              <a:buChar char="►"/>
            </a:pPr>
            <a:r>
              <a:rPr sz="1800" b="1"/>
              <a:t>Datos personales detectados y seudonimizados</a:t>
            </a:r>
            <a:r>
              <a:rPr sz="1800"/>
              <a:t>: identificativos, contacto, salud, menores y terceros, con su valor en la traza.</a:t>
            </a:r>
          </a:p>
          <a:p>
            <a:pPr>
              <a:lnSpc>
                <a:spcPct val="140000"/>
              </a:lnSpc>
              <a:spcAft>
                <a:spcPts val="1000"/>
              </a:spcAft>
              <a:buClr>
                <a:srgbClr val="FF1414"/>
              </a:buClr>
              <a:buFont typeface="Arial"/>
              <a:buChar char="►"/>
            </a:pPr>
            <a:r>
              <a:rPr sz="1800" b="1"/>
              <a:t>Por qué este ramo y por qué no los otros</a:t>
            </a:r>
            <a:r>
              <a:rPr sz="1800"/>
              <a:t>: con las evidencias verificadas que lo justifican.</a:t>
            </a:r>
          </a:p>
          <a:p>
            <a:pPr>
              <a:lnSpc>
                <a:spcPct val="140000"/>
              </a:lnSpc>
              <a:spcAft>
                <a:spcPts val="1000"/>
              </a:spcAft>
              <a:buClr>
                <a:srgbClr val="FF1414"/>
              </a:buClr>
              <a:buFont typeface="Arial"/>
              <a:buChar char="►"/>
            </a:pPr>
            <a:r>
              <a:rPr sz="1800" b="1"/>
              <a:t>Sello y retención</a:t>
            </a:r>
            <a:r>
              <a:rPr sz="1800"/>
              <a:t>: hash SHA-256 de entrada y salida, plazos de conservación y supervisión humana.</a:t>
            </a:r>
          </a:p>
        </p:txBody>
      </p:sp>
      <p:sp>
        <p:nvSpPr>
          <p:cNvPr id="4" name="Content Placeholder 3"/>
          <p:cNvSpPr>
            <a:spLocks noGrp="1"/>
          </p:cNvSpPr>
          <p:nvPr>
            <p:ph idx="10"/>
          </p:nvPr>
        </p:nvSpPr>
        <p:spPr>
          <a:xfrm>
            <a:off x="484632" y="1307592"/>
            <a:ext cx="5861304" cy="701040"/>
          </a:xfrm>
        </p:spPr>
        <p:txBody>
          <a:bodyPr anchor="t">
            <a:noAutofit/>
          </a:bodyPr>
          <a:lstStyle/>
          <a:p>
            <a:r>
              <a:t>La plataforma, no el modelo, deja en cada decisión la evidencia que pide la norma.</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42-respuesta-cruda.png"/>
          <p:cNvPicPr>
            <a:picLocks noChangeAspect="1"/>
          </p:cNvPicPr>
          <p:nvPr/>
        </p:nvPicPr>
        <p:blipFill>
          <a:blip r:embed="rId3"/>
          <a:stretch>
            <a:fillRect/>
          </a:stretch>
        </p:blipFill>
        <p:spPr>
          <a:xfrm>
            <a:off x="6364224" y="1307592"/>
            <a:ext cx="5440680" cy="3789045"/>
          </a:xfrm>
          <a:prstGeom prst="rect">
            <a:avLst/>
          </a:prstGeom>
          <a:ln>
            <a:solidFill>
              <a:schemeClr val="bg1">
                <a:lumMod val="50000"/>
              </a:schemeClr>
            </a:solidFill>
          </a:ln>
        </p:spPr>
      </p:pic>
      <p:sp>
        <p:nvSpPr>
          <p:cNvPr id="14" name="TextBox 13"/>
          <p:cNvSpPr txBox="1"/>
          <p:nvPr/>
        </p:nvSpPr>
        <p:spPr>
          <a:xfrm>
            <a:off x="6345936" y="5252085"/>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Respuesta cruda de MSG-A-12 con el bloque _gobernanza que añade la plataforma</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42-respuesta-cruda.png"/>
          <p:cNvPicPr>
            <a:picLocks noChangeAspect="1"/>
          </p:cNvPicPr>
          <p:nvPr/>
        </p:nvPicPr>
        <p:blipFill>
          <a:blip r:embed="rId3"/>
          <a:stretch>
            <a:fillRect/>
          </a:stretch>
        </p:blipFill>
        <p:spPr>
          <a:xfrm>
            <a:off x="228600" y="365759"/>
            <a:ext cx="8705088" cy="6062472"/>
          </a:xfrm>
          <a:prstGeom prst="rect">
            <a:avLst/>
          </a:prstGeom>
          <a:ln>
            <a:solidFill>
              <a:schemeClr val="bg1">
                <a:lumMod val="50000"/>
              </a:schemeClr>
            </a:solidFill>
          </a:ln>
        </p:spPr>
      </p:pic>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6568947" cy="429768"/>
          </a:xfrm>
        </p:spPr>
        <p:txBody>
          <a:bodyPr wrap="none"/>
          <a:lstStyle/>
          <a:p>
            <a:r>
              <a:rPr sz="2600"/>
              <a:t>Proteger: seudonimizar antes del modelo</a:t>
            </a:r>
          </a:p>
        </p:txBody>
      </p:sp>
      <p:sp>
        <p:nvSpPr>
          <p:cNvPr id="3" name="Content Placeholder 2"/>
          <p:cNvSpPr>
            <a:spLocks noGrp="1"/>
          </p:cNvSpPr>
          <p:nvPr>
            <p:ph idx="1"/>
          </p:nvPr>
        </p:nvSpPr>
        <p:spPr>
          <a:xfrm>
            <a:off x="484632" y="1932432"/>
            <a:ext cx="5861304" cy="4331208"/>
          </a:xfrm>
        </p:spPr>
        <p:txBody>
          <a:bodyPr anchor="t">
            <a:noAutofit/>
          </a:bodyPr>
          <a:lstStyle/>
          <a:p>
            <a:pPr>
              <a:lnSpc>
                <a:spcPct val="140000"/>
              </a:lnSpc>
              <a:spcAft>
                <a:spcPts val="800"/>
              </a:spcAft>
              <a:buClr>
                <a:srgbClr val="FF1414"/>
              </a:buClr>
              <a:buFont typeface="Arial"/>
              <a:buChar char="►"/>
            </a:pPr>
            <a:r>
              <a:rPr sz="1600" b="1"/>
              <a:t>Marcadores en lugar de datos</a:t>
            </a:r>
            <a:r>
              <a:rPr sz="1600"/>
              <a:t>: nombres, DNI, teléfono, IBAN, póliza, matrícula y dirección viajan como [PERSONA_1], [DNI_1]…</a:t>
            </a:r>
          </a:p>
          <a:p>
            <a:pPr>
              <a:lnSpc>
                <a:spcPct val="140000"/>
              </a:lnSpc>
              <a:spcAft>
                <a:spcPts val="800"/>
              </a:spcAft>
              <a:buClr>
                <a:srgbClr val="FF1414"/>
              </a:buClr>
              <a:buFont typeface="Arial"/>
              <a:buChar char="►"/>
            </a:pPr>
            <a:r>
              <a:rPr sz="1600" b="1"/>
              <a:t>Lo necesario se mantiene</a:t>
            </a:r>
            <a:r>
              <a:rPr sz="1600"/>
              <a:t>: los datos de salud y la edad de los menores, porque hacen falta para decidir.</a:t>
            </a:r>
          </a:p>
          <a:p>
            <a:pPr>
              <a:lnSpc>
                <a:spcPct val="140000"/>
              </a:lnSpc>
              <a:spcAft>
                <a:spcPts val="800"/>
              </a:spcAft>
              <a:buClr>
                <a:srgbClr val="FF1414"/>
              </a:buClr>
              <a:buFont typeface="Arial"/>
              <a:buChar char="►"/>
            </a:pPr>
            <a:r>
              <a:rPr sz="1600" b="1"/>
              <a:t>Reconstrucción en la plataforma</a:t>
            </a:r>
            <a:r>
              <a:rPr sz="1600"/>
              <a:t>: la tabla de correspondencias solo vive en memoria durante la llamada.</a:t>
            </a:r>
          </a:p>
          <a:p>
            <a:pPr>
              <a:lnSpc>
                <a:spcPct val="140000"/>
              </a:lnSpc>
              <a:spcAft>
                <a:spcPts val="800"/>
              </a:spcAft>
              <a:buClr>
                <a:srgbClr val="FF1414"/>
              </a:buClr>
              <a:buFont typeface="Arial"/>
              <a:buChar char="►"/>
            </a:pPr>
            <a:r>
              <a:rPr sz="1600" b="1"/>
              <a:t>Prueba en la traza</a:t>
            </a:r>
            <a:r>
              <a:rPr sz="1600"/>
              <a:t>: datos sustituidos, tipos y hash del texto enviado; la minimización (RGPD art. 5.1.c) pasa a verde.</a:t>
            </a:r>
          </a:p>
        </p:txBody>
      </p:sp>
      <p:sp>
        <p:nvSpPr>
          <p:cNvPr id="4" name="Content Placeholder 3"/>
          <p:cNvSpPr>
            <a:spLocks noGrp="1"/>
          </p:cNvSpPr>
          <p:nvPr>
            <p:ph idx="10"/>
          </p:nvPr>
        </p:nvSpPr>
        <p:spPr>
          <a:xfrm>
            <a:off x="484632" y="1307592"/>
            <a:ext cx="5861304" cy="396240"/>
          </a:xfrm>
        </p:spPr>
        <p:txBody>
          <a:bodyPr anchor="t">
            <a:noAutofit/>
          </a:bodyPr>
          <a:lstStyle/>
          <a:p>
            <a:r>
              <a:t>El modelo decide sin ver quién es el asegurado.</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43-enviado-al-modelo.png"/>
          <p:cNvPicPr>
            <a:picLocks noChangeAspect="1"/>
          </p:cNvPicPr>
          <p:nvPr/>
        </p:nvPicPr>
        <p:blipFill>
          <a:blip r:embed="rId3"/>
          <a:stretch>
            <a:fillRect/>
          </a:stretch>
        </p:blipFill>
        <p:spPr>
          <a:xfrm>
            <a:off x="6364224" y="1307592"/>
            <a:ext cx="5440680" cy="3789045"/>
          </a:xfrm>
          <a:prstGeom prst="rect">
            <a:avLst/>
          </a:prstGeom>
          <a:ln>
            <a:solidFill>
              <a:schemeClr val="bg1">
                <a:lumMod val="50000"/>
              </a:schemeClr>
            </a:solidFill>
          </a:ln>
        </p:spPr>
      </p:pic>
      <p:sp>
        <p:nvSpPr>
          <p:cNvPr id="14" name="TextBox 13"/>
          <p:cNvSpPr txBox="1"/>
          <p:nvPr/>
        </p:nvSpPr>
        <p:spPr>
          <a:xfrm>
            <a:off x="6345936" y="5252085"/>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Enviado al modelo: el mensaje de MSG-A-08 con los datos personales cambiados por marcadores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43-enviado-al-modelo.png"/>
          <p:cNvPicPr>
            <a:picLocks noChangeAspect="1"/>
          </p:cNvPicPr>
          <p:nvPr/>
        </p:nvPicPr>
        <p:blipFill>
          <a:blip r:embed="rId3"/>
          <a:stretch>
            <a:fillRect/>
          </a:stretch>
        </p:blipFill>
        <p:spPr>
          <a:xfrm>
            <a:off x="228600" y="365759"/>
            <a:ext cx="8705088" cy="6062472"/>
          </a:xfrm>
          <a:prstGeom prst="rect">
            <a:avLst/>
          </a:prstGeom>
          <a:ln>
            <a:solidFill>
              <a:schemeClr val="bg1">
                <a:lumMod val="50000"/>
              </a:schemeClr>
            </a:solidFill>
          </a:ln>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6167627" cy="429768"/>
          </a:xfrm>
        </p:spPr>
        <p:txBody>
          <a:bodyPr wrap="none"/>
          <a:lstStyle/>
          <a:p>
            <a:r>
              <a:rPr sz="2600"/>
              <a:t>Auditar: termómetro de cumplimiento</a:t>
            </a:r>
          </a:p>
        </p:txBody>
      </p:sp>
      <p:sp>
        <p:nvSpPr>
          <p:cNvPr id="3" name="Content Placeholder 2"/>
          <p:cNvSpPr>
            <a:spLocks noGrp="1"/>
          </p:cNvSpPr>
          <p:nvPr>
            <p:ph idx="1"/>
          </p:nvPr>
        </p:nvSpPr>
        <p:spPr>
          <a:xfrm>
            <a:off x="484632" y="2237231"/>
            <a:ext cx="5861304" cy="4026408"/>
          </a:xfrm>
        </p:spPr>
        <p:txBody>
          <a:bodyPr anchor="t">
            <a:noAutofit/>
          </a:bodyPr>
          <a:lstStyle/>
          <a:p>
            <a:pPr>
              <a:lnSpc>
                <a:spcPct val="140000"/>
              </a:lnSpc>
              <a:spcAft>
                <a:spcPts val="1000"/>
              </a:spcAft>
              <a:buClr>
                <a:srgbClr val="FF1414"/>
              </a:buClr>
              <a:buFont typeface="Arial"/>
              <a:buChar char="►"/>
            </a:pPr>
            <a:r>
              <a:rPr sz="1800" b="1"/>
              <a:t>Un termómetro por marco</a:t>
            </a:r>
            <a:r>
              <a:rPr sz="1800"/>
              <a:t>: AI Act, RGPD y LOPDGDD, DORA, y EIOPA y Solvencia II, con los controles en ámbar a la vista.</a:t>
            </a:r>
          </a:p>
          <a:p>
            <a:pPr>
              <a:lnSpc>
                <a:spcPct val="140000"/>
              </a:lnSpc>
              <a:spcAft>
                <a:spcPts val="1000"/>
              </a:spcAft>
              <a:buClr>
                <a:srgbClr val="FF1414"/>
              </a:buClr>
              <a:buFont typeface="Arial"/>
              <a:buChar char="►"/>
            </a:pPr>
            <a:r>
              <a:rPr sz="1800" b="1"/>
              <a:t>Norma, control y medida</a:t>
            </a:r>
            <a:r>
              <a:rPr sz="1800"/>
              <a:t>: qué exige cada artículo, cómo se resuelve y la cifra en vivo, medida o declarada.</a:t>
            </a:r>
          </a:p>
          <a:p>
            <a:pPr>
              <a:lnSpc>
                <a:spcPct val="140000"/>
              </a:lnSpc>
              <a:spcAft>
                <a:spcPts val="1000"/>
              </a:spcAft>
              <a:buClr>
                <a:srgbClr val="FF1414"/>
              </a:buClr>
              <a:buFont typeface="Arial"/>
              <a:buChar char="►"/>
            </a:pPr>
            <a:r>
              <a:rPr sz="1800" b="1"/>
              <a:t>Inventario de datos e integridad</a:t>
            </a:r>
            <a:r>
              <a:rPr sz="1800"/>
              <a:t>: datos personales por mensaje y una cadena de hashes que detecta cualquier alteración.</a:t>
            </a:r>
          </a:p>
        </p:txBody>
      </p:sp>
      <p:sp>
        <p:nvSpPr>
          <p:cNvPr id="4" name="Content Placeholder 3"/>
          <p:cNvSpPr>
            <a:spLocks noGrp="1"/>
          </p:cNvSpPr>
          <p:nvPr>
            <p:ph idx="10"/>
          </p:nvPr>
        </p:nvSpPr>
        <p:spPr>
          <a:xfrm>
            <a:off x="484632" y="1307592"/>
            <a:ext cx="5861304" cy="701040"/>
          </a:xfrm>
        </p:spPr>
        <p:txBody>
          <a:bodyPr anchor="t">
            <a:noAutofit/>
          </a:bodyPr>
          <a:lstStyle/>
          <a:p>
            <a:r>
              <a:t>Cobertura de controles con evidencia medible, no un certificado.</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13" name="Picture 12" descr="34-termometro.png"/>
          <p:cNvPicPr>
            <a:picLocks noChangeAspect="1"/>
          </p:cNvPicPr>
          <p:nvPr/>
        </p:nvPicPr>
        <p:blipFill>
          <a:blip r:embed="rId3"/>
          <a:stretch>
            <a:fillRect/>
          </a:stretch>
        </p:blipFill>
        <p:spPr>
          <a:xfrm>
            <a:off x="6364224" y="1307592"/>
            <a:ext cx="5440679" cy="3400424"/>
          </a:xfrm>
          <a:prstGeom prst="rect">
            <a:avLst/>
          </a:prstGeom>
          <a:ln>
            <a:solidFill>
              <a:schemeClr val="bg1">
                <a:lumMod val="50000"/>
              </a:schemeClr>
            </a:solidFill>
          </a:ln>
        </p:spPr>
      </p:pic>
      <p:sp>
        <p:nvSpPr>
          <p:cNvPr id="14" name="TextBox 13"/>
          <p:cNvSpPr txBox="1"/>
          <p:nvPr/>
        </p:nvSpPr>
        <p:spPr>
          <a:xfrm>
            <a:off x="6345936" y="4863465"/>
            <a:ext cx="5696712" cy="481583"/>
          </a:xfrm>
          <a:prstGeom prst="rect">
            <a:avLst/>
          </a:prstGeom>
          <a:noFill/>
        </p:spPr>
        <p:txBody>
          <a:bodyPr wrap="square" lIns="45720" rIns="45720" tIns="27432" bIns="27432" anchor="t">
            <a:noAutofit/>
          </a:bodyPr>
          <a:lstStyle/>
          <a:p>
            <a:pPr>
              <a:lnSpc>
                <a:spcPct val="120000"/>
              </a:lnSpc>
              <a:spcAft>
                <a:spcPts val="0"/>
              </a:spcAft>
            </a:pPr>
            <a:r>
              <a:rPr sz="1400">
                <a:latin typeface="Montserrat"/>
              </a:rPr>
              <a:t>Termómetro de cumplimiento: cobertura por marco y matriz norma → control</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34-termometro.png"/>
          <p:cNvPicPr>
            <a:picLocks noChangeAspect="1"/>
          </p:cNvPicPr>
          <p:nvPr/>
        </p:nvPicPr>
        <p:blipFill>
          <a:blip r:embed="rId3"/>
          <a:stretch>
            <a:fillRect/>
          </a:stretch>
        </p:blipFill>
        <p:spPr>
          <a:xfrm>
            <a:off x="228600" y="365760"/>
            <a:ext cx="9699955" cy="6062472"/>
          </a:xfrm>
          <a:prstGeom prst="rect">
            <a:avLst/>
          </a:prstGeom>
          <a:ln>
            <a:solidFill>
              <a:schemeClr val="bg1">
                <a:lumMod val="50000"/>
              </a:schemeClr>
            </a:solidFill>
          </a:ln>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5">
            <a:extLst>
              <a:ext uri="{FF2B5EF4-FFF2-40B4-BE49-F238E27FC236}">
                <a16:creationId xmlns:a16="http://schemas.microsoft.com/office/drawing/2014/main" id="{1DDFFC08-FB73-C885-6B47-6BA28583847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pic>
        <p:nvPicPr>
          <p:cNvPr id="4" name="Picture 3" descr="35-inventario-pii.png"/>
          <p:cNvPicPr>
            <a:picLocks noChangeAspect="1"/>
          </p:cNvPicPr>
          <p:nvPr/>
        </p:nvPicPr>
        <p:blipFill>
          <a:blip r:embed="rId3"/>
          <a:stretch>
            <a:fillRect/>
          </a:stretch>
        </p:blipFill>
        <p:spPr>
          <a:xfrm>
            <a:off x="228600" y="365759"/>
            <a:ext cx="8705088" cy="6062472"/>
          </a:xfrm>
          <a:prstGeom prst="rect">
            <a:avLst/>
          </a:prstGeom>
          <a:ln>
            <a:solidFill>
              <a:schemeClr val="bg1">
                <a:lumMod val="50000"/>
              </a:schemeClr>
            </a:solidFill>
          </a:ln>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F055C404-1198-B987-A55F-98A884133C51}"/>
              </a:ext>
            </a:extLst>
          </p:cNvPr>
          <p:cNvSpPr>
            <a:spLocks noGrp="1"/>
          </p:cNvSpPr>
          <p:nvPr>
            <p:ph type="ctrTitle"/>
          </p:nvPr>
        </p:nvSpPr>
        <p:spPr>
          <a:xfrm>
            <a:off x="630936" y="2377440"/>
            <a:ext cx="4616958" cy="660400"/>
          </a:xfrm>
        </p:spPr>
        <p:txBody>
          <a:bodyPr wrap="none" anchor="ctr">
            <a:noAutofit/>
          </a:bodyPr>
          <a:lstStyle/>
          <a:p>
            <a:r>
              <a:rPr sz="4000"/>
              <a:t>Cómo implantarlo</a:t>
            </a:r>
          </a:p>
        </p:txBody>
      </p:sp>
      <p:sp>
        <p:nvSpPr>
          <p:cNvPr id="4" name="Slide Number Placeholder 3">
            <a:extLst>
              <a:ext uri="{FF2B5EF4-FFF2-40B4-BE49-F238E27FC236}">
                <a16:creationId xmlns:a16="http://schemas.microsoft.com/office/drawing/2014/main" id="{5D204A87-2D05-B819-27E2-B433509BD956}"/>
              </a:ext>
            </a:extLst>
          </p:cNvPr>
          <p:cNvSpPr>
            <a:spLocks noGrp="1"/>
          </p:cNvSpPr>
          <p:nvPr>
            <p:ph type="sldNum" sz="quarter" idx="4294967295"/>
          </p:nvPr>
        </p:nvSpPr>
        <p:spPr>
          <a:xfrm>
            <a:off x="11533188" y="6408738"/>
            <a:ext cx="658812" cy="230187"/>
          </a:xfrm>
        </p:spPr>
        <p:txBody>
          <a:bodyPr/>
          <a:lstStyle/>
          <a:p>
            <a:fld id="{4C86EB02-3AF8-4C19-B0D1-31A9E52C2F89}" type="slidenum">
              <a:rPr lang="en-GB" smtClean="0"/>
              <a:pPr/>
              <a:t>14</a:t>
            </a:fld>
            <a:endParaRPr lang="en-GB"/>
          </a:p>
        </p:txBody>
      </p:sp>
      <p:pic>
        <p:nvPicPr>
          <p:cNvPr id="7" name="Picture 6">
            <a:extLst>
              <a:ext uri="{FF2B5EF4-FFF2-40B4-BE49-F238E27FC236}">
                <a16:creationId xmlns:a16="http://schemas.microsoft.com/office/drawing/2014/main" id="{D1DC48BB-F5E1-0E62-8FFB-51749D3BA669}"/>
              </a:ext>
            </a:extLst>
          </p:cNvPr>
          <p:cNvPicPr>
            <a:picLocks noChangeAspect="1"/>
          </p:cNvPicPr>
          <p:nvPr/>
        </p:nvPicPr>
        <p:blipFill>
          <a:blip r:embed="rId2"/>
          <a:srcRect/>
          <a:stretch/>
        </p:blipFill>
        <p:spPr>
          <a:xfrm>
            <a:off x="4834056" y="1850395"/>
            <a:ext cx="7764655" cy="5005108"/>
          </a:xfrm>
          <a:prstGeom prst="rect">
            <a:avLst/>
          </a:prstGeom>
        </p:spPr>
      </p:pic>
      <p:sp>
        <p:nvSpPr>
          <p:cNvPr id="8" name="TextBox 7"/>
          <p:cNvSpPr txBox="1"/>
          <p:nvPr/>
        </p:nvSpPr>
        <p:spPr>
          <a:xfrm>
            <a:off x="630936" y="1874519"/>
            <a:ext cx="566928" cy="329184"/>
          </a:xfrm>
          <a:prstGeom prst="rect">
            <a:avLst/>
          </a:prstGeom>
          <a:solidFill>
            <a:srgbClr val="194BFF"/>
          </a:solidFill>
        </p:spPr>
        <p:txBody>
          <a:bodyPr wrap="none" lIns="73152" rIns="73152" tIns="18288" bIns="18288" anchor="ctr">
            <a:noAutofit/>
          </a:bodyPr>
          <a:lstStyle/>
          <a:p>
            <a:r>
              <a:rPr sz="1400">
                <a:solidFill>
                  <a:srgbClr val="FFFFFF"/>
                </a:solidFill>
                <a:latin typeface="Roboto Slab"/>
              </a:rPr>
              <a:t>05</a:t>
            </a:r>
          </a:p>
        </p:txBody>
      </p:sp>
      <p:sp>
        <p:nvSpPr>
          <p:cNvPr id="9" name="TextBox 8"/>
          <p:cNvSpPr txBox="1"/>
          <p:nvPr/>
        </p:nvSpPr>
        <p:spPr>
          <a:xfrm>
            <a:off x="630936" y="3403600"/>
            <a:ext cx="4206240" cy="1097280"/>
          </a:xfrm>
          <a:prstGeom prst="rect">
            <a:avLst/>
          </a:prstGeom>
          <a:noFill/>
        </p:spPr>
        <p:txBody>
          <a:bodyPr wrap="square" lIns="45720" rIns="45720" tIns="27432" bIns="27432" anchor="t">
            <a:noAutofit/>
          </a:bodyPr>
          <a:lstStyle/>
          <a:p>
            <a:pPr>
              <a:lnSpc>
                <a:spcPct val="130000"/>
              </a:lnSpc>
              <a:spcAft>
                <a:spcPts val="0"/>
              </a:spcAft>
            </a:pPr>
            <a:r>
              <a:rPr sz="1400">
                <a:solidFill>
                  <a:srgbClr val="FFFFFF"/>
                </a:solidFill>
                <a:latin typeface="Montserrat Medium"/>
              </a:rPr>
              <a:t>De forma progresiva, con capacidades que se activan cuando el negocio lo decide.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4759198" cy="429768"/>
          </a:xfrm>
        </p:spPr>
        <p:txBody>
          <a:bodyPr wrap="none"/>
          <a:lstStyle/>
          <a:p>
            <a:r>
              <a:rPr sz="2600"/>
              <a:t>Marco de madurez GenAIOps</a:t>
            </a:r>
          </a:p>
        </p:txBody>
      </p:sp>
      <p:sp>
        <p:nvSpPr>
          <p:cNvPr id="5" name="Slide Number Placeholder 5">
            <a:extLst>
              <a:ext uri="{FF2B5EF4-FFF2-40B4-BE49-F238E27FC236}">
                <a16:creationId xmlns:a16="http://schemas.microsoft.com/office/drawing/2014/main" id="{1CC3A131-478F-7358-5149-4495B2461525}"/>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
        <p:nvSpPr>
          <p:cNvPr id="6" name="TextBox 5"/>
          <p:cNvSpPr txBox="1"/>
          <p:nvPr/>
        </p:nvSpPr>
        <p:spPr>
          <a:xfrm>
            <a:off x="484632" y="1307592"/>
            <a:ext cx="11228832" cy="347472"/>
          </a:xfrm>
          <a:prstGeom prst="rect">
            <a:avLst/>
          </a:prstGeom>
          <a:noFill/>
        </p:spPr>
        <p:txBody>
          <a:bodyPr wrap="square" lIns="45720" rIns="45720" tIns="27432" bIns="27432" anchor="t">
            <a:noAutofit/>
          </a:bodyPr>
          <a:lstStyle/>
          <a:p>
            <a:pPr>
              <a:lnSpc>
                <a:spcPct val="120000"/>
              </a:lnSpc>
              <a:spcAft>
                <a:spcPts val="0"/>
              </a:spcAft>
            </a:pPr>
            <a:r>
              <a:rPr sz="1600" b="1">
                <a:solidFill>
                  <a:srgbClr val="194BFF"/>
                </a:solidFill>
                <a:latin typeface="Montserrat"/>
              </a:rPr>
              <a:t>Las capacidades no se imponen: se activan por decisión del cliente, nivel a nivel.</a:t>
            </a:r>
          </a:p>
        </p:txBody>
      </p:sp>
      <p:sp>
        <p:nvSpPr>
          <p:cNvPr id="7" name="Pentagon 6"/>
          <p:cNvSpPr/>
          <p:nvPr/>
        </p:nvSpPr>
        <p:spPr>
          <a:xfrm>
            <a:off x="484632" y="2839212"/>
            <a:ext cx="2377440" cy="1188720"/>
          </a:xfrm>
          <a:prstGeom prst="homePlate">
            <a:avLst>
              <a:gd name="adj" fmla="val 32000"/>
            </a:avLst>
          </a:pr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274320" wrap="square"/>
          <a:lstStyle/>
          <a:p>
            <a:pPr algn="ctr"/>
            <a:r>
              <a:rPr sz="1800">
                <a:solidFill>
                  <a:srgbClr val="FFFFFF"/>
                </a:solidFill>
                <a:latin typeface="Roboto Slab"/>
              </a:rPr>
              <a:t>01</a:t>
            </a:r>
          </a:p>
          <a:p>
            <a:pPr algn="ctr"/>
            <a:r>
              <a:rPr sz="1200" b="1">
                <a:solidFill>
                  <a:srgbClr val="FFFFFF"/>
                </a:solidFill>
                <a:latin typeface="Montserrat"/>
              </a:rPr>
              <a:t>Desplegado</a:t>
            </a:r>
          </a:p>
        </p:txBody>
      </p:sp>
      <p:sp>
        <p:nvSpPr>
          <p:cNvPr id="8" name="TextBox 7"/>
          <p:cNvSpPr txBox="1"/>
          <p:nvPr/>
        </p:nvSpPr>
        <p:spPr>
          <a:xfrm>
            <a:off x="621792" y="4302252"/>
            <a:ext cx="1965960" cy="1915667"/>
          </a:xfrm>
          <a:prstGeom prst="rect">
            <a:avLst/>
          </a:prstGeom>
          <a:noFill/>
        </p:spPr>
        <p:txBody>
          <a:bodyPr wrap="square" lIns="45720" rIns="45720" tIns="27432" bIns="27432" anchor="t">
            <a:noAutofit/>
          </a:bodyPr>
          <a:lstStyle/>
          <a:p>
            <a:pPr>
              <a:lnSpc>
                <a:spcPct val="130000"/>
              </a:lnSpc>
              <a:spcAft>
                <a:spcPts val="0"/>
              </a:spcAft>
            </a:pPr>
            <a:r>
              <a:rPr sz="1300">
                <a:solidFill>
                  <a:srgbClr val="595959"/>
                </a:solidFill>
                <a:latin typeface="Montserrat Medium"/>
              </a:rPr>
              <a:t>agentes integrados, trazabilidad básica y criterios mínimos de producción.</a:t>
            </a:r>
          </a:p>
        </p:txBody>
      </p:sp>
      <p:cxnSp>
        <p:nvCxnSpPr>
          <p:cNvPr id="9" name="Connector 8"/>
          <p:cNvCxnSpPr/>
          <p:nvPr/>
        </p:nvCxnSpPr>
        <p:spPr>
          <a:xfrm>
            <a:off x="621792" y="4210812"/>
            <a:ext cx="548640" cy="0"/>
          </a:xfrm>
          <a:prstGeom prst="line">
            <a:avLst/>
          </a:prstGeom>
          <a:ln w="31750">
            <a:solidFill>
              <a:srgbClr val="194BFF"/>
            </a:solidFill>
          </a:ln>
        </p:spPr>
        <p:style>
          <a:lnRef idx="2">
            <a:schemeClr val="accent1"/>
          </a:lnRef>
          <a:fillRef idx="0">
            <a:schemeClr val="accent1"/>
          </a:fillRef>
          <a:effectRef idx="1">
            <a:schemeClr val="accent1"/>
          </a:effectRef>
          <a:fontRef idx="minor">
            <a:schemeClr val="tx1"/>
          </a:fontRef>
        </p:style>
      </p:cxnSp>
      <p:sp>
        <p:nvSpPr>
          <p:cNvPr id="10" name="Chevron 9"/>
          <p:cNvSpPr/>
          <p:nvPr/>
        </p:nvSpPr>
        <p:spPr>
          <a:xfrm>
            <a:off x="2697480" y="2839212"/>
            <a:ext cx="2377440" cy="1188720"/>
          </a:xfrm>
          <a:prstGeom prst="chevron">
            <a:avLst>
              <a:gd name="adj" fmla="val 32000"/>
            </a:avLst>
          </a:prstGeom>
          <a:solidFill>
            <a:srgbClr val="FF1414"/>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rIns="274320" wrap="square"/>
          <a:lstStyle/>
          <a:p>
            <a:pPr algn="ctr"/>
            <a:r>
              <a:rPr sz="1800">
                <a:solidFill>
                  <a:srgbClr val="FFFFFF"/>
                </a:solidFill>
                <a:latin typeface="Roboto Slab"/>
              </a:rPr>
              <a:t>02</a:t>
            </a:r>
          </a:p>
          <a:p>
            <a:pPr algn="ctr"/>
            <a:r>
              <a:rPr sz="1200" b="1">
                <a:solidFill>
                  <a:srgbClr val="FFFFFF"/>
                </a:solidFill>
                <a:latin typeface="Montserrat"/>
              </a:rPr>
              <a:t>Monitorizado</a:t>
            </a:r>
          </a:p>
        </p:txBody>
      </p:sp>
      <p:sp>
        <p:nvSpPr>
          <p:cNvPr id="11" name="TextBox 10"/>
          <p:cNvSpPr txBox="1"/>
          <p:nvPr/>
        </p:nvSpPr>
        <p:spPr>
          <a:xfrm>
            <a:off x="2834640" y="4302252"/>
            <a:ext cx="1965960" cy="1915667"/>
          </a:xfrm>
          <a:prstGeom prst="rect">
            <a:avLst/>
          </a:prstGeom>
          <a:noFill/>
        </p:spPr>
        <p:txBody>
          <a:bodyPr wrap="square" lIns="45720" rIns="45720" tIns="27432" bIns="27432" anchor="t">
            <a:noAutofit/>
          </a:bodyPr>
          <a:lstStyle/>
          <a:p>
            <a:pPr>
              <a:lnSpc>
                <a:spcPct val="130000"/>
              </a:lnSpc>
              <a:spcAft>
                <a:spcPts val="0"/>
              </a:spcAft>
            </a:pPr>
            <a:r>
              <a:rPr sz="1300">
                <a:solidFill>
                  <a:srgbClr val="595959"/>
                </a:solidFill>
                <a:latin typeface="Montserrat Medium"/>
              </a:rPr>
              <a:t>detección de desviaciones, métricas de calidad, alertas y control de costes.</a:t>
            </a:r>
          </a:p>
        </p:txBody>
      </p:sp>
      <p:cxnSp>
        <p:nvCxnSpPr>
          <p:cNvPr id="12" name="Connector 11"/>
          <p:cNvCxnSpPr/>
          <p:nvPr/>
        </p:nvCxnSpPr>
        <p:spPr>
          <a:xfrm>
            <a:off x="2834640" y="4210812"/>
            <a:ext cx="548640" cy="0"/>
          </a:xfrm>
          <a:prstGeom prst="line">
            <a:avLst/>
          </a:prstGeom>
          <a:ln w="31750">
            <a:solidFill>
              <a:srgbClr val="FF1414"/>
            </a:solidFill>
          </a:ln>
        </p:spPr>
        <p:style>
          <a:lnRef idx="2">
            <a:schemeClr val="accent1"/>
          </a:lnRef>
          <a:fillRef idx="0">
            <a:schemeClr val="accent1"/>
          </a:fillRef>
          <a:effectRef idx="1">
            <a:schemeClr val="accent1"/>
          </a:effectRef>
          <a:fontRef idx="minor">
            <a:schemeClr val="tx1"/>
          </a:fontRef>
        </p:style>
      </p:cxnSp>
      <p:sp>
        <p:nvSpPr>
          <p:cNvPr id="13" name="Chevron 12"/>
          <p:cNvSpPr/>
          <p:nvPr/>
        </p:nvSpPr>
        <p:spPr>
          <a:xfrm>
            <a:off x="4910328" y="2839212"/>
            <a:ext cx="2377440" cy="1188720"/>
          </a:xfrm>
          <a:prstGeom prst="chevron">
            <a:avLst>
              <a:gd name="adj" fmla="val 32000"/>
            </a:avLst>
          </a:pr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rIns="274320" wrap="square"/>
          <a:lstStyle/>
          <a:p>
            <a:pPr algn="ctr"/>
            <a:r>
              <a:rPr sz="1800">
                <a:solidFill>
                  <a:srgbClr val="FFFFFF"/>
                </a:solidFill>
                <a:latin typeface="Roboto Slab"/>
              </a:rPr>
              <a:t>03</a:t>
            </a:r>
          </a:p>
          <a:p>
            <a:pPr algn="ctr"/>
            <a:r>
              <a:rPr sz="1200" b="1">
                <a:solidFill>
                  <a:srgbClr val="FFFFFF"/>
                </a:solidFill>
                <a:latin typeface="Montserrat"/>
              </a:rPr>
              <a:t>Gobernado</a:t>
            </a:r>
          </a:p>
        </p:txBody>
      </p:sp>
      <p:sp>
        <p:nvSpPr>
          <p:cNvPr id="14" name="TextBox 13"/>
          <p:cNvSpPr txBox="1"/>
          <p:nvPr/>
        </p:nvSpPr>
        <p:spPr>
          <a:xfrm>
            <a:off x="5047488" y="4302252"/>
            <a:ext cx="1965960" cy="1915667"/>
          </a:xfrm>
          <a:prstGeom prst="rect">
            <a:avLst/>
          </a:prstGeom>
          <a:noFill/>
        </p:spPr>
        <p:txBody>
          <a:bodyPr wrap="square" lIns="45720" rIns="45720" tIns="27432" bIns="27432" anchor="t">
            <a:noAutofit/>
          </a:bodyPr>
          <a:lstStyle/>
          <a:p>
            <a:pPr>
              <a:lnSpc>
                <a:spcPct val="130000"/>
              </a:lnSpc>
              <a:spcAft>
                <a:spcPts val="0"/>
              </a:spcAft>
            </a:pPr>
            <a:r>
              <a:rPr sz="1300">
                <a:solidFill>
                  <a:srgbClr val="595959"/>
                </a:solidFill>
                <a:latin typeface="Montserrat Medium"/>
              </a:rPr>
              <a:t>versionado de prompts, validación y regresión antes de cada cambio.</a:t>
            </a:r>
          </a:p>
        </p:txBody>
      </p:sp>
      <p:cxnSp>
        <p:nvCxnSpPr>
          <p:cNvPr id="15" name="Connector 14"/>
          <p:cNvCxnSpPr/>
          <p:nvPr/>
        </p:nvCxnSpPr>
        <p:spPr>
          <a:xfrm>
            <a:off x="5047488" y="4210812"/>
            <a:ext cx="548640" cy="0"/>
          </a:xfrm>
          <a:prstGeom prst="line">
            <a:avLst/>
          </a:prstGeom>
          <a:ln w="31750">
            <a:solidFill>
              <a:srgbClr val="194BFF"/>
            </a:solidFill>
          </a:ln>
        </p:spPr>
        <p:style>
          <a:lnRef idx="2">
            <a:schemeClr val="accent1"/>
          </a:lnRef>
          <a:fillRef idx="0">
            <a:schemeClr val="accent1"/>
          </a:fillRef>
          <a:effectRef idx="1">
            <a:schemeClr val="accent1"/>
          </a:effectRef>
          <a:fontRef idx="minor">
            <a:schemeClr val="tx1"/>
          </a:fontRef>
        </p:style>
      </p:cxnSp>
      <p:sp>
        <p:nvSpPr>
          <p:cNvPr id="16" name="Chevron 15"/>
          <p:cNvSpPr/>
          <p:nvPr/>
        </p:nvSpPr>
        <p:spPr>
          <a:xfrm>
            <a:off x="7123176" y="2839212"/>
            <a:ext cx="2377440" cy="1188720"/>
          </a:xfrm>
          <a:prstGeom prst="chevron">
            <a:avLst>
              <a:gd name="adj" fmla="val 32000"/>
            </a:avLst>
          </a:prstGeom>
          <a:solidFill>
            <a:srgbClr val="FF1414"/>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rIns="274320" wrap="square"/>
          <a:lstStyle/>
          <a:p>
            <a:pPr algn="ctr"/>
            <a:r>
              <a:rPr sz="1800">
                <a:solidFill>
                  <a:srgbClr val="FFFFFF"/>
                </a:solidFill>
                <a:latin typeface="Roboto Slab"/>
              </a:rPr>
              <a:t>04</a:t>
            </a:r>
          </a:p>
          <a:p>
            <a:pPr algn="ctr"/>
            <a:r>
              <a:rPr sz="1200" b="1">
                <a:solidFill>
                  <a:srgbClr val="FFFFFF"/>
                </a:solidFill>
                <a:latin typeface="Montserrat"/>
              </a:rPr>
              <a:t>Optimizado</a:t>
            </a:r>
          </a:p>
        </p:txBody>
      </p:sp>
      <p:sp>
        <p:nvSpPr>
          <p:cNvPr id="17" name="TextBox 16"/>
          <p:cNvSpPr txBox="1"/>
          <p:nvPr/>
        </p:nvSpPr>
        <p:spPr>
          <a:xfrm>
            <a:off x="7260336" y="4302252"/>
            <a:ext cx="1965960" cy="1915667"/>
          </a:xfrm>
          <a:prstGeom prst="rect">
            <a:avLst/>
          </a:prstGeom>
          <a:noFill/>
        </p:spPr>
        <p:txBody>
          <a:bodyPr wrap="square" lIns="45720" rIns="45720" tIns="27432" bIns="27432" anchor="t">
            <a:noAutofit/>
          </a:bodyPr>
          <a:lstStyle/>
          <a:p>
            <a:pPr>
              <a:lnSpc>
                <a:spcPct val="130000"/>
              </a:lnSpc>
              <a:spcAft>
                <a:spcPts val="0"/>
              </a:spcAft>
            </a:pPr>
            <a:r>
              <a:rPr sz="1300">
                <a:solidFill>
                  <a:srgbClr val="595959"/>
                </a:solidFill>
                <a:latin typeface="Montserrat Medium"/>
              </a:rPr>
              <a:t>ajustes con datos reales y equilibrio entre coste y calidad.</a:t>
            </a:r>
          </a:p>
        </p:txBody>
      </p:sp>
      <p:cxnSp>
        <p:nvCxnSpPr>
          <p:cNvPr id="18" name="Connector 17"/>
          <p:cNvCxnSpPr/>
          <p:nvPr/>
        </p:nvCxnSpPr>
        <p:spPr>
          <a:xfrm>
            <a:off x="7260336" y="4210812"/>
            <a:ext cx="548639" cy="0"/>
          </a:xfrm>
          <a:prstGeom prst="line">
            <a:avLst/>
          </a:prstGeom>
          <a:ln w="31750">
            <a:solidFill>
              <a:srgbClr val="FF1414"/>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9336024" y="2839212"/>
            <a:ext cx="2377440" cy="1188720"/>
          </a:xfrm>
          <a:prstGeom prst="chevron">
            <a:avLst>
              <a:gd name="adj" fmla="val 32000"/>
            </a:avLst>
          </a:pr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rIns="274320" wrap="square"/>
          <a:lstStyle/>
          <a:p>
            <a:pPr algn="ctr"/>
            <a:r>
              <a:rPr sz="1800">
                <a:solidFill>
                  <a:srgbClr val="FFFFFF"/>
                </a:solidFill>
                <a:latin typeface="Roboto Slab"/>
              </a:rPr>
              <a:t>05</a:t>
            </a:r>
          </a:p>
          <a:p>
            <a:pPr algn="ctr"/>
            <a:r>
              <a:rPr sz="1200" b="1">
                <a:solidFill>
                  <a:srgbClr val="FFFFFF"/>
                </a:solidFill>
                <a:latin typeface="Montserrat"/>
              </a:rPr>
              <a:t>Mejora continua asistida</a:t>
            </a:r>
          </a:p>
        </p:txBody>
      </p:sp>
      <p:sp>
        <p:nvSpPr>
          <p:cNvPr id="20" name="TextBox 19"/>
          <p:cNvSpPr txBox="1"/>
          <p:nvPr/>
        </p:nvSpPr>
        <p:spPr>
          <a:xfrm>
            <a:off x="9473184" y="4302252"/>
            <a:ext cx="1965960" cy="1915667"/>
          </a:xfrm>
          <a:prstGeom prst="rect">
            <a:avLst/>
          </a:prstGeom>
          <a:noFill/>
        </p:spPr>
        <p:txBody>
          <a:bodyPr wrap="square" lIns="45720" rIns="45720" tIns="27432" bIns="27432" anchor="t">
            <a:noAutofit/>
          </a:bodyPr>
          <a:lstStyle/>
          <a:p>
            <a:pPr>
              <a:lnSpc>
                <a:spcPct val="130000"/>
              </a:lnSpc>
              <a:spcAft>
                <a:spcPts val="0"/>
              </a:spcAft>
            </a:pPr>
            <a:r>
              <a:rPr sz="1300">
                <a:solidFill>
                  <a:srgbClr val="595959"/>
                </a:solidFill>
                <a:latin typeface="Montserrat Medium"/>
              </a:rPr>
              <a:t>las correcciones humanas alimentan la evolución, siempre bajo gobierno.</a:t>
            </a:r>
          </a:p>
        </p:txBody>
      </p:sp>
      <p:cxnSp>
        <p:nvCxnSpPr>
          <p:cNvPr id="21" name="Connector 20"/>
          <p:cNvCxnSpPr/>
          <p:nvPr/>
        </p:nvCxnSpPr>
        <p:spPr>
          <a:xfrm>
            <a:off x="9473184" y="4210812"/>
            <a:ext cx="548640" cy="0"/>
          </a:xfrm>
          <a:prstGeom prst="line">
            <a:avLst/>
          </a:prstGeom>
          <a:ln w="31750">
            <a:solidFill>
              <a:srgbClr val="194B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5373877" cy="429768"/>
          </a:xfrm>
        </p:spPr>
        <p:txBody>
          <a:bodyPr wrap="none"/>
          <a:lstStyle/>
          <a:p>
            <a:r>
              <a:rPr sz="2600"/>
              <a:t>Cadena de confianza operacional</a:t>
            </a:r>
          </a:p>
        </p:txBody>
      </p:sp>
      <p:sp>
        <p:nvSpPr>
          <p:cNvPr id="5" name="Slide Number Placeholder 5">
            <a:extLst>
              <a:ext uri="{FF2B5EF4-FFF2-40B4-BE49-F238E27FC236}">
                <a16:creationId xmlns:a16="http://schemas.microsoft.com/office/drawing/2014/main" id="{1CC3A131-478F-7358-5149-4495B2461525}"/>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
        <p:nvSpPr>
          <p:cNvPr id="6" name="TextBox 5"/>
          <p:cNvSpPr txBox="1"/>
          <p:nvPr/>
        </p:nvSpPr>
        <p:spPr>
          <a:xfrm>
            <a:off x="484632" y="1307592"/>
            <a:ext cx="11228832" cy="347472"/>
          </a:xfrm>
          <a:prstGeom prst="rect">
            <a:avLst/>
          </a:prstGeom>
          <a:noFill/>
        </p:spPr>
        <p:txBody>
          <a:bodyPr wrap="square" lIns="45720" rIns="45720" tIns="27432" bIns="27432" anchor="t">
            <a:noAutofit/>
          </a:bodyPr>
          <a:lstStyle/>
          <a:p>
            <a:pPr>
              <a:lnSpc>
                <a:spcPct val="120000"/>
              </a:lnSpc>
              <a:spcAft>
                <a:spcPts val="0"/>
              </a:spcAft>
            </a:pPr>
            <a:r>
              <a:rPr sz="1600" b="1">
                <a:solidFill>
                  <a:srgbClr val="194BFF"/>
                </a:solidFill>
                <a:latin typeface="Montserrat"/>
              </a:rPr>
              <a:t>Ciclo de mejora: observar → analizar → ajustar → validar con replay → desplegar.</a:t>
            </a:r>
          </a:p>
        </p:txBody>
      </p:sp>
      <p:sp>
        <p:nvSpPr>
          <p:cNvPr id="7" name="Pentagon 6"/>
          <p:cNvSpPr/>
          <p:nvPr/>
        </p:nvSpPr>
        <p:spPr>
          <a:xfrm>
            <a:off x="484632" y="2839212"/>
            <a:ext cx="2377440" cy="1188720"/>
          </a:xfrm>
          <a:prstGeom prst="homePlate">
            <a:avLst>
              <a:gd name="adj" fmla="val 32000"/>
            </a:avLst>
          </a:pr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274320" wrap="square"/>
          <a:lstStyle/>
          <a:p>
            <a:pPr algn="ctr"/>
            <a:r>
              <a:rPr sz="1800">
                <a:solidFill>
                  <a:srgbClr val="FFFFFF"/>
                </a:solidFill>
                <a:latin typeface="Roboto Slab"/>
              </a:rPr>
              <a:t>01</a:t>
            </a:r>
          </a:p>
          <a:p>
            <a:pPr algn="ctr"/>
            <a:r>
              <a:rPr sz="1200" b="1">
                <a:solidFill>
                  <a:srgbClr val="FFFFFF"/>
                </a:solidFill>
                <a:latin typeface="Montserrat"/>
              </a:rPr>
              <a:t>Traza</a:t>
            </a:r>
          </a:p>
        </p:txBody>
      </p:sp>
      <p:sp>
        <p:nvSpPr>
          <p:cNvPr id="8" name="TextBox 7"/>
          <p:cNvSpPr txBox="1"/>
          <p:nvPr/>
        </p:nvSpPr>
        <p:spPr>
          <a:xfrm>
            <a:off x="621792" y="4302252"/>
            <a:ext cx="1965960" cy="1915667"/>
          </a:xfrm>
          <a:prstGeom prst="rect">
            <a:avLst/>
          </a:prstGeom>
          <a:noFill/>
        </p:spPr>
        <p:txBody>
          <a:bodyPr wrap="square" lIns="45720" rIns="45720" tIns="27432" bIns="27432" anchor="t">
            <a:noAutofit/>
          </a:bodyPr>
          <a:lstStyle/>
          <a:p>
            <a:pPr>
              <a:lnSpc>
                <a:spcPct val="130000"/>
              </a:lnSpc>
              <a:spcAft>
                <a:spcPts val="0"/>
              </a:spcAft>
            </a:pPr>
            <a:r>
              <a:rPr sz="1300">
                <a:solidFill>
                  <a:srgbClr val="595959"/>
                </a:solidFill>
                <a:latin typeface="Montserrat Medium"/>
              </a:rPr>
              <a:t>cada interacción queda registrada de extremo a extremo.</a:t>
            </a:r>
          </a:p>
        </p:txBody>
      </p:sp>
      <p:cxnSp>
        <p:nvCxnSpPr>
          <p:cNvPr id="9" name="Connector 8"/>
          <p:cNvCxnSpPr/>
          <p:nvPr/>
        </p:nvCxnSpPr>
        <p:spPr>
          <a:xfrm>
            <a:off x="621792" y="4210812"/>
            <a:ext cx="548640" cy="0"/>
          </a:xfrm>
          <a:prstGeom prst="line">
            <a:avLst/>
          </a:prstGeom>
          <a:ln w="31750">
            <a:solidFill>
              <a:srgbClr val="194BFF"/>
            </a:solidFill>
          </a:ln>
        </p:spPr>
        <p:style>
          <a:lnRef idx="2">
            <a:schemeClr val="accent1"/>
          </a:lnRef>
          <a:fillRef idx="0">
            <a:schemeClr val="accent1"/>
          </a:fillRef>
          <a:effectRef idx="1">
            <a:schemeClr val="accent1"/>
          </a:effectRef>
          <a:fontRef idx="minor">
            <a:schemeClr val="tx1"/>
          </a:fontRef>
        </p:style>
      </p:cxnSp>
      <p:sp>
        <p:nvSpPr>
          <p:cNvPr id="10" name="Chevron 9"/>
          <p:cNvSpPr/>
          <p:nvPr/>
        </p:nvSpPr>
        <p:spPr>
          <a:xfrm>
            <a:off x="2697480" y="2839212"/>
            <a:ext cx="2377440" cy="1188720"/>
          </a:xfrm>
          <a:prstGeom prst="chevron">
            <a:avLst>
              <a:gd name="adj" fmla="val 32000"/>
            </a:avLst>
          </a:prstGeom>
          <a:solidFill>
            <a:srgbClr val="FF1414"/>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rIns="274320" wrap="square"/>
          <a:lstStyle/>
          <a:p>
            <a:pPr algn="ctr"/>
            <a:r>
              <a:rPr sz="1800">
                <a:solidFill>
                  <a:srgbClr val="FFFFFF"/>
                </a:solidFill>
                <a:latin typeface="Roboto Slab"/>
              </a:rPr>
              <a:t>02</a:t>
            </a:r>
          </a:p>
          <a:p>
            <a:pPr algn="ctr"/>
            <a:r>
              <a:rPr sz="1200" b="1">
                <a:solidFill>
                  <a:srgbClr val="FFFFFF"/>
                </a:solidFill>
                <a:latin typeface="Montserrat"/>
              </a:rPr>
              <a:t>Explicación</a:t>
            </a:r>
          </a:p>
        </p:txBody>
      </p:sp>
      <p:sp>
        <p:nvSpPr>
          <p:cNvPr id="11" name="TextBox 10"/>
          <p:cNvSpPr txBox="1"/>
          <p:nvPr/>
        </p:nvSpPr>
        <p:spPr>
          <a:xfrm>
            <a:off x="2834640" y="4302252"/>
            <a:ext cx="1965960" cy="1915667"/>
          </a:xfrm>
          <a:prstGeom prst="rect">
            <a:avLst/>
          </a:prstGeom>
          <a:noFill/>
        </p:spPr>
        <p:txBody>
          <a:bodyPr wrap="square" lIns="45720" rIns="45720" tIns="27432" bIns="27432" anchor="t">
            <a:noAutofit/>
          </a:bodyPr>
          <a:lstStyle/>
          <a:p>
            <a:pPr>
              <a:lnSpc>
                <a:spcPct val="130000"/>
              </a:lnSpc>
              <a:spcAft>
                <a:spcPts val="0"/>
              </a:spcAft>
            </a:pPr>
            <a:r>
              <a:rPr sz="1300">
                <a:solidFill>
                  <a:srgbClr val="595959"/>
                </a:solidFill>
                <a:latin typeface="Montserrat Medium"/>
              </a:rPr>
              <a:t>el razonamiento se reconstruye en lenguaje de negocio.</a:t>
            </a:r>
          </a:p>
        </p:txBody>
      </p:sp>
      <p:cxnSp>
        <p:nvCxnSpPr>
          <p:cNvPr id="12" name="Connector 11"/>
          <p:cNvCxnSpPr/>
          <p:nvPr/>
        </p:nvCxnSpPr>
        <p:spPr>
          <a:xfrm>
            <a:off x="2834640" y="4210812"/>
            <a:ext cx="548640" cy="0"/>
          </a:xfrm>
          <a:prstGeom prst="line">
            <a:avLst/>
          </a:prstGeom>
          <a:ln w="31750">
            <a:solidFill>
              <a:srgbClr val="FF1414"/>
            </a:solidFill>
          </a:ln>
        </p:spPr>
        <p:style>
          <a:lnRef idx="2">
            <a:schemeClr val="accent1"/>
          </a:lnRef>
          <a:fillRef idx="0">
            <a:schemeClr val="accent1"/>
          </a:fillRef>
          <a:effectRef idx="1">
            <a:schemeClr val="accent1"/>
          </a:effectRef>
          <a:fontRef idx="minor">
            <a:schemeClr val="tx1"/>
          </a:fontRef>
        </p:style>
      </p:cxnSp>
      <p:sp>
        <p:nvSpPr>
          <p:cNvPr id="13" name="Chevron 12"/>
          <p:cNvSpPr/>
          <p:nvPr/>
        </p:nvSpPr>
        <p:spPr>
          <a:xfrm>
            <a:off x="4910328" y="2839212"/>
            <a:ext cx="2377440" cy="1188720"/>
          </a:xfrm>
          <a:prstGeom prst="chevron">
            <a:avLst>
              <a:gd name="adj" fmla="val 32000"/>
            </a:avLst>
          </a:pr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rIns="274320" wrap="square"/>
          <a:lstStyle/>
          <a:p>
            <a:pPr algn="ctr"/>
            <a:r>
              <a:rPr sz="1800">
                <a:solidFill>
                  <a:srgbClr val="FFFFFF"/>
                </a:solidFill>
                <a:latin typeface="Roboto Slab"/>
              </a:rPr>
              <a:t>03</a:t>
            </a:r>
          </a:p>
          <a:p>
            <a:pPr algn="ctr"/>
            <a:r>
              <a:rPr sz="1200" b="1">
                <a:solidFill>
                  <a:srgbClr val="FFFFFF"/>
                </a:solidFill>
                <a:latin typeface="Montserrat"/>
              </a:rPr>
              <a:t>Evidencia</a:t>
            </a:r>
          </a:p>
        </p:txBody>
      </p:sp>
      <p:sp>
        <p:nvSpPr>
          <p:cNvPr id="14" name="TextBox 13"/>
          <p:cNvSpPr txBox="1"/>
          <p:nvPr/>
        </p:nvSpPr>
        <p:spPr>
          <a:xfrm>
            <a:off x="5047488" y="4302252"/>
            <a:ext cx="1965960" cy="1915667"/>
          </a:xfrm>
          <a:prstGeom prst="rect">
            <a:avLst/>
          </a:prstGeom>
          <a:noFill/>
        </p:spPr>
        <p:txBody>
          <a:bodyPr wrap="square" lIns="45720" rIns="45720" tIns="27432" bIns="27432" anchor="t">
            <a:noAutofit/>
          </a:bodyPr>
          <a:lstStyle/>
          <a:p>
            <a:pPr>
              <a:lnSpc>
                <a:spcPct val="130000"/>
              </a:lnSpc>
              <a:spcAft>
                <a:spcPts val="0"/>
              </a:spcAft>
            </a:pPr>
            <a:r>
              <a:rPr sz="1300">
                <a:solidFill>
                  <a:srgbClr val="595959"/>
                </a:solidFill>
                <a:latin typeface="Montserrat Medium"/>
              </a:rPr>
              <a:t>validación humana, por resultado y por fuentes.</a:t>
            </a:r>
          </a:p>
        </p:txBody>
      </p:sp>
      <p:cxnSp>
        <p:nvCxnSpPr>
          <p:cNvPr id="15" name="Connector 14"/>
          <p:cNvCxnSpPr/>
          <p:nvPr/>
        </p:nvCxnSpPr>
        <p:spPr>
          <a:xfrm>
            <a:off x="5047488" y="4210812"/>
            <a:ext cx="548640" cy="0"/>
          </a:xfrm>
          <a:prstGeom prst="line">
            <a:avLst/>
          </a:prstGeom>
          <a:ln w="31750">
            <a:solidFill>
              <a:srgbClr val="194BFF"/>
            </a:solidFill>
          </a:ln>
        </p:spPr>
        <p:style>
          <a:lnRef idx="2">
            <a:schemeClr val="accent1"/>
          </a:lnRef>
          <a:fillRef idx="0">
            <a:schemeClr val="accent1"/>
          </a:fillRef>
          <a:effectRef idx="1">
            <a:schemeClr val="accent1"/>
          </a:effectRef>
          <a:fontRef idx="minor">
            <a:schemeClr val="tx1"/>
          </a:fontRef>
        </p:style>
      </p:cxnSp>
      <p:sp>
        <p:nvSpPr>
          <p:cNvPr id="16" name="Chevron 15"/>
          <p:cNvSpPr/>
          <p:nvPr/>
        </p:nvSpPr>
        <p:spPr>
          <a:xfrm>
            <a:off x="7123176" y="2839212"/>
            <a:ext cx="2377440" cy="1188720"/>
          </a:xfrm>
          <a:prstGeom prst="chevron">
            <a:avLst>
              <a:gd name="adj" fmla="val 32000"/>
            </a:avLst>
          </a:prstGeom>
          <a:solidFill>
            <a:srgbClr val="FF1414"/>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rIns="274320" wrap="square"/>
          <a:lstStyle/>
          <a:p>
            <a:pPr algn="ctr"/>
            <a:r>
              <a:rPr sz="1800">
                <a:solidFill>
                  <a:srgbClr val="FFFFFF"/>
                </a:solidFill>
                <a:latin typeface="Roboto Slab"/>
              </a:rPr>
              <a:t>04</a:t>
            </a:r>
          </a:p>
          <a:p>
            <a:pPr algn="ctr"/>
            <a:r>
              <a:rPr sz="1200" b="1">
                <a:solidFill>
                  <a:srgbClr val="FFFFFF"/>
                </a:solidFill>
                <a:latin typeface="Montserrat"/>
              </a:rPr>
              <a:t>Trust Score</a:t>
            </a:r>
          </a:p>
        </p:txBody>
      </p:sp>
      <p:sp>
        <p:nvSpPr>
          <p:cNvPr id="17" name="TextBox 16"/>
          <p:cNvSpPr txBox="1"/>
          <p:nvPr/>
        </p:nvSpPr>
        <p:spPr>
          <a:xfrm>
            <a:off x="7260336" y="4302252"/>
            <a:ext cx="1965960" cy="1915667"/>
          </a:xfrm>
          <a:prstGeom prst="rect">
            <a:avLst/>
          </a:prstGeom>
          <a:noFill/>
        </p:spPr>
        <p:txBody>
          <a:bodyPr wrap="square" lIns="45720" rIns="45720" tIns="27432" bIns="27432" anchor="t">
            <a:noAutofit/>
          </a:bodyPr>
          <a:lstStyle/>
          <a:p>
            <a:pPr>
              <a:lnSpc>
                <a:spcPct val="130000"/>
              </a:lnSpc>
              <a:spcAft>
                <a:spcPts val="0"/>
              </a:spcAft>
            </a:pPr>
            <a:r>
              <a:rPr sz="1300">
                <a:solidFill>
                  <a:srgbClr val="595959"/>
                </a:solidFill>
                <a:latin typeface="Montserrat Medium"/>
              </a:rPr>
              <a:t>la evidencia se convierte en confianza medible.</a:t>
            </a:r>
          </a:p>
        </p:txBody>
      </p:sp>
      <p:cxnSp>
        <p:nvCxnSpPr>
          <p:cNvPr id="18" name="Connector 17"/>
          <p:cNvCxnSpPr/>
          <p:nvPr/>
        </p:nvCxnSpPr>
        <p:spPr>
          <a:xfrm>
            <a:off x="7260336" y="4210812"/>
            <a:ext cx="548639" cy="0"/>
          </a:xfrm>
          <a:prstGeom prst="line">
            <a:avLst/>
          </a:prstGeom>
          <a:ln w="31750">
            <a:solidFill>
              <a:srgbClr val="FF1414"/>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9336024" y="2839212"/>
            <a:ext cx="2377440" cy="1188720"/>
          </a:xfrm>
          <a:prstGeom prst="chevron">
            <a:avLst>
              <a:gd name="adj" fmla="val 32000"/>
            </a:avLst>
          </a:pr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rIns="274320" wrap="square"/>
          <a:lstStyle/>
          <a:p>
            <a:pPr algn="ctr"/>
            <a:r>
              <a:rPr sz="1800">
                <a:solidFill>
                  <a:srgbClr val="FFFFFF"/>
                </a:solidFill>
                <a:latin typeface="Roboto Slab"/>
              </a:rPr>
              <a:t>05</a:t>
            </a:r>
          </a:p>
          <a:p>
            <a:pPr algn="ctr"/>
            <a:r>
              <a:rPr sz="1200" b="1">
                <a:solidFill>
                  <a:srgbClr val="FFFFFF"/>
                </a:solidFill>
                <a:latin typeface="Montserrat"/>
              </a:rPr>
              <a:t>Autonomía</a:t>
            </a:r>
          </a:p>
        </p:txBody>
      </p:sp>
      <p:sp>
        <p:nvSpPr>
          <p:cNvPr id="20" name="TextBox 19"/>
          <p:cNvSpPr txBox="1"/>
          <p:nvPr/>
        </p:nvSpPr>
        <p:spPr>
          <a:xfrm>
            <a:off x="9473184" y="4302252"/>
            <a:ext cx="1965960" cy="1915667"/>
          </a:xfrm>
          <a:prstGeom prst="rect">
            <a:avLst/>
          </a:prstGeom>
          <a:noFill/>
        </p:spPr>
        <p:txBody>
          <a:bodyPr wrap="square" lIns="45720" rIns="45720" tIns="27432" bIns="27432" anchor="t">
            <a:noAutofit/>
          </a:bodyPr>
          <a:lstStyle/>
          <a:p>
            <a:pPr>
              <a:lnSpc>
                <a:spcPct val="130000"/>
              </a:lnSpc>
              <a:spcAft>
                <a:spcPts val="0"/>
              </a:spcAft>
            </a:pPr>
            <a:r>
              <a:rPr sz="1300">
                <a:solidFill>
                  <a:srgbClr val="595959"/>
                </a:solidFill>
                <a:latin typeface="Montserrat Medium"/>
              </a:rPr>
              <a:t>la intervención humana se ajusta a esa confianza.</a:t>
            </a:r>
          </a:p>
        </p:txBody>
      </p:sp>
      <p:cxnSp>
        <p:nvCxnSpPr>
          <p:cNvPr id="21" name="Connector 20"/>
          <p:cNvCxnSpPr/>
          <p:nvPr/>
        </p:nvCxnSpPr>
        <p:spPr>
          <a:xfrm>
            <a:off x="9473184" y="4210812"/>
            <a:ext cx="548640" cy="0"/>
          </a:xfrm>
          <a:prstGeom prst="line">
            <a:avLst/>
          </a:prstGeom>
          <a:ln w="31750">
            <a:solidFill>
              <a:srgbClr val="194B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5570727" cy="429768"/>
          </a:xfrm>
        </p:spPr>
        <p:txBody>
          <a:bodyPr wrap="none"/>
          <a:lstStyle/>
          <a:p>
            <a:r>
              <a:rPr sz="2600"/>
              <a:t>Piezas sueltas frente a integración</a:t>
            </a:r>
          </a:p>
        </p:txBody>
      </p:sp>
      <p:sp>
        <p:nvSpPr>
          <p:cNvPr id="3" name="Content Placeholder 2"/>
          <p:cNvSpPr>
            <a:spLocks noGrp="1"/>
          </p:cNvSpPr>
          <p:nvPr>
            <p:ph idx="1"/>
          </p:nvPr>
        </p:nvSpPr>
        <p:spPr>
          <a:xfrm>
            <a:off x="484632" y="2237231"/>
            <a:ext cx="5431536" cy="4026408"/>
          </a:xfrm>
        </p:spPr>
        <p:txBody>
          <a:bodyPr anchor="t">
            <a:noAutofit/>
          </a:bodyPr>
          <a:lstStyle/>
          <a:p>
            <a:pPr marL="0" indent="0">
              <a:lnSpc>
                <a:spcPct val="120000"/>
              </a:lnSpc>
              <a:spcBef>
                <a:spcPts val="400"/>
              </a:spcBef>
              <a:spcAft>
                <a:spcPts val="1000"/>
              </a:spcAft>
              <a:buNone/>
            </a:pPr>
            <a:r>
              <a:rPr sz="2000" b="1">
                <a:solidFill>
                  <a:srgbClr val="194BFF"/>
                </a:solidFill>
                <a:latin typeface="Montserrat"/>
              </a:rPr>
              <a:t>Hay piezas sueltas</a:t>
            </a:r>
          </a:p>
          <a:p>
            <a:pPr>
              <a:lnSpc>
                <a:spcPct val="140000"/>
              </a:lnSpc>
              <a:spcAft>
                <a:spcPts val="1000"/>
              </a:spcAft>
              <a:buClr>
                <a:srgbClr val="FF1414"/>
              </a:buClr>
              <a:buFont typeface="Arial"/>
              <a:buChar char="►"/>
            </a:pPr>
            <a:r>
              <a:rPr sz="1800" b="1"/>
              <a:t>Observabilidad de LLM</a:t>
            </a:r>
            <a:r>
              <a:rPr sz="1800"/>
              <a:t>: Langfuse, Arize o Datadog: trazas, latencia y tokens.</a:t>
            </a:r>
          </a:p>
          <a:p>
            <a:pPr>
              <a:lnSpc>
                <a:spcPct val="140000"/>
              </a:lnSpc>
              <a:spcAft>
                <a:spcPts val="1000"/>
              </a:spcAft>
              <a:buClr>
                <a:srgbClr val="FF1414"/>
              </a:buClr>
              <a:buFont typeface="Arial"/>
              <a:buChar char="►"/>
            </a:pPr>
            <a:r>
              <a:rPr sz="1800" b="1"/>
              <a:t>Gobierno y riesgo de IA</a:t>
            </a:r>
            <a:r>
              <a:rPr sz="1800"/>
              <a:t>: IBM watsonx.governance o Credo AI: inventario y políticas.</a:t>
            </a:r>
          </a:p>
          <a:p>
            <a:pPr>
              <a:lnSpc>
                <a:spcPct val="140000"/>
              </a:lnSpc>
              <a:spcAft>
                <a:spcPts val="1000"/>
              </a:spcAft>
              <a:buClr>
                <a:srgbClr val="FF1414"/>
              </a:buClr>
              <a:buFont typeface="Arial"/>
              <a:buChar char="►"/>
            </a:pPr>
            <a:r>
              <a:rPr sz="1800" b="1"/>
              <a:t>Estándar OpenTelemetry GenAI</a:t>
            </a:r>
            <a:r>
              <a:rPr sz="1800"/>
              <a:t>: convenciones comunes para trazar llamadas a modelos.</a:t>
            </a:r>
          </a:p>
        </p:txBody>
      </p:sp>
      <p:sp>
        <p:nvSpPr>
          <p:cNvPr id="4" name="Content Placeholder 3"/>
          <p:cNvSpPr>
            <a:spLocks noGrp="1"/>
          </p:cNvSpPr>
          <p:nvPr>
            <p:ph idx="10"/>
          </p:nvPr>
        </p:nvSpPr>
        <p:spPr>
          <a:xfrm>
            <a:off x="484632" y="1307592"/>
            <a:ext cx="11228832" cy="701040"/>
          </a:xfrm>
        </p:spPr>
        <p:txBody>
          <a:bodyPr anchor="t">
            <a:noAutofit/>
          </a:bodyPr>
          <a:lstStyle/>
          <a:p>
            <a:r>
              <a:t>No es un producto: es una forma de implementar agentes en una empresa regulada, integrada con su proceso, sus reglas y sus costes.</a:t>
            </a:r>
          </a:p>
        </p:txBody>
      </p:sp>
      <p:sp>
        <p:nvSpPr>
          <p:cNvPr id="5" name="Content Placeholder 4"/>
          <p:cNvSpPr>
            <a:spLocks noGrp="1"/>
          </p:cNvSpPr>
          <p:nvPr>
            <p:ph idx="11"/>
          </p:nvPr>
        </p:nvSpPr>
        <p:spPr>
          <a:xfrm>
            <a:off x="6281928" y="2237231"/>
            <a:ext cx="5431536" cy="4026408"/>
          </a:xfrm>
        </p:spPr>
        <p:txBody>
          <a:bodyPr anchor="t">
            <a:noAutofit/>
          </a:bodyPr>
          <a:lstStyle/>
          <a:p>
            <a:pPr marL="0" indent="0">
              <a:lnSpc>
                <a:spcPct val="120000"/>
              </a:lnSpc>
              <a:spcBef>
                <a:spcPts val="400"/>
              </a:spcBef>
              <a:spcAft>
                <a:spcPts val="1000"/>
              </a:spcAft>
              <a:buNone/>
            </a:pPr>
            <a:r>
              <a:rPr sz="2000" b="1">
                <a:solidFill>
                  <a:srgbClr val="194BFF"/>
                </a:solidFill>
                <a:latin typeface="Montserrat"/>
              </a:rPr>
              <a:t>Nadie las une a tu negocio</a:t>
            </a:r>
          </a:p>
          <a:p>
            <a:pPr>
              <a:lnSpc>
                <a:spcPct val="140000"/>
              </a:lnSpc>
              <a:spcAft>
                <a:spcPts val="1000"/>
              </a:spcAft>
              <a:buClr>
                <a:srgbClr val="FF1414"/>
              </a:buClr>
              <a:buFont typeface="Arial"/>
              <a:buChar char="►"/>
            </a:pPr>
            <a:r>
              <a:rPr sz="1800" b="1"/>
              <a:t>Tu proceso</a:t>
            </a:r>
            <a:r>
              <a:rPr sz="1800"/>
              <a:t>: de la entrada a la decisión, de punta a punta.</a:t>
            </a:r>
          </a:p>
          <a:p>
            <a:pPr>
              <a:lnSpc>
                <a:spcPct val="140000"/>
              </a:lnSpc>
              <a:spcAft>
                <a:spcPts val="1000"/>
              </a:spcAft>
              <a:buClr>
                <a:srgbClr val="FF1414"/>
              </a:buClr>
              <a:buFont typeface="Arial"/>
              <a:buChar char="►"/>
            </a:pPr>
            <a:r>
              <a:rPr sz="1800" b="1"/>
              <a:t>Tus reglas de negocio</a:t>
            </a:r>
            <a:r>
              <a:rPr sz="1800"/>
              <a:t>: con la evidencia de cada criterio.</a:t>
            </a:r>
          </a:p>
          <a:p>
            <a:pPr>
              <a:lnSpc>
                <a:spcPct val="140000"/>
              </a:lnSpc>
              <a:spcAft>
                <a:spcPts val="1000"/>
              </a:spcAft>
              <a:buClr>
                <a:srgbClr val="FF1414"/>
              </a:buClr>
              <a:buFont typeface="Arial"/>
              <a:buChar char="►"/>
            </a:pPr>
            <a:r>
              <a:rPr sz="1800" b="1"/>
              <a:t>Tus costes</a:t>
            </a:r>
            <a:r>
              <a:rPr sz="1800"/>
              <a:t>: coste por decisión y límites de gasto por agente.</a:t>
            </a:r>
          </a:p>
          <a:p>
            <a:pPr>
              <a:lnSpc>
                <a:spcPct val="140000"/>
              </a:lnSpc>
              <a:spcAft>
                <a:spcPts val="1000"/>
              </a:spcAft>
              <a:buClr>
                <a:srgbClr val="FF1414"/>
              </a:buClr>
              <a:buFont typeface="Arial"/>
              <a:buChar char="►"/>
            </a:pPr>
            <a:r>
              <a:rPr sz="1800" b="1"/>
              <a:t>Tu marco normativo</a:t>
            </a:r>
            <a:r>
              <a:rPr sz="1800"/>
              <a:t>: cada capacidad enlazada con la norma que aplica.</a:t>
            </a:r>
          </a:p>
        </p:txBody>
      </p:sp>
      <p:sp>
        <p:nvSpPr>
          <p:cNvPr id="14" name="Slide Number Placeholder 5">
            <a:extLst>
              <a:ext uri="{FF2B5EF4-FFF2-40B4-BE49-F238E27FC236}">
                <a16:creationId xmlns:a16="http://schemas.microsoft.com/office/drawing/2014/main" id="{51E2588A-F550-C104-3508-8B4A40320581}"/>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2620518" cy="429768"/>
          </a:xfrm>
        </p:spPr>
        <p:txBody>
          <a:bodyPr wrap="none"/>
          <a:lstStyle/>
          <a:p>
            <a:r>
              <a:rPr sz="2600"/>
              <a:t>Mensajes clave</a:t>
            </a:r>
          </a:p>
        </p:txBody>
      </p:sp>
      <p:sp>
        <p:nvSpPr>
          <p:cNvPr id="5" name="Slide Number Placeholder 5">
            <a:extLst>
              <a:ext uri="{FF2B5EF4-FFF2-40B4-BE49-F238E27FC236}">
                <a16:creationId xmlns:a16="http://schemas.microsoft.com/office/drawing/2014/main" id="{1CC3A131-478F-7358-5149-4495B2461525}"/>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cxnSp>
        <p:nvCxnSpPr>
          <p:cNvPr id="6" name="Connector 5"/>
          <p:cNvCxnSpPr/>
          <p:nvPr/>
        </p:nvCxnSpPr>
        <p:spPr>
          <a:xfrm>
            <a:off x="484632" y="1920240"/>
            <a:ext cx="0" cy="411480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84632" y="2633472"/>
            <a:ext cx="0" cy="310896"/>
          </a:xfrm>
          <a:prstGeom prst="line">
            <a:avLst/>
          </a:prstGeom>
          <a:ln w="38100">
            <a:solidFill>
              <a:srgbClr val="194BFF"/>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713232" y="1920240"/>
            <a:ext cx="457200" cy="457200"/>
          </a:xfrm>
          <a:prstGeom prst="rect">
            <a:avLst/>
          </a:pr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920240"/>
            <a:ext cx="457200" cy="457200"/>
          </a:xfrm>
          <a:prstGeom prst="rect">
            <a:avLst/>
          </a:prstGeom>
          <a:noFill/>
        </p:spPr>
        <p:txBody>
          <a:bodyPr wrap="none" lIns="0" rIns="0" tIns="0" bIns="0" anchor="ctr">
            <a:noAutofit/>
          </a:bodyPr>
          <a:lstStyle/>
          <a:p>
            <a:pPr algn="ctr"/>
            <a:r>
              <a:rPr sz="1200">
                <a:solidFill>
                  <a:srgbClr val="FFFFFF"/>
                </a:solidFill>
                <a:latin typeface="Roboto Slab"/>
              </a:rPr>
              <a:t>01</a:t>
            </a:r>
          </a:p>
        </p:txBody>
      </p:sp>
      <p:sp>
        <p:nvSpPr>
          <p:cNvPr id="10" name="TextBox 9"/>
          <p:cNvSpPr txBox="1"/>
          <p:nvPr/>
        </p:nvSpPr>
        <p:spPr>
          <a:xfrm>
            <a:off x="621792" y="2578608"/>
            <a:ext cx="1797710" cy="3456432"/>
          </a:xfrm>
          <a:prstGeom prst="rect">
            <a:avLst/>
          </a:prstGeom>
          <a:noFill/>
        </p:spPr>
        <p:txBody>
          <a:bodyPr wrap="square" lIns="45720" rIns="45720" tIns="27432" bIns="27432" anchor="t">
            <a:noAutofit/>
          </a:bodyPr>
          <a:lstStyle/>
          <a:p>
            <a:pPr>
              <a:lnSpc>
                <a:spcPct val="115000"/>
              </a:lnSpc>
              <a:spcAft>
                <a:spcPts val="800"/>
              </a:spcAft>
            </a:pPr>
            <a:r>
              <a:rPr sz="1600" b="1">
                <a:solidFill>
                  <a:srgbClr val="194BFF"/>
                </a:solidFill>
                <a:latin typeface="Montserrat"/>
              </a:rPr>
              <a:t>Confianza</a:t>
            </a:r>
          </a:p>
          <a:p>
            <a:pPr>
              <a:lnSpc>
                <a:spcPct val="130000"/>
              </a:lnSpc>
              <a:spcAft>
                <a:spcPts val="0"/>
              </a:spcAft>
            </a:pPr>
            <a:r>
              <a:rPr sz="1300">
                <a:solidFill>
                  <a:srgbClr val="595959"/>
                </a:solidFill>
                <a:latin typeface="Montserrat Medium"/>
              </a:rPr>
              <a:t>el reto ya no es si la IA puede hacerlo, sino si se puede poner en producción con confianza.</a:t>
            </a:r>
          </a:p>
        </p:txBody>
      </p:sp>
      <p:cxnSp>
        <p:nvCxnSpPr>
          <p:cNvPr id="11" name="Connector 10"/>
          <p:cNvCxnSpPr/>
          <p:nvPr/>
        </p:nvCxnSpPr>
        <p:spPr>
          <a:xfrm>
            <a:off x="2785262" y="1920240"/>
            <a:ext cx="0" cy="411480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785262" y="2633472"/>
            <a:ext cx="0" cy="310896"/>
          </a:xfrm>
          <a:prstGeom prst="line">
            <a:avLst/>
          </a:prstGeom>
          <a:ln w="38100">
            <a:solidFill>
              <a:srgbClr val="194BFF"/>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013862" y="1920240"/>
            <a:ext cx="457200" cy="457200"/>
          </a:xfrm>
          <a:prstGeom prst="rect">
            <a:avLst/>
          </a:pr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13862" y="1920240"/>
            <a:ext cx="457200" cy="457200"/>
          </a:xfrm>
          <a:prstGeom prst="rect">
            <a:avLst/>
          </a:prstGeom>
          <a:noFill/>
        </p:spPr>
        <p:txBody>
          <a:bodyPr wrap="none" lIns="0" rIns="0" tIns="0" bIns="0" anchor="ctr">
            <a:noAutofit/>
          </a:bodyPr>
          <a:lstStyle/>
          <a:p>
            <a:pPr algn="ctr"/>
            <a:r>
              <a:rPr sz="1200">
                <a:solidFill>
                  <a:srgbClr val="FFFFFF"/>
                </a:solidFill>
                <a:latin typeface="Roboto Slab"/>
              </a:rPr>
              <a:t>02</a:t>
            </a:r>
          </a:p>
        </p:txBody>
      </p:sp>
      <p:sp>
        <p:nvSpPr>
          <p:cNvPr id="15" name="TextBox 14"/>
          <p:cNvSpPr txBox="1"/>
          <p:nvPr/>
        </p:nvSpPr>
        <p:spPr>
          <a:xfrm>
            <a:off x="2922422" y="2578608"/>
            <a:ext cx="1797710" cy="3456432"/>
          </a:xfrm>
          <a:prstGeom prst="rect">
            <a:avLst/>
          </a:prstGeom>
          <a:noFill/>
        </p:spPr>
        <p:txBody>
          <a:bodyPr wrap="square" lIns="45720" rIns="45720" tIns="27432" bIns="27432" anchor="t">
            <a:noAutofit/>
          </a:bodyPr>
          <a:lstStyle/>
          <a:p>
            <a:pPr>
              <a:lnSpc>
                <a:spcPct val="115000"/>
              </a:lnSpc>
              <a:spcAft>
                <a:spcPts val="800"/>
              </a:spcAft>
            </a:pPr>
            <a:r>
              <a:rPr sz="1600" b="1">
                <a:solidFill>
                  <a:srgbClr val="194BFF"/>
                </a:solidFill>
                <a:latin typeface="Montserrat"/>
              </a:rPr>
              <a:t>Observabilidad cognitiva</a:t>
            </a:r>
          </a:p>
          <a:p>
            <a:pPr>
              <a:lnSpc>
                <a:spcPct val="130000"/>
              </a:lnSpc>
              <a:spcAft>
                <a:spcPts val="0"/>
              </a:spcAft>
            </a:pPr>
            <a:r>
              <a:rPr sz="1300">
                <a:solidFill>
                  <a:srgbClr val="595959"/>
                </a:solidFill>
                <a:latin typeface="Montserrat Medium"/>
              </a:rPr>
              <a:t>un agente cambia sin cambiar su código; la monitorización técnica no basta.</a:t>
            </a:r>
          </a:p>
        </p:txBody>
      </p:sp>
      <p:cxnSp>
        <p:nvCxnSpPr>
          <p:cNvPr id="16" name="Connector 15"/>
          <p:cNvCxnSpPr/>
          <p:nvPr/>
        </p:nvCxnSpPr>
        <p:spPr>
          <a:xfrm>
            <a:off x="5085892" y="1920240"/>
            <a:ext cx="0" cy="411480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085892" y="2633472"/>
            <a:ext cx="0" cy="310896"/>
          </a:xfrm>
          <a:prstGeom prst="line">
            <a:avLst/>
          </a:prstGeom>
          <a:ln w="38100">
            <a:solidFill>
              <a:srgbClr val="194BFF"/>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314492" y="1920240"/>
            <a:ext cx="457200" cy="457200"/>
          </a:xfrm>
          <a:prstGeom prst="rect">
            <a:avLst/>
          </a:pr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14492" y="1920240"/>
            <a:ext cx="457200" cy="457200"/>
          </a:xfrm>
          <a:prstGeom prst="rect">
            <a:avLst/>
          </a:prstGeom>
          <a:noFill/>
        </p:spPr>
        <p:txBody>
          <a:bodyPr wrap="none" lIns="0" rIns="0" tIns="0" bIns="0" anchor="ctr">
            <a:noAutofit/>
          </a:bodyPr>
          <a:lstStyle/>
          <a:p>
            <a:pPr algn="ctr"/>
            <a:r>
              <a:rPr sz="1200">
                <a:solidFill>
                  <a:srgbClr val="FFFFFF"/>
                </a:solidFill>
                <a:latin typeface="Roboto Slab"/>
              </a:rPr>
              <a:t>03</a:t>
            </a:r>
          </a:p>
        </p:txBody>
      </p:sp>
      <p:sp>
        <p:nvSpPr>
          <p:cNvPr id="20" name="TextBox 19"/>
          <p:cNvSpPr txBox="1"/>
          <p:nvPr/>
        </p:nvSpPr>
        <p:spPr>
          <a:xfrm>
            <a:off x="5223052" y="2578608"/>
            <a:ext cx="1797710" cy="3456432"/>
          </a:xfrm>
          <a:prstGeom prst="rect">
            <a:avLst/>
          </a:prstGeom>
          <a:noFill/>
        </p:spPr>
        <p:txBody>
          <a:bodyPr wrap="square" lIns="45720" rIns="45720" tIns="27432" bIns="27432" anchor="t">
            <a:noAutofit/>
          </a:bodyPr>
          <a:lstStyle/>
          <a:p>
            <a:pPr>
              <a:lnSpc>
                <a:spcPct val="115000"/>
              </a:lnSpc>
              <a:spcAft>
                <a:spcPts val="800"/>
              </a:spcAft>
            </a:pPr>
            <a:r>
              <a:rPr sz="1600" b="1">
                <a:solidFill>
                  <a:srgbClr val="194BFF"/>
                </a:solidFill>
                <a:latin typeface="Montserrat"/>
              </a:rPr>
              <a:t>Regulación</a:t>
            </a:r>
          </a:p>
          <a:p>
            <a:pPr>
              <a:lnSpc>
                <a:spcPct val="130000"/>
              </a:lnSpc>
              <a:spcAft>
                <a:spcPts val="0"/>
              </a:spcAft>
            </a:pPr>
            <a:r>
              <a:rPr sz="1300">
                <a:solidFill>
                  <a:srgbClr val="595959"/>
                </a:solidFill>
                <a:latin typeface="Montserrat Medium"/>
              </a:rPr>
              <a:t>ya pide trazabilidad, explicación y supervisión humana real, y el AI Act lo endurece en 2027.</a:t>
            </a:r>
          </a:p>
        </p:txBody>
      </p:sp>
      <p:cxnSp>
        <p:nvCxnSpPr>
          <p:cNvPr id="21" name="Connector 20"/>
          <p:cNvCxnSpPr/>
          <p:nvPr/>
        </p:nvCxnSpPr>
        <p:spPr>
          <a:xfrm>
            <a:off x="7386523" y="1920240"/>
            <a:ext cx="0" cy="411480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386523" y="2633472"/>
            <a:ext cx="0" cy="310896"/>
          </a:xfrm>
          <a:prstGeom prst="line">
            <a:avLst/>
          </a:prstGeom>
          <a:ln w="38100">
            <a:solidFill>
              <a:srgbClr val="194BFF"/>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7615123" y="1920240"/>
            <a:ext cx="457200" cy="457200"/>
          </a:xfrm>
          <a:prstGeom prst="rect">
            <a:avLst/>
          </a:pr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15123" y="1920240"/>
            <a:ext cx="457200" cy="457200"/>
          </a:xfrm>
          <a:prstGeom prst="rect">
            <a:avLst/>
          </a:prstGeom>
          <a:noFill/>
        </p:spPr>
        <p:txBody>
          <a:bodyPr wrap="none" lIns="0" rIns="0" tIns="0" bIns="0" anchor="ctr">
            <a:noAutofit/>
          </a:bodyPr>
          <a:lstStyle/>
          <a:p>
            <a:pPr algn="ctr"/>
            <a:r>
              <a:rPr sz="1200">
                <a:solidFill>
                  <a:srgbClr val="FFFFFF"/>
                </a:solidFill>
                <a:latin typeface="Roboto Slab"/>
              </a:rPr>
              <a:t>04</a:t>
            </a:r>
          </a:p>
        </p:txBody>
      </p:sp>
      <p:sp>
        <p:nvSpPr>
          <p:cNvPr id="25" name="TextBox 24"/>
          <p:cNvSpPr txBox="1"/>
          <p:nvPr/>
        </p:nvSpPr>
        <p:spPr>
          <a:xfrm>
            <a:off x="7523683" y="2578608"/>
            <a:ext cx="1797710" cy="3456432"/>
          </a:xfrm>
          <a:prstGeom prst="rect">
            <a:avLst/>
          </a:prstGeom>
          <a:noFill/>
        </p:spPr>
        <p:txBody>
          <a:bodyPr wrap="square" lIns="45720" rIns="45720" tIns="27432" bIns="27432" anchor="t">
            <a:noAutofit/>
          </a:bodyPr>
          <a:lstStyle/>
          <a:p>
            <a:pPr>
              <a:lnSpc>
                <a:spcPct val="115000"/>
              </a:lnSpc>
              <a:spcAft>
                <a:spcPts val="800"/>
              </a:spcAft>
            </a:pPr>
            <a:r>
              <a:rPr sz="1600" b="1">
                <a:solidFill>
                  <a:srgbClr val="194BFF"/>
                </a:solidFill>
                <a:latin typeface="Montserrat"/>
              </a:rPr>
              <a:t>Cinco capacidades</a:t>
            </a:r>
          </a:p>
          <a:p>
            <a:pPr>
              <a:lnSpc>
                <a:spcPct val="130000"/>
              </a:lnSpc>
              <a:spcAft>
                <a:spcPts val="0"/>
              </a:spcAft>
            </a:pPr>
            <a:r>
              <a:rPr sz="1300">
                <a:solidFill>
                  <a:srgbClr val="595959"/>
                </a:solidFill>
                <a:latin typeface="Montserrat Medium"/>
              </a:rPr>
              <a:t>ver, entender, limitar, pagar y auditar, sobre una capa común.</a:t>
            </a:r>
          </a:p>
        </p:txBody>
      </p:sp>
      <p:cxnSp>
        <p:nvCxnSpPr>
          <p:cNvPr id="26" name="Connector 25"/>
          <p:cNvCxnSpPr/>
          <p:nvPr/>
        </p:nvCxnSpPr>
        <p:spPr>
          <a:xfrm>
            <a:off x="9687153" y="1920240"/>
            <a:ext cx="0" cy="411480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687153" y="2633472"/>
            <a:ext cx="0" cy="310896"/>
          </a:xfrm>
          <a:prstGeom prst="line">
            <a:avLst/>
          </a:prstGeom>
          <a:ln w="38100">
            <a:solidFill>
              <a:srgbClr val="194BFF"/>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9915753" y="1920240"/>
            <a:ext cx="457200" cy="457200"/>
          </a:xfrm>
          <a:prstGeom prst="rect">
            <a:avLst/>
          </a:prstGeom>
          <a:solidFill>
            <a:srgbClr val="19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915753" y="1920240"/>
            <a:ext cx="457200" cy="457200"/>
          </a:xfrm>
          <a:prstGeom prst="rect">
            <a:avLst/>
          </a:prstGeom>
          <a:noFill/>
        </p:spPr>
        <p:txBody>
          <a:bodyPr wrap="none" lIns="0" rIns="0" tIns="0" bIns="0" anchor="ctr">
            <a:noAutofit/>
          </a:bodyPr>
          <a:lstStyle/>
          <a:p>
            <a:pPr algn="ctr"/>
            <a:r>
              <a:rPr sz="1200">
                <a:solidFill>
                  <a:srgbClr val="FFFFFF"/>
                </a:solidFill>
                <a:latin typeface="Roboto Slab"/>
              </a:rPr>
              <a:t>05</a:t>
            </a:r>
          </a:p>
        </p:txBody>
      </p:sp>
      <p:sp>
        <p:nvSpPr>
          <p:cNvPr id="30" name="TextBox 29"/>
          <p:cNvSpPr txBox="1"/>
          <p:nvPr/>
        </p:nvSpPr>
        <p:spPr>
          <a:xfrm>
            <a:off x="9824313" y="2578608"/>
            <a:ext cx="1797710" cy="3456432"/>
          </a:xfrm>
          <a:prstGeom prst="rect">
            <a:avLst/>
          </a:prstGeom>
          <a:noFill/>
        </p:spPr>
        <p:txBody>
          <a:bodyPr wrap="square" lIns="45720" rIns="45720" tIns="27432" bIns="27432" anchor="t">
            <a:noAutofit/>
          </a:bodyPr>
          <a:lstStyle/>
          <a:p>
            <a:pPr>
              <a:lnSpc>
                <a:spcPct val="115000"/>
              </a:lnSpc>
              <a:spcAft>
                <a:spcPts val="800"/>
              </a:spcAft>
            </a:pPr>
            <a:r>
              <a:rPr sz="1600" b="1">
                <a:solidFill>
                  <a:srgbClr val="194BFF"/>
                </a:solidFill>
                <a:latin typeface="Montserrat"/>
              </a:rPr>
              <a:t>Autonomía</a:t>
            </a:r>
          </a:p>
          <a:p>
            <a:pPr>
              <a:lnSpc>
                <a:spcPct val="130000"/>
              </a:lnSpc>
              <a:spcAft>
                <a:spcPts val="0"/>
              </a:spcAft>
            </a:pPr>
            <a:r>
              <a:rPr sz="1300">
                <a:solidFill>
                  <a:srgbClr val="595959"/>
                </a:solidFill>
                <a:latin typeface="Montserrat Medium"/>
              </a:rPr>
              <a:t>se gana con datos y se pierde con datos.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2399" y="349200"/>
            <a:ext cx="1487678" cy="429768"/>
          </a:xfrm>
        </p:spPr>
        <p:txBody>
          <a:bodyPr wrap="none"/>
          <a:lstStyle/>
          <a:p>
            <a:r>
              <a:rPr sz="2600"/>
              <a:t>Fuentes</a:t>
            </a:r>
          </a:p>
        </p:txBody>
      </p:sp>
      <p:sp>
        <p:nvSpPr>
          <p:cNvPr id="3" name="Content Placeholder 2"/>
          <p:cNvSpPr>
            <a:spLocks noGrp="1"/>
          </p:cNvSpPr>
          <p:nvPr>
            <p:ph idx="1"/>
          </p:nvPr>
        </p:nvSpPr>
        <p:spPr>
          <a:xfrm>
            <a:off x="484632" y="1399032"/>
            <a:ext cx="11228832" cy="4864607"/>
          </a:xfrm>
        </p:spPr>
        <p:txBody>
          <a:bodyPr anchor="t">
            <a:noAutofit/>
          </a:bodyPr>
          <a:lstStyle/>
          <a:p>
            <a:pPr>
              <a:lnSpc>
                <a:spcPct val="140000"/>
              </a:lnSpc>
              <a:spcAft>
                <a:spcPts val="1000"/>
              </a:spcAft>
              <a:buClr>
                <a:srgbClr val="FF1414"/>
              </a:buClr>
              <a:buFont typeface="Arial"/>
              <a:buChar char="►"/>
            </a:pPr>
            <a:r>
              <a:rPr sz="1800"/>
              <a:t>McKinsey, </a:t>
            </a:r>
            <a:r>
              <a:rPr sz="1800">
                <a:hlinkClick r:id="rId3"/>
              </a:rPr>
              <a:t>The state of AI in 2025: Agents, innovation, and transformation</a:t>
            </a:r>
          </a:p>
          <a:p>
            <a:pPr>
              <a:lnSpc>
                <a:spcPct val="140000"/>
              </a:lnSpc>
              <a:spcAft>
                <a:spcPts val="1000"/>
              </a:spcAft>
              <a:buClr>
                <a:srgbClr val="FF1414"/>
              </a:buClr>
              <a:buFont typeface="Arial"/>
              <a:buChar char="►"/>
            </a:pPr>
            <a:r>
              <a:rPr sz="1800"/>
              <a:t>Gartner, </a:t>
            </a:r>
            <a:r>
              <a:rPr sz="1800">
                <a:hlinkClick r:id="rId4"/>
              </a:rPr>
              <a:t>nota de prensa del 25/06/2025 sobre IA agéntica</a:t>
            </a:r>
          </a:p>
          <a:p>
            <a:pPr>
              <a:lnSpc>
                <a:spcPct val="140000"/>
              </a:lnSpc>
              <a:spcAft>
                <a:spcPts val="1000"/>
              </a:spcAft>
              <a:buClr>
                <a:srgbClr val="FF1414"/>
              </a:buClr>
              <a:buFont typeface="Arial"/>
              <a:buChar char="►"/>
            </a:pPr>
            <a:r>
              <a:rPr sz="1800"/>
              <a:t>Fortune, </a:t>
            </a:r>
            <a:r>
              <a:rPr sz="1800">
                <a:hlinkClick r:id="rId5"/>
              </a:rPr>
              <a:t>informe del MIT NANDA «The GenAI Divide» (18/08/2025)</a:t>
            </a:r>
          </a:p>
          <a:p>
            <a:pPr>
              <a:lnSpc>
                <a:spcPct val="140000"/>
              </a:lnSpc>
              <a:spcAft>
                <a:spcPts val="1000"/>
              </a:spcAft>
              <a:buClr>
                <a:srgbClr val="FF1414"/>
              </a:buClr>
              <a:buFont typeface="Arial"/>
              <a:buChar char="►"/>
            </a:pPr>
            <a:r>
              <a:rPr sz="1800"/>
              <a:t>Conning, </a:t>
            </a:r>
            <a:r>
              <a:rPr sz="1800">
                <a:hlinkClick r:id="rId6"/>
              </a:rPr>
              <a:t>AI in Insurance 2025</a:t>
            </a:r>
          </a:p>
          <a:p>
            <a:pPr>
              <a:lnSpc>
                <a:spcPct val="140000"/>
              </a:lnSpc>
              <a:spcAft>
                <a:spcPts val="1000"/>
              </a:spcAft>
              <a:buClr>
                <a:srgbClr val="FF1414"/>
              </a:buClr>
              <a:buFont typeface="Arial"/>
              <a:buChar char="►"/>
            </a:pPr>
            <a:r>
              <a:rPr sz="1800"/>
              <a:t>Normativa: </a:t>
            </a:r>
            <a:r>
              <a:rPr sz="1800">
                <a:hlinkClick r:id="rId7"/>
              </a:rPr>
              <a:t>AI Act</a:t>
            </a:r>
            <a:r>
              <a:rPr sz="1800"/>
              <a:t> · </a:t>
            </a:r>
            <a:r>
              <a:rPr sz="1800">
                <a:hlinkClick r:id="rId8"/>
              </a:rPr>
              <a:t>RGPD</a:t>
            </a:r>
            <a:r>
              <a:rPr sz="1800"/>
              <a:t> · </a:t>
            </a:r>
            <a:r>
              <a:rPr sz="1800">
                <a:hlinkClick r:id="rId9"/>
              </a:rPr>
              <a:t>DORA</a:t>
            </a:r>
            <a:r>
              <a:rPr sz="1800"/>
              <a:t> · </a:t>
            </a:r>
            <a:r>
              <a:rPr sz="1800">
                <a:hlinkClick r:id="rId10"/>
              </a:rPr>
              <a:t>NIS2</a:t>
            </a:r>
            <a:r>
              <a:rPr sz="1800"/>
              <a:t> · </a:t>
            </a:r>
            <a:r>
              <a:rPr sz="1800">
                <a:hlinkClick r:id="rId11"/>
              </a:rPr>
              <a:t>Digital Omnibus</a:t>
            </a:r>
          </a:p>
          <a:p>
            <a:pPr>
              <a:lnSpc>
                <a:spcPct val="140000"/>
              </a:lnSpc>
              <a:spcAft>
                <a:spcPts val="1000"/>
              </a:spcAft>
              <a:buClr>
                <a:srgbClr val="FF1414"/>
              </a:buClr>
              <a:buFont typeface="Arial"/>
              <a:buChar char="►"/>
            </a:pPr>
            <a:r>
              <a:rPr sz="1800"/>
              <a:t>Jurisprudencia: </a:t>
            </a:r>
            <a:r>
              <a:rPr sz="1800">
                <a:hlinkClick r:id="rId12"/>
              </a:rPr>
              <a:t>TJUE C-634/21 (SCHUFA)</a:t>
            </a:r>
            <a:r>
              <a:rPr sz="1800"/>
              <a:t> · </a:t>
            </a:r>
            <a:r>
              <a:rPr sz="1800">
                <a:hlinkClick r:id="rId13"/>
              </a:rPr>
              <a:t>TJUE C-203/22 (Dun &amp; Bradstreet)</a:t>
            </a:r>
          </a:p>
          <a:p>
            <a:pPr>
              <a:lnSpc>
                <a:spcPct val="140000"/>
              </a:lnSpc>
              <a:spcAft>
                <a:spcPts val="1000"/>
              </a:spcAft>
              <a:buClr>
                <a:srgbClr val="FF1414"/>
              </a:buClr>
              <a:buFont typeface="Arial"/>
              <a:buChar char="►"/>
            </a:pPr>
            <a:r>
              <a:rPr sz="1800"/>
              <a:t>Supervisores y estándares: </a:t>
            </a:r>
            <a:r>
              <a:rPr sz="1800">
                <a:hlinkClick r:id="rId14"/>
              </a:rPr>
              <a:t>EIOPA, Opinion on AI governance</a:t>
            </a:r>
            <a:r>
              <a:rPr sz="1800"/>
              <a:t> · </a:t>
            </a:r>
            <a:r>
              <a:rPr sz="1800">
                <a:hlinkClick r:id="rId15"/>
              </a:rPr>
              <a:t>ISO/IEC 42001</a:t>
            </a:r>
            <a:r>
              <a:rPr sz="1800"/>
              <a:t> · </a:t>
            </a:r>
            <a:r>
              <a:rPr sz="1800">
                <a:hlinkClick r:id="rId16"/>
              </a:rPr>
              <a:t>NIST AI RMF</a:t>
            </a:r>
          </a:p>
        </p:txBody>
      </p:sp>
      <p:sp>
        <p:nvSpPr>
          <p:cNvPr id="12" name="Slide Number Placeholder 5">
            <a:extLst>
              <a:ext uri="{FF2B5EF4-FFF2-40B4-BE49-F238E27FC236}">
                <a16:creationId xmlns:a16="http://schemas.microsoft.com/office/drawing/2014/main" id="{F7F5D141-06D9-E279-7706-B8CF2C3BD053}"/>
              </a:ext>
            </a:extLst>
          </p:cNvPr>
          <p:cNvSpPr>
            <a:spLocks noGrp="1"/>
          </p:cNvSpPr>
          <p:nvPr>
            <p:ph type="sldNum" sz="quarter" idx="4"/>
          </p:nvPr>
        </p:nvSpPr>
        <p:spPr/>
        <p:txBody>
          <a:bodyPr tIns="0" rIns="0" bIns="0" anchor="t">
            <a:spAutoFit/>
          </a:bodyPr>
          <a:lstStyle>
            <a:lvl1pPr algn="r">
              <a:defRPr sz="800" b="0" i="0">
                <a:solidFill>
                  <a:schemeClr val="accent1"/>
                </a:solidFill>
                <a:latin typeface="Montserrat Medium" pitchFamily="2" charset="77"/>
              </a:defRPr>
            </a:lvl1pPr>
          </a:lstStyle>
          <a:p>
            <a:fld id="{B6F15528-21DE-4FAA-801E-634DDDAF4B2B}" type="slidenum">
              <a:rPr lang="es-ES"/>
              <a:t>‹#›</a:t>
            </a:fld>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633599" y="2286000"/>
            <a:ext cx="2104390" cy="648000"/>
          </a:xfrm>
        </p:spPr>
        <p:txBody>
          <a:bodyPr wrap="none"/>
          <a:lstStyle/>
          <a:p>
            <a:r>
              <a:t>Gracias</a:t>
            </a:r>
          </a:p>
        </p:txBody>
      </p:sp>
      <p:pic>
        <p:nvPicPr>
          <p:cNvPr id="4" name="Picture 3" descr="hex_photo_contact.png"/>
          <p:cNvPicPr>
            <a:picLocks noChangeAspect="1"/>
          </p:cNvPicPr>
          <p:nvPr/>
        </p:nvPicPr>
        <p:blipFill>
          <a:blip r:embed="rId2"/>
          <a:stretch>
            <a:fillRect/>
          </a:stretch>
        </p:blipFill>
        <p:spPr>
          <a:xfrm>
            <a:off x="6446520" y="850392"/>
            <a:ext cx="5230368" cy="5211279"/>
          </a:xfrm>
          <a:prstGeom prst="rect">
            <a:avLst/>
          </a:prstGeom>
        </p:spPr>
      </p:pic>
    </p:spTree>
  </p:cSld>
  <p:clrMapOvr>
    <a:masterClrMapping/>
  </p:clrMapOvr>
</p:sld>
</file>

<file path=ppt/theme/theme1.xml><?xml version="1.0" encoding="utf-8"?>
<a:theme xmlns:a="http://schemas.openxmlformats.org/drawingml/2006/main" name="PPT Logicalis Template March 2026">
  <a:themeElements>
    <a:clrScheme name="TDL New">
      <a:dk1>
        <a:srgbClr val="595959"/>
      </a:dk1>
      <a:lt1>
        <a:srgbClr val="FFFFFF"/>
      </a:lt1>
      <a:dk2>
        <a:srgbClr val="595959"/>
      </a:dk2>
      <a:lt2>
        <a:srgbClr val="E7E6E6"/>
      </a:lt2>
      <a:accent1>
        <a:srgbClr val="FF1414"/>
      </a:accent1>
      <a:accent2>
        <a:srgbClr val="595959"/>
      </a:accent2>
      <a:accent3>
        <a:srgbClr val="194BFF"/>
      </a:accent3>
      <a:accent4>
        <a:srgbClr val="00FFCD"/>
      </a:accent4>
      <a:accent5>
        <a:srgbClr val="E6E6E6"/>
      </a:accent5>
      <a:accent6>
        <a:srgbClr val="FF1414"/>
      </a:accent6>
      <a:hlink>
        <a:srgbClr val="595959"/>
      </a:hlink>
      <a:folHlink>
        <a:srgbClr val="A29791"/>
      </a:folHlink>
    </a:clrScheme>
    <a:fontScheme name="TDL NEW Font">
      <a:majorFont>
        <a:latin typeface="Roboto Slab"/>
        <a:ea typeface=""/>
        <a:cs typeface=""/>
      </a:majorFont>
      <a:minorFont>
        <a:latin typeface="Montserra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sz="1600" dirty="0"/>
        </a:defPPr>
      </a:lstStyle>
    </a:txDef>
  </a:objectDefaults>
  <a:extraClrSchemeLst/>
  <a:extLst>
    <a:ext uri="{05A4C25C-085E-4340-85A3-A5531E510DB2}">
      <thm15:themeFamily xmlns:thm15="http://schemas.microsoft.com/office/thememl/2012/main" name="TDL Template.pptx" id="{49FD070F-6C74-4054-BC33-4F4E7F43F796}" vid="{6D854CFD-DB59-4F78-BD86-5C43773322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c1a385b-e1fe-4f98-ade6-787642576ba7">
      <Terms xmlns="http://schemas.microsoft.com/office/infopath/2007/PartnerControls"/>
    </lcf76f155ced4ddcb4097134ff3c332f>
    <TaxCatchAll xmlns="ec24e197-8a67-4a13-a14c-425853cf5e9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C69F901A49CB064A9C4B1D391D24583D" ma:contentTypeVersion="15" ma:contentTypeDescription="Crear nuevo documento." ma:contentTypeScope="" ma:versionID="c01ca280964f438bf2e2e8c57f041e78">
  <xsd:schema xmlns:xsd="http://www.w3.org/2001/XMLSchema" xmlns:xs="http://www.w3.org/2001/XMLSchema" xmlns:p="http://schemas.microsoft.com/office/2006/metadata/properties" xmlns:ns2="bc1a385b-e1fe-4f98-ade6-787642576ba7" xmlns:ns3="ec24e197-8a67-4a13-a14c-425853cf5e9f" targetNamespace="http://schemas.microsoft.com/office/2006/metadata/properties" ma:root="true" ma:fieldsID="002b4cf6722f3fad18b0e6f8ed65e6e2" ns2:_="" ns3:_="">
    <xsd:import namespace="bc1a385b-e1fe-4f98-ade6-787642576ba7"/>
    <xsd:import namespace="ec24e197-8a67-4a13-a14c-425853cf5e9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1a385b-e1fe-4f98-ade6-787642576b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Etiquetas de imagen" ma:readOnly="false" ma:fieldId="{5cf76f15-5ced-4ddc-b409-7134ff3c332f}" ma:taxonomyMulti="true" ma:sspId="10fce5ab-aaf9-49f9-a6ce-ac3a074a46a0"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24e197-8a67-4a13-a14c-425853cf5e9f" elementFormDefault="qualified">
    <xsd:import namespace="http://schemas.microsoft.com/office/2006/documentManagement/types"/>
    <xsd:import namespace="http://schemas.microsoft.com/office/infopath/2007/PartnerControls"/>
    <xsd:element name="SharedWithUsers" ma:index="15"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Detalles de uso compartido" ma:internalName="SharedWithDetails" ma:readOnly="true">
      <xsd:simpleType>
        <xsd:restriction base="dms:Note">
          <xsd:maxLength value="255"/>
        </xsd:restriction>
      </xsd:simpleType>
    </xsd:element>
    <xsd:element name="TaxCatchAll" ma:index="19" nillable="true" ma:displayName="Taxonomy Catch All Column" ma:hidden="true" ma:list="{fef96e38-1bbd-4d0a-8955-62bde1cd75dc}" ma:internalName="TaxCatchAll" ma:showField="CatchAllData" ma:web="ec24e197-8a67-4a13-a14c-425853cf5e9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51A99C-5D78-4D91-A271-C92583798633}">
  <ds:schemaRefs>
    <ds:schemaRef ds:uri="00374ecc-2070-4092-9fe5-39fd256f32fa"/>
    <ds:schemaRef ds:uri="855624d1-d01b-4f83-bace-6500e8ccf5fa"/>
    <ds:schemaRef ds:uri="8f8613fd-76ad-4616-9480-8480cd4a82c0"/>
    <ds:schemaRef ds:uri="be03c1ba-b67e-4e31-8f38-9128da7a7d0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F53B6D5-302C-4812-BDB4-23286F7EBC3F}">
  <ds:schemaRefs>
    <ds:schemaRef ds:uri="http://schemas.microsoft.com/sharepoint/v3/contenttype/forms"/>
  </ds:schemaRefs>
</ds:datastoreItem>
</file>

<file path=customXml/itemProps3.xml><?xml version="1.0" encoding="utf-8"?>
<ds:datastoreItem xmlns:ds="http://schemas.openxmlformats.org/officeDocument/2006/customXml" ds:itemID="{A3107499-3C28-4C3E-9EDE-1BEF22709883}"/>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35</Slides>
  <Notes>0</Notes>
  <HiddenSlides>0</HiddenSlide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PPT Logicalis Template March 2026</vt:lpstr>
      <vt:lpstr>Insert your</vt:lpstr>
      <vt:lpstr>Insert your</vt:lpstr>
      <vt:lpstr>Insert your</vt:lpstr>
      <vt:lpstr>Insert your</vt:lpstr>
      <vt:lpstr>Insert your</vt:lpstr>
      <vt:lpstr>Insert your</vt:lpstr>
      <vt:lpstr>Insert your</vt:lpstr>
      <vt:lpstr>Insert your</vt:lpstr>
      <vt:lpstr>Insert your</vt:lpstr>
      <vt:lpstr>Insert your</vt:lpstr>
      <vt:lpstr>Insert your</vt:lpstr>
      <vt:lpstr>Insert your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Icons</vt:lpstr>
      <vt:lpstr>Icons</vt:lpstr>
      <vt:lpstr>Icons</vt:lpstr>
      <vt:lpstr>Icons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Observabilidad y gobierno de la IA agéntica</dc:title>
  <dc:creator>Ignacio Sánchez</dc:creator>
  <cp:revision>2</cp:revision>
  <dcterms:created xsi:type="dcterms:W3CDTF">2023-07-20T13:22:40Z</dcterms:created>
  <dcterms:modified xsi:type="dcterms:W3CDTF">2026-03-19T18:09:14Z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Sensitivity">
    <vt:lpwstr>Sensible</vt:lpwstr>
  </property>
  <property fmtid="{D5CDD505-2E9C-101B-9397-08002B2CF9AE}" pid="3" name="MSIP_Label_71e2662a-0625-4560-92a8-8decd38b51d5_Extended_MSFT_Method">
    <vt:lpwstr>Standard</vt:lpwstr>
  </property>
  <property fmtid="{D5CDD505-2E9C-101B-9397-08002B2CF9AE}" pid="4" name="ContentTypeId">
    <vt:lpwstr>0x010100C69F901A49CB064A9C4B1D391D24583D</vt:lpwstr>
  </property>
  <property fmtid="{D5CDD505-2E9C-101B-9397-08002B2CF9AE}" pid="5" name="MediaServiceImageTags">
    <vt:lpwstr/>
  </property>
  <property fmtid="{D5CDD505-2E9C-101B-9397-08002B2CF9AE}" pid="6" name="MSIP_Label_71e2662a-0625-4560-92a8-8decd38b51d5_Removed">
    <vt:lpwstr>False</vt:lpwstr>
  </property>
  <property fmtid="{D5CDD505-2E9C-101B-9397-08002B2CF9AE}" pid="7" name="MSIP_Label_71e2662a-0625-4560-92a8-8decd38b51d5_ActionId">
    <vt:lpwstr>1f16ca72-26c2-402d-98b3-c2cfda3bf25e</vt:lpwstr>
  </property>
  <property fmtid="{D5CDD505-2E9C-101B-9397-08002B2CF9AE}" pid="8" name="MSIP_Label_71e2662a-0625-4560-92a8-8decd38b51d5_Name">
    <vt:lpwstr>Sensible</vt:lpwstr>
  </property>
  <property fmtid="{D5CDD505-2E9C-101B-9397-08002B2CF9AE}" pid="9" name="MSIP_Label_71e2662a-0625-4560-92a8-8decd38b51d5_SetDate">
    <vt:lpwstr>2026-03-19T18:17:36Z</vt:lpwstr>
  </property>
  <property fmtid="{D5CDD505-2E9C-101B-9397-08002B2CF9AE}" pid="10" name="MSIP_Label_71e2662a-0625-4560-92a8-8decd38b51d5_SiteId">
    <vt:lpwstr>4b51496e-4cf2-4728-b551-2bdc71444141</vt:lpwstr>
  </property>
  <property fmtid="{D5CDD505-2E9C-101B-9397-08002B2CF9AE}" pid="11" name="MSIP_Label_71e2662a-0625-4560-92a8-8decd38b51d5_Enabled">
    <vt:lpwstr>True</vt:lpwstr>
  </property>
</Properties>
</file>