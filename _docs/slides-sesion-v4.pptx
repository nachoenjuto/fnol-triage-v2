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3"/>
  </p:notesMasterIdLst>
  <p:sldIdLst>
    <p:sldId id="346" r:id="rId5"/>
    <p:sldId id="347" r:id="rId6"/>
    <p:sldId id="348" r:id="rId7"/>
    <p:sldId id="349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57" r:id="rId16"/>
    <p:sldId id="358" r:id="rId17"/>
    <p:sldId id="362" r:id="rId18"/>
    <p:sldId id="363" r:id="rId19"/>
    <p:sldId id="364" r:id="rId20"/>
    <p:sldId id="365" r:id="rId21"/>
    <p:sldId id="366" r:id="rId22"/>
    <p:sldId id="367" r:id="rId23"/>
    <p:sldId id="368" r:id="rId24"/>
    <p:sldId id="369" r:id="rId25"/>
    <p:sldId id="370" r:id="rId26"/>
    <p:sldId id="374" r:id="rId27"/>
    <p:sldId id="372" r:id="rId28"/>
    <p:sldId id="373" r:id="rId29"/>
    <p:sldId id="359" r:id="rId30"/>
    <p:sldId id="360" r:id="rId31"/>
    <p:sldId id="361" r:id="rId32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cons" id="{E57AE0B5-2D22-3B4E-900D-32E0443C9C6A}">
          <p14:sldIdLst>
            <p14:sldId id="346"/>
            <p14:sldId id="347"/>
          </p14:sldIdLst>
        </p14:section>
        <p14:section name="Color background examples" id="{0DB13114-5B30-C94F-BB34-DD1C36B9759A}">
          <p14:sldIdLst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4"/>
            <p14:sldId id="372"/>
            <p14:sldId id="373"/>
            <p14:sldId id="359"/>
            <p14:sldId id="360"/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DFF"/>
    <a:srgbClr val="82C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96C7B9-6141-A54C-A3A5-C2ED80013339}" v="7" dt="2026-10-13T07:39:43.0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9"/>
    <p:restoredTop sz="85461"/>
  </p:normalViewPr>
  <p:slideViewPr>
    <p:cSldViewPr snapToGrid="0">
      <p:cViewPr varScale="1">
        <p:scale>
          <a:sx n="135" d="100"/>
          <a:sy n="135" d="100"/>
        </p:scale>
        <p:origin x="1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Sánchez Enjuto" userId="S::ignacio.sancheze@es.logicalis.com::c691bf97-6f4a-46de-97c8-063fd3f20c17" providerId="AD" clId="Web-{85B38D15-ABBF-2BAC-2E94-22F937B48579}"/>
    <pc:docChg chg="sldOrd delSection">
      <pc:chgData name="Ignacio Sánchez Enjuto" userId="S::ignacio.sancheze@es.logicalis.com::c691bf97-6f4a-46de-97c8-063fd3f20c17" providerId="AD" clId="Web-{85B38D15-ABBF-2BAC-2E94-22F937B48579}" dt="2026-10-07T14:08:33.342" v="4"/>
      <pc:docMkLst>
        <pc:docMk/>
      </pc:docMkLst>
      <pc:sldChg chg="ord">
        <pc:chgData name="Ignacio Sánchez Enjuto" userId="S::ignacio.sancheze@es.logicalis.com::c691bf97-6f4a-46de-97c8-063fd3f20c17" providerId="AD" clId="Web-{85B38D15-ABBF-2BAC-2E94-22F937B48579}" dt="2026-10-07T14:08:33.342" v="4"/>
        <pc:sldMkLst>
          <pc:docMk/>
          <pc:sldMk cId="0" sldId="346"/>
        </pc:sldMkLst>
      </pc:sldChg>
      <pc:sldChg chg="ord">
        <pc:chgData name="Ignacio Sánchez Enjuto" userId="S::ignacio.sancheze@es.logicalis.com::c691bf97-6f4a-46de-97c8-063fd3f20c17" providerId="AD" clId="Web-{85B38D15-ABBF-2BAC-2E94-22F937B48579}" dt="2026-10-07T14:08:33.342" v="3"/>
        <pc:sldMkLst>
          <pc:docMk/>
          <pc:sldMk cId="0" sldId="347"/>
        </pc:sldMkLst>
      </pc:sldChg>
    </pc:docChg>
  </pc:docChgLst>
  <pc:docChgLst>
    <pc:chgData name="Ignacio Sánchez Enjuto" userId="c691bf97-6f4a-46de-97c8-063fd3f20c17" providerId="ADAL" clId="{2691E216-BC80-53A0-9A71-853C30BFFE25}"/>
    <pc:docChg chg="undo redo custSel addSld delSld modSld modSection">
      <pc:chgData name="Ignacio Sánchez Enjuto" userId="c691bf97-6f4a-46de-97c8-063fd3f20c17" providerId="ADAL" clId="{2691E216-BC80-53A0-9A71-853C30BFFE25}" dt="2026-10-13T07:40:03.202" v="686" actId="1037"/>
      <pc:docMkLst>
        <pc:docMk/>
      </pc:docMkLst>
      <pc:sldChg chg="modSp mod">
        <pc:chgData name="Ignacio Sánchez Enjuto" userId="c691bf97-6f4a-46de-97c8-063fd3f20c17" providerId="ADAL" clId="{2691E216-BC80-53A0-9A71-853C30BFFE25}" dt="2026-10-02T06:50:21.727" v="21" actId="20577"/>
        <pc:sldMkLst>
          <pc:docMk/>
          <pc:sldMk cId="0" sldId="348"/>
        </pc:sldMkLst>
        <pc:spChg chg="mod">
          <ac:chgData name="Ignacio Sánchez Enjuto" userId="c691bf97-6f4a-46de-97c8-063fd3f20c17" providerId="ADAL" clId="{2691E216-BC80-53A0-9A71-853C30BFFE25}" dt="2026-10-02T06:50:21.727" v="21" actId="20577"/>
          <ac:spMkLst>
            <pc:docMk/>
            <pc:sldMk cId="0" sldId="348"/>
            <ac:spMk id="5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15:06:32.378" v="465" actId="207"/>
        <pc:sldMkLst>
          <pc:docMk/>
          <pc:sldMk cId="0" sldId="349"/>
        </pc:sldMkLst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3.818" v="105" actId="14100"/>
          <ac:spMkLst>
            <pc:docMk/>
            <pc:sldMk cId="0" sldId="349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47.668" v="106" actId="14100"/>
          <ac:spMkLst>
            <pc:docMk/>
            <pc:sldMk cId="0" sldId="349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4:34.432" v="450" actId="20577"/>
          <ac:spMkLst>
            <pc:docMk/>
            <pc:sldMk cId="0" sldId="349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4:50.070" v="461" actId="5793"/>
          <ac:spMkLst>
            <pc:docMk/>
            <pc:sldMk cId="0" sldId="349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01.051" v="110" actId="14100"/>
          <ac:spMkLst>
            <pc:docMk/>
            <pc:sldMk cId="0" sldId="349"/>
            <ac:spMk id="3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06:32.378" v="465" actId="207"/>
          <ac:spMkLst>
            <pc:docMk/>
            <pc:sldMk cId="0" sldId="349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1:57.466" v="109" actId="14100"/>
          <ac:spMkLst>
            <pc:docMk/>
            <pc:sldMk cId="0" sldId="349"/>
            <ac:spMk id="40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19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31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06:20.299" v="464" actId="692"/>
          <ac:picMkLst>
            <pc:docMk/>
            <pc:sldMk cId="0" sldId="349"/>
            <ac:picMk id="37" creationId="{00000000-0000-0000-0000-000000000000}"/>
          </ac:picMkLst>
        </pc:picChg>
        <pc:cxnChg chg="mod">
          <ac:chgData name="Ignacio Sánchez Enjuto" userId="c691bf97-6f4a-46de-97c8-063fd3f20c17" providerId="ADAL" clId="{2691E216-BC80-53A0-9A71-853C30BFFE25}" dt="2026-10-02T06:55:24.815" v="141" actId="108"/>
          <ac:cxnSpMkLst>
            <pc:docMk/>
            <pc:sldMk cId="0" sldId="349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27.500" v="142" actId="108"/>
          <ac:cxnSpMkLst>
            <pc:docMk/>
            <pc:sldMk cId="0" sldId="349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15:04:38.981" v="455" actId="1038"/>
          <ac:cxnSpMkLst>
            <pc:docMk/>
            <pc:sldMk cId="0" sldId="349"/>
            <ac:cxnSpMk id="35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33.049" v="144" actId="108"/>
          <ac:cxnSpMkLst>
            <pc:docMk/>
            <pc:sldMk cId="0" sldId="349"/>
            <ac:cxnSpMk id="41" creationId="{00000000-0000-0000-0000-000000000000}"/>
          </ac:cxnSpMkLst>
        </pc:cxnChg>
      </pc:sldChg>
      <pc:sldChg chg="delSp modSp mod">
        <pc:chgData name="Ignacio Sánchez Enjuto" userId="c691bf97-6f4a-46de-97c8-063fd3f20c17" providerId="ADAL" clId="{2691E216-BC80-53A0-9A71-853C30BFFE25}" dt="2026-10-02T15:12:11.916" v="519" actId="14100"/>
        <pc:sldMkLst>
          <pc:docMk/>
          <pc:sldMk cId="0" sldId="350"/>
        </pc:sldMkLst>
        <pc:spChg chg="mod">
          <ac:chgData name="Ignacio Sánchez Enjuto" userId="c691bf97-6f4a-46de-97c8-063fd3f20c17" providerId="ADAL" clId="{2691E216-BC80-53A0-9A71-853C30BFFE25}" dt="2026-10-02T15:12:11.916" v="519" actId="14100"/>
          <ac:spMkLst>
            <pc:docMk/>
            <pc:sldMk cId="0" sldId="350"/>
            <ac:spMk id="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42.852" v="111" actId="692"/>
          <ac:spMkLst>
            <pc:docMk/>
            <pc:sldMk cId="0" sldId="350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31.081" v="121" actId="14100"/>
          <ac:spMkLst>
            <pc:docMk/>
            <pc:sldMk cId="0" sldId="350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2:59.099" v="112" actId="692"/>
          <ac:spMkLst>
            <pc:docMk/>
            <pc:sldMk cId="0" sldId="350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14.032" v="113" actId="14100"/>
          <ac:spMkLst>
            <pc:docMk/>
            <pc:sldMk cId="0" sldId="350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3:23.313" v="119" actId="1038"/>
          <ac:spMkLst>
            <pc:docMk/>
            <pc:sldMk cId="0" sldId="350"/>
            <ac:spMk id="2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1:48.177" v="495" actId="1035"/>
          <ac:spMkLst>
            <pc:docMk/>
            <pc:sldMk cId="0" sldId="350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1:48.177" v="495" actId="1035"/>
          <ac:spMkLst>
            <pc:docMk/>
            <pc:sldMk cId="0" sldId="350"/>
            <ac:spMk id="31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06:53:23.313" v="119" actId="1038"/>
          <ac:picMkLst>
            <pc:docMk/>
            <pc:sldMk cId="0" sldId="350"/>
            <ac:picMk id="25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3:11.403" v="575" actId="1037"/>
        <pc:sldMkLst>
          <pc:docMk/>
          <pc:sldMk cId="0" sldId="351"/>
        </pc:sldMkLst>
        <pc:spChg chg="mod">
          <ac:chgData name="Ignacio Sánchez Enjuto" userId="c691bf97-6f4a-46de-97c8-063fd3f20c17" providerId="ADAL" clId="{2691E216-BC80-53A0-9A71-853C30BFFE25}" dt="2026-10-02T15:12:34.299" v="567" actId="14100"/>
          <ac:spMkLst>
            <pc:docMk/>
            <pc:sldMk cId="0" sldId="351"/>
            <ac:spMk id="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3:11.403" v="575" actId="1037"/>
          <ac:spMkLst>
            <pc:docMk/>
            <pc:sldMk cId="0" sldId="351"/>
            <ac:spMk id="3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3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6:01.849" v="159" actId="692"/>
          <ac:spMkLst>
            <pc:docMk/>
            <pc:sldMk cId="0" sldId="351"/>
            <ac:spMk id="4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08.863" v="187" actId="20577"/>
          <ac:spMkLst>
            <pc:docMk/>
            <pc:sldMk cId="0" sldId="351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5:50.480" v="158" actId="1036"/>
          <ac:spMkLst>
            <pc:docMk/>
            <pc:sldMk cId="0" sldId="351"/>
            <ac:spMk id="47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19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11.403" v="575" actId="1037"/>
          <ac:picMkLst>
            <pc:docMk/>
            <pc:sldMk cId="0" sldId="351"/>
            <ac:picMk id="31" creationId="{00000000-0000-0000-0000-000000000000}"/>
          </ac:picMkLst>
        </pc:pic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3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29" creationId="{00000000-0000-0000-0000-000000000000}"/>
          </ac:cxnSpMkLst>
        </pc:cxnChg>
        <pc:cxnChg chg="mod">
          <ac:chgData name="Ignacio Sánchez Enjuto" userId="c691bf97-6f4a-46de-97c8-063fd3f20c17" providerId="ADAL" clId="{2691E216-BC80-53A0-9A71-853C30BFFE25}" dt="2026-10-02T06:55:14.318" v="140" actId="692"/>
          <ac:cxnSpMkLst>
            <pc:docMk/>
            <pc:sldMk cId="0" sldId="351"/>
            <ac:cxnSpMk id="35" creationId="{00000000-0000-0000-0000-000000000000}"/>
          </ac:cxnSpMkLst>
        </pc:cxnChg>
      </pc:sldChg>
      <pc:sldChg chg="modSp mod">
        <pc:chgData name="Ignacio Sánchez Enjuto" userId="c691bf97-6f4a-46de-97c8-063fd3f20c17" providerId="ADAL" clId="{2691E216-BC80-53A0-9A71-853C30BFFE25}" dt="2026-10-02T15:15:53.178" v="589" actId="1035"/>
        <pc:sldMkLst>
          <pc:docMk/>
          <pc:sldMk cId="0" sldId="353"/>
        </pc:sldMkLst>
        <pc:spChg chg="mod">
          <ac:chgData name="Ignacio Sánchez Enjuto" userId="c691bf97-6f4a-46de-97c8-063fd3f20c17" providerId="ADAL" clId="{2691E216-BC80-53A0-9A71-853C30BFFE25}" dt="2026-10-02T06:57:04.955" v="185" actId="1036"/>
          <ac:spMkLst>
            <pc:docMk/>
            <pc:sldMk cId="0" sldId="353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14.965" v="205" actId="20577"/>
          <ac:spMkLst>
            <pc:docMk/>
            <pc:sldMk cId="0" sldId="353"/>
            <ac:spMk id="2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8:33.300" v="207" actId="113"/>
          <ac:spMkLst>
            <pc:docMk/>
            <pc:sldMk cId="0" sldId="353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42.965" v="201" actId="692"/>
          <ac:spMkLst>
            <pc:docMk/>
            <pc:sldMk cId="0" sldId="353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6:57:15.430" v="200" actId="1036"/>
          <ac:spMkLst>
            <pc:docMk/>
            <pc:sldMk cId="0" sldId="353"/>
            <ac:spMk id="58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18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2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2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30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49.189" v="583" actId="1035"/>
          <ac:picMkLst>
            <pc:docMk/>
            <pc:sldMk cId="0" sldId="353"/>
            <ac:picMk id="3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3:56.262" v="585" actId="1035"/>
          <ac:picMkLst>
            <pc:docMk/>
            <pc:sldMk cId="0" sldId="353"/>
            <ac:picMk id="38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4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4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5:53.178" v="589" actId="1035"/>
          <ac:picMkLst>
            <pc:docMk/>
            <pc:sldMk cId="0" sldId="353"/>
            <ac:picMk id="50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07:01:55.861" v="323" actId="1036"/>
        <pc:sldMkLst>
          <pc:docMk/>
          <pc:sldMk cId="0" sldId="355"/>
        </pc:sldMkLst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10.672" v="259" actId="20577"/>
          <ac:spMkLst>
            <pc:docMk/>
            <pc:sldMk cId="0" sldId="355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35.116" v="305" actId="14100"/>
          <ac:spMkLst>
            <pc:docMk/>
            <pc:sldMk cId="0" sldId="355"/>
            <ac:spMk id="2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3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0:26.514" v="208" actId="692"/>
          <ac:spMkLst>
            <pc:docMk/>
            <pc:sldMk cId="0" sldId="355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1:55.861" v="323" actId="1036"/>
          <ac:spMkLst>
            <pc:docMk/>
            <pc:sldMk cId="0" sldId="355"/>
            <ac:spMk id="46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07:04:19.897" v="400" actId="14100"/>
        <pc:sldMkLst>
          <pc:docMk/>
          <pc:sldMk cId="0" sldId="356"/>
        </pc:sldMkLst>
        <pc:spChg chg="mod">
          <ac:chgData name="Ignacio Sánchez Enjuto" userId="c691bf97-6f4a-46de-97c8-063fd3f20c17" providerId="ADAL" clId="{2691E216-BC80-53A0-9A71-853C30BFFE25}" dt="2026-10-02T07:03:29.127" v="386" actId="20577"/>
          <ac:spMkLst>
            <pc:docMk/>
            <pc:sldMk cId="0" sldId="356"/>
            <ac:spMk id="3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7:04:15.496" v="399" actId="1036"/>
          <ac:spMkLst>
            <pc:docMk/>
            <pc:sldMk cId="0" sldId="356"/>
            <ac:spMk id="59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2T15:10:06.723" v="476" actId="1037"/>
        <pc:sldMkLst>
          <pc:docMk/>
          <pc:sldMk cId="0" sldId="357"/>
        </pc:sldMkLst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1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2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0:06.723" v="476" actId="1037"/>
          <ac:spMkLst>
            <pc:docMk/>
            <pc:sldMk cId="0" sldId="357"/>
            <ac:spMk id="2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6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05.987" v="401" actId="692"/>
          <ac:spMkLst>
            <pc:docMk/>
            <pc:sldMk cId="0" sldId="357"/>
            <ac:spMk id="38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1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20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0:06.723" v="476" actId="1037"/>
          <ac:picMkLst>
            <pc:docMk/>
            <pc:sldMk cId="0" sldId="357"/>
            <ac:picMk id="30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18:03.357" v="597" actId="692"/>
        <pc:sldMkLst>
          <pc:docMk/>
          <pc:sldMk cId="0" sldId="358"/>
        </pc:sldMkLst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3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41.335" v="596" actId="1076"/>
          <ac:spMkLst>
            <pc:docMk/>
            <pc:sldMk cId="0" sldId="358"/>
            <ac:spMk id="4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51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7:31.761" v="594" actId="207"/>
          <ac:spMkLst>
            <pc:docMk/>
            <pc:sldMk cId="0" sldId="358"/>
            <ac:spMk id="60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1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25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3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43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52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15:18:03.357" v="597" actId="692"/>
          <ac:picMkLst>
            <pc:docMk/>
            <pc:sldMk cId="0" sldId="358"/>
            <ac:picMk id="61" creationId="{00000000-0000-0000-0000-000000000000}"/>
          </ac:picMkLst>
        </pc:picChg>
      </pc:sldChg>
      <pc:sldChg chg="addSp delSp modSp mod">
        <pc:chgData name="Ignacio Sánchez Enjuto" userId="c691bf97-6f4a-46de-97c8-063fd3f20c17" providerId="ADAL" clId="{2691E216-BC80-53A0-9A71-853C30BFFE25}" dt="2026-10-13T07:36:20.570" v="651" actId="478"/>
        <pc:sldMkLst>
          <pc:docMk/>
          <pc:sldMk cId="0" sldId="360"/>
        </pc:sldMkLst>
        <pc:spChg chg="mod">
          <ac:chgData name="Ignacio Sánchez Enjuto" userId="c691bf97-6f4a-46de-97c8-063fd3f20c17" providerId="ADAL" clId="{2691E216-BC80-53A0-9A71-853C30BFFE25}" dt="2026-10-02T15:18:24.635" v="601" actId="692"/>
          <ac:spMkLst>
            <pc:docMk/>
            <pc:sldMk cId="0" sldId="360"/>
            <ac:spMk id="1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7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8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54.555" v="438" actId="1035"/>
          <ac:spMkLst>
            <pc:docMk/>
            <pc:sldMk cId="0" sldId="360"/>
            <ac:spMk id="19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8:24.635" v="601" actId="692"/>
          <ac:spMkLst>
            <pc:docMk/>
            <pc:sldMk cId="0" sldId="360"/>
            <ac:spMk id="20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2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08:06:38.100" v="430" actId="1036"/>
          <ac:spMkLst>
            <pc:docMk/>
            <pc:sldMk cId="0" sldId="360"/>
            <ac:spMk id="25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18:16.130" v="598" actId="692"/>
          <ac:spMkLst>
            <pc:docMk/>
            <pc:sldMk cId="0" sldId="360"/>
            <ac:spMk id="26" creationId="{00000000-0000-0000-0000-000000000000}"/>
          </ac:spMkLst>
        </pc:spChg>
        <pc:picChg chg="add del mod">
          <ac:chgData name="Ignacio Sánchez Enjuto" userId="c691bf97-6f4a-46de-97c8-063fd3f20c17" providerId="ADAL" clId="{2691E216-BC80-53A0-9A71-853C30BFFE25}" dt="2026-10-13T07:36:20.570" v="651" actId="478"/>
          <ac:picMkLst>
            <pc:docMk/>
            <pc:sldMk cId="0" sldId="360"/>
            <ac:picMk id="3" creationId="{E2073512-39C1-A3AE-68F6-28E5DD1381AA}"/>
          </ac:picMkLst>
        </pc:picChg>
        <pc:picChg chg="mod">
          <ac:chgData name="Ignacio Sánchez Enjuto" userId="c691bf97-6f4a-46de-97c8-063fd3f20c17" providerId="ADAL" clId="{2691E216-BC80-53A0-9A71-853C30BFFE25}" dt="2026-10-02T08:07:01.926" v="443" actId="1036"/>
          <ac:picMkLst>
            <pc:docMk/>
            <pc:sldMk cId="0" sldId="360"/>
            <ac:picMk id="14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6:54.555" v="438" actId="1035"/>
          <ac:picMkLst>
            <pc:docMk/>
            <pc:sldMk cId="0" sldId="360"/>
            <ac:picMk id="16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7:05.477" v="449" actId="1037"/>
          <ac:picMkLst>
            <pc:docMk/>
            <pc:sldMk cId="0" sldId="360"/>
            <ac:picMk id="21" creationId="{00000000-0000-0000-0000-000000000000}"/>
          </ac:picMkLst>
        </pc:picChg>
        <pc:picChg chg="mod">
          <ac:chgData name="Ignacio Sánchez Enjuto" userId="c691bf97-6f4a-46de-97c8-063fd3f20c17" providerId="ADAL" clId="{2691E216-BC80-53A0-9A71-853C30BFFE25}" dt="2026-10-02T08:06:38.100" v="430" actId="1036"/>
          <ac:picMkLst>
            <pc:docMk/>
            <pc:sldMk cId="0" sldId="360"/>
            <ac:picMk id="23" creationId="{00000000-0000-0000-0000-000000000000}"/>
          </ac:picMkLst>
        </pc:picChg>
      </pc:sldChg>
      <pc:sldChg chg="addSp delSp modSp mod">
        <pc:chgData name="Ignacio Sánchez Enjuto" userId="c691bf97-6f4a-46de-97c8-063fd3f20c17" providerId="ADAL" clId="{2691E216-BC80-53A0-9A71-853C30BFFE25}" dt="2026-10-13T07:40:03.202" v="686" actId="1037"/>
        <pc:sldMkLst>
          <pc:docMk/>
          <pc:sldMk cId="0" sldId="368"/>
        </pc:sldMkLst>
        <pc:picChg chg="add del mod">
          <ac:chgData name="Ignacio Sánchez Enjuto" userId="c691bf97-6f4a-46de-97c8-063fd3f20c17" providerId="ADAL" clId="{2691E216-BC80-53A0-9A71-853C30BFFE25}" dt="2026-10-13T07:39:01.260" v="656" actId="478"/>
          <ac:picMkLst>
            <pc:docMk/>
            <pc:sldMk cId="0" sldId="368"/>
            <ac:picMk id="3" creationId="{56B58E08-F77D-FE89-7143-08AE5D5B2130}"/>
          </ac:picMkLst>
        </pc:picChg>
        <pc:picChg chg="add mod">
          <ac:chgData name="Ignacio Sánchez Enjuto" userId="c691bf97-6f4a-46de-97c8-063fd3f20c17" providerId="ADAL" clId="{2691E216-BC80-53A0-9A71-853C30BFFE25}" dt="2026-10-13T07:40:03.202" v="686" actId="1037"/>
          <ac:picMkLst>
            <pc:docMk/>
            <pc:sldMk cId="0" sldId="368"/>
            <ac:picMk id="4" creationId="{71E8DB6E-EE9D-0DAA-F37F-654F32333E25}"/>
          </ac:picMkLst>
        </pc:picChg>
        <pc:picChg chg="add mod">
          <ac:chgData name="Ignacio Sánchez Enjuto" userId="c691bf97-6f4a-46de-97c8-063fd3f20c17" providerId="ADAL" clId="{2691E216-BC80-53A0-9A71-853C30BFFE25}" dt="2026-10-13T07:39:59.255" v="673" actId="108"/>
          <ac:picMkLst>
            <pc:docMk/>
            <pc:sldMk cId="0" sldId="368"/>
            <ac:picMk id="5" creationId="{840D2A1F-E12B-EA22-0C14-D5297545B343}"/>
          </ac:picMkLst>
        </pc:picChg>
        <pc:picChg chg="del">
          <ac:chgData name="Ignacio Sánchez Enjuto" userId="c691bf97-6f4a-46de-97c8-063fd3f20c17" providerId="ADAL" clId="{2691E216-BC80-53A0-9A71-853C30BFFE25}" dt="2026-10-13T07:38:41.298" v="652" actId="478"/>
          <ac:picMkLst>
            <pc:docMk/>
            <pc:sldMk cId="0" sldId="368"/>
            <ac:picMk id="29" creationId="{00000000-0000-0000-0000-000000000000}"/>
          </ac:picMkLst>
        </pc:picChg>
      </pc:sldChg>
      <pc:sldChg chg="addSp delSp modSp del mod">
        <pc:chgData name="Ignacio Sánchez Enjuto" userId="c691bf97-6f4a-46de-97c8-063fd3f20c17" providerId="ADAL" clId="{2691E216-BC80-53A0-9A71-853C30BFFE25}" dt="2026-10-13T07:28:39.659" v="646" actId="2696"/>
        <pc:sldMkLst>
          <pc:docMk/>
          <pc:sldMk cId="0" sldId="371"/>
        </pc:sldMkLst>
        <pc:spChg chg="mod">
          <ac:chgData name="Ignacio Sánchez Enjuto" userId="c691bf97-6f4a-46de-97c8-063fd3f20c17" providerId="ADAL" clId="{2691E216-BC80-53A0-9A71-853C30BFFE25}" dt="2026-10-13T07:27:09.018" v="607" actId="1076"/>
          <ac:spMkLst>
            <pc:docMk/>
            <pc:sldMk cId="0" sldId="371"/>
            <ac:spMk id="21" creationId="{00000000-0000-0000-0000-000000000000}"/>
          </ac:spMkLst>
        </pc:spChg>
        <pc:picChg chg="add del mod">
          <ac:chgData name="Ignacio Sánchez Enjuto" userId="c691bf97-6f4a-46de-97c8-063fd3f20c17" providerId="ADAL" clId="{2691E216-BC80-53A0-9A71-853C30BFFE25}" dt="2026-10-13T07:27:11.378" v="609" actId="478"/>
          <ac:picMkLst>
            <pc:docMk/>
            <pc:sldMk cId="0" sldId="371"/>
            <ac:picMk id="3" creationId="{59B345D2-1C65-83A8-2766-21B1376B15A4}"/>
          </ac:picMkLst>
        </pc:picChg>
        <pc:picChg chg="add del mod">
          <ac:chgData name="Ignacio Sánchez Enjuto" userId="c691bf97-6f4a-46de-97c8-063fd3f20c17" providerId="ADAL" clId="{2691E216-BC80-53A0-9A71-853C30BFFE25}" dt="2026-10-13T07:27:19.816" v="611" actId="478"/>
          <ac:picMkLst>
            <pc:docMk/>
            <pc:sldMk cId="0" sldId="371"/>
            <ac:picMk id="4" creationId="{72883FFF-C03E-286E-6A83-76E918673844}"/>
          </ac:picMkLst>
        </pc:picChg>
      </pc:sldChg>
      <pc:sldChg chg="addSp delSp modSp add mod">
        <pc:chgData name="Ignacio Sánchez Enjuto" userId="c691bf97-6f4a-46de-97c8-063fd3f20c17" providerId="ADAL" clId="{2691E216-BC80-53A0-9A71-853C30BFFE25}" dt="2026-10-13T07:28:28.599" v="645" actId="1038"/>
        <pc:sldMkLst>
          <pc:docMk/>
          <pc:sldMk cId="2568507679" sldId="374"/>
        </pc:sldMkLst>
        <pc:picChg chg="add mod">
          <ac:chgData name="Ignacio Sánchez Enjuto" userId="c691bf97-6f4a-46de-97c8-063fd3f20c17" providerId="ADAL" clId="{2691E216-BC80-53A0-9A71-853C30BFFE25}" dt="2026-10-13T07:28:28.599" v="645" actId="1038"/>
          <ac:picMkLst>
            <pc:docMk/>
            <pc:sldMk cId="2568507679" sldId="374"/>
            <ac:picMk id="3" creationId="{60624870-AAF3-2F92-EC71-32BD55D5EEE7}"/>
          </ac:picMkLst>
        </pc:picChg>
        <pc:picChg chg="mod">
          <ac:chgData name="Ignacio Sánchez Enjuto" userId="c691bf97-6f4a-46de-97c8-063fd3f20c17" providerId="ADAL" clId="{2691E216-BC80-53A0-9A71-853C30BFFE25}" dt="2026-10-13T07:28:22.489" v="638" actId="14100"/>
          <ac:picMkLst>
            <pc:docMk/>
            <pc:sldMk cId="2568507679" sldId="374"/>
            <ac:picMk id="4" creationId="{44E9C049-65E6-7C7B-FA1E-8B19CFCFABD1}"/>
          </ac:picMkLst>
        </pc:picChg>
        <pc:picChg chg="del">
          <ac:chgData name="Ignacio Sánchez Enjuto" userId="c691bf97-6f4a-46de-97c8-063fd3f20c17" providerId="ADAL" clId="{2691E216-BC80-53A0-9A71-853C30BFFE25}" dt="2026-10-13T07:27:24.210" v="612" actId="478"/>
          <ac:picMkLst>
            <pc:docMk/>
            <pc:sldMk cId="2568507679" sldId="374"/>
            <ac:picMk id="29" creationId="{BBE989DD-5EC9-03A6-9E39-83E0C8F9E2B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2698B-22EF-534E-B63D-BB6C0D4DFEA9}" type="datetimeFigureOut">
              <a:rPr lang="en-PT" smtClean="0"/>
              <a:t>10/9/26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252E2-66E6-2846-853C-451ED1419F13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95462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(0-3 min) «Hoy no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IA </a:t>
            </a:r>
            <a:r>
              <a:rPr dirty="0" err="1"/>
              <a:t>clasifica</a:t>
            </a:r>
            <a:r>
              <a:rPr dirty="0"/>
              <a:t> un </a:t>
            </a:r>
            <a:r>
              <a:rPr dirty="0" err="1"/>
              <a:t>siniestro</a:t>
            </a:r>
            <a:r>
              <a:rPr dirty="0"/>
              <a:t>. Eso </a:t>
            </a:r>
            <a:r>
              <a:rPr dirty="0" err="1"/>
              <a:t>ya</a:t>
            </a:r>
            <a:r>
              <a:rPr dirty="0"/>
              <a:t> lo </a:t>
            </a:r>
            <a:r>
              <a:rPr dirty="0" err="1"/>
              <a:t>sabéis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enseñar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se pone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aseguradora</a:t>
            </a:r>
            <a:r>
              <a:rPr dirty="0"/>
              <a:t>.» — «Cada </a:t>
            </a:r>
            <a:r>
              <a:rPr dirty="0" err="1"/>
              <a:t>mensaje</a:t>
            </a:r>
            <a:r>
              <a:rPr dirty="0"/>
              <a:t> lo lee, lo </a:t>
            </a:r>
            <a:r>
              <a:rPr dirty="0" err="1"/>
              <a:t>clasifica</a:t>
            </a:r>
            <a:r>
              <a:rPr dirty="0"/>
              <a:t> y lo </a:t>
            </a:r>
            <a:r>
              <a:rPr dirty="0" err="1"/>
              <a:t>teclea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persona. Ahí se </a:t>
            </a:r>
            <a:r>
              <a:rPr dirty="0" err="1"/>
              <a:t>va</a:t>
            </a:r>
            <a:r>
              <a:rPr dirty="0"/>
              <a:t> el </a:t>
            </a:r>
            <a:r>
              <a:rPr dirty="0" err="1"/>
              <a:t>tiempo</a:t>
            </a:r>
            <a:r>
              <a:rPr dirty="0"/>
              <a:t> y el dinero. Y el </a:t>
            </a:r>
            <a:r>
              <a:rPr dirty="0" err="1"/>
              <a:t>cliente</a:t>
            </a:r>
            <a:r>
              <a:rPr dirty="0"/>
              <a:t> </a:t>
            </a:r>
            <a:r>
              <a:rPr dirty="0" err="1"/>
              <a:t>espera</a:t>
            </a:r>
            <a:r>
              <a:rPr dirty="0"/>
              <a:t> </a:t>
            </a:r>
            <a:r>
              <a:rPr dirty="0" err="1"/>
              <a:t>respuesta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horas, no </a:t>
            </a:r>
            <a:r>
              <a:rPr dirty="0" err="1"/>
              <a:t>en</a:t>
            </a:r>
            <a:r>
              <a:rPr dirty="0"/>
              <a:t> días.» Fuentes: UNESPA (</a:t>
            </a:r>
            <a:r>
              <a:rPr dirty="0" err="1"/>
              <a:t>siniestros</a:t>
            </a:r>
            <a:r>
              <a:rPr dirty="0"/>
              <a:t> de </a:t>
            </a:r>
            <a:r>
              <a:rPr dirty="0" err="1"/>
              <a:t>automóvil</a:t>
            </a:r>
            <a:r>
              <a:rPr dirty="0"/>
              <a:t>, </a:t>
            </a:r>
            <a:r>
              <a:rPr dirty="0" err="1"/>
              <a:t>datos</a:t>
            </a:r>
            <a:r>
              <a:rPr dirty="0"/>
              <a:t> 2024) para </a:t>
            </a:r>
            <a:r>
              <a:rPr dirty="0" err="1"/>
              <a:t>los</a:t>
            </a:r>
            <a:r>
              <a:rPr dirty="0"/>
              <a:t> ~11 M y el «uno </a:t>
            </a:r>
            <a:r>
              <a:rPr dirty="0" err="1"/>
              <a:t>cada</a:t>
            </a:r>
            <a:r>
              <a:rPr dirty="0"/>
              <a:t> 3 s»; art. 16 de la Ley 50/1980 (BOE) para </a:t>
            </a:r>
            <a:r>
              <a:rPr dirty="0" err="1"/>
              <a:t>los</a:t>
            </a:r>
            <a:r>
              <a:rPr dirty="0"/>
              <a:t> 7 días; Insurance Information Institute con </a:t>
            </a:r>
            <a:r>
              <a:rPr dirty="0" err="1"/>
              <a:t>datos</a:t>
            </a:r>
            <a:r>
              <a:rPr dirty="0"/>
              <a:t> NAIC para el ~10 % (</a:t>
            </a:r>
            <a:r>
              <a:rPr dirty="0" err="1"/>
              <a:t>gastos</a:t>
            </a:r>
            <a:r>
              <a:rPr dirty="0"/>
              <a:t> de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de Auto </a:t>
            </a:r>
            <a:r>
              <a:rPr dirty="0" err="1"/>
              <a:t>particulares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EE. UU., 2023: 2,3 % defensa y </a:t>
            </a:r>
            <a:r>
              <a:rPr dirty="0" err="1"/>
              <a:t>contención</a:t>
            </a:r>
            <a:r>
              <a:rPr dirty="0"/>
              <a:t> de </a:t>
            </a:r>
            <a:r>
              <a:rPr dirty="0" err="1"/>
              <a:t>costes</a:t>
            </a:r>
            <a:r>
              <a:rPr dirty="0"/>
              <a:t> + 7,5 % </a:t>
            </a:r>
            <a:r>
              <a:rPr dirty="0" err="1"/>
              <a:t>tramitación</a:t>
            </a:r>
            <a:r>
              <a:rPr dirty="0"/>
              <a:t>). No hay </a:t>
            </a:r>
            <a:r>
              <a:rPr dirty="0" err="1"/>
              <a:t>dato</a:t>
            </a:r>
            <a:r>
              <a:rPr dirty="0"/>
              <a:t> </a:t>
            </a:r>
            <a:r>
              <a:rPr dirty="0" err="1"/>
              <a:t>público</a:t>
            </a:r>
            <a:r>
              <a:rPr dirty="0"/>
              <a:t> </a:t>
            </a:r>
            <a:r>
              <a:rPr dirty="0" err="1"/>
              <a:t>equivalente</a:t>
            </a:r>
            <a:r>
              <a:rPr dirty="0"/>
              <a:t> para España. Los 5 canales son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cubre</a:t>
            </a:r>
            <a:r>
              <a:rPr dirty="0"/>
              <a:t> la </a:t>
            </a:r>
            <a:r>
              <a:rPr dirty="0" err="1"/>
              <a:t>solución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(3-4 min) </a:t>
            </a:r>
            <a:r>
              <a:rPr dirty="0" err="1"/>
              <a:t>Ir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. La idea es </a:t>
            </a:r>
            <a:r>
              <a:rPr dirty="0" err="1"/>
              <a:t>quitar</a:t>
            </a:r>
            <a:r>
              <a:rPr dirty="0"/>
              <a:t> de la mesa la </a:t>
            </a:r>
            <a:r>
              <a:rPr dirty="0" err="1"/>
              <a:t>pregunta</a:t>
            </a:r>
            <a:r>
              <a:rPr dirty="0"/>
              <a:t> «¿la IA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hacerlo</a:t>
            </a:r>
            <a:r>
              <a:rPr dirty="0"/>
              <a:t>?» para pasar a la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(4-6 min) «Los </a:t>
            </a:r>
            <a:r>
              <a:rPr dirty="0" err="1"/>
              <a:t>proyectos</a:t>
            </a:r>
            <a:r>
              <a:rPr dirty="0"/>
              <a:t> no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la IA </a:t>
            </a:r>
            <a:r>
              <a:rPr dirty="0" err="1"/>
              <a:t>falle</a:t>
            </a:r>
            <a:r>
              <a:rPr dirty="0"/>
              <a:t>.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nadie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responder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: ¿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decidió</a:t>
            </a:r>
            <a:r>
              <a:rPr dirty="0"/>
              <a:t> </a:t>
            </a:r>
            <a:r>
              <a:rPr dirty="0" err="1"/>
              <a:t>eso</a:t>
            </a:r>
            <a:r>
              <a:rPr dirty="0"/>
              <a:t>?, ¿</a:t>
            </a:r>
            <a:r>
              <a:rPr dirty="0" err="1"/>
              <a:t>quién</a:t>
            </a:r>
            <a:r>
              <a:rPr dirty="0"/>
              <a:t> lo </a:t>
            </a:r>
            <a:r>
              <a:rPr dirty="0" err="1"/>
              <a:t>controla</a:t>
            </a:r>
            <a:r>
              <a:rPr dirty="0"/>
              <a:t>?, ¿</a:t>
            </a:r>
            <a:r>
              <a:rPr dirty="0" err="1"/>
              <a:t>cuánto</a:t>
            </a:r>
            <a:r>
              <a:rPr dirty="0"/>
              <a:t> cuesta?» </a:t>
            </a:r>
            <a:r>
              <a:rPr dirty="0" err="1"/>
              <a:t>Estas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preguntas</a:t>
            </a:r>
            <a:r>
              <a:rPr dirty="0"/>
              <a:t> son el </a:t>
            </a:r>
            <a:r>
              <a:rPr dirty="0" err="1"/>
              <a:t>hilo</a:t>
            </a:r>
            <a:r>
              <a:rPr dirty="0"/>
              <a:t> de </a:t>
            </a:r>
            <a:r>
              <a:rPr dirty="0" err="1"/>
              <a:t>toda</a:t>
            </a:r>
            <a:r>
              <a:rPr dirty="0"/>
              <a:t> la </a:t>
            </a:r>
            <a:r>
              <a:rPr dirty="0" err="1"/>
              <a:t>sesión</a:t>
            </a:r>
            <a:r>
              <a:rPr dirty="0"/>
              <a:t>. </a:t>
            </a:r>
            <a:r>
              <a:rPr dirty="0" err="1"/>
              <a:t>Motivos</a:t>
            </a:r>
            <a:r>
              <a:rPr dirty="0"/>
              <a:t> de </a:t>
            </a:r>
            <a:r>
              <a:rPr dirty="0" err="1"/>
              <a:t>cancelación</a:t>
            </a:r>
            <a:r>
              <a:rPr dirty="0"/>
              <a:t> </a:t>
            </a:r>
            <a:r>
              <a:rPr dirty="0" err="1"/>
              <a:t>según</a:t>
            </a:r>
            <a:r>
              <a:rPr dirty="0"/>
              <a:t> Gartner: </a:t>
            </a:r>
            <a:r>
              <a:rPr dirty="0" err="1"/>
              <a:t>costes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disparan</a:t>
            </a:r>
            <a:r>
              <a:rPr dirty="0"/>
              <a:t>, valor poco claro, </a:t>
            </a:r>
            <a:r>
              <a:rPr dirty="0" err="1"/>
              <a:t>riesgo</a:t>
            </a:r>
            <a:r>
              <a:rPr dirty="0"/>
              <a:t> sin </a:t>
            </a:r>
            <a:r>
              <a:rPr dirty="0" err="1"/>
              <a:t>controlar</a:t>
            </a:r>
            <a:r>
              <a:rPr dirty="0"/>
              <a:t>. Fuentes: Conning, AI in Insurance 2025 (90 % </a:t>
            </a:r>
            <a:r>
              <a:rPr dirty="0" err="1"/>
              <a:t>evaluando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; el 22 %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, </a:t>
            </a:r>
            <a:r>
              <a:rPr dirty="0" err="1"/>
              <a:t>citado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Outcome Catalyst); The Insurer, </a:t>
            </a:r>
            <a:r>
              <a:rPr dirty="0" err="1"/>
              <a:t>encuesta</a:t>
            </a:r>
            <a:r>
              <a:rPr dirty="0"/>
              <a:t> de IA Capital 2026 (4 %; </a:t>
            </a:r>
            <a:r>
              <a:rPr dirty="0" err="1"/>
              <a:t>artículo</a:t>
            </a:r>
            <a:r>
              <a:rPr dirty="0"/>
              <a:t> de </a:t>
            </a:r>
            <a:r>
              <a:rPr dirty="0" err="1"/>
              <a:t>pago</a:t>
            </a:r>
            <a:r>
              <a:rPr dirty="0"/>
              <a:t>, </a:t>
            </a:r>
            <a:r>
              <a:rPr dirty="0" err="1"/>
              <a:t>cifra</a:t>
            </a:r>
            <a:r>
              <a:rPr dirty="0"/>
              <a:t> no </a:t>
            </a:r>
            <a:r>
              <a:rPr dirty="0" err="1"/>
              <a:t>verificada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fuente</a:t>
            </a:r>
            <a:r>
              <a:rPr dirty="0"/>
              <a:t> original); Gartner, nota de </a:t>
            </a:r>
            <a:r>
              <a:rPr dirty="0" err="1"/>
              <a:t>prensa</a:t>
            </a:r>
            <a:r>
              <a:rPr dirty="0"/>
              <a:t> del 25/06/2025 (40 %).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(6-9 min) «Un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firma</a:t>
            </a:r>
            <a:r>
              <a:rPr dirty="0"/>
              <a:t> sin </a:t>
            </a:r>
            <a:r>
              <a:rPr dirty="0" err="1"/>
              <a:t>mirar</a:t>
            </a:r>
            <a:r>
              <a:rPr dirty="0"/>
              <a:t> no </a:t>
            </a:r>
            <a:r>
              <a:rPr dirty="0" err="1"/>
              <a:t>cuenta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supervisión</a:t>
            </a:r>
            <a:r>
              <a:rPr dirty="0"/>
              <a:t>: lo </a:t>
            </a:r>
            <a:r>
              <a:rPr dirty="0" err="1"/>
              <a:t>dijo</a:t>
            </a:r>
            <a:r>
              <a:rPr dirty="0"/>
              <a:t> el TJUE. Y el </a:t>
            </a:r>
            <a:r>
              <a:rPr dirty="0" err="1"/>
              <a:t>aplazamiento</a:t>
            </a:r>
            <a:r>
              <a:rPr dirty="0"/>
              <a:t> no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excusa</a:t>
            </a:r>
            <a:r>
              <a:rPr dirty="0"/>
              <a:t>: </a:t>
            </a:r>
            <a:r>
              <a:rPr dirty="0" err="1"/>
              <a:t>quien</a:t>
            </a:r>
            <a:r>
              <a:rPr dirty="0"/>
              <a:t> </a:t>
            </a:r>
            <a:r>
              <a:rPr dirty="0" err="1"/>
              <a:t>construya</a:t>
            </a:r>
            <a:r>
              <a:rPr dirty="0"/>
              <a:t> sin </a:t>
            </a:r>
            <a:r>
              <a:rPr dirty="0" err="1"/>
              <a:t>gobierno</a:t>
            </a:r>
            <a:r>
              <a:rPr dirty="0"/>
              <a:t> </a:t>
            </a:r>
            <a:r>
              <a:rPr dirty="0" err="1"/>
              <a:t>ahora</a:t>
            </a:r>
            <a:r>
              <a:rPr dirty="0"/>
              <a:t> lo </a:t>
            </a:r>
            <a:r>
              <a:rPr dirty="0" err="1"/>
              <a:t>rehará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2027.» Cuidado: el </a:t>
            </a:r>
            <a:r>
              <a:rPr dirty="0" err="1"/>
              <a:t>triaje</a:t>
            </a:r>
            <a:r>
              <a:rPr dirty="0"/>
              <a:t> de </a:t>
            </a:r>
            <a:r>
              <a:rPr dirty="0" err="1"/>
              <a:t>siniestros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Anexo III (solo la </a:t>
            </a:r>
            <a:r>
              <a:rPr dirty="0" err="1"/>
              <a:t>tarificación</a:t>
            </a:r>
            <a:r>
              <a:rPr dirty="0"/>
              <a:t> y </a:t>
            </a:r>
            <a:r>
              <a:rPr dirty="0" err="1"/>
              <a:t>evaluación</a:t>
            </a:r>
            <a:r>
              <a:rPr dirty="0"/>
              <a:t> de </a:t>
            </a:r>
            <a:r>
              <a:rPr dirty="0" err="1"/>
              <a:t>riesgo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Vida y Salud). No </a:t>
            </a:r>
            <a:r>
              <a:rPr dirty="0" err="1"/>
              <a:t>decir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el AI Act </a:t>
            </a:r>
            <a:r>
              <a:rPr dirty="0" err="1"/>
              <a:t>obliga</a:t>
            </a:r>
            <a:r>
              <a:rPr dirty="0"/>
              <a:t> hoy a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esto</a:t>
            </a:r>
            <a:r>
              <a:rPr dirty="0"/>
              <a:t>; la </a:t>
            </a:r>
            <a:r>
              <a:rPr dirty="0" err="1"/>
              <a:t>obligación</a:t>
            </a:r>
            <a:r>
              <a:rPr dirty="0"/>
              <a:t> de hoy </a:t>
            </a:r>
            <a:r>
              <a:rPr dirty="0" err="1"/>
              <a:t>viene</a:t>
            </a:r>
            <a:r>
              <a:rPr dirty="0"/>
              <a:t> del RGPD, DORA y EIOPA.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(9-10 min) No </a:t>
            </a:r>
            <a:r>
              <a:rPr dirty="0" err="1"/>
              <a:t>decir</a:t>
            </a:r>
            <a:r>
              <a:rPr dirty="0"/>
              <a:t> «no </a:t>
            </a:r>
            <a:r>
              <a:rPr dirty="0" err="1"/>
              <a:t>existe</a:t>
            </a:r>
            <a:r>
              <a:rPr dirty="0"/>
              <a:t> nada». </a:t>
            </a:r>
            <a:r>
              <a:rPr dirty="0" err="1"/>
              <a:t>Existen</a:t>
            </a:r>
            <a:r>
              <a:rPr dirty="0"/>
              <a:t> </a:t>
            </a:r>
            <a:r>
              <a:rPr dirty="0" err="1"/>
              <a:t>herramientas</a:t>
            </a:r>
            <a:r>
              <a:rPr dirty="0"/>
              <a:t>;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falta</a:t>
            </a:r>
            <a:r>
              <a:rPr dirty="0"/>
              <a:t> es </a:t>
            </a:r>
            <a:r>
              <a:rPr dirty="0" err="1"/>
              <a:t>integrarlas</a:t>
            </a:r>
            <a:r>
              <a:rPr dirty="0"/>
              <a:t> con el </a:t>
            </a:r>
            <a:r>
              <a:rPr dirty="0" err="1"/>
              <a:t>negocio</a:t>
            </a:r>
            <a:r>
              <a:rPr dirty="0"/>
              <a:t> del </a:t>
            </a:r>
            <a:r>
              <a:rPr dirty="0" err="1"/>
              <a:t>cliente</a:t>
            </a:r>
            <a:r>
              <a:rPr dirty="0"/>
              <a:t>. Si </a:t>
            </a:r>
            <a:r>
              <a:rPr dirty="0" err="1"/>
              <a:t>alguien</a:t>
            </a:r>
            <a:r>
              <a:rPr dirty="0"/>
              <a:t> </a:t>
            </a:r>
            <a:r>
              <a:rPr dirty="0" err="1"/>
              <a:t>pregunta</a:t>
            </a:r>
            <a:r>
              <a:rPr dirty="0"/>
              <a:t> «¿</a:t>
            </a:r>
            <a:r>
              <a:rPr dirty="0" err="1"/>
              <a:t>cuánto</a:t>
            </a:r>
            <a:r>
              <a:rPr dirty="0"/>
              <a:t> cuesta?», la </a:t>
            </a:r>
            <a:r>
              <a:rPr dirty="0" err="1"/>
              <a:t>respuesta</a:t>
            </a:r>
            <a:r>
              <a:rPr dirty="0"/>
              <a:t> es </a:t>
            </a:r>
            <a:r>
              <a:rPr dirty="0" err="1"/>
              <a:t>que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forma de </a:t>
            </a:r>
            <a:r>
              <a:rPr dirty="0" err="1"/>
              <a:t>implementar</a:t>
            </a:r>
            <a:r>
              <a:rPr dirty="0"/>
              <a:t>, no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licencia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(10-11 min) «No es una IA que lo hace todo. Son cuatro especialistas, y cada uno tiene sus propios límites.» Arriba, lo que se gobierna: los cuatro agentes. Abajo, la capa de gobierno, con las mismas secciones y bloques que el menú del panel: operación, control, calidad, cumplimiento y coste, y mejora y auditoría. Las vemos una a una en las slides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(11-12 min) Es el inventario de agentes, lo que muestra la sección Agentes del panel: cada uno con una función, su modelo y su versión de prompt, su nivel de autonomía y un responsable con permisos mínimos. Al final siempre hay un técnico de seguros: la IA prepara, la persona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(12-13 min) «Todo lo que voy a decir ahora lo vais a ver funcionando.» Seis pilares; en las slides siguientes, cada sección del panel con lo que hace y lo que gana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(13:00-13:40) Es la pantalla de dirección. En la fila de arriba, los indicadores: el 81 % de las decisiones sale sola y las personas corrigen el 2,1 %, por debajo del objetivo del 3 %. Debajo, cada agente con su coste del día y su interruptor de pausa. A remarcar: se puede parar un agente sin perder ningún mensaje.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(13:40-14:20) La auditoría mensaje a mensaje. A la izquierda, cuánto tardó cada agente, con qué modelo y cuántos tokens. A la derecha, la corrección humana: el agente no veía los conductores declarados de la póliza. A remarcar: con un solo identificador se responde qué pasó, quién decidió y cuánto costó.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(14:20-15:00) Arriba, el registro de la última bajada de nivel del agente de Reglas: el motivo, quién la aprobó y que es reversible. Abajo, la evolución de su nivel, con subidas en verde y bajadas en rojo. A remarcar: la autonomía es un resultado medido, nunca una decisión implícita.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(15:00-15:40) La ficha del guardrail de importe: 118 disparos en dos semanas, unas ocho al día, y en qué canal y ramo saltan. Los de importe y lesionados explican la mayoría de los escalados, y es lo esperado: son decisiones que no queremos que tome una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(15:40-16:20) Volvemos a la sentencia SCHUFA de la slide 8: firmar sin revisar no cuenta como intervención humana. Aquí se mide. En la demo, la cola con cada caso escalado; en la captura, cuánto tarda cada tramitador: tres pasan del 5 % de aprobaciones exprés, y dos de ellos son los nuevos, sin la formación en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(16:20-17:00) Arriba, el razonamiento de cada agente tal como quedó registrado: es el registro estructurado que devuelve el agente, no su pensamiento interno. Abajo, el replay con un modelo más pequeño: misma decisión y un 82 % menos de coste. A remarcar: un cambio de modelo, que suele dar miedo, pasa a ser una decisión con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(17:00-17:40) Un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estar</a:t>
            </a:r>
            <a:r>
              <a:rPr dirty="0"/>
              <a:t> bien y </a:t>
            </a:r>
            <a:r>
              <a:rPr dirty="0" err="1"/>
              <a:t>equivocarse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consulta </a:t>
            </a:r>
            <a:r>
              <a:rPr dirty="0" err="1"/>
              <a:t>conocimiento</a:t>
            </a:r>
            <a:r>
              <a:rPr dirty="0"/>
              <a:t> </a:t>
            </a:r>
            <a:r>
              <a:rPr dirty="0" err="1"/>
              <a:t>degradado</a:t>
            </a:r>
            <a:r>
              <a:rPr dirty="0"/>
              <a:t>. En el </a:t>
            </a:r>
            <a:r>
              <a:rPr dirty="0" err="1"/>
              <a:t>ejemplo</a:t>
            </a:r>
            <a:r>
              <a:rPr dirty="0"/>
              <a:t>, </a:t>
            </a:r>
            <a:r>
              <a:rPr dirty="0" err="1"/>
              <a:t>alguien</a:t>
            </a:r>
            <a:r>
              <a:rPr dirty="0"/>
              <a:t> </a:t>
            </a:r>
            <a:r>
              <a:rPr dirty="0" err="1"/>
              <a:t>sincronizó</a:t>
            </a:r>
            <a:r>
              <a:rPr dirty="0"/>
              <a:t> </a:t>
            </a:r>
            <a:r>
              <a:rPr dirty="0" err="1"/>
              <a:t>condicionados</a:t>
            </a:r>
            <a:r>
              <a:rPr dirty="0"/>
              <a:t> de 2024 y el recall </a:t>
            </a:r>
            <a:r>
              <a:rPr dirty="0" err="1"/>
              <a:t>cayó</a:t>
            </a:r>
            <a:r>
              <a:rPr dirty="0"/>
              <a:t>. La </a:t>
            </a:r>
            <a:r>
              <a:rPr dirty="0" err="1"/>
              <a:t>comparativa</a:t>
            </a:r>
            <a:r>
              <a:rPr dirty="0"/>
              <a:t> </a:t>
            </a:r>
            <a:r>
              <a:rPr dirty="0" err="1"/>
              <a:t>prueba</a:t>
            </a:r>
            <a:r>
              <a:rPr dirty="0"/>
              <a:t> </a:t>
            </a:r>
            <a:r>
              <a:rPr dirty="0" err="1"/>
              <a:t>varias</a:t>
            </a:r>
            <a:r>
              <a:rPr dirty="0"/>
              <a:t> </a:t>
            </a:r>
            <a:r>
              <a:rPr dirty="0" err="1"/>
              <a:t>configuraciones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el </a:t>
            </a:r>
            <a:r>
              <a:rPr dirty="0" err="1"/>
              <a:t>mismo</a:t>
            </a:r>
            <a:r>
              <a:rPr dirty="0"/>
              <a:t> corpus y la </a:t>
            </a:r>
            <a:r>
              <a:rPr dirty="0" err="1"/>
              <a:t>recomendada</a:t>
            </a:r>
            <a:r>
              <a:rPr dirty="0"/>
              <a:t> lo </a:t>
            </a:r>
            <a:r>
              <a:rPr dirty="0" err="1"/>
              <a:t>arregla</a:t>
            </a:r>
            <a:r>
              <a:rPr dirty="0"/>
              <a:t>. A </a:t>
            </a:r>
            <a:r>
              <a:rPr dirty="0" err="1"/>
              <a:t>remarcar</a:t>
            </a:r>
            <a:r>
              <a:rPr dirty="0"/>
              <a:t>: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traza</a:t>
            </a:r>
            <a:r>
              <a:rPr dirty="0"/>
              <a:t> dice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versión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base </a:t>
            </a:r>
            <a:r>
              <a:rPr dirty="0" err="1"/>
              <a:t>usó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(17:40-18:20) El </a:t>
            </a:r>
            <a:r>
              <a:rPr dirty="0" err="1"/>
              <a:t>modelo</a:t>
            </a:r>
            <a:r>
              <a:rPr dirty="0"/>
              <a:t> no se </a:t>
            </a:r>
            <a:r>
              <a:rPr dirty="0" err="1"/>
              <a:t>autocertifica</a:t>
            </a:r>
            <a:r>
              <a:rPr dirty="0"/>
              <a:t>: el </a:t>
            </a:r>
            <a:r>
              <a:rPr dirty="0" err="1"/>
              <a:t>bloque</a:t>
            </a:r>
            <a:r>
              <a:rPr dirty="0"/>
              <a:t> de </a:t>
            </a:r>
            <a:r>
              <a:rPr dirty="0" err="1"/>
              <a:t>gobierno</a:t>
            </a:r>
            <a:r>
              <a:rPr dirty="0"/>
              <a:t> lo </a:t>
            </a:r>
            <a:r>
              <a:rPr dirty="0" err="1"/>
              <a:t>calcula</a:t>
            </a:r>
            <a:r>
              <a:rPr dirty="0"/>
              <a:t> la </a:t>
            </a:r>
            <a:r>
              <a:rPr dirty="0" err="1"/>
              <a:t>plataforma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decisión</a:t>
            </a:r>
            <a:r>
              <a:rPr dirty="0"/>
              <a:t>. El </a:t>
            </a:r>
            <a:r>
              <a:rPr dirty="0" err="1"/>
              <a:t>termómetro</a:t>
            </a:r>
            <a:r>
              <a:rPr dirty="0"/>
              <a:t> lo </a:t>
            </a:r>
            <a:r>
              <a:rPr dirty="0" err="1"/>
              <a:t>agrega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marco</a:t>
            </a:r>
            <a:r>
              <a:rPr dirty="0"/>
              <a:t>. Hay </a:t>
            </a:r>
            <a:r>
              <a:rPr dirty="0" err="1"/>
              <a:t>controles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ámbar</a:t>
            </a:r>
            <a:r>
              <a:rPr dirty="0"/>
              <a:t> y </a:t>
            </a:r>
            <a:r>
              <a:rPr dirty="0" err="1"/>
              <a:t>eso</a:t>
            </a:r>
            <a:r>
              <a:rPr dirty="0"/>
              <a:t> da </a:t>
            </a:r>
            <a:r>
              <a:rPr dirty="0" err="1"/>
              <a:t>credibilidad</a:t>
            </a:r>
            <a:r>
              <a:rPr dirty="0"/>
              <a:t>: un 100 % no se lo </a:t>
            </a:r>
            <a:r>
              <a:rPr dirty="0" err="1"/>
              <a:t>cree</a:t>
            </a:r>
            <a:r>
              <a:rPr dirty="0"/>
              <a:t> </a:t>
            </a:r>
            <a:r>
              <a:rPr dirty="0" err="1"/>
              <a:t>nadie</a:t>
            </a:r>
            <a:r>
              <a:rPr dirty="0"/>
              <a:t>. A </a:t>
            </a:r>
            <a:r>
              <a:rPr dirty="0" err="1"/>
              <a:t>remarcar</a:t>
            </a:r>
            <a:r>
              <a:rPr dirty="0"/>
              <a:t>: es la </a:t>
            </a:r>
            <a:r>
              <a:rPr dirty="0" err="1"/>
              <a:t>evidencia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necesita</a:t>
            </a:r>
            <a:r>
              <a:rPr dirty="0"/>
              <a:t> el DPO, no un </a:t>
            </a:r>
            <a:r>
              <a:rPr dirty="0" err="1"/>
              <a:t>certificado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(18:20-19:00) Es la </a:t>
            </a:r>
            <a:r>
              <a:rPr dirty="0" err="1"/>
              <a:t>respuesta</a:t>
            </a:r>
            <a:r>
              <a:rPr dirty="0"/>
              <a:t> al RGPD art. 9 de la slide 8. El </a:t>
            </a:r>
            <a:r>
              <a:rPr dirty="0" err="1"/>
              <a:t>modelo</a:t>
            </a:r>
            <a:r>
              <a:rPr dirty="0"/>
              <a:t> no </a:t>
            </a:r>
            <a:r>
              <a:rPr dirty="0" err="1"/>
              <a:t>necesita</a:t>
            </a:r>
            <a:r>
              <a:rPr dirty="0"/>
              <a:t> el </a:t>
            </a:r>
            <a:r>
              <a:rPr dirty="0" err="1"/>
              <a:t>nombre</a:t>
            </a:r>
            <a:r>
              <a:rPr dirty="0"/>
              <a:t> </a:t>
            </a:r>
            <a:r>
              <a:rPr dirty="0" err="1"/>
              <a:t>ni</a:t>
            </a:r>
            <a:r>
              <a:rPr dirty="0"/>
              <a:t> el DNI del </a:t>
            </a:r>
            <a:r>
              <a:rPr dirty="0" err="1"/>
              <a:t>asegurado</a:t>
            </a:r>
            <a:r>
              <a:rPr dirty="0"/>
              <a:t> para </a:t>
            </a:r>
            <a:r>
              <a:rPr dirty="0" err="1"/>
              <a:t>decidir</a:t>
            </a:r>
            <a:r>
              <a:rPr dirty="0"/>
              <a:t>, </a:t>
            </a:r>
            <a:r>
              <a:rPr dirty="0" err="1"/>
              <a:t>así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no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recibe</a:t>
            </a:r>
            <a:r>
              <a:rPr dirty="0"/>
              <a:t>. La </a:t>
            </a:r>
            <a:r>
              <a:rPr dirty="0" err="1"/>
              <a:t>fractura</a:t>
            </a:r>
            <a:r>
              <a:rPr dirty="0"/>
              <a:t> y la diabetes </a:t>
            </a:r>
            <a:r>
              <a:rPr dirty="0" err="1"/>
              <a:t>sí</a:t>
            </a:r>
            <a:r>
              <a:rPr dirty="0"/>
              <a:t> </a:t>
            </a:r>
            <a:r>
              <a:rPr dirty="0" err="1"/>
              <a:t>viajan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hacen</a:t>
            </a:r>
            <a:r>
              <a:rPr dirty="0"/>
              <a:t> </a:t>
            </a:r>
            <a:r>
              <a:rPr dirty="0" err="1"/>
              <a:t>falta</a:t>
            </a:r>
            <a:r>
              <a:rPr dirty="0"/>
              <a:t> para </a:t>
            </a:r>
            <a:r>
              <a:rPr dirty="0" err="1"/>
              <a:t>decidir</a:t>
            </a:r>
            <a:r>
              <a:rPr dirty="0"/>
              <a:t>. Al </a:t>
            </a:r>
            <a:r>
              <a:rPr dirty="0" err="1"/>
              <a:t>volver</a:t>
            </a:r>
            <a:r>
              <a:rPr dirty="0"/>
              <a:t> la </a:t>
            </a:r>
            <a:r>
              <a:rPr dirty="0" err="1"/>
              <a:t>respuesta</a:t>
            </a:r>
            <a:r>
              <a:rPr dirty="0"/>
              <a:t>, la </a:t>
            </a:r>
            <a:r>
              <a:rPr dirty="0" err="1"/>
              <a:t>plataforma</a:t>
            </a:r>
            <a:r>
              <a:rPr dirty="0"/>
              <a:t> pone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valores</a:t>
            </a:r>
            <a:r>
              <a:rPr dirty="0"/>
              <a:t> reales y el </a:t>
            </a:r>
            <a:r>
              <a:rPr dirty="0" err="1"/>
              <a:t>tramitador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la </a:t>
            </a:r>
            <a:r>
              <a:rPr dirty="0" err="1"/>
              <a:t>ficha</a:t>
            </a:r>
            <a:r>
              <a:rPr dirty="0"/>
              <a:t> de </a:t>
            </a:r>
            <a:r>
              <a:rPr dirty="0" err="1"/>
              <a:t>siempre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1F845-B6D5-14AA-B05F-EEDA131E0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0FE4AF-8489-4537-7B26-F7E9F61813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39BFC-2B1D-7FD4-1FD2-8CA055CFFB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(19:00-19:40) Arriba, las </a:t>
            </a:r>
            <a:r>
              <a:rPr dirty="0" err="1"/>
              <a:t>alertas</a:t>
            </a:r>
            <a:r>
              <a:rPr dirty="0"/>
              <a:t> de </a:t>
            </a:r>
            <a:r>
              <a:rPr dirty="0" err="1"/>
              <a:t>coste</a:t>
            </a:r>
            <a:r>
              <a:rPr dirty="0"/>
              <a:t>: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pasó</a:t>
            </a:r>
            <a:r>
              <a:rPr dirty="0"/>
              <a:t>,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límite</a:t>
            </a:r>
            <a:r>
              <a:rPr dirty="0"/>
              <a:t> </a:t>
            </a:r>
            <a:r>
              <a:rPr dirty="0" err="1"/>
              <a:t>saltó</a:t>
            </a:r>
            <a:r>
              <a:rPr dirty="0"/>
              <a:t>,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hizo</a:t>
            </a:r>
            <a:r>
              <a:rPr dirty="0"/>
              <a:t> el </a:t>
            </a:r>
            <a:r>
              <a:rPr dirty="0" err="1"/>
              <a:t>sistema</a:t>
            </a:r>
            <a:r>
              <a:rPr dirty="0"/>
              <a:t> solo y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acción</a:t>
            </a:r>
            <a:r>
              <a:rPr dirty="0"/>
              <a:t> </a:t>
            </a:r>
            <a:r>
              <a:rPr dirty="0" err="1"/>
              <a:t>sugiere</a:t>
            </a:r>
            <a:r>
              <a:rPr dirty="0"/>
              <a:t>, con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ahorro</a:t>
            </a:r>
            <a:r>
              <a:rPr dirty="0"/>
              <a:t>. Abajo, las </a:t>
            </a:r>
            <a:r>
              <a:rPr dirty="0" err="1"/>
              <a:t>acciones</a:t>
            </a:r>
            <a:r>
              <a:rPr dirty="0"/>
              <a:t> para el </a:t>
            </a:r>
            <a:r>
              <a:rPr dirty="0" err="1"/>
              <a:t>límite</a:t>
            </a:r>
            <a:r>
              <a:rPr dirty="0"/>
              <a:t> del </a:t>
            </a:r>
            <a:r>
              <a:rPr dirty="0" err="1"/>
              <a:t>agente</a:t>
            </a:r>
            <a:r>
              <a:rPr dirty="0"/>
              <a:t> de Reglas: </a:t>
            </a:r>
            <a:r>
              <a:rPr dirty="0" err="1"/>
              <a:t>unas</a:t>
            </a:r>
            <a:r>
              <a:rPr dirty="0"/>
              <a:t> se </a:t>
            </a:r>
            <a:r>
              <a:rPr dirty="0" err="1"/>
              <a:t>simulan</a:t>
            </a:r>
            <a:r>
              <a:rPr dirty="0"/>
              <a:t> con replay antes de </a:t>
            </a:r>
            <a:r>
              <a:rPr dirty="0" err="1"/>
              <a:t>aplicarlas</a:t>
            </a:r>
            <a:r>
              <a:rPr dirty="0"/>
              <a:t> y las de </a:t>
            </a:r>
            <a:r>
              <a:rPr dirty="0" err="1"/>
              <a:t>presupuesto</a:t>
            </a:r>
            <a:r>
              <a:rPr dirty="0"/>
              <a:t> las </a:t>
            </a:r>
            <a:r>
              <a:rPr dirty="0" err="1"/>
              <a:t>aprueba</a:t>
            </a:r>
            <a:r>
              <a:rPr dirty="0"/>
              <a:t> el </a:t>
            </a:r>
            <a:r>
              <a:rPr dirty="0" err="1"/>
              <a:t>comité</a:t>
            </a:r>
            <a:r>
              <a:rPr dirty="0"/>
              <a:t>. A </a:t>
            </a:r>
            <a:r>
              <a:rPr dirty="0" err="1"/>
              <a:t>remarcar</a:t>
            </a:r>
            <a:r>
              <a:rPr dirty="0"/>
              <a:t>: </a:t>
            </a:r>
            <a:r>
              <a:rPr dirty="0" err="1"/>
              <a:t>sabemos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cuesta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decisión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C90EA-2E0B-EE50-5386-4FB5A6158F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99388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(19:40-20:20) Ver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problemas</a:t>
            </a:r>
            <a:r>
              <a:rPr dirty="0"/>
              <a:t> no basta: hay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cerrarlos</a:t>
            </a:r>
            <a:r>
              <a:rPr dirty="0"/>
              <a:t>. Esta </a:t>
            </a:r>
            <a:r>
              <a:rPr dirty="0" err="1"/>
              <a:t>sección</a:t>
            </a:r>
            <a:r>
              <a:rPr dirty="0"/>
              <a:t> junta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lista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el resto del panel </a:t>
            </a:r>
            <a:r>
              <a:rPr dirty="0" err="1"/>
              <a:t>detecta</a:t>
            </a:r>
            <a:r>
              <a:rPr dirty="0"/>
              <a:t>, con </a:t>
            </a:r>
            <a:r>
              <a:rPr dirty="0" err="1"/>
              <a:t>varias</a:t>
            </a:r>
            <a:r>
              <a:rPr dirty="0"/>
              <a:t> </a:t>
            </a:r>
            <a:r>
              <a:rPr dirty="0" err="1"/>
              <a:t>alternativas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. Arriba </a:t>
            </a:r>
            <a:r>
              <a:rPr dirty="0" err="1"/>
              <a:t>quedan</a:t>
            </a:r>
            <a:r>
              <a:rPr dirty="0"/>
              <a:t> las </a:t>
            </a:r>
            <a:r>
              <a:rPr dirty="0" err="1"/>
              <a:t>victorias</a:t>
            </a:r>
            <a:r>
              <a:rPr dirty="0"/>
              <a:t> </a:t>
            </a:r>
            <a:r>
              <a:rPr dirty="0" err="1"/>
              <a:t>rápidas</a:t>
            </a:r>
            <a:r>
              <a:rPr dirty="0"/>
              <a:t>. A </a:t>
            </a:r>
            <a:r>
              <a:rPr dirty="0" err="1"/>
              <a:t>remarcar</a:t>
            </a:r>
            <a:r>
              <a:rPr dirty="0"/>
              <a:t>: el </a:t>
            </a:r>
            <a:r>
              <a:rPr dirty="0" err="1"/>
              <a:t>gobierno</a:t>
            </a:r>
            <a:r>
              <a:rPr dirty="0"/>
              <a:t> se </a:t>
            </a:r>
            <a:r>
              <a:rPr dirty="0" err="1"/>
              <a:t>cierra</a:t>
            </a:r>
            <a:r>
              <a:rPr dirty="0"/>
              <a:t> </a:t>
            </a:r>
            <a:r>
              <a:rPr dirty="0" err="1"/>
              <a:t>cuando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dueño</a:t>
            </a:r>
            <a:r>
              <a:rPr dirty="0"/>
              <a:t>, </a:t>
            </a:r>
            <a:r>
              <a:rPr dirty="0" err="1"/>
              <a:t>alternativa</a:t>
            </a:r>
            <a:r>
              <a:rPr dirty="0"/>
              <a:t> y </a:t>
            </a:r>
            <a:r>
              <a:rPr dirty="0" err="1"/>
              <a:t>verificación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(20:20-21:00) Todo lo anterior </a:t>
            </a:r>
            <a:r>
              <a:rPr dirty="0" err="1"/>
              <a:t>deja</a:t>
            </a:r>
            <a:r>
              <a:rPr dirty="0"/>
              <a:t> </a:t>
            </a:r>
            <a:r>
              <a:rPr dirty="0" err="1"/>
              <a:t>rastro</a:t>
            </a:r>
            <a:r>
              <a:rPr dirty="0"/>
              <a:t> </a:t>
            </a:r>
            <a:r>
              <a:rPr dirty="0" err="1"/>
              <a:t>aquí</a:t>
            </a:r>
            <a:r>
              <a:rPr dirty="0"/>
              <a:t>, con </a:t>
            </a:r>
            <a:r>
              <a:rPr dirty="0" err="1"/>
              <a:t>fecha</a:t>
            </a:r>
            <a:r>
              <a:rPr dirty="0"/>
              <a:t>, </a:t>
            </a:r>
            <a:r>
              <a:rPr dirty="0" err="1"/>
              <a:t>agente</a:t>
            </a:r>
            <a:r>
              <a:rPr dirty="0"/>
              <a:t>, </a:t>
            </a:r>
            <a:r>
              <a:rPr dirty="0" err="1"/>
              <a:t>motivo</a:t>
            </a:r>
            <a:r>
              <a:rPr dirty="0"/>
              <a:t> y </a:t>
            </a:r>
            <a:r>
              <a:rPr dirty="0" err="1"/>
              <a:t>responsable</a:t>
            </a:r>
            <a:r>
              <a:rPr dirty="0"/>
              <a:t>. En la demo,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toquemos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directo</a:t>
            </a:r>
            <a:r>
              <a:rPr dirty="0"/>
              <a:t> </a:t>
            </a:r>
            <a:r>
              <a:rPr dirty="0" err="1"/>
              <a:t>aparecerá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«</a:t>
            </a:r>
            <a:r>
              <a:rPr dirty="0" err="1"/>
              <a:t>Operador</a:t>
            </a:r>
            <a:r>
              <a:rPr dirty="0"/>
              <a:t> (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sesión</a:t>
            </a:r>
            <a:r>
              <a:rPr dirty="0"/>
              <a:t>)». A </a:t>
            </a:r>
            <a:r>
              <a:rPr dirty="0" err="1"/>
              <a:t>remarcar</a:t>
            </a:r>
            <a:r>
              <a:rPr dirty="0"/>
              <a:t>: es el </a:t>
            </a:r>
            <a:r>
              <a:rPr dirty="0" err="1"/>
              <a:t>libro</a:t>
            </a:r>
            <a:r>
              <a:rPr dirty="0"/>
              <a:t> de </a:t>
            </a:r>
            <a:r>
              <a:rPr dirty="0" err="1"/>
              <a:t>registro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pide</a:t>
            </a:r>
            <a:r>
              <a:rPr dirty="0"/>
              <a:t> el </a:t>
            </a:r>
            <a:r>
              <a:rPr dirty="0" err="1"/>
              <a:t>regulador</a:t>
            </a:r>
            <a:r>
              <a:rPr dirty="0"/>
              <a:t> y se rellena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(21-22 min) «Primero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</a:t>
            </a:r>
            <a:r>
              <a:rPr dirty="0" err="1"/>
              <a:t>tramitador</a:t>
            </a:r>
            <a:r>
              <a:rPr dirty="0"/>
              <a:t>. </a:t>
            </a:r>
            <a:r>
              <a:rPr dirty="0" err="1"/>
              <a:t>Después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el auditor y el CFO.» Cambiar a la demo con el motor </a:t>
            </a:r>
            <a:r>
              <a:rPr dirty="0" err="1"/>
              <a:t>en</a:t>
            </a:r>
            <a:r>
              <a:rPr dirty="0"/>
              <a:t> «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guardados</a:t>
            </a:r>
            <a:r>
              <a:rPr dirty="0"/>
              <a:t>» y el </a:t>
            </a:r>
            <a:r>
              <a:rPr dirty="0" err="1"/>
              <a:t>Paquete</a:t>
            </a:r>
            <a:r>
              <a:rPr dirty="0"/>
              <a:t> A </a:t>
            </a:r>
            <a:r>
              <a:rPr dirty="0" err="1"/>
              <a:t>seleccionado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7709211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599" y="3099759"/>
            <a:ext cx="8653861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0327276-C6D2-51DD-7433-FF4EC440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3599" y="5167076"/>
            <a:ext cx="2687411" cy="249847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>
                <a:solidFill>
                  <a:schemeClr val="bg1"/>
                </a:solidFill>
                <a:latin typeface="+mn-lt"/>
                <a:ea typeface="Roboto Slab" pitchFamily="2" charset="0"/>
              </a:defRPr>
            </a:lvl1pPr>
          </a:lstStyle>
          <a:p>
            <a:fld id="{E453CB44-D933-4174-8CBB-ADEE1E6C3E6E}" type="datetime6">
              <a:rPr lang="en-GB" smtClean="0"/>
              <a:pPr/>
              <a:t>October 26</a:t>
            </a:fld>
            <a:endParaRPr lang="en-GB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BB148E28-3B35-1678-D418-E6DCE4AAAE9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2596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362612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358775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lnSpc>
                <a:spcPct val="150000"/>
              </a:lnSpc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56C88E4-8019-3498-683D-06721620533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67252227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98764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28127014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60987F2-4C3A-6B51-537F-52E468C1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2DC93F5-2011-58D4-1782-38651928FE4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31635287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D637E3-F841-2D06-46A2-7A75CFC0128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4732902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87BA298-B3A7-D63A-01E6-46BA66A3778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26389306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0D3F-35DD-669C-4E04-5FD5144AD81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35328736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6AAC242-D1ED-AF35-63F5-AC46C90D8E3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7969309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177480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25484236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6527526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86C2A2F-9EB4-7D4F-CF5E-A747856D4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33F21E3-CAAA-8747-683A-A96583D3DC51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755608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7FA9D4-BEB0-A09E-4298-A0EE819782E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8BE0C6E-1FA3-7528-72A5-BF3F9232E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9E59AD4-27DA-9B84-925A-539F21F0B4C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5022188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3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1708C-B351-2798-CE06-F68D495AF0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14BF72-824A-AB1D-B89B-5C07C016946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29B4E89-017D-EA89-D384-CAA21A280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39975AA-365E-F0F7-B6A4-C86F87AF4A8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1300736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4987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9C3E0-83EB-6264-8CDF-22AAF8CAB992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D6499A-F9B2-E514-8A32-800319EBC15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114612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CC49CE-6C20-5F08-A00E-E9DA79B4180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FE8D-50F2-1958-99B8-B3A36E1F5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643B595-F912-FD25-DA9D-463645B2EF8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60100668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98589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3281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EE180D-E692-5018-47EC-92A6AE18106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23846-F94B-039B-852B-86D94A896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E3C0033-79E8-320F-3EF9-E64D9370CDF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3264562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858B7D-70A1-EE68-CD20-71B9B4CA7F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83962-E666-AEE5-6202-2B9382F01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D73D27C-AD05-ECB0-DD9B-AE1C2484773E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98089267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47126E-216D-C391-208D-BB929A71ECB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5BD8753-EE4F-7BE4-C865-CF6E95835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42F1400-6EE5-0A84-DBBA-24A941E3F24D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9534481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A42FA-125C-22CD-4278-0A67C8934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59A6DC0-D8D5-3EC9-7DBC-E552715DB7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391155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1799FC-469F-580B-48DA-9BC46B48A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842039-D254-86F5-6E93-608F88B6D0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53043711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F7C06E8A-CBF1-05D3-A6EB-A7249CFCE25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9939203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712074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9110389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56ABECD5-69C2-01F6-AA6E-D98E25B0FE6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56B11-2672-9B16-AFAE-2027CDA4F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51362F1-4717-4465-7E09-063D89E8059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99395048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0">
            <a:extLst>
              <a:ext uri="{FF2B5EF4-FFF2-40B4-BE49-F238E27FC236}">
                <a16:creationId xmlns:a16="http://schemas.microsoft.com/office/drawing/2014/main" id="{0EF485AE-CDCF-333F-BBE8-EF458BC8691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F14C0AB-8FCF-2FCA-039B-DE0760D46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F263407-8A16-1A30-C969-918D44E0F7B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62083419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0">
            <a:extLst>
              <a:ext uri="{FF2B5EF4-FFF2-40B4-BE49-F238E27FC236}">
                <a16:creationId xmlns:a16="http://schemas.microsoft.com/office/drawing/2014/main" id="{6F8BAC4A-9084-01CA-B106-3AB00C0DFD3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D57B3A-1189-DEAE-9184-DD769F03C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28850C5-5D11-343B-27A2-07C114CCF2E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5211008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92D475C8-E86F-9AAF-1527-5F7C298407F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3324430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6A574E42-9543-D779-8EB7-2C538C77731B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CCF1B8-EB8B-F36D-1158-90FE4F528D9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CAE4310-0013-FF05-48A7-F65D1DD9E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A1621DE-885A-25FD-387C-E6916A70151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997497794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21E75C-54D2-1EC4-58CA-F69BEE5292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63187526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73886859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340967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B58DC8-5901-7B11-5F4B-21F3E1EE91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5965D87-A8FC-34AE-DC28-6CC329F49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4FEC87-C30A-FD9E-CBE3-D7ED86D6D84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7663873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DB37B4F-A21E-7D41-08AF-8E0768389EA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0990115-D860-EEA0-F01D-766963A53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817ED54-318F-5696-DEBF-15214F78232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76181384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6530C6C-8E37-041B-074C-63EDA20F18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A373795-3254-679C-59E2-782654991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9B85E77-736B-2725-053E-8F07217C4BD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442113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9EBBF-FF78-466E-2EE5-04BB33BC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A00C6F3-88A1-CAF2-BE79-B535F3ED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5339B7A-057A-1605-D614-26906536782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022041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A455A05-7234-2683-78DA-B2B18F90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6496F57-92C5-2726-5037-7C5661E2FF9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41808678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4482687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3599" y="3099759"/>
            <a:ext cx="4482687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To edit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9047-3BA6-1228-99FC-3B406BF2F0D9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61626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10">
            <a:extLst>
              <a:ext uri="{FF2B5EF4-FFF2-40B4-BE49-F238E27FC236}">
                <a16:creationId xmlns:a16="http://schemas.microsoft.com/office/drawing/2014/main" id="{19C2A041-55EE-50E0-6893-655ACB93D4D5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D897F45-4856-0508-472A-A886A70DD882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AE017B-85BA-45CF-9E93-A6B67CF24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7186697" cy="648000"/>
          </a:xfrm>
        </p:spPr>
        <p:txBody>
          <a:bodyPr anchor="ctr" anchorCtr="0"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1C17C7-87A8-4096-AA87-B54E1020D4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600" y="3166877"/>
            <a:ext cx="3095625" cy="1041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500" b="0">
                <a:solidFill>
                  <a:schemeClr val="bg1"/>
                </a:solidFill>
                <a:latin typeface="+mn-lt"/>
              </a:defRPr>
            </a:lvl3pPr>
            <a:lvl4pPr>
              <a:spcAft>
                <a:spcPts val="0"/>
              </a:spcAft>
              <a:defRPr sz="1500"/>
            </a:lvl4pPr>
            <a:lvl5pPr>
              <a:spcAft>
                <a:spcPts val="0"/>
              </a:spcAft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9616B-69D4-FF49-A2CC-47F9D9FE5395}"/>
              </a:ext>
            </a:extLst>
          </p:cNvPr>
          <p:cNvSpPr txBox="1"/>
          <p:nvPr userDrawn="1"/>
        </p:nvSpPr>
        <p:spPr>
          <a:xfrm>
            <a:off x="633600" y="6213687"/>
            <a:ext cx="1569552" cy="184666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0" rIns="72000" bIns="0" rtlCol="0" anchor="ctr" anchorCtr="0">
            <a:spAutoFit/>
          </a:bodyPr>
          <a:lstStyle/>
          <a:p>
            <a:pPr algn="l"/>
            <a:r>
              <a:rPr lang="en-US" sz="1200" b="0" i="0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rPr>
              <a:t>www.logicalis.com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86C905-64BE-4506-8C3E-41AF052ACC2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47176111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Black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37170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D339-BB19-4043-A166-4FFEA6AB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51202" cy="432000"/>
          </a:xfrm>
          <a:prstGeom prst="rect">
            <a:avLst/>
          </a:prstGeom>
          <a:solidFill>
            <a:srgbClr val="FF1414"/>
          </a:solidFill>
        </p:spPr>
        <p:txBody>
          <a:bodyPr vert="horz" wrap="square" lIns="72000" tIns="36000" rIns="72000" bIns="3600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FAE61-913B-4243-9F6F-41F836C7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417" y="1308944"/>
            <a:ext cx="11225167" cy="360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0"/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EED1DBC-3E6C-A386-4841-19F228B6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04ACAE-EE43-8A60-F34C-23DD4D038152}"/>
              </a:ext>
            </a:extLst>
          </p:cNvPr>
          <p:cNvPicPr/>
          <p:nvPr userDrawn="1"/>
        </p:nvPicPr>
        <p:blipFill>
          <a:blip r:embed="rId45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DAE6ED0-2B14-2B0D-C9F0-EB643D210B4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8636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9" r:id="rId2"/>
    <p:sldLayoutId id="2147483730" r:id="rId3"/>
    <p:sldLayoutId id="2147483765" r:id="rId4"/>
    <p:sldLayoutId id="2147483731" r:id="rId5"/>
    <p:sldLayoutId id="2147483732" r:id="rId6"/>
    <p:sldLayoutId id="2147483733" r:id="rId7"/>
    <p:sldLayoutId id="2147483697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677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04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  <p:sldLayoutId id="2147483726" r:id="rId32"/>
    <p:sldLayoutId id="2147483756" r:id="rId33"/>
    <p:sldLayoutId id="2147483757" r:id="rId34"/>
    <p:sldLayoutId id="2147483758" r:id="rId35"/>
    <p:sldLayoutId id="2147483759" r:id="rId36"/>
    <p:sldLayoutId id="2147483760" r:id="rId37"/>
    <p:sldLayoutId id="2147483761" r:id="rId38"/>
    <p:sldLayoutId id="2147483762" r:id="rId39"/>
    <p:sldLayoutId id="2147483684" r:id="rId40"/>
    <p:sldLayoutId id="2147483764" r:id="rId41"/>
    <p:sldLayoutId id="2147483727" r:id="rId42"/>
    <p:sldLayoutId id="2147483672" r:id="rId4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bg1"/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90000"/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Roboto Slab" pitchFamily="2" charset="0"/>
          <a:ea typeface="Roboto Slab" pitchFamily="2" charset="0"/>
          <a:cs typeface="Times New Roman" panose="02020603050405020304" pitchFamily="18" charset="0"/>
        </a:defRPr>
      </a:lvl2pPr>
      <a:lvl3pPr marL="25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3pPr>
      <a:lvl4pPr marL="540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4pPr>
      <a:lvl5pPr marL="79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90000"/>
        <a:buFont typeface="Monaco" pitchFamily="2" charset="77"/>
        <a:buChar char="⎻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398">
          <p15:clr>
            <a:srgbClr val="F26B43"/>
          </p15:clr>
        </p15:guide>
        <p15:guide id="4" pos="7197">
          <p15:clr>
            <a:srgbClr val="F26B43"/>
          </p15:clr>
        </p15:guide>
        <p15:guide id="5" orient="horz" pos="1132">
          <p15:clr>
            <a:srgbClr val="F26B43"/>
          </p15:clr>
        </p15:guide>
        <p15:guide id="6" orient="horz" pos="3401">
          <p15:clr>
            <a:srgbClr val="F26B43"/>
          </p15:clr>
        </p15:guide>
        <p15:guide id="7" orient="horz" pos="489">
          <p15:clr>
            <a:srgbClr val="F26B43"/>
          </p15:clr>
        </p15:guide>
        <p15:guide id="8" orient="horz" pos="125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unespa.es/notasdeprensa/siniestros-automovil-datos-2024/" TargetMode="External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10" Type="http://schemas.openxmlformats.org/officeDocument/2006/relationships/hyperlink" Target="https://www.iii.org/table-archive/23229" TargetMode="External"/><Relationship Id="rId4" Type="http://schemas.openxmlformats.org/officeDocument/2006/relationships/image" Target="../media/image14.svg"/><Relationship Id="rId9" Type="http://schemas.openxmlformats.org/officeDocument/2006/relationships/hyperlink" Target="https://www.boe.es/buscar/act.php?id=BOE-A-1980-22501#a1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hyperlink" Target="https://www.gartner.com/en/newsroom/press-releases/2025-06-25-gartner-predicts-over-40-percent-of-agentic-ai-projects-will-be-canceled-by-end-of-2027" TargetMode="External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12" Type="http://schemas.openxmlformats.org/officeDocument/2006/relationships/hyperlink" Target="https://www.theinsurer.com/ti/news/openai-dominates-ai-stacks-as-insurance-industry-moves-from-pilot-to-production-2026-05-06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11" Type="http://schemas.openxmlformats.org/officeDocument/2006/relationships/hyperlink" Target="https://www.outcomecatalyst.com/blog/insurance-ai-data-trends-2026" TargetMode="External"/><Relationship Id="rId5" Type="http://schemas.openxmlformats.org/officeDocument/2006/relationships/image" Target="../media/image23.svg"/><Relationship Id="rId10" Type="http://schemas.openxmlformats.org/officeDocument/2006/relationships/hyperlink" Target="https://conning.com/about-us/news/ir-pr---ai-survey-2025" TargetMode="External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13" Type="http://schemas.openxmlformats.org/officeDocument/2006/relationships/hyperlink" Target="https://curia.europa.eu/juris/liste.jsf?num=C-634/21" TargetMode="External"/><Relationship Id="rId18" Type="http://schemas.openxmlformats.org/officeDocument/2006/relationships/hyperlink" Target="https://www.gibsondunn.com/eu-ai-act-omnibus-agreement-postponed-high-risk-deadlines-and-other-key-changes/" TargetMode="External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12" Type="http://schemas.openxmlformats.org/officeDocument/2006/relationships/hyperlink" Target="https://eur-lex.europa.eu/eli/reg/2016/679/oj" TargetMode="External"/><Relationship Id="rId17" Type="http://schemas.openxmlformats.org/officeDocument/2006/relationships/hyperlink" Target="https://eur-lex.europa.eu/eli/reg/2024/1689/oj" TargetMode="External"/><Relationship Id="rId2" Type="http://schemas.openxmlformats.org/officeDocument/2006/relationships/notesSlide" Target="../notesSlides/notesSlide4.xml"/><Relationship Id="rId16" Type="http://schemas.openxmlformats.org/officeDocument/2006/relationships/hyperlink" Target="https://www.eiopa.europa.eu/eiopa-publishes-opinion-ai-governance-and-risk-management-2025-08-06_e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sv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5" Type="http://schemas.openxmlformats.org/officeDocument/2006/relationships/hyperlink" Target="https://eur-lex.europa.eu/eli/reg/2022/2554/oj" TargetMode="External"/><Relationship Id="rId10" Type="http://schemas.openxmlformats.org/officeDocument/2006/relationships/image" Target="../media/image36.svg"/><Relationship Id="rId19" Type="http://schemas.openxmlformats.org/officeDocument/2006/relationships/hyperlink" Target="https://www.economistjurist.es/zbloque-1/ley-organica-de-ia-espana-aterriza-el-ai-act-con-aesia-sanciones-y-sandboxes/" TargetMode="External"/><Relationship Id="rId4" Type="http://schemas.openxmlformats.org/officeDocument/2006/relationships/image" Target="../media/image30.svg"/><Relationship Id="rId9" Type="http://schemas.openxmlformats.org/officeDocument/2006/relationships/image" Target="../media/image35.svg"/><Relationship Id="rId14" Type="http://schemas.openxmlformats.org/officeDocument/2006/relationships/hyperlink" Target="https://curia.europa.eu/juris/liste.jsf?num=C-203/22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svg"/><Relationship Id="rId5" Type="http://schemas.openxmlformats.org/officeDocument/2006/relationships/image" Target="../media/image41.svg"/><Relationship Id="rId4" Type="http://schemas.openxmlformats.org/officeDocument/2006/relationships/image" Target="../media/image40.svg"/><Relationship Id="rId9" Type="http://schemas.openxmlformats.org/officeDocument/2006/relationships/image" Target="../media/image4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image" Target="../media/image56.svg"/><Relationship Id="rId18" Type="http://schemas.openxmlformats.org/officeDocument/2006/relationships/image" Target="../media/image61.sv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12" Type="http://schemas.openxmlformats.org/officeDocument/2006/relationships/image" Target="../media/image55.svg"/><Relationship Id="rId17" Type="http://schemas.openxmlformats.org/officeDocument/2006/relationships/image" Target="../media/image60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54.svg"/><Relationship Id="rId5" Type="http://schemas.openxmlformats.org/officeDocument/2006/relationships/image" Target="../media/image48.svg"/><Relationship Id="rId15" Type="http://schemas.openxmlformats.org/officeDocument/2006/relationships/image" Target="../media/image58.svg"/><Relationship Id="rId10" Type="http://schemas.openxmlformats.org/officeDocument/2006/relationships/image" Target="../media/image53.svg"/><Relationship Id="rId4" Type="http://schemas.openxmlformats.org/officeDocument/2006/relationships/image" Target="../media/image47.svg"/><Relationship Id="rId9" Type="http://schemas.openxmlformats.org/officeDocument/2006/relationships/image" Target="../media/image52.svg"/><Relationship Id="rId14" Type="http://schemas.openxmlformats.org/officeDocument/2006/relationships/image" Target="../media/image5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5" Type="http://schemas.openxmlformats.org/officeDocument/2006/relationships/image" Target="../media/image64.svg"/><Relationship Id="rId4" Type="http://schemas.openxmlformats.org/officeDocument/2006/relationships/image" Target="../media/image63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svg"/><Relationship Id="rId5" Type="http://schemas.openxmlformats.org/officeDocument/2006/relationships/image" Target="../media/image68.svg"/><Relationship Id="rId4" Type="http://schemas.openxmlformats.org/officeDocument/2006/relationships/image" Target="../media/image67.svg"/><Relationship Id="rId9" Type="http://schemas.openxmlformats.org/officeDocument/2006/relationships/image" Target="../media/image7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7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73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73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9.png"/><Relationship Id="rId4" Type="http://schemas.openxmlformats.org/officeDocument/2006/relationships/image" Target="../media/image73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73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94.png"/><Relationship Id="rId4" Type="http://schemas.openxmlformats.org/officeDocument/2006/relationships/image" Target="../media/image93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921E48-B7DB-6CFD-42FD-BACF049CF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286000"/>
            <a:ext cx="4837938" cy="688848"/>
          </a:xfrm>
        </p:spPr>
        <p:txBody>
          <a:bodyPr wrap="none" anchor="ctr">
            <a:noAutofit/>
          </a:bodyPr>
          <a:lstStyle/>
          <a:p>
            <a:r>
              <a:rPr lang="en-PT" sz="4200"/>
              <a:t>FNOL con agentes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066288"/>
            <a:ext cx="3202178" cy="688848"/>
          </a:xfrm>
        </p:spPr>
        <p:txBody>
          <a:bodyPr wrap="none" anchor="ctr">
            <a:noAutofit/>
          </a:bodyPr>
          <a:lstStyle/>
          <a:p>
            <a:r>
              <a:rPr lang="pt-PT" sz="4200" err="1"/>
              <a:t>gobernados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4D23A1D-92A7-B8F8-A6A5-CA7C51F45A8F}"/>
              </a:ext>
            </a:extLst>
          </p:cNvPr>
          <p:cNvSpPr txBox="1">
            <a:spLocks/>
          </p:cNvSpPr>
          <p:nvPr/>
        </p:nvSpPr>
        <p:spPr>
          <a:xfrm>
            <a:off x="630936" y="4797552"/>
            <a:ext cx="4572000" cy="356616"/>
          </a:xfrm>
          <a:prstGeom prst="rect">
            <a:avLst/>
          </a:prstGeom>
          <a:noFill/>
        </p:spPr>
        <p:txBody>
          <a:bodyPr vert="horz" wrap="square" lIns="72000" tIns="36000" rIns="72000" bIns="360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PT" sz="1200">
                <a:latin typeface="Montserrat" pitchFamily="2" charset="77"/>
              </a:rPr>
              <a:t>Octubre 2026</a:t>
            </a:r>
          </a:p>
        </p:txBody>
      </p:sp>
      <p:pic>
        <p:nvPicPr>
          <p:cNvPr id="7" name="Picture 6" descr="A person with her arms crossed&#10;&#10;Description automatically generated">
            <a:extLst>
              <a:ext uri="{FF2B5EF4-FFF2-40B4-BE49-F238E27FC236}">
                <a16:creationId xmlns:a16="http://schemas.microsoft.com/office/drawing/2014/main" id="{B28B268F-CE6A-5453-5C27-75301FD4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778" y="1346330"/>
            <a:ext cx="8553692" cy="5511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3983736"/>
            <a:ext cx="5303520" cy="6766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dirty="0">
                <a:solidFill>
                  <a:srgbClr val="FFFFFF"/>
                </a:solidFill>
                <a:latin typeface="Montserrat Medium"/>
              </a:rPr>
              <a:t>De la IA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clasifica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a la IA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se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puede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poner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en</a:t>
            </a:r>
            <a:r>
              <a:rPr sz="16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Montserrat Medium"/>
              </a:rPr>
              <a:t>producción</a:t>
            </a:r>
            <a:endParaRPr sz="1600" dirty="0">
              <a:solidFill>
                <a:srgbClr val="FFFFFF"/>
              </a:solidFill>
              <a:latin typeface="Montserrat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" y="5181600"/>
            <a:ext cx="2574289" cy="292608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100">
                <a:solidFill>
                  <a:srgbClr val="FFFFFF"/>
                </a:solidFill>
                <a:latin typeface="Montserrat Medium"/>
              </a:rPr>
              <a:t>Presentado por Ignacio Sánchez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45768" cy="429768"/>
          </a:xfrm>
        </p:spPr>
        <p:txBody>
          <a:bodyPr wrap="none"/>
          <a:lstStyle/>
          <a:p>
            <a:r>
              <a:rPr sz="2600"/>
              <a:t>Agenda</a:t>
            </a:r>
          </a:p>
        </p:txBody>
      </p:sp>
      <p:pic>
        <p:nvPicPr>
          <p:cNvPr id="3" name="Picture 2" descr="wave_symbo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303520" cy="2515857"/>
          </a:xfrm>
          <a:prstGeom prst="rect">
            <a:avLst/>
          </a:prstGeom>
        </p:spPr>
      </p:pic>
      <p:sp>
        <p:nvSpPr>
          <p:cNvPr id="4" name="AGENDA_ITEMS"/>
          <p:cNvSpPr txBox="1"/>
          <p:nvPr/>
        </p:nvSpPr>
        <p:spPr>
          <a:xfrm>
            <a:off x="484632" y="1600200"/>
            <a:ext cx="6949440" cy="4572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noAutofit/>
          </a:bodyPr>
          <a:lstStyle/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01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problema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02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El marco normativo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03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solución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04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La demo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</a:t>
            </a:fld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595118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dirty="0" err="1">
                <a:solidFill>
                  <a:srgbClr val="FFFFFF"/>
                </a:solidFill>
                <a:latin typeface="Montserrat Medium"/>
              </a:rPr>
              <a:t>Millones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de </a:t>
            </a:r>
            <a:r>
              <a:rPr lang="es-ES" sz="1400" dirty="0">
                <a:solidFill>
                  <a:srgbClr val="FFFFFF"/>
                </a:solidFill>
                <a:latin typeface="Montserrat Medium"/>
              </a:rPr>
              <a:t>mensajes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lee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teclea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persona, y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una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IA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que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 no sale del </a:t>
            </a:r>
            <a:r>
              <a:rPr sz="1400" dirty="0" err="1">
                <a:solidFill>
                  <a:srgbClr val="FFFFFF"/>
                </a:solidFill>
                <a:latin typeface="Montserrat Medium"/>
              </a:rPr>
              <a:t>piloto</a:t>
            </a:r>
            <a:r>
              <a:rPr sz="1400" dirty="0">
                <a:solidFill>
                  <a:srgbClr val="FFFFFF"/>
                </a:solidFill>
                <a:latin typeface="Montserrat Medium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851147" cy="429768"/>
          </a:xfrm>
        </p:spPr>
        <p:txBody>
          <a:bodyPr wrap="none"/>
          <a:lstStyle/>
          <a:p>
            <a:r>
              <a:rPr sz="2600"/>
              <a:t>La avalancha de avisos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548640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car-fron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806" y="1644526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~11 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246120"/>
            <a:ext cx="1620506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de Auto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año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España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2840126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tim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25292" y="1644526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76118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1 cada 3 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40126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776118" y="3246120"/>
            <a:ext cx="1837922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ritmo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que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seguro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atiende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un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percance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carretera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72633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131612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messages-squar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6778" y="1644526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7604" y="2514820"/>
            <a:ext cx="1999906" cy="5484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lang="es-ES" sz="3000" b="0" i="0" dirty="0">
                <a:solidFill>
                  <a:srgbClr val="194BFF"/>
                </a:solidFill>
                <a:latin typeface="Roboto Slab"/>
              </a:rPr>
              <a:t>+</a:t>
            </a:r>
            <a:r>
              <a:rPr sz="3000" b="0" i="0" dirty="0">
                <a:solidFill>
                  <a:srgbClr val="194BFF"/>
                </a:solidFill>
                <a:latin typeface="Roboto Slab"/>
              </a:rPr>
              <a:t>5 canales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31612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67604" y="3246120"/>
            <a:ext cx="1913116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email, WhatsApp, chat,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formulario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web y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teléfono</a:t>
            </a:r>
            <a:r>
              <a:rPr lang="es-ES" sz="1200" b="0" i="0" dirty="0">
                <a:solidFill>
                  <a:srgbClr val="595959"/>
                </a:solidFill>
                <a:latin typeface="Montserrat Medium"/>
              </a:rPr>
              <a:t>, …</a:t>
            </a:r>
            <a:endParaRPr sz="1200" b="0" i="0" dirty="0">
              <a:solidFill>
                <a:srgbClr val="595959"/>
              </a:solidFill>
              <a:latin typeface="Montserrat Medium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4764119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423099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alendar-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265" y="1644526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59091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7 días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23099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59090" y="3246120"/>
            <a:ext cx="1987989" cy="51353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plazo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comunicar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el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(art. 16 LCS)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25055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714585" y="14593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Icono coin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99751" y="1644526"/>
            <a:ext cx="452628" cy="4526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650577" y="2331720"/>
            <a:ext cx="2062886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000" b="0" i="0">
                <a:solidFill>
                  <a:srgbClr val="194BFF"/>
                </a:solidFill>
                <a:latin typeface="Roboto Slab"/>
              </a:rPr>
              <a:t>~10 %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14585" y="315468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50577" y="3246120"/>
            <a:ext cx="2056785" cy="7536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 dirty="0">
                <a:solidFill>
                  <a:srgbClr val="595959"/>
                </a:solidFill>
                <a:latin typeface="Montserrat Medium"/>
              </a:rPr>
              <a:t>de la prima de Auto se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va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en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gestionar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200" b="0" i="0" dirty="0" err="1">
                <a:solidFill>
                  <a:srgbClr val="595959"/>
                </a:solidFill>
                <a:latin typeface="Montserrat Medium"/>
              </a:rPr>
              <a:t>siniestros</a:t>
            </a:r>
            <a:r>
              <a:rPr sz="1200" b="0" i="0" dirty="0">
                <a:solidFill>
                  <a:srgbClr val="595959"/>
                </a:solidFill>
                <a:latin typeface="Montserrat Medium"/>
              </a:rPr>
              <a:t> (EE. UU., 2023)</a:t>
            </a:r>
            <a:r>
              <a:rPr sz="1200" b="1" i="0" baseline="30000" dirty="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47092" y="1417320"/>
            <a:ext cx="0" cy="283464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84632" y="4572000"/>
            <a:ext cx="11228832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600" b="1" i="0">
                <a:solidFill>
                  <a:srgbClr val="194BFF"/>
                </a:solidFill>
                <a:latin typeface="Montserrat"/>
              </a:rPr>
              <a:t>Cada aviso hay que leerlo, clasificarlo por ramo, extraer los datos y aplicar las reglas de la póliza.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" y="553212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8"/>
              </a:rPr>
              <a:t>UNESPA, siniestros de automóvil (datos 2024)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9"/>
              </a:rPr>
              <a:t>Ley 50/1980 de Contrato de Seguro, art. 16 (BOE)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Insurance Information Institute, Private Passenger Auto Underwriting Expenses (NAIC, 2023)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8" y="349200"/>
            <a:ext cx="6987785" cy="429768"/>
          </a:xfrm>
        </p:spPr>
        <p:txBody>
          <a:bodyPr wrap="none"/>
          <a:lstStyle/>
          <a:p>
            <a:r>
              <a:rPr sz="2600" dirty="0" err="1"/>
              <a:t>Clasificar</a:t>
            </a:r>
            <a:r>
              <a:rPr lang="es-ES" sz="2600" dirty="0"/>
              <a:t> y extraer datos</a:t>
            </a:r>
            <a:r>
              <a:rPr sz="2600" dirty="0"/>
              <a:t> </a:t>
            </a:r>
            <a:r>
              <a:rPr sz="2600" dirty="0" err="1"/>
              <a:t>ya</a:t>
            </a:r>
            <a:r>
              <a:rPr sz="2600" dirty="0"/>
              <a:t> </a:t>
            </a:r>
            <a:r>
              <a:rPr sz="2600" dirty="0" err="1"/>
              <a:t>está</a:t>
            </a:r>
            <a:r>
              <a:rPr sz="2600" dirty="0"/>
              <a:t> </a:t>
            </a:r>
            <a:r>
              <a:rPr sz="2600" dirty="0" err="1"/>
              <a:t>resuelto</a:t>
            </a:r>
            <a:r>
              <a:rPr lang="es-ES" dirty="0"/>
              <a:t>…</a:t>
            </a:r>
            <a:endParaRPr sz="2600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758952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targ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3831" y="1820799"/>
            <a:ext cx="427482" cy="427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Más de un 90 % de acierto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bien escrito clasifica por ramo y extrae los datos del aviso.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1371600"/>
            <a:ext cx="3690191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4593336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language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68215" y="1820799"/>
            <a:ext cx="427482" cy="42748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47615" y="2560320"/>
            <a:ext cx="3377183" cy="30200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 dirty="0">
                <a:solidFill>
                  <a:srgbClr val="194BFF"/>
                </a:solidFill>
                <a:latin typeface="Montserrat"/>
              </a:rPr>
              <a:t>Con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texto</a:t>
            </a:r>
            <a:r>
              <a:rPr sz="1500" b="1" i="0" dirty="0">
                <a:solidFill>
                  <a:srgbClr val="194BFF"/>
                </a:solidFill>
                <a:latin typeface="Montserrat"/>
              </a:rPr>
              <a:t> real, no de </a:t>
            </a:r>
            <a:r>
              <a:rPr sz="1500" b="1" i="0" dirty="0" err="1">
                <a:solidFill>
                  <a:srgbClr val="194BFF"/>
                </a:solidFill>
                <a:latin typeface="Montserrat"/>
              </a:rPr>
              <a:t>laboratorio</a:t>
            </a:r>
            <a:endParaRPr sz="1500" b="1" i="0" dirty="0">
              <a:solidFill>
                <a:srgbClr val="194BFF"/>
              </a:solidFill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47616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Entiende texto informal, faltas de ortografía y transcripciones telefónicas.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37807" y="1371600"/>
            <a:ext cx="3560064" cy="242316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12128" y="164592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clo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87007" y="1820799"/>
            <a:ext cx="427482" cy="42748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66407" y="2560320"/>
            <a:ext cx="3102864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Se monta en una tarde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6407" y="2944368"/>
            <a:ext cx="3102864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Un prompt base y un bloque de reglas por ramo. No hace falta entrenar ningún modelo.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1" y="5112891"/>
            <a:ext cx="11313239" cy="1051560"/>
          </a:xfrm>
          <a:prstGeom prst="rect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5112891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ya no diferencia a nadie.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La pregunta ya no es si la IA puede hacerlo, sino cómo se pone en producción en una aseguradora.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670994" cy="429768"/>
          </a:xfrm>
        </p:spPr>
        <p:txBody>
          <a:bodyPr wrap="none"/>
          <a:lstStyle/>
          <a:p>
            <a:r>
              <a:rPr sz="2600" dirty="0"/>
              <a:t>El </a:t>
            </a:r>
            <a:r>
              <a:rPr sz="2600" dirty="0" err="1"/>
              <a:t>problema</a:t>
            </a:r>
            <a:r>
              <a:rPr sz="2600" dirty="0"/>
              <a:t> real: </a:t>
            </a:r>
            <a:r>
              <a:rPr lang="es-ES" dirty="0"/>
              <a:t>pasar un piloto </a:t>
            </a:r>
            <a:r>
              <a:rPr sz="2600" dirty="0"/>
              <a:t>a </a:t>
            </a:r>
            <a:r>
              <a:rPr sz="2600" dirty="0" err="1"/>
              <a:t>producción</a:t>
            </a:r>
            <a:endParaRPr sz="2600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908741"/>
            <a:ext cx="658800" cy="123111"/>
          </a:xfr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6</a:t>
            </a:fld>
            <a:endParaRPr lang="es-ES"/>
          </a:p>
        </p:txBody>
      </p:sp>
      <p:sp>
        <p:nvSpPr>
          <p:cNvPr id="13" name="Oval 12"/>
          <p:cNvSpPr/>
          <p:nvPr/>
        </p:nvSpPr>
        <p:spPr>
          <a:xfrm>
            <a:off x="455652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flask-conica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818" y="1465325"/>
            <a:ext cx="452628" cy="4526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&gt;90 %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las aseguradoras evalúa ya IA generativa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3331439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Icono rock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606" y="1465325"/>
            <a:ext cx="452628" cy="4526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60420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22 %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24427" y="3017520"/>
            <a:ext cx="54864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60420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la tiene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24784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207228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bo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2393" y="1465325"/>
            <a:ext cx="452628" cy="4526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36207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4 %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00216" y="3017520"/>
            <a:ext cx="548639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36207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tiene agentes en producción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00571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083015" y="1280160"/>
            <a:ext cx="822960" cy="822960"/>
          </a:xfrm>
          <a:prstGeom prst="ellipse">
            <a:avLst/>
          </a:prstGeom>
          <a:solidFill>
            <a:schemeClr val="accent3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Icono circle-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8181" y="1465325"/>
            <a:ext cx="452628" cy="4526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11995" y="2194560"/>
            <a:ext cx="2601468" cy="731520"/>
          </a:xfrm>
          <a:prstGeom prst="rect">
            <a:avLst/>
          </a:prstGeom>
          <a:noFill/>
        </p:spPr>
        <p:txBody>
          <a:bodyPr wrap="none" lIns="45720" tIns="27432" rIns="45720" bIns="27432" anchor="b">
            <a:spAutoFit/>
          </a:bodyPr>
          <a:lstStyle/>
          <a:p>
            <a:pPr>
              <a:lnSpc>
                <a:spcPct val="115000"/>
              </a:lnSpc>
            </a:pPr>
            <a:r>
              <a:rPr sz="3600" b="0" i="0">
                <a:solidFill>
                  <a:srgbClr val="194BFF"/>
                </a:solidFill>
                <a:latin typeface="Roboto Slab"/>
              </a:rPr>
              <a:t>&gt;40 %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76003" y="3017520"/>
            <a:ext cx="54864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11995" y="3108960"/>
            <a:ext cx="2601468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595959"/>
                </a:solidFill>
                <a:latin typeface="Montserrat Medium"/>
              </a:rPr>
              <a:t>de los proyectos agénticos se cancelarán antes de finales de 2027</a:t>
            </a:r>
            <a:r>
              <a:rPr sz="1200" b="1" i="0" baseline="30000">
                <a:solidFill>
                  <a:srgbClr val="194BFF"/>
                </a:solidFill>
                <a:latin typeface="Montserrat Medium"/>
              </a:rPr>
              <a:t>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76359" y="1280160"/>
            <a:ext cx="0" cy="2514600"/>
          </a:xfrm>
          <a:prstGeom prst="line">
            <a:avLst/>
          </a:prstGeom>
          <a:ln w="28575">
            <a:solidFill>
              <a:srgbClr val="D9D9D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84632" y="4241923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Por qué se cancelan, según Gartner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trending-u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800" y="4726555"/>
            <a:ext cx="411480" cy="4114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61872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Costes que se disparan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19016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1" name="Icono circle-hel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0184" y="4726555"/>
            <a:ext cx="411480" cy="4114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96256" y="4589395"/>
            <a:ext cx="2691384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Valor de negocio poco claro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3399" y="4589395"/>
            <a:ext cx="3560064" cy="6858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Icono shield-aler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54568" y="4726555"/>
            <a:ext cx="411480" cy="4114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30640" y="4682675"/>
            <a:ext cx="2691384" cy="49923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 dirty="0" err="1">
                <a:solidFill>
                  <a:srgbClr val="0B1F5B"/>
                </a:solidFill>
                <a:latin typeface="Montserrat"/>
              </a:rPr>
              <a:t>Controles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de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riesgo</a:t>
            </a:r>
            <a:r>
              <a:rPr lang="es-ES" sz="1300" b="1" i="0" dirty="0">
                <a:solidFill>
                  <a:srgbClr val="0B1F5B"/>
                </a:solidFill>
                <a:latin typeface="Montserrat"/>
              </a:rPr>
              <a:t> y gobernanza </a:t>
            </a:r>
            <a:r>
              <a:rPr sz="1300" b="1" i="0" dirty="0">
                <a:solidFill>
                  <a:srgbClr val="0B1F5B"/>
                </a:solidFill>
                <a:latin typeface="Montserrat"/>
              </a:rPr>
              <a:t> </a:t>
            </a:r>
            <a:r>
              <a:rPr sz="1300" b="1" i="0" dirty="0" err="1">
                <a:solidFill>
                  <a:srgbClr val="0B1F5B"/>
                </a:solidFill>
                <a:latin typeface="Montserrat"/>
              </a:rPr>
              <a:t>insuficientes</a:t>
            </a:r>
            <a:endParaRPr sz="1300" b="1" i="0" dirty="0">
              <a:solidFill>
                <a:srgbClr val="0B1F5B"/>
              </a:solidFill>
              <a:latin typeface="Montserrat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84632" y="538492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Tres preguntas sin respuesta: </a:t>
            </a:r>
            <a:r>
              <a:rPr sz="1500" b="1" i="0">
                <a:solidFill>
                  <a:srgbClr val="194BFF"/>
                </a:solidFill>
                <a:latin typeface="Montserrat"/>
              </a:rPr>
              <a:t>¿por qué decidió eso? ¿Quién lo controla? ¿Cuánto cuesta?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" y="5979283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5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¹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0"/>
              </a:rPr>
              <a:t>Conning, AI in Insurance 2025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²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1"/>
              </a:rPr>
              <a:t>Outcome Catalyst, tendencias de IA en seguros 2026 (datos de Conning)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³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2"/>
              </a:rPr>
              <a:t>The Insurer, encuesta de IA Capital (2026)</a:t>
            </a:r>
            <a:r>
              <a:rPr sz="850" b="0" i="0">
                <a:solidFill>
                  <a:srgbClr val="595959"/>
                </a:solidFill>
                <a:latin typeface="Montserrat Medium"/>
              </a:rPr>
              <a:t>  ·  ⁴ </a:t>
            </a:r>
            <a:r>
              <a:rPr sz="850" b="0" i="0">
                <a:solidFill>
                  <a:srgbClr val="194BFF"/>
                </a:solidFill>
                <a:latin typeface="Montserrat Medium"/>
                <a:hlinkClick r:id="rId13"/>
              </a:rPr>
              <a:t>Gartner, nota de prensa del 25/06/2025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E73E-630D-5F6F-93A1-C692F05CA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427478" cy="660400"/>
          </a:xfrm>
        </p:spPr>
        <p:txBody>
          <a:bodyPr wrap="none" anchor="ctr">
            <a:noAutofit/>
          </a:bodyPr>
          <a:lstStyle/>
          <a:p>
            <a:r>
              <a:rPr sz="4000"/>
              <a:t>El marco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A97B2C3-B154-9FFE-9972-3B3059C11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129280"/>
            <a:ext cx="2803397" cy="660400"/>
          </a:xfrm>
        </p:spPr>
        <p:txBody>
          <a:bodyPr wrap="none" anchor="ctr">
            <a:noAutofit/>
          </a:bodyPr>
          <a:lstStyle/>
          <a:p>
            <a:r>
              <a:rPr sz="4000"/>
              <a:t>normativo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0186" y="1847900"/>
            <a:ext cx="7772396" cy="50100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15544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ya obliga hoy (RGPD, DORA y EIOPA) y lo que llega con el AI 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71517" cy="429768"/>
          </a:xfrm>
        </p:spPr>
        <p:txBody>
          <a:bodyPr wrap="none"/>
          <a:lstStyle/>
          <a:p>
            <a:r>
              <a:rPr sz="2600"/>
              <a:t>Lo que exige la regulación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8</a:t>
            </a:fld>
            <a:endParaRPr lang="es-ES"/>
          </a:p>
        </p:txBody>
      </p:sp>
      <p:sp>
        <p:nvSpPr>
          <p:cNvPr id="13" name="TextBox 12"/>
          <p:cNvSpPr txBox="1"/>
          <p:nvPr/>
        </p:nvSpPr>
        <p:spPr>
          <a:xfrm>
            <a:off x="484632" y="1188720"/>
            <a:ext cx="726948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Ya en vigor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" y="1536192"/>
            <a:ext cx="457200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82711" y="1188720"/>
            <a:ext cx="373075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0B1F5B"/>
                </a:solidFill>
                <a:latin typeface="Montserrat"/>
              </a:rPr>
              <a:t>Lo que llega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28431" y="1536192"/>
            <a:ext cx="457201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8463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user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823024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899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2057400"/>
            <a:ext cx="2971800" cy="5679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Derecho a no ser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objeto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decisiones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solo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automatizadas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.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Según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el TJUE (SCHUFA),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firmar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sin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revisar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no </a:t>
            </a:r>
            <a:r>
              <a:rPr lang="es-ES" sz="950" b="0" i="0" dirty="0">
                <a:solidFill>
                  <a:srgbClr val="595959"/>
                </a:solidFill>
                <a:latin typeface="Montserrat Medium"/>
              </a:rPr>
              <a:t>es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intervención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humana.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87952" y="1691640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message-squar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823024"/>
            <a:ext cx="347472" cy="3474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82312" y="1783080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2057400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Derecho a una explicación con sentido de la lógica aplicada (TJUE, Dun &amp; Bradstreet).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heart-puls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080" y="2902016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7899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RGPD art.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3136392"/>
            <a:ext cx="2880360" cy="3925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>
                <a:solidFill>
                  <a:srgbClr val="595959"/>
                </a:solidFill>
                <a:latin typeface="Montserrat Medium"/>
              </a:rPr>
              <a:t>Los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datos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salud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son </a:t>
            </a:r>
            <a:r>
              <a:rPr sz="950" b="1" i="0" dirty="0" err="1">
                <a:solidFill>
                  <a:srgbClr val="595959"/>
                </a:solidFill>
                <a:latin typeface="Montserrat Medium"/>
              </a:rPr>
              <a:t>categoría</a:t>
            </a:r>
            <a:r>
              <a:rPr sz="950" b="1" i="0" dirty="0">
                <a:solidFill>
                  <a:srgbClr val="595959"/>
                </a:solidFill>
                <a:latin typeface="Montserrat Medium"/>
              </a:rPr>
              <a:t> especial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afecta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de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lleno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al </a:t>
            </a:r>
            <a:r>
              <a:rPr sz="950" b="0" i="0" dirty="0" err="1">
                <a:solidFill>
                  <a:srgbClr val="595959"/>
                </a:solidFill>
                <a:latin typeface="Montserrat Medium"/>
              </a:rPr>
              <a:t>ramo</a:t>
            </a:r>
            <a:r>
              <a:rPr sz="950" b="0" i="0" dirty="0">
                <a:solidFill>
                  <a:srgbClr val="595959"/>
                </a:solidFill>
                <a:latin typeface="Montserrat Medium"/>
              </a:rPr>
              <a:t> Salud.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87952" y="2770632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serve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3400" y="2902016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782312" y="2862072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3136392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Los proveedores de LLM son terceros TIC: registro, riesgo de concentración y contratos.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463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080" y="3981008"/>
            <a:ext cx="347472" cy="3474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7899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EIOPA (ago.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Gobierno de la IA proporcional al riesgo para todo uso de IA en seguros.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87952" y="3849624"/>
            <a:ext cx="3566160" cy="987552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graduation-c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43400" y="398100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82312" y="3941064"/>
            <a:ext cx="2880360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art. 4 y art. 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2312" y="4215384"/>
            <a:ext cx="28803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Alfabetización en IA del personal y transparencia con quien interactúa con la IA.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82711" y="1691640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38159" y="1847088"/>
            <a:ext cx="347472" cy="3474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577072" y="1783080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AI Act · alto riesgo (Anexo III)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7072" y="2057400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Obligaciones aplazadas al 2/12/2027 por el Digital Omnibus. El triaje de siniestros no está en el Anexo III.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2711" y="2770632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6" name="Icono gavel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8159" y="2926080"/>
            <a:ext cx="347472" cy="3474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577072" y="2862072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Ley Orgánica española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7072" y="3136392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En el Congreso, con AESIA y la DGSFP como supervisoras.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82711" y="3849624"/>
            <a:ext cx="3730752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4B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0" name="Icono badge-euro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38159" y="4005072"/>
            <a:ext cx="347472" cy="3474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77072" y="3941064"/>
            <a:ext cx="3044952" cy="2926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94BFF"/>
                </a:solidFill>
                <a:latin typeface="Montserrat"/>
              </a:rPr>
              <a:t>Sanciones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77072" y="4215384"/>
            <a:ext cx="3044952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>
                <a:solidFill>
                  <a:srgbClr val="595959"/>
                </a:solidFill>
                <a:latin typeface="Montserrat Medium"/>
              </a:rPr>
              <a:t>Hasta 35 M€ o el 7 % de la facturación global.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76072" y="5074920"/>
            <a:ext cx="11045952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76072" y="4992624"/>
            <a:ext cx="164592" cy="164592"/>
          </a:xfrm>
          <a:prstGeom prst="ellips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30352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194BFF"/>
                </a:solidFill>
                <a:latin typeface="Montserrat"/>
              </a:rPr>
              <a:t>Hoy: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ya obligan el RGPD, DORA, EIOPA y los art. 4 y 50 del AI Act</a:t>
            </a:r>
          </a:p>
        </p:txBody>
      </p:sp>
      <p:sp>
        <p:nvSpPr>
          <p:cNvPr id="56" name="Oval 55"/>
          <p:cNvSpPr/>
          <p:nvPr/>
        </p:nvSpPr>
        <p:spPr>
          <a:xfrm>
            <a:off x="7982711" y="4992624"/>
            <a:ext cx="164592" cy="164592"/>
          </a:xfrm>
          <a:prstGeom prst="ellipse">
            <a:avLst/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936991" y="5184648"/>
            <a:ext cx="64008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100" b="1" i="0">
                <a:solidFill>
                  <a:srgbClr val="FF1414"/>
                </a:solidFill>
                <a:latin typeface="Montserrat"/>
              </a:rPr>
              <a:t>2/12/2027: </a:t>
            </a:r>
            <a:r>
              <a:rPr sz="1100" b="0" i="0">
                <a:solidFill>
                  <a:srgbClr val="595959"/>
                </a:solidFill>
                <a:latin typeface="Montserrat Medium"/>
              </a:rPr>
              <a:t>obligaciones de alto riesgo del AI Act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" y="6014967"/>
            <a:ext cx="11228832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1" i="0">
                <a:solidFill>
                  <a:srgbClr val="595959"/>
                </a:solidFill>
                <a:latin typeface="Montserrat Medium"/>
              </a:rPr>
              <a:t>Fuentes: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2"/>
              </a:rPr>
              <a:t>RGPD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3"/>
              </a:rPr>
              <a:t>TJUE C-634/21 (SCHUFA)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4"/>
              </a:rPr>
              <a:t>TJUE C-203/22 (Dun &amp; Bradstreet)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5"/>
              </a:rPr>
              <a:t>DORA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6"/>
              </a:rPr>
              <a:t>EIOPA, Opinion on AI governance (2025)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7"/>
              </a:rPr>
              <a:t>AI Act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8"/>
              </a:rPr>
              <a:t>Digital Omnibus (Gibson Dunn)</a:t>
            </a:r>
            <a:r>
              <a:rPr sz="800" b="0" i="0">
                <a:solidFill>
                  <a:srgbClr val="595959"/>
                </a:solidFill>
                <a:latin typeface="Montserrat Medium"/>
              </a:rPr>
              <a:t>  ·  </a:t>
            </a:r>
            <a:r>
              <a:rPr sz="800" b="0" i="0">
                <a:solidFill>
                  <a:srgbClr val="194BFF"/>
                </a:solidFill>
                <a:latin typeface="Montserrat Medium"/>
                <a:hlinkClick r:id="rId19"/>
              </a:rPr>
              <a:t>Ley Orgánica de IA (Economist &amp; Jurist)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ve_big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3611880" y="2185416"/>
            <a:ext cx="9418320" cy="5297805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731520" y="1417319"/>
            <a:ext cx="566928" cy="329184"/>
          </a:xfrm>
          <a:prstGeom prst="rect">
            <a:avLst/>
          </a:prstGeom>
          <a:solidFill>
            <a:srgbClr val="0A2592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731520" y="1874519"/>
            <a:ext cx="2489707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5447"/>
            <a:ext cx="73152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Agentes pequeños, cada uno con sus límites, sobre una capa de gobierno común.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9</a:t>
            </a:fld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08117" cy="429768"/>
          </a:xfrm>
        </p:spPr>
        <p:txBody>
          <a:bodyPr wrap="none"/>
          <a:lstStyle/>
          <a:p>
            <a:r>
              <a:rPr sz="2600" dirty="0"/>
              <a:t>Lo </a:t>
            </a:r>
            <a:r>
              <a:rPr sz="2600" dirty="0" err="1"/>
              <a:t>que</a:t>
            </a:r>
            <a:r>
              <a:rPr sz="2600" dirty="0"/>
              <a:t> no </a:t>
            </a:r>
            <a:r>
              <a:rPr sz="2600" dirty="0" err="1"/>
              <a:t>existe</a:t>
            </a:r>
            <a:r>
              <a:rPr sz="2600" dirty="0"/>
              <a:t> </a:t>
            </a:r>
            <a:r>
              <a:rPr sz="2600" dirty="0" err="1"/>
              <a:t>en</a:t>
            </a:r>
            <a:r>
              <a:rPr sz="2600" dirty="0"/>
              <a:t> el mercado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10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595959"/>
                </a:solidFill>
                <a:latin typeface="Montserrat"/>
              </a:rPr>
              <a:t>Hay piezas sueltas</a:t>
            </a:r>
          </a:p>
        </p:txBody>
      </p:sp>
      <p:sp>
        <p:nvSpPr>
          <p:cNvPr id="15" name="Oval 14"/>
          <p:cNvSpPr/>
          <p:nvPr/>
        </p:nvSpPr>
        <p:spPr>
          <a:xfrm>
            <a:off x="758952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activity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396" y="2135124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44752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Observabilidad de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Langfuse, Arize o Datadog: trazas, latencia y tokens.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396" y="2939796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44752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Plataformas de gobierno y riesgo de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3072384"/>
            <a:ext cx="3657600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050" dirty="0">
                <a:solidFill>
                  <a:srgbClr val="595959"/>
                </a:solidFill>
                <a:latin typeface="Montserrat Medium"/>
              </a:rPr>
              <a:t>Soluciones de 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G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overnance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(Credo AI)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: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inventario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y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políticas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Icono waypoint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2396" y="3744468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44752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Estándar OpenTelemetry GenAI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877056"/>
            <a:ext cx="3801618" cy="413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Convenciones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comunes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para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trazar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llamadas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 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modelos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 y todo lo que hace una plataforma </a:t>
            </a:r>
            <a:r>
              <a:rPr lang="es-ES" sz="1050" b="0" i="0" dirty="0" err="1">
                <a:solidFill>
                  <a:srgbClr val="595959"/>
                </a:solidFill>
                <a:latin typeface="Montserrat Medium"/>
              </a:rPr>
              <a:t>agéntica</a:t>
            </a:r>
            <a:r>
              <a:rPr lang="es-ES" sz="1050" b="0" i="0" dirty="0">
                <a:solidFill>
                  <a:srgbClr val="595959"/>
                </a:solidFill>
                <a:latin typeface="Montserrat Medium"/>
              </a:rPr>
              <a:t>.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67143" y="1325880"/>
            <a:ext cx="4846320" cy="3154680"/>
          </a:xfrm>
          <a:prstGeom prst="roundRect">
            <a:avLst>
              <a:gd name="adj" fmla="val 5000"/>
            </a:avLst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7141463" y="1463040"/>
            <a:ext cx="4297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Nadie las une a tu negocio</a:t>
            </a:r>
          </a:p>
        </p:txBody>
      </p:sp>
      <p:sp>
        <p:nvSpPr>
          <p:cNvPr id="29" name="Oval 28"/>
          <p:cNvSpPr/>
          <p:nvPr/>
        </p:nvSpPr>
        <p:spPr>
          <a:xfrm>
            <a:off x="7141463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file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64907" y="2135124"/>
            <a:ext cx="301752" cy="3017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27263" y="196596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proceso de siniestros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3" y="2267712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Multicanalidad, clasificación, extracción y reglas, de punta a punta.</a:t>
            </a:r>
          </a:p>
        </p:txBody>
      </p:sp>
      <p:sp>
        <p:nvSpPr>
          <p:cNvPr id="33" name="Oval 32"/>
          <p:cNvSpPr/>
          <p:nvPr/>
        </p:nvSpPr>
        <p:spPr>
          <a:xfrm>
            <a:off x="7141463" y="2816352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list-check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64907" y="2939796"/>
            <a:ext cx="301752" cy="30175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27263" y="2770632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Tus reglas de negocio por ramo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3" y="3072384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Auto, Hogar y Salud, con la evidencia de cada criterio.</a:t>
            </a:r>
          </a:p>
        </p:txBody>
      </p:sp>
      <p:sp>
        <p:nvSpPr>
          <p:cNvPr id="37" name="Oval 36"/>
          <p:cNvSpPr/>
          <p:nvPr/>
        </p:nvSpPr>
        <p:spPr>
          <a:xfrm>
            <a:off x="7141463" y="3621024"/>
            <a:ext cx="548640" cy="548640"/>
          </a:xfrm>
          <a:prstGeom prst="ellipse">
            <a:avLst/>
          </a:prstGeom>
          <a:solidFill>
            <a:srgbClr val="FFF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Icono calcula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64907" y="3744468"/>
            <a:ext cx="301752" cy="3017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27263" y="3575304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50" b="1" i="0">
                <a:solidFill>
                  <a:srgbClr val="0B1F5B"/>
                </a:solidFill>
                <a:latin typeface="Montserrat"/>
              </a:rPr>
              <a:t>Tu contabilidad de costes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7263" y="3877056"/>
            <a:ext cx="3657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Coste por decisión y límites de gasto por agente.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22392" y="2880360"/>
            <a:ext cx="1353311" cy="0"/>
          </a:xfrm>
          <a:prstGeom prst="line">
            <a:avLst/>
          </a:prstGeom>
          <a:ln w="254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641848" y="2423160"/>
            <a:ext cx="914400" cy="914400"/>
          </a:xfrm>
          <a:prstGeom prst="ellipse">
            <a:avLst/>
          </a:prstGeom>
          <a:solidFill>
            <a:srgbClr val="194B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Icono plug-zap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52160" y="2633472"/>
            <a:ext cx="493776" cy="4937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367528" y="3383280"/>
            <a:ext cx="146304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94BFF"/>
                </a:solidFill>
                <a:latin typeface="Montserrat"/>
              </a:rPr>
              <a:t>Integración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" y="4789170"/>
            <a:ext cx="11228832" cy="105156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58952" y="4789170"/>
            <a:ext cx="10680192" cy="10515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Montserrat"/>
              </a:rPr>
              <a:t>Esto no es un producto. Es cómo se trabaja hoy con IA en una empresa regulada.</a:t>
            </a:r>
          </a:p>
          <a:p>
            <a:pPr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Montserrat Medium"/>
              </a:rPr>
              <a:t>No es una licencia: es una forma de implementar, integrada con el proceso, las reglas y los costes del cliente.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104888" cy="429768"/>
          </a:xfrm>
        </p:spPr>
        <p:txBody>
          <a:bodyPr wrap="none"/>
          <a:lstStyle/>
          <a:p>
            <a:r>
              <a:rPr sz="2600"/>
              <a:t>La solución: agentes pequeños y gobernados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11</a:t>
            </a:fld>
            <a:endParaRPr lang="es-ES"/>
          </a:p>
        </p:txBody>
      </p:sp>
      <p:sp>
        <p:nvSpPr>
          <p:cNvPr id="13" name="Pentagon 12"/>
          <p:cNvSpPr/>
          <p:nvPr/>
        </p:nvSpPr>
        <p:spPr>
          <a:xfrm>
            <a:off x="484632" y="1325880"/>
            <a:ext cx="2331720" cy="1097280"/>
          </a:xfrm>
          <a:prstGeom prst="homePlate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Icono inbox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032" y="1444752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1847088"/>
            <a:ext cx="17373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Multicanalidad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Recibe y normaliza email, web, chat, teléfono y WhatsApp</a:t>
            </a:r>
          </a:p>
        </p:txBody>
      </p:sp>
      <p:sp>
        <p:nvSpPr>
          <p:cNvPr id="17" name="Chevron 16"/>
          <p:cNvSpPr/>
          <p:nvPr/>
        </p:nvSpPr>
        <p:spPr>
          <a:xfrm>
            <a:off x="2708910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Icono tags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37610" y="144475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66110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Clasificación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230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Asigna Auto, Hogar o Salud citando los indicios del texto</a:t>
            </a:r>
          </a:p>
        </p:txBody>
      </p:sp>
      <p:sp>
        <p:nvSpPr>
          <p:cNvPr id="21" name="Chevron 20"/>
          <p:cNvSpPr/>
          <p:nvPr/>
        </p:nvSpPr>
        <p:spPr>
          <a:xfrm>
            <a:off x="4933188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Icono scan-tex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61888" y="1444752"/>
            <a:ext cx="365760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90388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Extracción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7508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Convierte el texto libre en datos estructurados; nunca inventa</a:t>
            </a:r>
          </a:p>
        </p:txBody>
      </p:sp>
      <p:sp>
        <p:nvSpPr>
          <p:cNvPr id="25" name="Chevron 24"/>
          <p:cNvSpPr/>
          <p:nvPr/>
        </p:nvSpPr>
        <p:spPr>
          <a:xfrm>
            <a:off x="7157466" y="1325880"/>
            <a:ext cx="2331720" cy="1097280"/>
          </a:xfrm>
          <a:prstGeom prst="chevron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Icono scal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86166" y="1444752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14666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Reglas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1786" y="2542032"/>
            <a:ext cx="1783079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Evalúa el bloque de reglas del ramo y propone la decisión</a:t>
            </a:r>
          </a:p>
        </p:txBody>
      </p:sp>
      <p:sp>
        <p:nvSpPr>
          <p:cNvPr id="29" name="Chevron 28"/>
          <p:cNvSpPr/>
          <p:nvPr/>
        </p:nvSpPr>
        <p:spPr>
          <a:xfrm>
            <a:off x="9381744" y="1325880"/>
            <a:ext cx="2331720" cy="1097280"/>
          </a:xfrm>
          <a:prstGeom prst="chevron">
            <a:avLst/>
          </a:prstGeom>
          <a:solidFill>
            <a:srgbClr val="0B1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roun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10444" y="1444752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38944" y="1847088"/>
            <a:ext cx="15087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Montserrat"/>
              </a:rPr>
              <a:t>Aprobado / A revisar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6064" y="2542032"/>
            <a:ext cx="1783079" cy="81580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 dirty="0">
                <a:solidFill>
                  <a:srgbClr val="595959"/>
                </a:solidFill>
                <a:latin typeface="Montserrat Medium"/>
              </a:rPr>
              <a:t>La IA </a:t>
            </a:r>
            <a:r>
              <a:rPr sz="1050" b="0" i="0" dirty="0" err="1">
                <a:solidFill>
                  <a:srgbClr val="595959"/>
                </a:solidFill>
                <a:latin typeface="Montserrat Medium"/>
              </a:rPr>
              <a:t>prepara</a:t>
            </a:r>
            <a:r>
              <a:rPr sz="1050" b="0" i="0" dirty="0">
                <a:solidFill>
                  <a:srgbClr val="595959"/>
                </a:solidFill>
                <a:latin typeface="Montserrat Medium"/>
              </a:rPr>
              <a:t>; la persona decide</a:t>
            </a:r>
            <a:r>
              <a:rPr lang="es-ES" sz="1050" dirty="0">
                <a:solidFill>
                  <a:srgbClr val="595959"/>
                </a:solidFill>
                <a:latin typeface="Montserrat Medium"/>
              </a:rPr>
              <a:t> o se automatiza si se cumplen reglas y la confianza es alta</a:t>
            </a:r>
            <a:endParaRPr sz="1050" b="0" i="0" dirty="0">
              <a:solidFill>
                <a:srgbClr val="595959"/>
              </a:solidFill>
              <a:latin typeface="Montserrat Medium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84632" y="5840730"/>
            <a:ext cx="1122883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595959"/>
                </a:solidFill>
                <a:latin typeface="Montserrat"/>
              </a:rPr>
              <a:t>No es una IA que lo hace todo: </a:t>
            </a:r>
            <a:r>
              <a:rPr sz="1400" b="1" i="0">
                <a:solidFill>
                  <a:srgbClr val="194BFF"/>
                </a:solidFill>
                <a:latin typeface="Montserrat"/>
              </a:rPr>
              <a:t>son cuatro especialistas, y cada uno tiene sus propios límites.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632" y="914400"/>
            <a:ext cx="11228832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B1F5B"/>
                </a:solidFill>
                <a:latin typeface="Montserrat"/>
              </a:rPr>
              <a:t>Lo que se gobierna: cuatro agentes especializados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4632" y="3474720"/>
            <a:ext cx="11228832" cy="2240280"/>
          </a:xfrm>
          <a:prstGeom prst="roundRect">
            <a:avLst>
              <a:gd name="adj" fmla="val 6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13232" y="3566160"/>
            <a:ext cx="107899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Capa de gobierno común a todos los agentes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" y="4005072"/>
            <a:ext cx="1971446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OPERACIÓN</a:t>
            </a:r>
          </a:p>
        </p:txBody>
      </p:sp>
      <p:sp>
        <p:nvSpPr>
          <p:cNvPr id="64" name="Oval 63"/>
          <p:cNvSpPr/>
          <p:nvPr/>
        </p:nvSpPr>
        <p:spPr>
          <a:xfrm>
            <a:off x="667512" y="434340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Icono layout-dashboar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1520" y="4407408"/>
            <a:ext cx="201168" cy="20116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078992" y="432511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Resumen</a:t>
            </a:r>
          </a:p>
        </p:txBody>
      </p:sp>
      <p:sp>
        <p:nvSpPr>
          <p:cNvPr id="67" name="Oval 66"/>
          <p:cNvSpPr/>
          <p:nvPr/>
        </p:nvSpPr>
        <p:spPr>
          <a:xfrm>
            <a:off x="667512" y="475488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Icono rou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1520" y="4818888"/>
            <a:ext cx="201168" cy="20116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78992" y="473659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Trazabilidad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13278" y="4005072"/>
            <a:ext cx="1971446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CONTROL</a:t>
            </a:r>
          </a:p>
        </p:txBody>
      </p:sp>
      <p:sp>
        <p:nvSpPr>
          <p:cNvPr id="71" name="Oval 70"/>
          <p:cNvSpPr/>
          <p:nvPr/>
        </p:nvSpPr>
        <p:spPr>
          <a:xfrm>
            <a:off x="2913278" y="434340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Icono sliders-horizont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77286" y="4407408"/>
            <a:ext cx="201168" cy="201168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324758" y="432511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Autonomía</a:t>
            </a:r>
          </a:p>
        </p:txBody>
      </p:sp>
      <p:sp>
        <p:nvSpPr>
          <p:cNvPr id="74" name="Oval 73"/>
          <p:cNvSpPr/>
          <p:nvPr/>
        </p:nvSpPr>
        <p:spPr>
          <a:xfrm>
            <a:off x="2913278" y="475488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Icono shield-che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7286" y="4818888"/>
            <a:ext cx="201168" cy="20116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324758" y="473659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Guardrails</a:t>
            </a:r>
          </a:p>
        </p:txBody>
      </p:sp>
      <p:sp>
        <p:nvSpPr>
          <p:cNvPr id="77" name="Oval 76"/>
          <p:cNvSpPr/>
          <p:nvPr/>
        </p:nvSpPr>
        <p:spPr>
          <a:xfrm>
            <a:off x="2913278" y="516636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8" name="Icono user-che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77286" y="5230368"/>
            <a:ext cx="201168" cy="201168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324758" y="514807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Intervención humana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59044" y="4005072"/>
            <a:ext cx="1971446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CALIDAD</a:t>
            </a:r>
          </a:p>
        </p:txBody>
      </p:sp>
      <p:sp>
        <p:nvSpPr>
          <p:cNvPr id="81" name="Oval 80"/>
          <p:cNvSpPr/>
          <p:nvPr/>
        </p:nvSpPr>
        <p:spPr>
          <a:xfrm>
            <a:off x="5159044" y="434340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Icono bra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223052" y="4407408"/>
            <a:ext cx="201168" cy="201168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570524" y="432511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Razonamiento y replay</a:t>
            </a:r>
          </a:p>
        </p:txBody>
      </p:sp>
      <p:sp>
        <p:nvSpPr>
          <p:cNvPr id="84" name="Oval 83"/>
          <p:cNvSpPr/>
          <p:nvPr/>
        </p:nvSpPr>
        <p:spPr>
          <a:xfrm>
            <a:off x="5159044" y="475488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5" name="Icono book-op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223052" y="4818888"/>
            <a:ext cx="201168" cy="20116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570524" y="473659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Knowledge Bases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04811" y="4005072"/>
            <a:ext cx="1971446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CUMPLIMIENTO Y COSTE</a:t>
            </a:r>
          </a:p>
        </p:txBody>
      </p:sp>
      <p:sp>
        <p:nvSpPr>
          <p:cNvPr id="88" name="Oval 87"/>
          <p:cNvSpPr/>
          <p:nvPr/>
        </p:nvSpPr>
        <p:spPr>
          <a:xfrm>
            <a:off x="7404811" y="434340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9" name="Icono thermomet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68819" y="44074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816291" y="432511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Cumplimiento</a:t>
            </a:r>
          </a:p>
        </p:txBody>
      </p:sp>
      <p:sp>
        <p:nvSpPr>
          <p:cNvPr id="91" name="Oval 90"/>
          <p:cNvSpPr/>
          <p:nvPr/>
        </p:nvSpPr>
        <p:spPr>
          <a:xfrm>
            <a:off x="7404811" y="475488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Icono coi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68819" y="4818888"/>
            <a:ext cx="201168" cy="20116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7816291" y="473659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FinOps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50577" y="4005072"/>
            <a:ext cx="1971446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MEJORA Y AUDITORÍA</a:t>
            </a:r>
          </a:p>
        </p:txBody>
      </p:sp>
      <p:sp>
        <p:nvSpPr>
          <p:cNvPr id="95" name="Oval 94"/>
          <p:cNvSpPr/>
          <p:nvPr/>
        </p:nvSpPr>
        <p:spPr>
          <a:xfrm>
            <a:off x="9650577" y="434340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Icono wren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14585" y="440740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62057" y="432511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Medidas correctivas</a:t>
            </a:r>
          </a:p>
        </p:txBody>
      </p:sp>
      <p:sp>
        <p:nvSpPr>
          <p:cNvPr id="98" name="Oval 97"/>
          <p:cNvSpPr/>
          <p:nvPr/>
        </p:nvSpPr>
        <p:spPr>
          <a:xfrm>
            <a:off x="9650577" y="4754880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Icono histo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14585" y="4818888"/>
            <a:ext cx="201168" cy="20116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062057" y="4736592"/>
            <a:ext cx="1559966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0B1F5B"/>
                </a:solidFill>
                <a:latin typeface="Montserrat"/>
              </a:rPr>
              <a:t>Histórico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4289298" cy="429768"/>
          </a:xfrm>
        </p:spPr>
        <p:txBody>
          <a:bodyPr wrap="none"/>
          <a:lstStyle/>
          <a:p>
            <a:r>
              <a:t>Cada agente, inventariado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12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651240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Icono crosshai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9372" y="1629460"/>
            <a:ext cx="362102" cy="3621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7512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Una sola función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Recibir, clasificar, extraer o aplicar reglas: cada agente hace una cosa.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8989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3515597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Icono cpu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3730" y="1629460"/>
            <a:ext cx="362102" cy="3621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31870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modelo y su versión de prompt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1870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Por ejemplo, gpt-5-nano con el prompt v3.1 en Clasificación. Cada cambio queda registrado.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3348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6379956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gauge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8088" y="1629460"/>
            <a:ext cx="362102" cy="36210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96228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Su nivel de autonomía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6228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De L0 Manual a L3 Autónomo, ajustado agente a agente según sus resultados.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7705" y="1280160"/>
            <a:ext cx="2635758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244313" y="1481328"/>
            <a:ext cx="658368" cy="658368"/>
          </a:xfrm>
          <a:prstGeom prst="ellipse">
            <a:avLst/>
          </a:prstGeom>
          <a:solidFill>
            <a:schemeClr val="accent3"/>
          </a:solidFill>
          <a:ln>
            <a:solidFill>
              <a:schemeClr val="bg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Icono user-cog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2446" y="1629460"/>
            <a:ext cx="362102" cy="36210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60585" y="2240280"/>
            <a:ext cx="2269998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i="0">
                <a:solidFill>
                  <a:srgbClr val="194BFF"/>
                </a:solidFill>
                <a:latin typeface="Montserrat"/>
              </a:rPr>
              <a:t>Un responsable y unos permisos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0585" y="2743200"/>
            <a:ext cx="2269998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5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El agente de Reglas puede proponer, pero no puede pagar ni rechazar.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" y="3794760"/>
            <a:ext cx="11228832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B1F5B"/>
                </a:solidFill>
                <a:latin typeface="Montserrat"/>
              </a:rPr>
              <a:t>Niveles de autonomía</a:t>
            </a:r>
          </a:p>
        </p:txBody>
      </p:sp>
      <p:sp>
        <p:nvSpPr>
          <p:cNvPr id="34" name="Pentagon 33"/>
          <p:cNvSpPr/>
          <p:nvPr/>
        </p:nvSpPr>
        <p:spPr>
          <a:xfrm>
            <a:off x="484632" y="4160520"/>
            <a:ext cx="2926080" cy="1051560"/>
          </a:xfrm>
          <a:prstGeom prst="homePlate">
            <a:avLst/>
          </a:prstGeom>
          <a:solidFill>
            <a:srgbClr val="E8EE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" y="4206240"/>
            <a:ext cx="22402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L0 · Manual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solo sugiere; una persona decide y ejecuta.</a:t>
            </a:r>
          </a:p>
        </p:txBody>
      </p:sp>
      <p:sp>
        <p:nvSpPr>
          <p:cNvPr id="36" name="Chevron 35"/>
          <p:cNvSpPr/>
          <p:nvPr/>
        </p:nvSpPr>
        <p:spPr>
          <a:xfrm>
            <a:off x="3250691" y="4160520"/>
            <a:ext cx="2926080" cy="1051560"/>
          </a:xfrm>
          <a:prstGeom prst="chevron">
            <a:avLst/>
          </a:prstGeom>
          <a:solidFill>
            <a:srgbClr val="BFD0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7248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L1 · Asistido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0B1F5B"/>
                </a:solidFill>
                <a:latin typeface="Montserrat Medium"/>
              </a:rPr>
              <a:t>El agente propone; una persona confirma cada caso.</a:t>
            </a:r>
          </a:p>
        </p:txBody>
      </p:sp>
      <p:sp>
        <p:nvSpPr>
          <p:cNvPr id="38" name="Chevron 37"/>
          <p:cNvSpPr/>
          <p:nvPr/>
        </p:nvSpPr>
        <p:spPr>
          <a:xfrm>
            <a:off x="6016752" y="4160520"/>
            <a:ext cx="2926080" cy="1051560"/>
          </a:xfrm>
          <a:prstGeom prst="chevron">
            <a:avLst/>
          </a:prstGeom>
          <a:solidFill>
            <a:srgbClr val="6F8F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38544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L2 · Supervisado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dentro de los guardrails; fuera de ellos escala a humano.</a:t>
            </a:r>
          </a:p>
        </p:txBody>
      </p:sp>
      <p:sp>
        <p:nvSpPr>
          <p:cNvPr id="40" name="Chevron 39"/>
          <p:cNvSpPr/>
          <p:nvPr/>
        </p:nvSpPr>
        <p:spPr>
          <a:xfrm>
            <a:off x="8782811" y="4160520"/>
            <a:ext cx="2926080" cy="1051560"/>
          </a:xfrm>
          <a:prstGeom prst="chevron">
            <a:avLst/>
          </a:prstGeom>
          <a:solidFill>
            <a:srgbClr val="194BFF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04603" y="4206240"/>
            <a:ext cx="1783080" cy="960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L3 · Autónomo</a:t>
            </a:r>
          </a:p>
          <a:p>
            <a:pPr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Montserrat Medium"/>
              </a:rPr>
              <a:t>Decide y ejecuta; solo se audita a posteriori.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" y="5349240"/>
            <a:ext cx="11228832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595959"/>
                </a:solidFill>
                <a:latin typeface="Montserrat"/>
              </a:rPr>
              <a:t>La autonomía se gana con datos y se pierde con datos: </a:t>
            </a:r>
            <a:r>
              <a:rPr sz="1300" b="1" i="0">
                <a:solidFill>
                  <a:srgbClr val="194BFF"/>
                </a:solidFill>
                <a:latin typeface="Montserrat"/>
              </a:rPr>
              <a:t>el agente de Reglas bajó de L3 a L2 al superar el 3 % de overrides.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823458" cy="429768"/>
          </a:xfrm>
        </p:spPr>
        <p:txBody>
          <a:bodyPr wrap="none"/>
          <a:lstStyle/>
          <a:p>
            <a:r>
              <a:rPr sz="2600"/>
              <a:t>Seis pilares, cada uno con su prueba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13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shield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790" y="1590598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Seguro por diseño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Guardrails, kill switch, identidad y permisos por agente. Se puede parar un agente sin perder ningún mensaje.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2761488"/>
            <a:ext cx="176021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 · AI Act art. 15</a:t>
            </a:r>
          </a:p>
        </p:txBody>
      </p:sp>
      <p:pic>
        <p:nvPicPr>
          <p:cNvPr id="20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3108960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Guardrails, Resumen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452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Icono file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50790" y="1590598"/>
            <a:ext cx="311810" cy="31181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0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Compliance por defecto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Cada decisión deja una traza completa: qué pasó, quién decidió y cuánto costó.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3232" y="2761488"/>
            <a:ext cx="23088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AI Act art. 12 · RGPD art. 30</a:t>
            </a:r>
          </a:p>
        </p:txBody>
      </p:sp>
      <p:pic>
        <p:nvPicPr>
          <p:cNvPr id="29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3108960"/>
            <a:ext cx="182880" cy="182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5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Trazabilidad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4632" y="128016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04632" y="128016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8333232" y="1463039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Icono book-open-chec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60790" y="1590598"/>
            <a:ext cx="311810" cy="31181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19032" y="1463039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Auditable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3232" y="212140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Libro de registro con quién, qué y cuándo. Se rellena solo, sin trabajo extra.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3232" y="2761488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EIOPA · AI Act art. 12</a:t>
            </a:r>
          </a:p>
        </p:txBody>
      </p:sp>
      <p:pic>
        <p:nvPicPr>
          <p:cNvPr id="38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3108960"/>
            <a:ext cx="182880" cy="18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61832" y="3063239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Histórico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Oval 41"/>
          <p:cNvSpPr/>
          <p:nvPr/>
        </p:nvSpPr>
        <p:spPr>
          <a:xfrm>
            <a:off x="71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pic>
        <p:nvPicPr>
          <p:cNvPr id="43" name="Icono lightbulb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790" y="3922318"/>
            <a:ext cx="311810" cy="31181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39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Explicable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Regla + evidencia textual y razonamiento y replay: si el cliente pregunta por qué, está su propia frase.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09320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RGPD art. 15 y 22 · AI Act art. 13</a:t>
            </a:r>
          </a:p>
        </p:txBody>
      </p:sp>
      <p:pic>
        <p:nvPicPr>
          <p:cNvPr id="47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5440680"/>
            <a:ext cx="182880" cy="1828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4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Ficha del mensaje · Razonamiento y replay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9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29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Oval 50"/>
          <p:cNvSpPr/>
          <p:nvPr/>
        </p:nvSpPr>
        <p:spPr>
          <a:xfrm>
            <a:off x="452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2" name="Icono refresh-cw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50790" y="3922318"/>
            <a:ext cx="311810" cy="31181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20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Resiliente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Reintentos, fallback a motor local y degradación de modelo: si la IA falla, el mensaje no se pierde.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23232" y="5093208"/>
            <a:ext cx="59435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DORA</a:t>
            </a:r>
          </a:p>
        </p:txBody>
      </p:sp>
      <p:pic>
        <p:nvPicPr>
          <p:cNvPr id="56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1520" y="5440680"/>
            <a:ext cx="182880" cy="1828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75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Triaje (origen «fallback»), G-07, G-08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04632" y="3611880"/>
            <a:ext cx="360883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104632" y="3611880"/>
            <a:ext cx="64008" cy="21488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Oval 59"/>
          <p:cNvSpPr/>
          <p:nvPr/>
        </p:nvSpPr>
        <p:spPr>
          <a:xfrm>
            <a:off x="8333232" y="3794760"/>
            <a:ext cx="566928" cy="566928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1" name="Icono piggy-ban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0790" y="3922318"/>
            <a:ext cx="311810" cy="31181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19032" y="3794760"/>
            <a:ext cx="2602992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 i="0">
                <a:solidFill>
                  <a:srgbClr val="194BFF"/>
                </a:solidFill>
                <a:latin typeface="Montserrat"/>
              </a:rPr>
              <a:t>FinOps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3232" y="4453128"/>
            <a:ext cx="3197352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ontserrat Medium"/>
              </a:rPr>
              <a:t>Caps, coste por decisión y comparativa de modelos: el más barato que mantiene la calidad.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333232" y="5093208"/>
            <a:ext cx="1897379" cy="256032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900" b="1" i="0">
                <a:solidFill>
                  <a:srgbClr val="194BFF"/>
                </a:solidFill>
                <a:latin typeface="Montserrat"/>
              </a:rPr>
              <a:t>Solvencia II (gobierno)</a:t>
            </a:r>
          </a:p>
        </p:txBody>
      </p:sp>
      <p:pic>
        <p:nvPicPr>
          <p:cNvPr id="65" name="Icono monitor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1520" y="5440680"/>
            <a:ext cx="182880" cy="1828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561832" y="5394960"/>
            <a:ext cx="2968752" cy="2743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sz="900" b="0" i="0">
                <a:solidFill>
                  <a:srgbClr val="7F7F7F"/>
                </a:solidFill>
                <a:latin typeface="Montserrat Medium"/>
              </a:rPr>
              <a:t>En la demo: Gobierno › FinOps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7836408" cy="429768"/>
          </a:xfrm>
        </p:spPr>
        <p:txBody>
          <a:bodyPr wrap="none"/>
          <a:lstStyle/>
          <a:p>
            <a:r>
              <a:t>Resumen: el estado del sistema en diez segundos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14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OPERACIÓN · 1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layout-dashboar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Ocho indicadores en vivo: autonomía efectiva, escalados, overrides, coste frente al presupuesto, alertas, cumplimiento y conocimiento.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Una tarjeta por agente con su modelo, su coste del día y un interruptor de pausa.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Las alertas de coste, conocimiento y cumplimiento, cada una enlazada a su origen.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Dirección sabe de un vistazo si el sistema va bien: el 81 % de las decisiones sale sin intervención humana y las personas corrigen el 2,1 %.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Un agente se para desde aquí y sus mensajes esperan en cola: no se pierde ninguno.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AI Act art. 14 · EIOPA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Resumen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01-resum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2005965"/>
            <a:ext cx="5212080" cy="325755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6572758" cy="429768"/>
          </a:xfrm>
        </p:spPr>
        <p:txBody>
          <a:bodyPr wrap="none"/>
          <a:lstStyle/>
          <a:p>
            <a:r>
              <a:t>Trazabilidad: qué pasó con cada mensaje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OPERACIÓN · 2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rou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Una traza por mensaje con la cascada de agentes: modelo, tokens, latencia y coste de cada paso.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Registra el guardrail que saltó y la corrección humana, con quién, cuándo y por qué.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Lista filtrable por agente, canal, decisión y resultado, exportable en JSON.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Con un identificador se contesta al auditor o al reclamante: qué pasó, quién decidió y cuánto costó.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En MSG-A-04 una persona corrigió al agente porque le faltaba un dato del sistema de pólizas, y la traza lo deja escrito.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AI Act art. 12 · RGPD art. 5.2 y 30 · DORA art. 28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Trazabilidad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03-trazabilid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2005965"/>
            <a:ext cx="5212080" cy="325755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6961378" cy="429768"/>
          </a:xfrm>
        </p:spPr>
        <p:txBody>
          <a:bodyPr wrap="none"/>
          <a:lstStyle/>
          <a:p>
            <a:r>
              <a:t>Autonomía: cuánto decide cada agente solo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16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CONTROL · 3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sliders-horizont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Cuatro niveles por agente, de L0 Manual (solo sugiere) a L3 Autónomo (decide y ejecuta).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Cada cambio de nivel queda auditado con su motivo, quién lo aprobó, la configuración del agente en ese momento y si es reversible.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La autonomía se gana y se pierde con datos.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agente de Reglas bajó de L3 a L2 cuando su tasa de override llegó al 4,1 %, por encima del objetivo del 3 %.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AI Act art. 14 · RGPD art. 22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Autonomía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24-autonom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206" y="1074420"/>
            <a:ext cx="4783250" cy="51206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6886448" cy="429768"/>
          </a:xfrm>
        </p:spPr>
        <p:txBody>
          <a:bodyPr wrap="none"/>
          <a:lstStyle/>
          <a:p>
            <a:r>
              <a:t>Guardrails: los límites que frenan al agente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17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CONTROL · 4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shield-che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Nueve condiciones: confianza baja, importe por encima del límite del ramo, ramos que no coinciden, lesionados, datos esenciales que faltan, coste y formato.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Cada una escala a una persona, cambia a un modelo más barato o marca la traza.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Antes de activar uno nuevo se ve cuántas veces habría saltado.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Las reglas de la aseguradora mandan sobre el modelo.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guardrail de importe (G-02) saltó 118 veces en 14 días y explica el 62 % de los escalados.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AI Act art. 9 y 14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Guardrails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15-guardrail-g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819819"/>
            <a:ext cx="5212080" cy="362984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8312657" cy="429768"/>
          </a:xfrm>
        </p:spPr>
        <p:txBody>
          <a:bodyPr wrap="none"/>
          <a:lstStyle/>
          <a:p>
            <a:r>
              <a:t>Intervención humana: una supervisión demostrable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18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CONTROL · 5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user-che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Cola de revisión con el motivo, el estado y el revisor de cada caso escalado.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Mide cuánto tarda cada tramitador y cuántas aprobaciones se firman en menos de 30 segundos.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Lleva la formación en IA de cada tramitador.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3.180 escalados en 14 días, revisados en una mediana de 14 minutos.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3,3 % se aprueba en menos de 30 segundos y tres tramitadores pasan del máximo del 5 %: dos de ellos aún no tienen la formación en 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RGPD art. 22 (SCHUFA) · AI Act art. 14 y 4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Intervención humana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45-hitl-calid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990129"/>
            <a:ext cx="5212080" cy="32892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7490968" cy="429768"/>
          </a:xfrm>
        </p:spPr>
        <p:txBody>
          <a:bodyPr wrap="none"/>
          <a:lstStyle/>
          <a:p>
            <a:r>
              <a:t>Razonamiento y replay: el porqué y el «¿y si…?»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19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CALIDAD · 6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bra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razonamiento registrado de cada agente: qué recibió, qué pasos siguió y qué devolvió.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replay repite cualquier traza con los mismos prompts y modelos, o con otro modelo o versión de prompt, y compara decisión, coste y latencia.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Un cambio de modelo se decide con datos.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Con gpt-5-mini en Reglas la decisión fue la misma y el coste bajó un 82 % (RP-0006).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Con gpt-5-nano un Aprobado pasó a A revisar (RP-0005), y se vio antes de desplegar.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RGPD art. 15 · AI Act art. 15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Razonamiento y replay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21-rep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178909"/>
            <a:ext cx="5212080" cy="491166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8579358" cy="429768"/>
          </a:xfrm>
        </p:spPr>
        <p:txBody>
          <a:bodyPr wrap="none"/>
          <a:lstStyle/>
          <a:p>
            <a:r>
              <a:t>Knowledge Bases: el conocimiento con el que deciden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20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CALIDAD · 7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book-op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Inventario de las nueve bases que consultan los agentes: índices RAG, Markdown, runbooks, tablas y plantillas.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Salud medida contra umbrales (recall, fidelidad, frescura, duplicados, datos personales), comparativa de configuraciones y rúbricas versionadas que deciden si un reindexado se publica.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conocimiento envejece y se vigila como los agentes.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340 condicionados de 2024 bajaron el recall de Condicionados Auto a 0,81; con un filtro de vigencia vuelve a 0,88.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AI Act art. 10 · RGPD art. 17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Knowledge Bases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E8DB6E-EE9D-0DAA-F37F-654F32333E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606" y="3153830"/>
            <a:ext cx="4484251" cy="310896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40D2A1F-E12B-EA22-0C14-D5297545B3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7862" y="1117696"/>
            <a:ext cx="5342371" cy="191219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6742938" cy="429768"/>
          </a:xfrm>
        </p:spPr>
        <p:txBody>
          <a:bodyPr wrap="none"/>
          <a:lstStyle/>
          <a:p>
            <a:r>
              <a:t>Cumplimiento: la prueba en cada decisión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21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CUMPLIMIENTO Y COSTE · 8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thermomet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Cada decisión lleva un bloque _gobernanza que calcula la plataforma: datos personales detectados, por qué este ramo y no otro, sello SHA-256 encadenado y plazo de retención.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termómetro agrega esos bloques por marco (AI Act, RGPD, DORA, EIOPA) y separa los controles medidos en las trazas de los declarados.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DPO tiene la evidencia recalculada con cada traza: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89 % de cobertura, con los controles en ámbar a la vista (EIPD pendiente, aviso de IA en WhatsApp).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Si alguien altera un registro, la cadena de hashes se rompe y se ve.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RGPD art. 5.1.c, 9 y 22 · AI Act art. 12 · DORA · EIOPA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Cumplimiento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34-termomet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2005965"/>
            <a:ext cx="5212080" cy="325755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6514338" cy="429768"/>
          </a:xfrm>
        </p:spPr>
        <p:txBody>
          <a:bodyPr wrap="none"/>
          <a:lstStyle/>
          <a:p>
            <a:r>
              <a:t>Seudonimizar antes de llamar al modelo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22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CUMPLIMIENTO Y COSTE · 9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eye-of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Antes de llamar al modelo, nombres, DNI, teléfonos, IBAN, pólizas, matrículas y direcciones se cambian por marcadores como [PERSONA_1] o [POLIZA_AU_1].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Los datos de salud y la edad de los menores se mantienen porque hacen falta para decidir.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La tabla de correspondencias solo vive en memoria durante la llamada.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En MSG-A-08 llegan al modelo 8 marcadores en lugar de los datos reales, y el tramitador ve la ficha de siempre.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La traza guarda qué tipos se sustituyeron y el hash del texto enviado, y el control de minimización pasa a verde.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RGPD art. 5.1.c, 9, 25 y 32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Triaje › Respuesta cruda › Enviado al modelo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43-enviado-al-mod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819819"/>
            <a:ext cx="5212080" cy="362984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E1DA0-64A5-82B2-E516-DC9ECE99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E08BF-3D7A-A74B-2174-192990852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7281418" cy="429768"/>
          </a:xfrm>
        </p:spPr>
        <p:txBody>
          <a:bodyPr wrap="none"/>
          <a:lstStyle/>
          <a:p>
            <a:r>
              <a:t>FinOps: el coste de cada decisión, bajo control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302AAE5-2FA8-01E5-D7C0-400621084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23</a:t>
            </a:fld>
            <a:endParaRPr lang="es-E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5642E63-F1B1-84BE-3940-246EDBDF0298}"/>
              </a:ext>
            </a:extLst>
          </p:cNvPr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27638-4536-87AC-BFBA-6DDD08403F98}"/>
              </a:ext>
            </a:extLst>
          </p:cNvPr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CUMPLIMIENTO Y COSTE · 10 DE 12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F336AB7-67B8-81A6-A845-4397EA1785E9}"/>
              </a:ext>
            </a:extLst>
          </p:cNvPr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353858F-2478-182F-EEA0-19B195E2EAF0}"/>
              </a:ext>
            </a:extLst>
          </p:cNvPr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coins">
            <a:extLst>
              <a:ext uri="{FF2B5EF4-FFF2-40B4-BE49-F238E27FC236}">
                <a16:creationId xmlns:a16="http://schemas.microsoft.com/office/drawing/2014/main" id="{646721B2-AF50-B02C-D862-997DEE6B3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670B3AD-E31B-7384-A160-16D93526205E}"/>
              </a:ext>
            </a:extLst>
          </p:cNvPr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A87DB7-85B8-22E0-55DF-CEFE86CDB314}"/>
              </a:ext>
            </a:extLst>
          </p:cNvPr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Límites de gasto a cinco niveles: global, por agente, por traza, por tokens de razonamiento y por llamadas por minuto.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Avisan al 80 % y actúan al 100 %.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Cada alerta llega con la acción sugerida y su ahorro, y una comparativa de modelos dice cuál conviene a cada agente.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4A8EBBD-BD5D-BCAC-EFC1-E650865B52CF}"/>
              </a:ext>
            </a:extLst>
          </p:cNvPr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7E6F2E-858D-0E5E-515D-6AE1324254B3}"/>
              </a:ext>
            </a:extLst>
          </p:cNvPr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7AC1A1-81BB-9BE1-F3A1-FA9B36889E6D}"/>
              </a:ext>
            </a:extLst>
          </p:cNvPr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0763AB-FDA7-6BAD-028D-00C382552DD6}"/>
              </a:ext>
            </a:extLst>
          </p:cNvPr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agente de Reglas se lleva el 79 % del gasto.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Al superar su límite diario (114 %) pasó solo a un modelo más barato, sin parar el proceso.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El mes cerrará en 428 € de un presupuesto de 500 €.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DC6878C-F8E5-CEFA-5AD5-4BC4889F2DCD}"/>
              </a:ext>
            </a:extLst>
          </p:cNvPr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376797-9271-56AE-99A9-281166EE4F1E}"/>
              </a:ext>
            </a:extLst>
          </p:cNvPr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Solvencia II art. 41</a:t>
            </a:r>
          </a:p>
        </p:txBody>
      </p:sp>
      <p:pic>
        <p:nvPicPr>
          <p:cNvPr id="26" name="Icono monitor">
            <a:extLst>
              <a:ext uri="{FF2B5EF4-FFF2-40B4-BE49-F238E27FC236}">
                <a16:creationId xmlns:a16="http://schemas.microsoft.com/office/drawing/2014/main" id="{14BEB682-F041-8BB1-AB34-E89FABBD92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0EE51D4-BC9D-EE28-C0B3-D1587A756B05}"/>
              </a:ext>
            </a:extLst>
          </p:cNvPr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FinOps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3B2224C-3B2C-E7F3-28D8-0DAFF2AEE8D6}"/>
              </a:ext>
            </a:extLst>
          </p:cNvPr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E9C049-65E6-7C7B-FA1E-8B19CFCFAB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6034" y="1088136"/>
            <a:ext cx="4268340" cy="275234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0624870-AAF3-2F92-EC71-32BD55D5EE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8341" y="3629318"/>
            <a:ext cx="3985932" cy="261773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  <p:extLst>
      <p:ext uri="{BB962C8B-B14F-4D97-AF65-F5344CB8AC3E}">
        <p14:creationId xmlns:p14="http://schemas.microsoft.com/office/powerpoint/2010/main" val="2568507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7974838" cy="429768"/>
          </a:xfrm>
        </p:spPr>
        <p:txBody>
          <a:bodyPr wrap="none"/>
          <a:lstStyle/>
          <a:p>
            <a:r>
              <a:t>Medidas correctivas: cada problema con su dueño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24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MEJORA Y AUDITORÍA · 11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wren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Una lista de trabajo con los problemas que detecta el resto del panel: coste, conocimiento, cumplimiento, calidad y resiliencia.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Cada uno trae alternativas con su impacto, su efecto secundario, su esfuerzo, quién la aprueba y cómo se valida, ordenadas por severidad × impacto ÷ esfuerzo.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Aplicar M-01 (gpt-5-mini en los casos sencillos) ahorra 237 € al mes.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Verificar una medida de cumplimiento pone su control en verde en el termómetro.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AI Act art. 9 · EIOPA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Medidas correctivas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37-medid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2005965"/>
            <a:ext cx="5212080" cy="325755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400" y="349200"/>
            <a:ext cx="4611878" cy="429768"/>
          </a:xfrm>
        </p:spPr>
        <p:txBody>
          <a:bodyPr wrap="none"/>
          <a:lstStyle/>
          <a:p>
            <a:r>
              <a:t>Histórico: el libro de registro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25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914400"/>
            <a:ext cx="210312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" y="914400"/>
            <a:ext cx="210312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MEJORA Y AUDITORÍA · 12 DE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3716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7512" y="153619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o histo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096" y="163677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98448" y="1572768"/>
            <a:ext cx="448056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94BFF"/>
                </a:solidFill>
                <a:latin typeface="Montserrat"/>
              </a:rPr>
              <a:t>Qué hace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121408"/>
            <a:ext cx="5074920" cy="15361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Una línea de tiempo con alertas, cambios de políticas y de nivel, replays, overrides, despliegues, incidentes y operaciones.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Cada evento lleva fecha, agente, motivo y responsable, también lo que se hace en directo, como pausar un agente o apagar un guardrail.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" y="384048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" y="3840480"/>
            <a:ext cx="64008" cy="169164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0292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0B1F5B"/>
                </a:solidFill>
                <a:latin typeface="Montserrat"/>
              </a:rPr>
              <a:t>Qué gana 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43400"/>
            <a:ext cx="5029200" cy="1143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Cuando llega un auditor, la evidencia ya está: qué cambió, cuándo, por qué y quién lo aprobó.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95959"/>
                </a:solidFill>
                <a:latin typeface="Montserrat Medium"/>
              </a:rPr>
              <a:t>Se rellena sola, sin trabajo extra del equipo.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" y="5715000"/>
            <a:ext cx="5440680" cy="27432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5715000"/>
            <a:ext cx="525780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94BFF"/>
                </a:solidFill>
                <a:latin typeface="Montserrat"/>
              </a:rPr>
              <a:t>AI Act art. 12 · EIOPA</a:t>
            </a:r>
          </a:p>
        </p:txBody>
      </p:sp>
      <p:pic>
        <p:nvPicPr>
          <p:cNvPr id="26" name="Icono moni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920" y="6108192"/>
            <a:ext cx="182880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1520" y="6053328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7F7F7F"/>
                </a:solidFill>
                <a:latin typeface="Montserrat Medium"/>
              </a:rPr>
              <a:t>En la demo: Gobierno › Histórico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914400"/>
            <a:ext cx="5541264" cy="544068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11-histori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2005965"/>
            <a:ext cx="5212080" cy="325755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C404-1198-B987-A55F-98A884133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2329688" cy="660400"/>
          </a:xfrm>
        </p:spPr>
        <p:txBody>
          <a:bodyPr wrap="none" anchor="ctr">
            <a:noAutofit/>
          </a:bodyPr>
          <a:lstStyle/>
          <a:p>
            <a:r>
              <a:rPr sz="4000"/>
              <a:t>La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26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4056" y="1850395"/>
            <a:ext cx="7764655" cy="50051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40360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ve el tramitador y lo que ven riesgos, auditoría y finanzas.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469388" cy="429768"/>
          </a:xfrm>
        </p:spPr>
        <p:txBody>
          <a:bodyPr wrap="none"/>
          <a:lstStyle/>
          <a:p>
            <a:r>
              <a:rPr sz="2600"/>
              <a:t>Vamos a verlo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27</a:t>
            </a:fld>
            <a:endParaRPr lang="es-ES"/>
          </a:p>
        </p:txBody>
      </p:sp>
      <p:sp>
        <p:nvSpPr>
          <p:cNvPr id="13" name="Rounded Rectangle 12"/>
          <p:cNvSpPr/>
          <p:nvPr/>
        </p:nvSpPr>
        <p:spPr>
          <a:xfrm>
            <a:off x="484632" y="1234440"/>
            <a:ext cx="5477255" cy="499491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47447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5" name="Oval 14"/>
          <p:cNvSpPr/>
          <p:nvPr/>
        </p:nvSpPr>
        <p:spPr>
          <a:xfrm>
            <a:off x="667512" y="414720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Icono headset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070" y="4274760"/>
            <a:ext cx="311810" cy="3118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11062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Triaje FNOL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 el tramitador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80556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¿Qué hace el sistema con cada aviso?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134753"/>
            <a:ext cx="5111495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Un lote en vivo: ramo, datos y decisión en segundos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El criterio que falla y la frase del cliente que lo prueba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Reglas de negocio que se cambian sin programar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1234439"/>
            <a:ext cx="5477255" cy="4994909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58" y="1474470"/>
            <a:ext cx="5111495" cy="222238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2" name="Oval 21"/>
          <p:cNvSpPr/>
          <p:nvPr/>
        </p:nvSpPr>
        <p:spPr>
          <a:xfrm>
            <a:off x="6419088" y="4181491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Icono landmark" descr="image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46646" y="4309050"/>
            <a:ext cx="311810" cy="31181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104888" y="4144915"/>
            <a:ext cx="437997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194BFF"/>
                </a:solidFill>
                <a:latin typeface="Montserrat"/>
              </a:rPr>
              <a:t>Gobierno de Agentes</a:t>
            </a:r>
          </a:p>
          <a:p>
            <a:pPr>
              <a:lnSpc>
                <a:spcPct val="110000"/>
              </a:lnSpc>
            </a:pPr>
            <a:r>
              <a:rPr sz="1050" b="0" i="0">
                <a:solidFill>
                  <a:srgbClr val="7F7F7F"/>
                </a:solidFill>
                <a:latin typeface="Montserrat Medium"/>
              </a:rPr>
              <a:t>Lo que ven riesgos, auditoría y finanzas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839859"/>
            <a:ext cx="5111495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B1F5B"/>
                </a:solidFill>
                <a:latin typeface="Montserrat"/>
              </a:rPr>
              <a:t>¿Podemos fiarnos, controlarlo y pagarlo?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5169043"/>
            <a:ext cx="5111495" cy="914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Autonomía, guardrails y revisión humana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Trazas, razonamiento y replay what-if</a:t>
            </a:r>
          </a:p>
          <a:p>
            <a:pPr>
              <a:lnSpc>
                <a:spcPct val="120000"/>
              </a:lnSpc>
            </a:pPr>
            <a:r>
              <a:rPr sz="800" b="0" i="0">
                <a:solidFill>
                  <a:srgbClr val="FF1414"/>
                </a:solidFill>
                <a:latin typeface="Montserrat Medium"/>
              </a:rPr>
              <a:t>►  </a:t>
            </a:r>
            <a:r>
              <a:rPr sz="1050" b="0" i="0">
                <a:solidFill>
                  <a:srgbClr val="595959"/>
                </a:solidFill>
                <a:latin typeface="Montserrat Medium"/>
              </a:rPr>
              <a:t>Conocimiento, cumplimiento, FinOps y medidas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2104390" cy="648000"/>
          </a:xfrm>
        </p:spPr>
        <p:txBody>
          <a:bodyPr wrap="none"/>
          <a:lstStyle/>
          <a:p>
            <a:r>
              <a:t>Gracias</a:t>
            </a:r>
          </a:p>
        </p:txBody>
      </p:sp>
      <p:pic>
        <p:nvPicPr>
          <p:cNvPr id="4" name="Picture 3" descr="hex_photo_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850392"/>
            <a:ext cx="5230368" cy="52112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 Logicalis Template March 2026">
  <a:themeElements>
    <a:clrScheme name="TDL New">
      <a:dk1>
        <a:srgbClr val="595959"/>
      </a:dk1>
      <a:lt1>
        <a:srgbClr val="FFFFFF"/>
      </a:lt1>
      <a:dk2>
        <a:srgbClr val="595959"/>
      </a:dk2>
      <a:lt2>
        <a:srgbClr val="E7E6E6"/>
      </a:lt2>
      <a:accent1>
        <a:srgbClr val="FF1414"/>
      </a:accent1>
      <a:accent2>
        <a:srgbClr val="595959"/>
      </a:accent2>
      <a:accent3>
        <a:srgbClr val="194BFF"/>
      </a:accent3>
      <a:accent4>
        <a:srgbClr val="00FFCD"/>
      </a:accent4>
      <a:accent5>
        <a:srgbClr val="E6E6E6"/>
      </a:accent5>
      <a:accent6>
        <a:srgbClr val="FF1414"/>
      </a:accent6>
      <a:hlink>
        <a:srgbClr val="595959"/>
      </a:hlink>
      <a:folHlink>
        <a:srgbClr val="A29791"/>
      </a:folHlink>
    </a:clrScheme>
    <a:fontScheme name="TDL NEW Font">
      <a:majorFont>
        <a:latin typeface="Roboto Slab"/>
        <a:ea typeface=""/>
        <a:cs typeface=""/>
      </a:majorFont>
      <a:minorFont>
        <a:latin typeface="Montserra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DL Template.pptx" id="{49FD070F-6C74-4054-BC33-4F4E7F43F796}" vid="{6D854CFD-DB59-4F78-BD86-5C43773322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69F901A49CB064A9C4B1D391D24583D" ma:contentTypeVersion="15" ma:contentTypeDescription="Crear nuevo documento." ma:contentTypeScope="" ma:versionID="c01ca280964f438bf2e2e8c57f041e78">
  <xsd:schema xmlns:xsd="http://www.w3.org/2001/XMLSchema" xmlns:xs="http://www.w3.org/2001/XMLSchema" xmlns:p="http://schemas.microsoft.com/office/2006/metadata/properties" xmlns:ns2="bc1a385b-e1fe-4f98-ade6-787642576ba7" xmlns:ns3="ec24e197-8a67-4a13-a14c-425853cf5e9f" targetNamespace="http://schemas.microsoft.com/office/2006/metadata/properties" ma:root="true" ma:fieldsID="002b4cf6722f3fad18b0e6f8ed65e6e2" ns2:_="" ns3:_="">
    <xsd:import namespace="bc1a385b-e1fe-4f98-ade6-787642576ba7"/>
    <xsd:import namespace="ec24e197-8a67-4a13-a14c-425853cf5e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1a385b-e1fe-4f98-ade6-787642576b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10fce5ab-aaf9-49f9-a6ce-ac3a074a46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24e197-8a67-4a13-a14c-425853cf5e9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fef96e38-1bbd-4d0a-8955-62bde1cd75dc}" ma:internalName="TaxCatchAll" ma:showField="CatchAllData" ma:web="ec24e197-8a67-4a13-a14c-425853cf5e9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1a385b-e1fe-4f98-ade6-787642576ba7">
      <Terms xmlns="http://schemas.microsoft.com/office/infopath/2007/PartnerControls"/>
    </lcf76f155ced4ddcb4097134ff3c332f>
    <TaxCatchAll xmlns="ec24e197-8a67-4a13-a14c-425853cf5e9f" xsi:nil="true"/>
  </documentManagement>
</p:properties>
</file>

<file path=customXml/itemProps1.xml><?xml version="1.0" encoding="utf-8"?>
<ds:datastoreItem xmlns:ds="http://schemas.openxmlformats.org/officeDocument/2006/customXml" ds:itemID="{2F53B6D5-302C-4812-BDB4-23286F7EBC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3107499-3C28-4C3E-9EDE-1BEF227098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1a385b-e1fe-4f98-ade6-787642576ba7"/>
    <ds:schemaRef ds:uri="ec24e197-8a67-4a13-a14c-425853cf5e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251A99C-5D78-4D91-A271-C92583798633}">
  <ds:schemaRefs>
    <ds:schemaRef ds:uri="bc1a385b-e1fe-4f98-ade6-787642576ba7"/>
    <ds:schemaRef ds:uri="ec24e197-8a67-4a13-a14c-425853cf5e9f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5231</TotalTime>
  <Words>4618</Words>
  <Application>Microsoft Macintosh PowerPoint</Application>
  <PresentationFormat>Panorámica</PresentationFormat>
  <Paragraphs>365</Paragraphs>
  <Slides>28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8" baseType="lpstr">
      <vt:lpstr>.Lucida Grande UI Regular</vt:lpstr>
      <vt:lpstr>Arial</vt:lpstr>
      <vt:lpstr>Calibri</vt:lpstr>
      <vt:lpstr>Monaco</vt:lpstr>
      <vt:lpstr>Montserrat</vt:lpstr>
      <vt:lpstr>Montserrat Light</vt:lpstr>
      <vt:lpstr>Montserrat Medium</vt:lpstr>
      <vt:lpstr>Roboto Slab</vt:lpstr>
      <vt:lpstr>Wingdings</vt:lpstr>
      <vt:lpstr>PPT Logicalis Template March 2026</vt:lpstr>
      <vt:lpstr>FNOL con agentes</vt:lpstr>
      <vt:lpstr>Agenda</vt:lpstr>
      <vt:lpstr>Presentación de PowerPoint</vt:lpstr>
      <vt:lpstr>La avalancha de avisos</vt:lpstr>
      <vt:lpstr>Clasificar y extraer datos ya está resuelto…</vt:lpstr>
      <vt:lpstr>El problema real: pasar un piloto a producción</vt:lpstr>
      <vt:lpstr>El marco</vt:lpstr>
      <vt:lpstr>Lo que exige la regulación</vt:lpstr>
      <vt:lpstr>Presentación de PowerPoint</vt:lpstr>
      <vt:lpstr>Lo que no existe en el mercado</vt:lpstr>
      <vt:lpstr>La solución: agentes pequeños y gobernados</vt:lpstr>
      <vt:lpstr>Cada agente, inventariado</vt:lpstr>
      <vt:lpstr>Seis pilares, cada uno con su prueba</vt:lpstr>
      <vt:lpstr>Resumen: el estado del sistema en diez segundos</vt:lpstr>
      <vt:lpstr>Trazabilidad: qué pasó con cada mensaje</vt:lpstr>
      <vt:lpstr>Autonomía: cuánto decide cada agente solo</vt:lpstr>
      <vt:lpstr>Guardrails: los límites que frenan al agente</vt:lpstr>
      <vt:lpstr>Intervención humana: una supervisión demostrable</vt:lpstr>
      <vt:lpstr>Razonamiento y replay: el porqué y el «¿y si…?»</vt:lpstr>
      <vt:lpstr>Knowledge Bases: el conocimiento con el que deciden</vt:lpstr>
      <vt:lpstr>Cumplimiento: la prueba en cada decisión</vt:lpstr>
      <vt:lpstr>Seudonimizar antes de llamar al modelo</vt:lpstr>
      <vt:lpstr>FinOps: el coste de cada decisión, bajo control</vt:lpstr>
      <vt:lpstr>Medidas correctivas: cada problema con su dueño</vt:lpstr>
      <vt:lpstr>Histórico: el libro de registro</vt:lpstr>
      <vt:lpstr>La demo</vt:lpstr>
      <vt:lpstr>Vamos a verlo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con agentes gobernados</dc:title>
  <dc:creator>Ignacio Sánchez</dc:creator>
  <cp:lastModifiedBy>Ignacio Sánchez Enjuto</cp:lastModifiedBy>
  <cp:revision>5</cp:revision>
  <dcterms:created xsi:type="dcterms:W3CDTF">2023-07-20T13:22:40Z</dcterms:created>
  <dcterms:modified xsi:type="dcterms:W3CDTF">2026-10-13T07:40:13Z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ensitivity">
    <vt:lpwstr>Sensible</vt:lpwstr>
  </property>
  <property fmtid="{D5CDD505-2E9C-101B-9397-08002B2CF9AE}" pid="3" name="MSIP_Label_71e2662a-0625-4560-92a8-8decd38b51d5_Extended_MSFT_Method">
    <vt:lpwstr>Standard</vt:lpwstr>
  </property>
  <property fmtid="{D5CDD505-2E9C-101B-9397-08002B2CF9AE}" pid="4" name="ContentTypeId">
    <vt:lpwstr>0x010100C69F901A49CB064A9C4B1D391D24583D</vt:lpwstr>
  </property>
  <property fmtid="{D5CDD505-2E9C-101B-9397-08002B2CF9AE}" pid="5" name="MediaServiceImageTags">
    <vt:lpwstr/>
  </property>
  <property fmtid="{D5CDD505-2E9C-101B-9397-08002B2CF9AE}" pid="6" name="MSIP_Label_71e2662a-0625-4560-92a8-8decd38b51d5_Removed">
    <vt:lpwstr>False</vt:lpwstr>
  </property>
  <property fmtid="{D5CDD505-2E9C-101B-9397-08002B2CF9AE}" pid="7" name="MSIP_Label_71e2662a-0625-4560-92a8-8decd38b51d5_ActionId">
    <vt:lpwstr>1f16ca72-26c2-402d-98b3-c2cfda3bf25e</vt:lpwstr>
  </property>
  <property fmtid="{D5CDD505-2E9C-101B-9397-08002B2CF9AE}" pid="8" name="MSIP_Label_71e2662a-0625-4560-92a8-8decd38b51d5_Name">
    <vt:lpwstr>Sensible</vt:lpwstr>
  </property>
  <property fmtid="{D5CDD505-2E9C-101B-9397-08002B2CF9AE}" pid="9" name="MSIP_Label_71e2662a-0625-4560-92a8-8decd38b51d5_SetDate">
    <vt:lpwstr>2026-03-19T18:17:36Z</vt:lpwstr>
  </property>
  <property fmtid="{D5CDD505-2E9C-101B-9397-08002B2CF9AE}" pid="10" name="MSIP_Label_71e2662a-0625-4560-92a8-8decd38b51d5_SiteId">
    <vt:lpwstr>4b51496e-4cf2-4728-b551-2bdc71444141</vt:lpwstr>
  </property>
  <property fmtid="{D5CDD505-2E9C-101B-9397-08002B2CF9AE}" pid="11" name="MSIP_Label_71e2662a-0625-4560-92a8-8decd38b51d5_Enabled">
    <vt:lpwstr>True</vt:lpwstr>
  </property>
</Properties>
</file>