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346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58" r:id="rId17"/>
    <p:sldId id="359" r:id="rId18"/>
    <p:sldId id="360" r:id="rId19"/>
    <p:sldId id="361" r:id="rId20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cons" id="{E57AE0B5-2D22-3B4E-900D-32E0443C9C6A}">
          <p14:sldIdLst>
            <p14:sldId id="346"/>
            <p14:sldId id="347"/>
          </p14:sldIdLst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B38D15-ABBF-2BAC-2E94-22F937B48579}" v="4" dt="2026-10-07T14:08:33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4"/>
    <p:restoredTop sz="85408"/>
  </p:normalViewPr>
  <p:slideViewPr>
    <p:cSldViewPr snapToGrid="0">
      <p:cViewPr varScale="1">
        <p:scale>
          <a:sx n="83" d="100"/>
          <a:sy n="83" d="100"/>
        </p:scale>
        <p:origin x="23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Sánchez Enjuto" userId="c691bf97-6f4a-46de-97c8-063fd3f20c17" providerId="ADAL" clId="{2691E216-BC80-53A0-9A71-853C30BFFE25}"/>
    <pc:docChg chg="undo redo custSel modSld">
      <pc:chgData name="Ignacio Sánchez Enjuto" userId="c691bf97-6f4a-46de-97c8-063fd3f20c17" providerId="ADAL" clId="{2691E216-BC80-53A0-9A71-853C30BFFE25}" dt="2026-10-02T15:18:24.635" v="601" actId="692"/>
      <pc:docMkLst>
        <pc:docMk/>
      </pc:docMkLst>
      <pc:sldChg chg="modSp mod">
        <pc:chgData name="Ignacio Sánchez Enjuto" userId="c691bf97-6f4a-46de-97c8-063fd3f20c17" providerId="ADAL" clId="{2691E216-BC80-53A0-9A71-853C30BFFE25}" dt="2026-10-02T06:50:21.727" v="21" actId="20577"/>
        <pc:sldMkLst>
          <pc:docMk/>
          <pc:sldMk cId="0" sldId="348"/>
        </pc:sldMkLst>
        <pc:spChg chg="mod">
          <ac:chgData name="Ignacio Sánchez Enjuto" userId="c691bf97-6f4a-46de-97c8-063fd3f20c17" providerId="ADAL" clId="{2691E216-BC80-53A0-9A71-853C30BFFE25}" dt="2026-10-02T06:50:21.727" v="21" actId="20577"/>
          <ac:spMkLst>
            <pc:docMk/>
            <pc:sldMk cId="0" sldId="348"/>
            <ac:spMk id="5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06:32.378" v="465" actId="207"/>
        <pc:sldMkLst>
          <pc:docMk/>
          <pc:sldMk cId="0" sldId="349"/>
        </pc:sldMkLst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3.818" v="105" actId="14100"/>
          <ac:spMkLst>
            <pc:docMk/>
            <pc:sldMk cId="0" sldId="349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7.668" v="106" actId="14100"/>
          <ac:spMkLst>
            <pc:docMk/>
            <pc:sldMk cId="0" sldId="349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34.432" v="450" actId="20577"/>
          <ac:spMkLst>
            <pc:docMk/>
            <pc:sldMk cId="0" sldId="349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50.070" v="461" actId="5793"/>
          <ac:spMkLst>
            <pc:docMk/>
            <pc:sldMk cId="0" sldId="349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01.051" v="110" actId="14100"/>
          <ac:spMkLst>
            <pc:docMk/>
            <pc:sldMk cId="0" sldId="349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57.466" v="109" actId="14100"/>
          <ac:spMkLst>
            <pc:docMk/>
            <pc:sldMk cId="0" sldId="349"/>
            <ac:spMk id="4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7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24.815" v="141" actId="108"/>
          <ac:cxnSpMkLst>
            <pc:docMk/>
            <pc:sldMk cId="0" sldId="349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27.500" v="142" actId="108"/>
          <ac:cxnSpMkLst>
            <pc:docMk/>
            <pc:sldMk cId="0" sldId="349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15:04:38.981" v="455" actId="1038"/>
          <ac:cxnSpMkLst>
            <pc:docMk/>
            <pc:sldMk cId="0" sldId="349"/>
            <ac:cxnSpMk id="35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33.049" v="144" actId="108"/>
          <ac:cxnSpMkLst>
            <pc:docMk/>
            <pc:sldMk cId="0" sldId="349"/>
            <ac:cxnSpMk id="41" creationId="{00000000-0000-0000-0000-000000000000}"/>
          </ac:cxnSpMkLst>
        </pc:cxnChg>
      </pc:sldChg>
      <pc:sldChg chg="delSp modSp mod">
        <pc:chgData name="Ignacio Sánchez Enjuto" userId="c691bf97-6f4a-46de-97c8-063fd3f20c17" providerId="ADAL" clId="{2691E216-BC80-53A0-9A71-853C30BFFE25}" dt="2026-10-02T15:12:11.916" v="519" actId="14100"/>
        <pc:sldMkLst>
          <pc:docMk/>
          <pc:sldMk cId="0" sldId="350"/>
        </pc:sldMkLst>
        <pc:spChg chg="mod">
          <ac:chgData name="Ignacio Sánchez Enjuto" userId="c691bf97-6f4a-46de-97c8-063fd3f20c17" providerId="ADAL" clId="{2691E216-BC80-53A0-9A71-853C30BFFE25}" dt="2026-10-02T15:12:11.916" v="519" actId="14100"/>
          <ac:spMkLst>
            <pc:docMk/>
            <pc:sldMk cId="0" sldId="350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42.852" v="111" actId="692"/>
          <ac:spMkLst>
            <pc:docMk/>
            <pc:sldMk cId="0" sldId="35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31.081" v="121" actId="14100"/>
          <ac:spMkLst>
            <pc:docMk/>
            <pc:sldMk cId="0" sldId="35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14.032" v="113" actId="14100"/>
          <ac:spMkLst>
            <pc:docMk/>
            <pc:sldMk cId="0" sldId="350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1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6:53:23.313" v="119" actId="1038"/>
          <ac:picMkLst>
            <pc:docMk/>
            <pc:sldMk cId="0" sldId="350"/>
            <ac:picMk id="25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3:11.403" v="575" actId="1037"/>
        <pc:sldMkLst>
          <pc:docMk/>
          <pc:sldMk cId="0" sldId="351"/>
        </pc:sldMkLst>
        <pc:spChg chg="mod">
          <ac:chgData name="Ignacio Sánchez Enjuto" userId="c691bf97-6f4a-46de-97c8-063fd3f20c17" providerId="ADAL" clId="{2691E216-BC80-53A0-9A71-853C30BFFE25}" dt="2026-10-02T15:12:34.299" v="567" actId="14100"/>
          <ac:spMkLst>
            <pc:docMk/>
            <pc:sldMk cId="0" sldId="351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08.863" v="187" actId="20577"/>
          <ac:spMkLst>
            <pc:docMk/>
            <pc:sldMk cId="0" sldId="351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7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31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35" creationId="{00000000-0000-0000-0000-000000000000}"/>
          </ac:cxnSpMkLst>
        </pc:cxnChg>
      </pc:sldChg>
      <pc:sldChg chg="modSp mod">
        <pc:chgData name="Ignacio Sánchez Enjuto" userId="c691bf97-6f4a-46de-97c8-063fd3f20c17" providerId="ADAL" clId="{2691E216-BC80-53A0-9A71-853C30BFFE25}" dt="2026-10-02T15:15:53.178" v="589" actId="1035"/>
        <pc:sldMkLst>
          <pc:docMk/>
          <pc:sldMk cId="0" sldId="353"/>
        </pc:sldMkLst>
        <pc:spChg chg="mod">
          <ac:chgData name="Ignacio Sánchez Enjuto" userId="c691bf97-6f4a-46de-97c8-063fd3f20c17" providerId="ADAL" clId="{2691E216-BC80-53A0-9A71-853C30BFFE25}" dt="2026-10-02T06:57:04.955" v="185" actId="1036"/>
          <ac:spMkLst>
            <pc:docMk/>
            <pc:sldMk cId="0" sldId="353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14.965" v="205" actId="20577"/>
          <ac:spMkLst>
            <pc:docMk/>
            <pc:sldMk cId="0" sldId="353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33.300" v="207" actId="113"/>
          <ac:spMkLst>
            <pc:docMk/>
            <pc:sldMk cId="0" sldId="353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15.430" v="200" actId="1036"/>
          <ac:spMkLst>
            <pc:docMk/>
            <pc:sldMk cId="0" sldId="353"/>
            <ac:spMk id="5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1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2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2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5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07:01:55.861" v="323" actId="1036"/>
        <pc:sldMkLst>
          <pc:docMk/>
          <pc:sldMk cId="0" sldId="355"/>
        </pc:sldMkLst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10.672" v="259" actId="20577"/>
          <ac:spMkLst>
            <pc:docMk/>
            <pc:sldMk cId="0" sldId="355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35.116" v="305" actId="14100"/>
          <ac:spMkLst>
            <pc:docMk/>
            <pc:sldMk cId="0" sldId="355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6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7:04:19.897" v="400" actId="14100"/>
        <pc:sldMkLst>
          <pc:docMk/>
          <pc:sldMk cId="0" sldId="356"/>
        </pc:sldMkLst>
        <pc:spChg chg="mod">
          <ac:chgData name="Ignacio Sánchez Enjuto" userId="c691bf97-6f4a-46de-97c8-063fd3f20c17" providerId="ADAL" clId="{2691E216-BC80-53A0-9A71-853C30BFFE25}" dt="2026-10-02T07:03:29.127" v="386" actId="20577"/>
          <ac:spMkLst>
            <pc:docMk/>
            <pc:sldMk cId="0" sldId="356"/>
            <ac:spMk id="3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9.897" v="400" actId="14100"/>
          <ac:spMkLst>
            <pc:docMk/>
            <pc:sldMk cId="0" sldId="356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5.496" v="399" actId="1036"/>
          <ac:spMkLst>
            <pc:docMk/>
            <pc:sldMk cId="0" sldId="356"/>
            <ac:spMk id="59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10:06.723" v="476" actId="1037"/>
        <pc:sldMkLst>
          <pc:docMk/>
          <pc:sldMk cId="0" sldId="357"/>
        </pc:sldMkLst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1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3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8:03.357" v="597" actId="692"/>
        <pc:sldMkLst>
          <pc:docMk/>
          <pc:sldMk cId="0" sldId="358"/>
        </pc:sldMkLst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41.335" v="596" actId="1076"/>
          <ac:spMkLst>
            <pc:docMk/>
            <pc:sldMk cId="0" sldId="358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6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43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5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61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8:24.635" v="601" actId="692"/>
        <pc:sldMkLst>
          <pc:docMk/>
          <pc:sldMk cId="0" sldId="360"/>
        </pc:sldMkLst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16.130" v="598" actId="692"/>
          <ac:spMkLst>
            <pc:docMk/>
            <pc:sldMk cId="0" sldId="360"/>
            <ac:spMk id="26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8:07:01.926" v="443" actId="1036"/>
          <ac:picMkLst>
            <pc:docMk/>
            <pc:sldMk cId="0" sldId="360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54.555" v="438" actId="1035"/>
          <ac:picMkLst>
            <pc:docMk/>
            <pc:sldMk cId="0" sldId="360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7:05.477" v="449" actId="1037"/>
          <ac:picMkLst>
            <pc:docMk/>
            <pc:sldMk cId="0" sldId="360"/>
            <ac:picMk id="2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38.100" v="430" actId="1036"/>
          <ac:picMkLst>
            <pc:docMk/>
            <pc:sldMk cId="0" sldId="360"/>
            <ac:picMk id="23" creationId="{00000000-0000-0000-0000-000000000000}"/>
          </ac:picMkLst>
        </pc:picChg>
      </pc:sldChg>
    </pc:docChg>
  </pc:docChgLst>
  <pc:docChgLst>
    <pc:chgData name="Ignacio Sánchez Enjuto" userId="S::ignacio.sancheze@es.logicalis.com::c691bf97-6f4a-46de-97c8-063fd3f20c17" providerId="AD" clId="Web-{85B38D15-ABBF-2BAC-2E94-22F937B48579}"/>
    <pc:docChg chg="sldOrd delSection">
      <pc:chgData name="Ignacio Sánchez Enjuto" userId="S::ignacio.sancheze@es.logicalis.com::c691bf97-6f4a-46de-97c8-063fd3f20c17" providerId="AD" clId="Web-{85B38D15-ABBF-2BAC-2E94-22F937B48579}" dt="2026-10-07T14:08:33.342" v="4"/>
      <pc:docMkLst>
        <pc:docMk/>
      </pc:docMkLst>
      <pc:sldChg chg="ord">
        <pc:chgData name="Ignacio Sánchez Enjuto" userId="S::ignacio.sancheze@es.logicalis.com::c691bf97-6f4a-46de-97c8-063fd3f20c17" providerId="AD" clId="Web-{85B38D15-ABBF-2BAC-2E94-22F937B48579}" dt="2026-10-07T14:08:33.342" v="4"/>
        <pc:sldMkLst>
          <pc:docMk/>
          <pc:sldMk cId="0" sldId="346"/>
        </pc:sldMkLst>
      </pc:sldChg>
      <pc:sldChg chg="ord">
        <pc:chgData name="Ignacio Sánchez Enjuto" userId="S::ignacio.sancheze@es.logicalis.com::c691bf97-6f4a-46de-97c8-063fd3f20c17" providerId="AD" clId="Web-{85B38D15-ABBF-2BAC-2E94-22F937B48579}" dt="2026-10-07T14:08:33.342" v="3"/>
        <pc:sldMkLst>
          <pc:docMk/>
          <pc:sldMk cId="0" sldId="34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10/07/2026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(0-3 min) «Hoy no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IA </a:t>
            </a:r>
            <a:r>
              <a:rPr dirty="0" err="1"/>
              <a:t>clasifica</a:t>
            </a:r>
            <a:r>
              <a:rPr dirty="0"/>
              <a:t> un </a:t>
            </a:r>
            <a:r>
              <a:rPr dirty="0" err="1"/>
              <a:t>siniestro</a:t>
            </a:r>
            <a:r>
              <a:rPr dirty="0"/>
              <a:t>. Eso </a:t>
            </a:r>
            <a:r>
              <a:rPr dirty="0" err="1"/>
              <a:t>ya</a:t>
            </a:r>
            <a:r>
              <a:rPr dirty="0"/>
              <a:t> lo </a:t>
            </a:r>
            <a:r>
              <a:rPr dirty="0" err="1"/>
              <a:t>sabéis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se pone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aseguradora</a:t>
            </a:r>
            <a:r>
              <a:rPr dirty="0"/>
              <a:t>.» — «Cada </a:t>
            </a:r>
            <a:r>
              <a:rPr dirty="0" err="1"/>
              <a:t>mensaje</a:t>
            </a:r>
            <a:r>
              <a:rPr dirty="0"/>
              <a:t> lo lee, lo </a:t>
            </a:r>
            <a:r>
              <a:rPr dirty="0" err="1"/>
              <a:t>clasifica</a:t>
            </a:r>
            <a:r>
              <a:rPr dirty="0"/>
              <a:t> y lo </a:t>
            </a:r>
            <a:r>
              <a:rPr dirty="0" err="1"/>
              <a:t>teclea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persona. Ahí se </a:t>
            </a:r>
            <a:r>
              <a:rPr dirty="0" err="1"/>
              <a:t>va</a:t>
            </a:r>
            <a:r>
              <a:rPr dirty="0"/>
              <a:t> el </a:t>
            </a:r>
            <a:r>
              <a:rPr dirty="0" err="1"/>
              <a:t>tiempo</a:t>
            </a:r>
            <a:r>
              <a:rPr dirty="0"/>
              <a:t> y el dinero. Y el </a:t>
            </a:r>
            <a:r>
              <a:rPr dirty="0" err="1"/>
              <a:t>cliente</a:t>
            </a:r>
            <a:r>
              <a:rPr dirty="0"/>
              <a:t> </a:t>
            </a:r>
            <a:r>
              <a:rPr dirty="0" err="1"/>
              <a:t>espera</a:t>
            </a:r>
            <a:r>
              <a:rPr dirty="0"/>
              <a:t>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horas, no </a:t>
            </a:r>
            <a:r>
              <a:rPr dirty="0" err="1"/>
              <a:t>en</a:t>
            </a:r>
            <a:r>
              <a:rPr dirty="0"/>
              <a:t> días.» Fuentes: UNESPA (</a:t>
            </a:r>
            <a:r>
              <a:rPr dirty="0" err="1"/>
              <a:t>siniestros</a:t>
            </a:r>
            <a:r>
              <a:rPr dirty="0"/>
              <a:t> de </a:t>
            </a:r>
            <a:r>
              <a:rPr dirty="0" err="1"/>
              <a:t>automóvil</a:t>
            </a:r>
            <a:r>
              <a:rPr dirty="0"/>
              <a:t>, </a:t>
            </a:r>
            <a:r>
              <a:rPr dirty="0" err="1"/>
              <a:t>datos</a:t>
            </a:r>
            <a:r>
              <a:rPr dirty="0"/>
              <a:t> 2024) para </a:t>
            </a:r>
            <a:r>
              <a:rPr dirty="0" err="1"/>
              <a:t>los</a:t>
            </a:r>
            <a:r>
              <a:rPr dirty="0"/>
              <a:t> ~11 M y el «uno </a:t>
            </a:r>
            <a:r>
              <a:rPr dirty="0" err="1"/>
              <a:t>cada</a:t>
            </a:r>
            <a:r>
              <a:rPr dirty="0"/>
              <a:t> 3 s»; art. 16 de la Ley 50/1980 (BOE) para </a:t>
            </a:r>
            <a:r>
              <a:rPr dirty="0" err="1"/>
              <a:t>los</a:t>
            </a:r>
            <a:r>
              <a:rPr dirty="0"/>
              <a:t> 7 días; Insurance Information Institute con </a:t>
            </a:r>
            <a:r>
              <a:rPr dirty="0" err="1"/>
              <a:t>datos</a:t>
            </a:r>
            <a:r>
              <a:rPr dirty="0"/>
              <a:t> NAIC para el ~10 % (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de Auto </a:t>
            </a:r>
            <a:r>
              <a:rPr dirty="0" err="1"/>
              <a:t>particulares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EE. UU., 2023: 2,3 % defensa y </a:t>
            </a:r>
            <a:r>
              <a:rPr dirty="0" err="1"/>
              <a:t>contención</a:t>
            </a:r>
            <a:r>
              <a:rPr dirty="0"/>
              <a:t> de </a:t>
            </a:r>
            <a:r>
              <a:rPr dirty="0" err="1"/>
              <a:t>costes</a:t>
            </a:r>
            <a:r>
              <a:rPr dirty="0"/>
              <a:t> + 7,5 % </a:t>
            </a:r>
            <a:r>
              <a:rPr dirty="0" err="1"/>
              <a:t>tramitación</a:t>
            </a:r>
            <a:r>
              <a:rPr dirty="0"/>
              <a:t>). No hay </a:t>
            </a:r>
            <a:r>
              <a:rPr dirty="0" err="1"/>
              <a:t>dato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 </a:t>
            </a:r>
            <a:r>
              <a:rPr dirty="0" err="1"/>
              <a:t>equivalente</a:t>
            </a:r>
            <a:r>
              <a:rPr dirty="0"/>
              <a:t> para España. Los 5 canales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cubre</a:t>
            </a:r>
            <a:r>
              <a:rPr dirty="0"/>
              <a:t> la </a:t>
            </a:r>
            <a:r>
              <a:rPr dirty="0" err="1"/>
              <a:t>solución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(3-4 min) </a:t>
            </a:r>
            <a:r>
              <a:rPr dirty="0" err="1"/>
              <a:t>Ir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. La idea es </a:t>
            </a:r>
            <a:r>
              <a:rPr dirty="0" err="1"/>
              <a:t>quitar</a:t>
            </a:r>
            <a:r>
              <a:rPr dirty="0"/>
              <a:t> de la mesa la </a:t>
            </a:r>
            <a:r>
              <a:rPr dirty="0" err="1"/>
              <a:t>pregunta</a:t>
            </a:r>
            <a:r>
              <a:rPr dirty="0"/>
              <a:t> «¿la IA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hacerlo</a:t>
            </a:r>
            <a:r>
              <a:rPr dirty="0"/>
              <a:t>?» para pasar a la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(4-6 min) «Los </a:t>
            </a:r>
            <a:r>
              <a:rPr dirty="0" err="1"/>
              <a:t>proyectos</a:t>
            </a:r>
            <a:r>
              <a:rPr dirty="0"/>
              <a:t> no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IA </a:t>
            </a:r>
            <a:r>
              <a:rPr dirty="0" err="1"/>
              <a:t>falle</a:t>
            </a:r>
            <a:r>
              <a:rPr dirty="0"/>
              <a:t>.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responder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: ¿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decidió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?, ¿</a:t>
            </a:r>
            <a:r>
              <a:rPr dirty="0" err="1"/>
              <a:t>quién</a:t>
            </a:r>
            <a:r>
              <a:rPr dirty="0"/>
              <a:t> lo </a:t>
            </a:r>
            <a:r>
              <a:rPr dirty="0" err="1"/>
              <a:t>controla</a:t>
            </a:r>
            <a:r>
              <a:rPr dirty="0"/>
              <a:t>?, ¿</a:t>
            </a:r>
            <a:r>
              <a:rPr dirty="0" err="1"/>
              <a:t>cuánto</a:t>
            </a:r>
            <a:r>
              <a:rPr dirty="0"/>
              <a:t> cuesta?»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 son el </a:t>
            </a:r>
            <a:r>
              <a:rPr dirty="0" err="1"/>
              <a:t>hilo</a:t>
            </a:r>
            <a:r>
              <a:rPr dirty="0"/>
              <a:t> de </a:t>
            </a:r>
            <a:r>
              <a:rPr dirty="0" err="1"/>
              <a:t>toda</a:t>
            </a:r>
            <a:r>
              <a:rPr dirty="0"/>
              <a:t> la </a:t>
            </a:r>
            <a:r>
              <a:rPr dirty="0" err="1"/>
              <a:t>sesión</a:t>
            </a:r>
            <a:r>
              <a:rPr dirty="0"/>
              <a:t>. </a:t>
            </a:r>
            <a:r>
              <a:rPr dirty="0" err="1"/>
              <a:t>Motivos</a:t>
            </a:r>
            <a:r>
              <a:rPr dirty="0"/>
              <a:t> de </a:t>
            </a:r>
            <a:r>
              <a:rPr dirty="0" err="1"/>
              <a:t>cancelación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Gartner: </a:t>
            </a:r>
            <a:r>
              <a:rPr dirty="0" err="1"/>
              <a:t>costes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disparan</a:t>
            </a:r>
            <a:r>
              <a:rPr dirty="0"/>
              <a:t>, valor poco claro, </a:t>
            </a:r>
            <a:r>
              <a:rPr dirty="0" err="1"/>
              <a:t>riesgo</a:t>
            </a:r>
            <a:r>
              <a:rPr dirty="0"/>
              <a:t> sin </a:t>
            </a:r>
            <a:r>
              <a:rPr dirty="0" err="1"/>
              <a:t>controlar</a:t>
            </a:r>
            <a:r>
              <a:rPr dirty="0"/>
              <a:t>. Fuentes: Conning, AI in Insurance 2025 (90 % </a:t>
            </a:r>
            <a:r>
              <a:rPr dirty="0" err="1"/>
              <a:t>evaluando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; el 22 %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, </a:t>
            </a:r>
            <a:r>
              <a:rPr dirty="0" err="1"/>
              <a:t>citado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Outcome Catalyst); The Insurer, </a:t>
            </a:r>
            <a:r>
              <a:rPr dirty="0" err="1"/>
              <a:t>encuesta</a:t>
            </a:r>
            <a:r>
              <a:rPr dirty="0"/>
              <a:t> de IA Capital 2026 (4 %; </a:t>
            </a:r>
            <a:r>
              <a:rPr dirty="0" err="1"/>
              <a:t>artículo</a:t>
            </a:r>
            <a:r>
              <a:rPr dirty="0"/>
              <a:t> de </a:t>
            </a:r>
            <a:r>
              <a:rPr dirty="0" err="1"/>
              <a:t>pago</a:t>
            </a:r>
            <a:r>
              <a:rPr dirty="0"/>
              <a:t>, </a:t>
            </a:r>
            <a:r>
              <a:rPr dirty="0" err="1"/>
              <a:t>cifra</a:t>
            </a:r>
            <a:r>
              <a:rPr dirty="0"/>
              <a:t> no </a:t>
            </a:r>
            <a:r>
              <a:rPr dirty="0" err="1"/>
              <a:t>verificada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fuente</a:t>
            </a:r>
            <a:r>
              <a:rPr dirty="0"/>
              <a:t> original); Gartner, nota de </a:t>
            </a:r>
            <a:r>
              <a:rPr dirty="0" err="1"/>
              <a:t>prensa</a:t>
            </a:r>
            <a:r>
              <a:rPr dirty="0"/>
              <a:t> del 25/06/2025 (40 %).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(6-9 min) «Un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firma</a:t>
            </a:r>
            <a:r>
              <a:rPr dirty="0"/>
              <a:t> sin </a:t>
            </a:r>
            <a:r>
              <a:rPr dirty="0" err="1"/>
              <a:t>mirar</a:t>
            </a:r>
            <a:r>
              <a:rPr dirty="0"/>
              <a:t> no </a:t>
            </a:r>
            <a:r>
              <a:rPr dirty="0" err="1"/>
              <a:t>cuenta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supervisión</a:t>
            </a:r>
            <a:r>
              <a:rPr dirty="0"/>
              <a:t>: lo </a:t>
            </a:r>
            <a:r>
              <a:rPr dirty="0" err="1"/>
              <a:t>dijo</a:t>
            </a:r>
            <a:r>
              <a:rPr dirty="0"/>
              <a:t> el TJUE. Y el </a:t>
            </a:r>
            <a:r>
              <a:rPr dirty="0" err="1"/>
              <a:t>aplazamiento</a:t>
            </a:r>
            <a:r>
              <a:rPr dirty="0"/>
              <a:t> no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excusa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construya</a:t>
            </a:r>
            <a:r>
              <a:rPr dirty="0"/>
              <a:t> sin </a:t>
            </a:r>
            <a:r>
              <a:rPr dirty="0" err="1"/>
              <a:t>gobierno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rehará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2027.» Cuidado: el </a:t>
            </a:r>
            <a:r>
              <a:rPr dirty="0" err="1"/>
              <a:t>triaje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Anexo III (solo la </a:t>
            </a:r>
            <a:r>
              <a:rPr dirty="0" err="1"/>
              <a:t>tarificación</a:t>
            </a:r>
            <a:r>
              <a:rPr dirty="0"/>
              <a:t> y </a:t>
            </a:r>
            <a:r>
              <a:rPr dirty="0" err="1"/>
              <a:t>evaluación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Vida y Salud). No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el AI Act </a:t>
            </a:r>
            <a:r>
              <a:rPr dirty="0" err="1"/>
              <a:t>obliga</a:t>
            </a:r>
            <a:r>
              <a:rPr dirty="0"/>
              <a:t> hoy a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; la </a:t>
            </a:r>
            <a:r>
              <a:rPr dirty="0" err="1"/>
              <a:t>obligación</a:t>
            </a:r>
            <a:r>
              <a:rPr dirty="0"/>
              <a:t> de hoy </a:t>
            </a:r>
            <a:r>
              <a:rPr dirty="0" err="1"/>
              <a:t>viene</a:t>
            </a:r>
            <a:r>
              <a:rPr dirty="0"/>
              <a:t> del RGPD, DORA y EIOPA.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(9-10 min) No </a:t>
            </a:r>
            <a:r>
              <a:rPr dirty="0" err="1"/>
              <a:t>decir</a:t>
            </a:r>
            <a:r>
              <a:rPr dirty="0"/>
              <a:t> «no </a:t>
            </a:r>
            <a:r>
              <a:rPr dirty="0" err="1"/>
              <a:t>existe</a:t>
            </a:r>
            <a:r>
              <a:rPr dirty="0"/>
              <a:t> nada». </a:t>
            </a:r>
            <a:r>
              <a:rPr dirty="0" err="1"/>
              <a:t>Existen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;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es </a:t>
            </a:r>
            <a:r>
              <a:rPr dirty="0" err="1"/>
              <a:t>integrarlas</a:t>
            </a:r>
            <a:r>
              <a:rPr dirty="0"/>
              <a:t> con el </a:t>
            </a:r>
            <a:r>
              <a:rPr dirty="0" err="1"/>
              <a:t>negocio</a:t>
            </a:r>
            <a:r>
              <a:rPr dirty="0"/>
              <a:t> del </a:t>
            </a:r>
            <a:r>
              <a:rPr dirty="0" err="1"/>
              <a:t>cliente</a:t>
            </a:r>
            <a:r>
              <a:rPr dirty="0"/>
              <a:t>. Si </a:t>
            </a:r>
            <a:r>
              <a:rPr dirty="0" err="1"/>
              <a:t>alguien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«¿</a:t>
            </a:r>
            <a:r>
              <a:rPr dirty="0" err="1"/>
              <a:t>cuánto</a:t>
            </a:r>
            <a:r>
              <a:rPr dirty="0"/>
              <a:t> cuesta?», la </a:t>
            </a:r>
            <a:r>
              <a:rPr dirty="0" err="1"/>
              <a:t>respuesta</a:t>
            </a:r>
            <a:r>
              <a:rPr dirty="0"/>
              <a:t> es </a:t>
            </a:r>
            <a:r>
              <a:rPr dirty="0" err="1"/>
              <a:t>que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forma de </a:t>
            </a:r>
            <a:r>
              <a:rPr dirty="0" err="1"/>
              <a:t>implementar</a:t>
            </a:r>
            <a:r>
              <a:rPr dirty="0"/>
              <a:t>, no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licencia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(10-12 min) «No es </a:t>
            </a:r>
            <a:r>
              <a:rPr dirty="0" err="1"/>
              <a:t>una</a:t>
            </a:r>
            <a:r>
              <a:rPr dirty="0"/>
              <a:t> IA </a:t>
            </a:r>
            <a:r>
              <a:rPr dirty="0" err="1"/>
              <a:t>que</a:t>
            </a:r>
            <a:r>
              <a:rPr dirty="0"/>
              <a:t> lo </a:t>
            </a:r>
            <a:r>
              <a:rPr dirty="0" err="1"/>
              <a:t>hace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. Son cuatro </a:t>
            </a:r>
            <a:r>
              <a:rPr dirty="0" err="1"/>
              <a:t>especialistas</a:t>
            </a:r>
            <a:r>
              <a:rPr dirty="0"/>
              <a:t>, y </a:t>
            </a:r>
            <a:r>
              <a:rPr dirty="0" err="1"/>
              <a:t>cada</a:t>
            </a:r>
            <a:r>
              <a:rPr dirty="0"/>
              <a:t> uno </a:t>
            </a:r>
            <a:r>
              <a:rPr dirty="0" err="1"/>
              <a:t>tiene</a:t>
            </a:r>
            <a:r>
              <a:rPr dirty="0"/>
              <a:t> sus </a:t>
            </a:r>
            <a:r>
              <a:rPr dirty="0" err="1"/>
              <a:t>propios</a:t>
            </a:r>
            <a:r>
              <a:rPr dirty="0"/>
              <a:t> </a:t>
            </a:r>
            <a:r>
              <a:rPr dirty="0" err="1"/>
              <a:t>límites</a:t>
            </a:r>
            <a:r>
              <a:rPr dirty="0"/>
              <a:t>.» Por </a:t>
            </a:r>
            <a:r>
              <a:rPr dirty="0" err="1"/>
              <a:t>debajo</a:t>
            </a:r>
            <a:r>
              <a:rPr dirty="0"/>
              <a:t>, la </a:t>
            </a:r>
            <a:r>
              <a:rPr dirty="0" err="1"/>
              <a:t>capa</a:t>
            </a:r>
            <a:r>
              <a:rPr dirty="0"/>
              <a:t> de </a:t>
            </a:r>
            <a:r>
              <a:rPr dirty="0" err="1"/>
              <a:t>gobierno</a:t>
            </a:r>
            <a:r>
              <a:rPr dirty="0"/>
              <a:t>: </a:t>
            </a:r>
            <a:r>
              <a:rPr dirty="0" err="1"/>
              <a:t>trazas</a:t>
            </a:r>
            <a:r>
              <a:rPr dirty="0"/>
              <a:t>, replay, </a:t>
            </a:r>
            <a:r>
              <a:rPr dirty="0" err="1"/>
              <a:t>autonomía</a:t>
            </a:r>
            <a:r>
              <a:rPr dirty="0"/>
              <a:t>, guardrails, FinOps e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Al final </a:t>
            </a:r>
            <a:r>
              <a:rPr dirty="0" err="1"/>
              <a:t>siempre</a:t>
            </a:r>
            <a:r>
              <a:rPr dirty="0"/>
              <a:t> hay un </a:t>
            </a:r>
            <a:r>
              <a:rPr dirty="0" err="1"/>
              <a:t>técnico</a:t>
            </a:r>
            <a:r>
              <a:rPr dirty="0"/>
              <a:t> de </a:t>
            </a:r>
            <a:r>
              <a:rPr dirty="0" err="1"/>
              <a:t>seguros</a:t>
            </a:r>
            <a:r>
              <a:rPr dirty="0"/>
              <a:t>: la IA </a:t>
            </a:r>
            <a:r>
              <a:rPr dirty="0" err="1"/>
              <a:t>prepara</a:t>
            </a:r>
            <a:r>
              <a:rPr dirty="0"/>
              <a:t>,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(12-14 min) «Todo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vais</a:t>
            </a:r>
            <a:r>
              <a:rPr dirty="0"/>
              <a:t> a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funcionando</a:t>
            </a:r>
            <a:r>
              <a:rPr dirty="0"/>
              <a:t>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(14-15 min) «Primero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</a:t>
            </a:r>
            <a:r>
              <a:rPr dirty="0" err="1"/>
              <a:t>tramitador</a:t>
            </a:r>
            <a:r>
              <a:rPr dirty="0"/>
              <a:t>. </a:t>
            </a:r>
            <a:r>
              <a:rPr dirty="0" err="1"/>
              <a:t>Después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auditor y el CFO.» Cambiar a la demo con el motor </a:t>
            </a:r>
            <a:r>
              <a:rPr dirty="0" err="1"/>
              <a:t>en</a:t>
            </a:r>
            <a:r>
              <a:rPr dirty="0"/>
              <a:t> «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» y el </a:t>
            </a:r>
            <a:r>
              <a:rPr dirty="0" err="1"/>
              <a:t>Paquete</a:t>
            </a:r>
            <a:r>
              <a:rPr dirty="0"/>
              <a:t> A </a:t>
            </a:r>
            <a:r>
              <a:rPr dirty="0" err="1"/>
              <a:t>seleccionado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October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unespa.es/notasdeprensa/siniestros-automovil-datos-2024/" TargetMode="External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10" Type="http://schemas.openxmlformats.org/officeDocument/2006/relationships/hyperlink" Target="https://www.iii.org/table-archive/23229" TargetMode="External"/><Relationship Id="rId4" Type="http://schemas.openxmlformats.org/officeDocument/2006/relationships/image" Target="../media/image14.svg"/><Relationship Id="rId9" Type="http://schemas.openxmlformats.org/officeDocument/2006/relationships/hyperlink" Target="https://www.boe.es/buscar/act.php?id=BOE-A-1980-22501#a1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12" Type="http://schemas.openxmlformats.org/officeDocument/2006/relationships/hyperlink" Target="https://www.theinsurer.com/ti/news/openai-dominates-ai-stacks-as-insurance-industry-moves-from-pilot-to-production-2026-05-06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11" Type="http://schemas.openxmlformats.org/officeDocument/2006/relationships/hyperlink" Target="https://www.outcomecatalyst.com/blog/insurance-ai-data-trends-2026" TargetMode="External"/><Relationship Id="rId5" Type="http://schemas.openxmlformats.org/officeDocument/2006/relationships/image" Target="../media/image23.svg"/><Relationship Id="rId10" Type="http://schemas.openxmlformats.org/officeDocument/2006/relationships/hyperlink" Target="https://conning.com/about-us/news/ir-pr---ai-survey-2025" TargetMode="External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13" Type="http://schemas.openxmlformats.org/officeDocument/2006/relationships/hyperlink" Target="https://curia.europa.eu/juris/liste.jsf?num=C-634/21" TargetMode="External"/><Relationship Id="rId18" Type="http://schemas.openxmlformats.org/officeDocument/2006/relationships/hyperlink" Target="https://www.gibsondunn.com/eu-ai-act-omnibus-agreement-postponed-high-risk-deadlines-and-other-key-changes/" TargetMode="External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12" Type="http://schemas.openxmlformats.org/officeDocument/2006/relationships/hyperlink" Target="https://eur-lex.europa.eu/eli/reg/2016/679/oj" TargetMode="External"/><Relationship Id="rId17" Type="http://schemas.openxmlformats.org/officeDocument/2006/relationships/hyperlink" Target="https://eur-lex.europa.eu/eli/reg/2024/1689/oj" TargetMode="External"/><Relationship Id="rId2" Type="http://schemas.openxmlformats.org/officeDocument/2006/relationships/notesSlide" Target="../notesSlides/notesSlide4.xml"/><Relationship Id="rId16" Type="http://schemas.openxmlformats.org/officeDocument/2006/relationships/hyperlink" Target="https://www.eiopa.europa.eu/eiopa-publishes-opinion-ai-governance-and-risk-management-2025-08-06_e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sv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5" Type="http://schemas.openxmlformats.org/officeDocument/2006/relationships/hyperlink" Target="https://eur-lex.europa.eu/eli/reg/2022/2554/oj" TargetMode="External"/><Relationship Id="rId10" Type="http://schemas.openxmlformats.org/officeDocument/2006/relationships/image" Target="../media/image36.svg"/><Relationship Id="rId19" Type="http://schemas.openxmlformats.org/officeDocument/2006/relationships/hyperlink" Target="https://www.economistjurist.es/zbloque-1/ley-organica-de-ia-espana-aterriza-el-ai-act-con-aesia-sanciones-y-sandboxes/" TargetMode="External"/><Relationship Id="rId4" Type="http://schemas.openxmlformats.org/officeDocument/2006/relationships/image" Target="../media/image30.svg"/><Relationship Id="rId9" Type="http://schemas.openxmlformats.org/officeDocument/2006/relationships/image" Target="../media/image35.svg"/><Relationship Id="rId14" Type="http://schemas.openxmlformats.org/officeDocument/2006/relationships/hyperlink" Target="https://curia.europa.eu/juris/liste.jsf?num=C-203/22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svg"/><Relationship Id="rId5" Type="http://schemas.openxmlformats.org/officeDocument/2006/relationships/image" Target="../media/image41.svg"/><Relationship Id="rId4" Type="http://schemas.openxmlformats.org/officeDocument/2006/relationships/image" Target="../media/image40.svg"/><Relationship Id="rId9" Type="http://schemas.openxmlformats.org/officeDocument/2006/relationships/image" Target="../media/image4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56.sv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12" Type="http://schemas.openxmlformats.org/officeDocument/2006/relationships/image" Target="../media/image5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54.svg"/><Relationship Id="rId5" Type="http://schemas.openxmlformats.org/officeDocument/2006/relationships/image" Target="../media/image48.sv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svg"/><Relationship Id="rId3" Type="http://schemas.openxmlformats.org/officeDocument/2006/relationships/image" Target="../media/image61.svg"/><Relationship Id="rId7" Type="http://schemas.openxmlformats.org/officeDocument/2006/relationships/image" Target="../media/image6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svg"/><Relationship Id="rId5" Type="http://schemas.openxmlformats.org/officeDocument/2006/relationships/image" Target="../media/image63.svg"/><Relationship Id="rId4" Type="http://schemas.openxmlformats.org/officeDocument/2006/relationships/image" Target="../media/image62.svg"/><Relationship Id="rId9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71.png"/><Relationship Id="rId4" Type="http://schemas.openxmlformats.org/officeDocument/2006/relationships/image" Target="../media/image70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286000"/>
            <a:ext cx="483793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FNOL con agentes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066288"/>
            <a:ext cx="320217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gobernados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4797552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3983736"/>
            <a:ext cx="5303520" cy="6766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dirty="0">
                <a:solidFill>
                  <a:srgbClr val="FFFFFF"/>
                </a:solidFill>
                <a:latin typeface="Montserrat Medium"/>
              </a:rPr>
              <a:t>De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clasifica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a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se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puede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poner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en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producción</a:t>
            </a:r>
            <a:endParaRPr sz="1600" dirty="0">
              <a:solidFill>
                <a:srgbClr val="FFFFFF"/>
              </a:solidFill>
              <a:latin typeface="Montserrat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" y="5181600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problema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marco normativo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solución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demo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</a:t>
            </a:fld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59511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dirty="0" err="1">
                <a:solidFill>
                  <a:srgbClr val="FFFFFF"/>
                </a:solidFill>
                <a:latin typeface="Montserrat Medium"/>
              </a:rPr>
              <a:t>Millones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de </a:t>
            </a:r>
            <a:r>
              <a:rPr lang="es-ES" sz="1400" dirty="0">
                <a:solidFill>
                  <a:srgbClr val="FFFFFF"/>
                </a:solidFill>
                <a:latin typeface="Montserrat Medium"/>
              </a:rPr>
              <a:t>mensajes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lee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teclea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persona,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IA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no sale del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piloto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51147" cy="429768"/>
          </a:xfrm>
        </p:spPr>
        <p:txBody>
          <a:bodyPr wrap="none"/>
          <a:lstStyle/>
          <a:p>
            <a:r>
              <a:rPr sz="2600"/>
              <a:t>La avalancha de avisos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548640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car-fron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806" y="1644526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~11 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246120"/>
            <a:ext cx="1620506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de Auto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año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España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840126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tim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25292" y="1644526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76118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1 cada 3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40126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76118" y="3246120"/>
            <a:ext cx="1837922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ritmo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que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seguro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atiende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un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percance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carretera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72633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131612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messages-squar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6778" y="1644526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7604" y="2514820"/>
            <a:ext cx="1999906" cy="5484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lang="es-ES" sz="3000" b="0" i="0" dirty="0">
                <a:solidFill>
                  <a:srgbClr val="194BFF"/>
                </a:solidFill>
                <a:latin typeface="Roboto Slab"/>
              </a:rPr>
              <a:t>+</a:t>
            </a:r>
            <a:r>
              <a:rPr sz="3000" b="0" i="0" dirty="0">
                <a:solidFill>
                  <a:srgbClr val="194BFF"/>
                </a:solidFill>
                <a:latin typeface="Roboto Slab"/>
              </a:rPr>
              <a:t>5 canales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31612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67604" y="3246120"/>
            <a:ext cx="1913116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email, WhatsApp, chat,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formulario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web y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teléfono</a:t>
            </a:r>
            <a:r>
              <a:rPr lang="es-ES" sz="1200" b="0" i="0" dirty="0">
                <a:solidFill>
                  <a:srgbClr val="595959"/>
                </a:solidFill>
                <a:latin typeface="Montserrat Medium"/>
              </a:rPr>
              <a:t>, …</a:t>
            </a:r>
            <a:endParaRPr sz="1200" b="0" i="0" dirty="0">
              <a:solidFill>
                <a:srgbClr val="595959"/>
              </a:solidFill>
              <a:latin typeface="Montserrat Medium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4764119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423099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alendar-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265" y="1644526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9091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7 días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23099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59090" y="3246120"/>
            <a:ext cx="1987989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plazo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comunicar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(art. 16 LCS)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25055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14585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Icono coin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9751" y="1644526"/>
            <a:ext cx="452628" cy="4526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50577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~10 %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14585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50577" y="3246120"/>
            <a:ext cx="2056785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de la prima de Auto se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va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gestionar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(EE. UU., 2023)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47092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84632" y="4572000"/>
            <a:ext cx="11228832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600" b="1" i="0">
                <a:solidFill>
                  <a:srgbClr val="194BFF"/>
                </a:solidFill>
                <a:latin typeface="Montserrat"/>
              </a:rPr>
              <a:t>Cada aviso hay que leerlo, clasificarlo por ramo, extraer los datos y aplicar las reglas de la póliza.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553212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8"/>
              </a:rPr>
              <a:t>UNESPA, siniestros de automóvil (datos 2024)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9"/>
              </a:rPr>
              <a:t>Ley 50/1980 de Contrato de Seguro, art. 16 (BOE)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Insurance Information Institute, Private Passenger Auto Underwriting Expenses (NAIC, 2023)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8" y="349200"/>
            <a:ext cx="6987785" cy="429768"/>
          </a:xfrm>
        </p:spPr>
        <p:txBody>
          <a:bodyPr wrap="none"/>
          <a:lstStyle/>
          <a:p>
            <a:r>
              <a:rPr sz="2600" dirty="0" err="1"/>
              <a:t>Clasificar</a:t>
            </a:r>
            <a:r>
              <a:rPr lang="es-ES" sz="2600" dirty="0"/>
              <a:t> y extraer datos</a:t>
            </a:r>
            <a:r>
              <a:rPr sz="2600" dirty="0"/>
              <a:t> </a:t>
            </a:r>
            <a:r>
              <a:rPr sz="2600" dirty="0" err="1"/>
              <a:t>ya</a:t>
            </a:r>
            <a:r>
              <a:rPr sz="2600" dirty="0"/>
              <a:t> </a:t>
            </a:r>
            <a:r>
              <a:rPr sz="2600" dirty="0" err="1"/>
              <a:t>está</a:t>
            </a:r>
            <a:r>
              <a:rPr sz="2600" dirty="0"/>
              <a:t> </a:t>
            </a:r>
            <a:r>
              <a:rPr sz="2600" dirty="0" err="1"/>
              <a:t>resuelto</a:t>
            </a:r>
            <a:r>
              <a:rPr lang="es-ES" dirty="0"/>
              <a:t>…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58952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targ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831" y="1820799"/>
            <a:ext cx="427482" cy="427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Más de un 90 % de acierto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bien escrito clasifica por ramo y extrae los datos del aviso.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1371600"/>
            <a:ext cx="3690191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93336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language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68215" y="1820799"/>
            <a:ext cx="427482" cy="42748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47615" y="2560320"/>
            <a:ext cx="3377183" cy="3020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 dirty="0">
                <a:solidFill>
                  <a:srgbClr val="194BFF"/>
                </a:solidFill>
                <a:latin typeface="Montserrat"/>
              </a:rPr>
              <a:t>Con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texto</a:t>
            </a:r>
            <a:r>
              <a:rPr sz="1500" b="1" i="0" dirty="0">
                <a:solidFill>
                  <a:srgbClr val="194BFF"/>
                </a:solidFill>
                <a:latin typeface="Montserrat"/>
              </a:rPr>
              <a:t> real, no de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laboratorio</a:t>
            </a:r>
            <a:endParaRPr sz="1500" b="1" i="0" dirty="0">
              <a:solidFill>
                <a:srgbClr val="194BFF"/>
              </a:solidFill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47616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Entiende texto informal, faltas de ortografía y transcripciones telefónicas.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7807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12128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87007" y="1820799"/>
            <a:ext cx="427482" cy="42748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66407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Se monta en una tarde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6407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base y un bloque de reglas por ramo. No hace falta entrenar ningún modelo.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1" y="5112891"/>
            <a:ext cx="11313239" cy="1051560"/>
          </a:xfrm>
          <a:prstGeom prst="rect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112891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ya no diferencia a nadie.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La pregunta ya no es si la IA puede hacerlo, sino cómo se pone en producción en una aseguradora.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670994" cy="429768"/>
          </a:xfrm>
        </p:spPr>
        <p:txBody>
          <a:bodyPr wrap="none"/>
          <a:lstStyle/>
          <a:p>
            <a:r>
              <a:rPr sz="2600" dirty="0"/>
              <a:t>El </a:t>
            </a:r>
            <a:r>
              <a:rPr sz="2600" dirty="0" err="1"/>
              <a:t>problema</a:t>
            </a:r>
            <a:r>
              <a:rPr sz="2600" dirty="0"/>
              <a:t> real: </a:t>
            </a:r>
            <a:r>
              <a:rPr lang="es-ES" dirty="0"/>
              <a:t>pasar un piloto </a:t>
            </a:r>
            <a:r>
              <a:rPr sz="2600" dirty="0"/>
              <a:t>a </a:t>
            </a:r>
            <a:r>
              <a:rPr sz="2600" dirty="0" err="1"/>
              <a:t>producción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908741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6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455652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flask-conic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818" y="1465325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&gt;90 %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las aseguradoras evalúa ya IA generativa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331439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rock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606" y="1465325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60420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22 %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24427" y="3017520"/>
            <a:ext cx="54864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60420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la tiene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784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207228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bo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2393" y="1465325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36207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4 %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3017520"/>
            <a:ext cx="548639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36207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tiene agentes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0571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083015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ircle-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8181" y="1465325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11995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76003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11995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los proyectos agénticos se cancelarán antes de finales de 2027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76359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4632" y="4241923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Por qué se cancelan, según Gartner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trending-u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00" y="4726555"/>
            <a:ext cx="411480" cy="4114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61872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Costes que se disparan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19016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Icono circle-hel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0184" y="4726555"/>
            <a:ext cx="411480" cy="4114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96256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Valor de negocio poco claro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3399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hield-aler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54568" y="4726555"/>
            <a:ext cx="411480" cy="4114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0640" y="4682675"/>
            <a:ext cx="2691384" cy="49923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 dirty="0" err="1">
                <a:solidFill>
                  <a:srgbClr val="0B1F5B"/>
                </a:solidFill>
                <a:latin typeface="Montserrat"/>
              </a:rPr>
              <a:t>Controles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de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riesgo</a:t>
            </a:r>
            <a:r>
              <a:rPr lang="es-ES" sz="1300" b="1" i="0" dirty="0">
                <a:solidFill>
                  <a:srgbClr val="0B1F5B"/>
                </a:solidFill>
                <a:latin typeface="Montserrat"/>
              </a:rPr>
              <a:t> y gobernanza 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insuficientes</a:t>
            </a:r>
            <a:endParaRPr sz="1300" b="1" i="0" dirty="0">
              <a:solidFill>
                <a:srgbClr val="0B1F5B"/>
              </a:solidFill>
              <a:latin typeface="Montserrat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4632" y="538492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Tres preguntas sin respuesta: </a:t>
            </a:r>
            <a:r>
              <a:rPr sz="1500" b="1" i="0">
                <a:solidFill>
                  <a:srgbClr val="194BFF"/>
                </a:solidFill>
                <a:latin typeface="Montserrat"/>
              </a:rPr>
              <a:t>¿por qué decidió eso? ¿Quién lo controla? ¿Cuánto cuesta?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597928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Conning, AI in Insurance 2025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1"/>
              </a:rPr>
              <a:t>Outcome Catalyst, tendencias de IA en seguros 2026 (datos de Conning)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2"/>
              </a:rPr>
              <a:t>The Insurer, encuesta de IA Capital (2026)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⁴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3"/>
              </a:rPr>
              <a:t>Gartner, nota de prensa del 25/06/2025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427478" cy="660400"/>
          </a:xfrm>
        </p:spPr>
        <p:txBody>
          <a:bodyPr wrap="none" anchor="ctr">
            <a:noAutofit/>
          </a:bodyPr>
          <a:lstStyle/>
          <a:p>
            <a:r>
              <a:rPr sz="4000"/>
              <a:t>El marco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803397" cy="660400"/>
          </a:xfrm>
        </p:spPr>
        <p:txBody>
          <a:bodyPr wrap="none" anchor="ctr">
            <a:noAutofit/>
          </a:bodyPr>
          <a:lstStyle/>
          <a:p>
            <a:r>
              <a:rPr sz="4000"/>
              <a:t>normativo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(RGPD, DORA y EIOPA) y lo que llega con el AI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71517" cy="429768"/>
          </a:xfrm>
        </p:spPr>
        <p:txBody>
          <a:bodyPr wrap="none"/>
          <a:lstStyle/>
          <a:p>
            <a:r>
              <a:rPr sz="2600"/>
              <a:t>Lo que exige la regulación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8</a:t>
            </a:fld>
            <a:endParaRPr lang="es-ES"/>
          </a:p>
        </p:txBody>
      </p:sp>
      <p:sp>
        <p:nvSpPr>
          <p:cNvPr id="13" name="TextBox 12"/>
          <p:cNvSpPr txBox="1"/>
          <p:nvPr/>
        </p:nvSpPr>
        <p:spPr>
          <a:xfrm>
            <a:off x="484632" y="1188720"/>
            <a:ext cx="726948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Ya en vigor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" y="1536192"/>
            <a:ext cx="45720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82711" y="1188720"/>
            <a:ext cx="373075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Lo que llega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28431" y="1536192"/>
            <a:ext cx="45720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user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82302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899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057400"/>
            <a:ext cx="2971800" cy="5679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Derecho a no ser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objeto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decisiones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solo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automatizadas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.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Según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el TJUE (SCHUFA),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firmar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sin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revisar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no </a:t>
            </a:r>
            <a:r>
              <a:rPr lang="es-ES" sz="950" b="0" i="0" dirty="0">
                <a:solidFill>
                  <a:srgbClr val="595959"/>
                </a:solidFill>
                <a:latin typeface="Montserrat Medium"/>
              </a:rPr>
              <a:t>es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intervención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humana.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795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message-squar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823024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8231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057400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Derecho a una explicación con sentido de la lógica aplicada (TJUE, Dun &amp; Bradstreet).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heart-puls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" y="2902016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7899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3136392"/>
            <a:ext cx="2880360" cy="3925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Los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datos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salud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son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categoría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especial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afecta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lleno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ramo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Salud.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795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serv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3400" y="2902016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8231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3136392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Los proveedores de LLM son terceros TIC: registro, riesgo de concentración y contratos.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463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080" y="3981008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7899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EIOPA (ago.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Gobierno de la IA proporcional al riesgo para todo uso de IA en seguros.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8795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graduation-c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43400" y="398100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8231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art. 4 y art. 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231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Alfabetización en IA del personal y transparencia con quien interactúa con la IA.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82711" y="1691640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38159" y="1847088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577072" y="1783080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· alto riesgo (Anexo III)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2057400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Obligaciones aplazadas al 2/12/2027 por el Digital Omnibus. El triaje de siniestros no está en el Anexo III.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2711" y="2770632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6" name="Icono gave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8159" y="2926080"/>
            <a:ext cx="347472" cy="3474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77072" y="2862072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Ley Orgánica española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3136392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En el Congreso, con AESIA y la DGSFP como supervisoras.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82711" y="3849624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0" name="Icono badge-euro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8159" y="4005072"/>
            <a:ext cx="347472" cy="3474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77072" y="3941064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Sanciones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77072" y="4215384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Hasta 35 M€ o el 7 % de la facturación global.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76072" y="5074920"/>
            <a:ext cx="11045952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6072" y="4992624"/>
            <a:ext cx="164592" cy="164592"/>
          </a:xfrm>
          <a:prstGeom prst="ellips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0352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194BFF"/>
                </a:solidFill>
                <a:latin typeface="Montserrat"/>
              </a:rPr>
              <a:t>Hoy: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ya obligan el RGPD, DORA, EIOPA y los art. 4 y 50 del AI Act</a:t>
            </a:r>
          </a:p>
        </p:txBody>
      </p:sp>
      <p:sp>
        <p:nvSpPr>
          <p:cNvPr id="56" name="Oval 55"/>
          <p:cNvSpPr/>
          <p:nvPr/>
        </p:nvSpPr>
        <p:spPr>
          <a:xfrm>
            <a:off x="7982711" y="4992624"/>
            <a:ext cx="164592" cy="164592"/>
          </a:xfrm>
          <a:prstGeom prst="ellipse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36991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FF1414"/>
                </a:solidFill>
                <a:latin typeface="Montserrat"/>
              </a:rPr>
              <a:t>2/12/2027: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obligaciones de alto riesgo del AI 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6014967"/>
            <a:ext cx="11228832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2"/>
              </a:rPr>
              <a:t>RGPD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3"/>
              </a:rPr>
              <a:t>TJUE C-634/21 (SCHUFA)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4"/>
              </a:rPr>
              <a:t>TJUE C-203/22 (Dun &amp; Bradstreet)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5"/>
              </a:rPr>
              <a:t>DORA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6"/>
              </a:rPr>
              <a:t>EIOPA, Opinion on AI governance (2025)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7"/>
              </a:rPr>
              <a:t>AI Act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8"/>
              </a:rPr>
              <a:t>Digital Omnibus (Gibson Dunn)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9"/>
              </a:rPr>
              <a:t>Ley Orgánica de IA (Economist &amp; Jurist)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2489707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Agentes pequeños, cada uno con sus límites, sobre una capa de gobierno común.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9</a:t>
            </a:fld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08117" cy="429768"/>
          </a:xfrm>
        </p:spPr>
        <p:txBody>
          <a:bodyPr wrap="none"/>
          <a:lstStyle/>
          <a:p>
            <a:r>
              <a:rPr sz="2600" dirty="0"/>
              <a:t>Lo </a:t>
            </a:r>
            <a:r>
              <a:rPr sz="2600" dirty="0" err="1"/>
              <a:t>que</a:t>
            </a:r>
            <a:r>
              <a:rPr sz="2600" dirty="0"/>
              <a:t> no </a:t>
            </a:r>
            <a:r>
              <a:rPr sz="2600" dirty="0" err="1"/>
              <a:t>existe</a:t>
            </a:r>
            <a:r>
              <a:rPr sz="2600" dirty="0"/>
              <a:t> </a:t>
            </a:r>
            <a:r>
              <a:rPr sz="2600" dirty="0" err="1"/>
              <a:t>en</a:t>
            </a:r>
            <a:r>
              <a:rPr sz="2600" dirty="0"/>
              <a:t> el mercado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10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Hay piezas sueltas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activit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396" y="213512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44752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Observabilidad de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Langfuse, Arize o Datadog: trazas, latencia y tokens.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396" y="293979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Plataformas de gobierno y riesgo de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072384"/>
            <a:ext cx="3657600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050" dirty="0">
                <a:solidFill>
                  <a:srgbClr val="595959"/>
                </a:solidFill>
                <a:latin typeface="Montserrat Medium"/>
              </a:rPr>
              <a:t>Soluciones de 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G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overnance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(Credo AI)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inventario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y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políticas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Icono waypoint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2396" y="3744468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44752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Estándar OpenTelemetry GenAI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877056"/>
            <a:ext cx="3801618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Convenciones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comunes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trazar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llamadas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modelos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y todo lo que hace una plataforma </a:t>
            </a:r>
            <a:r>
              <a:rPr lang="es-ES" sz="1050" b="0" i="0" dirty="0" err="1">
                <a:solidFill>
                  <a:srgbClr val="595959"/>
                </a:solidFill>
                <a:latin typeface="Montserrat Medium"/>
              </a:rPr>
              <a:t>agéntica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.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67143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7141463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Nadie las une a tu negocio</a:t>
            </a:r>
          </a:p>
        </p:txBody>
      </p:sp>
      <p:sp>
        <p:nvSpPr>
          <p:cNvPr id="29" name="Oval 28"/>
          <p:cNvSpPr/>
          <p:nvPr/>
        </p:nvSpPr>
        <p:spPr>
          <a:xfrm>
            <a:off x="7141463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fil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64907" y="2135124"/>
            <a:ext cx="301752" cy="3017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27263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proceso de siniestros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3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Multicanalidad, clasificación, extracción y reglas, de punta a punta.</a:t>
            </a:r>
          </a:p>
        </p:txBody>
      </p:sp>
      <p:sp>
        <p:nvSpPr>
          <p:cNvPr id="33" name="Oval 32"/>
          <p:cNvSpPr/>
          <p:nvPr/>
        </p:nvSpPr>
        <p:spPr>
          <a:xfrm>
            <a:off x="7141463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ist-check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4907" y="2939796"/>
            <a:ext cx="301752" cy="3017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27263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Tus reglas de negocio por ramo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3" y="3072384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Auto, Hogar y Salud, con la evidencia de cada criterio.</a:t>
            </a:r>
          </a:p>
        </p:txBody>
      </p:sp>
      <p:sp>
        <p:nvSpPr>
          <p:cNvPr id="37" name="Oval 36"/>
          <p:cNvSpPr/>
          <p:nvPr/>
        </p:nvSpPr>
        <p:spPr>
          <a:xfrm>
            <a:off x="7141463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calcula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4907" y="3744468"/>
            <a:ext cx="301752" cy="3017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27263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contabilidad de costes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3" y="3877056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Coste por decisión y límites de gasto por agente.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22392" y="2880360"/>
            <a:ext cx="1353311" cy="0"/>
          </a:xfrm>
          <a:prstGeom prst="line">
            <a:avLst/>
          </a:prstGeom>
          <a:ln w="254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641848" y="2423160"/>
            <a:ext cx="914400" cy="914400"/>
          </a:xfrm>
          <a:prstGeom prst="ellipse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Icono plug-z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52160" y="2633472"/>
            <a:ext cx="493776" cy="4937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67528" y="3383280"/>
            <a:ext cx="146304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94BFF"/>
                </a:solidFill>
                <a:latin typeface="Montserrat"/>
              </a:rPr>
              <a:t>Integración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" y="4789170"/>
            <a:ext cx="11228832" cy="105156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8952" y="4789170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no es un producto. Es cómo se trabaja hoy con IA en una empresa regulada.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No es una licencia: es una forma de implementar, integrada con el proceso, las reglas y los costes del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104888" cy="429768"/>
          </a:xfrm>
        </p:spPr>
        <p:txBody>
          <a:bodyPr wrap="none"/>
          <a:lstStyle/>
          <a:p>
            <a:r>
              <a:rPr sz="2600"/>
              <a:t>La solución: agentes pequeños y gobernados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11</a:t>
            </a:fld>
            <a:endParaRPr lang="es-ES"/>
          </a:p>
        </p:txBody>
      </p:sp>
      <p:sp>
        <p:nvSpPr>
          <p:cNvPr id="13" name="Pentagon 12"/>
          <p:cNvSpPr/>
          <p:nvPr/>
        </p:nvSpPr>
        <p:spPr>
          <a:xfrm>
            <a:off x="484632" y="1325880"/>
            <a:ext cx="2331720" cy="1097280"/>
          </a:xfrm>
          <a:prstGeom prst="homePlat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inbo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032" y="1444752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1847088"/>
            <a:ext cx="17373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Multicanalidad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Recibe y normaliza email, web, chat, teléfono y WhatsApp</a:t>
            </a:r>
          </a:p>
        </p:txBody>
      </p:sp>
      <p:sp>
        <p:nvSpPr>
          <p:cNvPr id="17" name="Chevron 16"/>
          <p:cNvSpPr/>
          <p:nvPr/>
        </p:nvSpPr>
        <p:spPr>
          <a:xfrm>
            <a:off x="2708910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tag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7610" y="144475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6110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Clasificación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230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Asigna Auto, Hogar o Salud citando los indicios del texto</a:t>
            </a:r>
          </a:p>
        </p:txBody>
      </p:sp>
      <p:sp>
        <p:nvSpPr>
          <p:cNvPr id="21" name="Chevron 20"/>
          <p:cNvSpPr/>
          <p:nvPr/>
        </p:nvSpPr>
        <p:spPr>
          <a:xfrm>
            <a:off x="4933188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scan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888" y="1444752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90388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Extracción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7508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Convierte el texto libre en datos estructurados; nunca inventa</a:t>
            </a:r>
          </a:p>
        </p:txBody>
      </p:sp>
      <p:sp>
        <p:nvSpPr>
          <p:cNvPr id="25" name="Chevron 24"/>
          <p:cNvSpPr/>
          <p:nvPr/>
        </p:nvSpPr>
        <p:spPr>
          <a:xfrm>
            <a:off x="7157466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86166" y="1444752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14666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Reglas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786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Evalúa el bloque de reglas del ramo y propone la decisión</a:t>
            </a:r>
          </a:p>
        </p:txBody>
      </p:sp>
      <p:sp>
        <p:nvSpPr>
          <p:cNvPr id="29" name="Chevron 28"/>
          <p:cNvSpPr/>
          <p:nvPr/>
        </p:nvSpPr>
        <p:spPr>
          <a:xfrm>
            <a:off x="9381744" y="1325880"/>
            <a:ext cx="2331720" cy="1097280"/>
          </a:xfrm>
          <a:prstGeom prst="chevron">
            <a:avLst/>
          </a:prstGeom>
          <a:solidFill>
            <a:srgbClr val="0B1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roun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0444" y="144475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38944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Aprobado / A revisar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6064" y="2542032"/>
            <a:ext cx="1783079" cy="81580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 dirty="0">
                <a:solidFill>
                  <a:srgbClr val="595959"/>
                </a:solidFill>
                <a:latin typeface="Montserrat Medium"/>
              </a:rPr>
              <a:t>La IA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prepara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; la persona decide</a:t>
            </a:r>
            <a:r>
              <a:rPr lang="es-ES" sz="1050" dirty="0">
                <a:solidFill>
                  <a:srgbClr val="595959"/>
                </a:solidFill>
                <a:latin typeface="Montserrat Medium"/>
              </a:rPr>
              <a:t> o se automatiza si se cumplen reglas y la confianza es alta</a:t>
            </a:r>
            <a:endParaRPr sz="1050" b="0" i="0" dirty="0">
              <a:solidFill>
                <a:srgbClr val="595959"/>
              </a:solidFill>
              <a:latin typeface="Montserrat Medium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84632" y="3520440"/>
            <a:ext cx="11228832" cy="2011680"/>
          </a:xfrm>
          <a:prstGeom prst="roundRect">
            <a:avLst>
              <a:gd name="adj" fmla="val 6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58952" y="3611880"/>
            <a:ext cx="10680192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 dirty="0">
                <a:solidFill>
                  <a:srgbClr val="194BFF"/>
                </a:solidFill>
                <a:latin typeface="Montserrat"/>
              </a:rPr>
              <a:t>Capa de </a:t>
            </a:r>
            <a:r>
              <a:rPr sz="1400" b="1" i="0" dirty="0" err="1">
                <a:solidFill>
                  <a:srgbClr val="194BFF"/>
                </a:solidFill>
                <a:latin typeface="Montserrat"/>
              </a:rPr>
              <a:t>gobierno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 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común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a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todos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los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agentes</a:t>
            </a:r>
            <a:endParaRPr sz="1200" b="0" i="0" dirty="0">
              <a:solidFill>
                <a:srgbClr val="7F7F7F"/>
              </a:solidFill>
              <a:latin typeface="Montserrat Medium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135635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Icono rout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033" y="4173321"/>
            <a:ext cx="321868" cy="3218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5895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Trazas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cada paso, registrado</a:t>
            </a:r>
          </a:p>
        </p:txBody>
      </p:sp>
      <p:sp>
        <p:nvSpPr>
          <p:cNvPr id="39" name="Oval 38"/>
          <p:cNvSpPr/>
          <p:nvPr/>
        </p:nvSpPr>
        <p:spPr>
          <a:xfrm>
            <a:off x="3136391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0" name="Icono histor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68065" y="4173321"/>
            <a:ext cx="321868" cy="3218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538983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Replay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38983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reproducir y comparar</a:t>
            </a:r>
          </a:p>
        </p:txBody>
      </p:sp>
      <p:sp>
        <p:nvSpPr>
          <p:cNvPr id="43" name="Oval 42"/>
          <p:cNvSpPr/>
          <p:nvPr/>
        </p:nvSpPr>
        <p:spPr>
          <a:xfrm>
            <a:off x="4916423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liders-horizont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8097" y="4173321"/>
            <a:ext cx="321868" cy="3218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19015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Autonomía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9015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 L0 Manual a L3 Autónomo</a:t>
            </a:r>
          </a:p>
        </p:txBody>
      </p:sp>
      <p:sp>
        <p:nvSpPr>
          <p:cNvPr id="47" name="Oval 46"/>
          <p:cNvSpPr/>
          <p:nvPr/>
        </p:nvSpPr>
        <p:spPr>
          <a:xfrm>
            <a:off x="6696456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Icono shield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8129" y="4173321"/>
            <a:ext cx="321868" cy="32186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099048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Guardrails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9048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límites que escalan a humano</a:t>
            </a:r>
          </a:p>
        </p:txBody>
      </p:sp>
      <p:sp>
        <p:nvSpPr>
          <p:cNvPr id="51" name="Oval 50"/>
          <p:cNvSpPr/>
          <p:nvPr/>
        </p:nvSpPr>
        <p:spPr>
          <a:xfrm>
            <a:off x="8476488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wall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08161" y="4173321"/>
            <a:ext cx="321868" cy="3218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879080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FinOps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9080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coste por decisión y caps</a:t>
            </a:r>
          </a:p>
        </p:txBody>
      </p:sp>
      <p:sp>
        <p:nvSpPr>
          <p:cNvPr id="55" name="Oval 54"/>
          <p:cNvSpPr/>
          <p:nvPr/>
        </p:nvSpPr>
        <p:spPr>
          <a:xfrm>
            <a:off x="1025651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Icono book-open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88193" y="4173321"/>
            <a:ext cx="321868" cy="3218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65911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Histórico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5911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libro de registro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" y="5840730"/>
            <a:ext cx="1122883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595959"/>
                </a:solidFill>
                <a:latin typeface="Montserrat"/>
              </a:rPr>
              <a:t>No es una IA que lo hace todo: </a:t>
            </a:r>
            <a:r>
              <a:rPr sz="1400" b="1" i="0">
                <a:solidFill>
                  <a:srgbClr val="194BFF"/>
                </a:solidFill>
                <a:latin typeface="Montserrat"/>
              </a:rPr>
              <a:t>son cuatro especialistas, y cada uno tiene sus propios límites.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772658" cy="429768"/>
          </a:xfrm>
        </p:spPr>
        <p:txBody>
          <a:bodyPr wrap="none"/>
          <a:lstStyle/>
          <a:p>
            <a:r>
              <a:rPr sz="2600"/>
              <a:t>Capa de gobierno: cada agente tiene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12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1240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crosshai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9372" y="1629460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Una sola función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Recibir, clasificar, extraer o aplicar reglas: cada agente hace una cosa.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8989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15597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cpu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3730" y="1629460"/>
            <a:ext cx="362102" cy="3621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31870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modelo y su versión de 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1870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Por ejemplo, gpt-5-nano con el prompt v3.1 en Clasificación. Cada cambio queda registrado.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3348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79956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gaug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8088" y="1629460"/>
            <a:ext cx="362102" cy="3621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96228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nivel de autonomía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De L0 Manual a L3 Autónomo, ajustado agente a agente según sus resultados.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7705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244313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cog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2446" y="1629460"/>
            <a:ext cx="362102" cy="3621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60585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 responsable y unos permisos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0585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El agente de Reglas puede proponer, pero no puede pagar ni rechazar.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3794760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Niveles de autonomía</a:t>
            </a:r>
          </a:p>
        </p:txBody>
      </p:sp>
      <p:sp>
        <p:nvSpPr>
          <p:cNvPr id="34" name="Pentagon 33"/>
          <p:cNvSpPr/>
          <p:nvPr/>
        </p:nvSpPr>
        <p:spPr>
          <a:xfrm>
            <a:off x="484632" y="4160520"/>
            <a:ext cx="2926080" cy="1051560"/>
          </a:xfrm>
          <a:prstGeom prst="homePlat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" y="4206240"/>
            <a:ext cx="22402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L0 · Manual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solo sugiere; una persona decide y ejecuta.</a:t>
            </a:r>
          </a:p>
        </p:txBody>
      </p:sp>
      <p:sp>
        <p:nvSpPr>
          <p:cNvPr id="36" name="Chevron 35"/>
          <p:cNvSpPr/>
          <p:nvPr/>
        </p:nvSpPr>
        <p:spPr>
          <a:xfrm>
            <a:off x="3250691" y="4160520"/>
            <a:ext cx="2926080" cy="1051560"/>
          </a:xfrm>
          <a:prstGeom prst="chevron">
            <a:avLst/>
          </a:prstGeom>
          <a:solidFill>
            <a:srgbClr val="BFD0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7248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L1 · Asistido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propone; una persona confirma cada caso.</a:t>
            </a:r>
          </a:p>
        </p:txBody>
      </p:sp>
      <p:sp>
        <p:nvSpPr>
          <p:cNvPr id="38" name="Chevron 37"/>
          <p:cNvSpPr/>
          <p:nvPr/>
        </p:nvSpPr>
        <p:spPr>
          <a:xfrm>
            <a:off x="6016752" y="4160520"/>
            <a:ext cx="2926080" cy="1051560"/>
          </a:xfrm>
          <a:prstGeom prst="chevron">
            <a:avLst/>
          </a:prstGeom>
          <a:solidFill>
            <a:srgbClr val="6F8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38544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L2 · Supervisado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dentro de los guardrails; fuera de ellos escala a humano.</a:t>
            </a:r>
          </a:p>
        </p:txBody>
      </p:sp>
      <p:sp>
        <p:nvSpPr>
          <p:cNvPr id="40" name="Chevron 39"/>
          <p:cNvSpPr/>
          <p:nvPr/>
        </p:nvSpPr>
        <p:spPr>
          <a:xfrm>
            <a:off x="8782811" y="4160520"/>
            <a:ext cx="2926080" cy="1051560"/>
          </a:xfrm>
          <a:prstGeom prst="chevron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0460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L3 · Autónomo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y ejecuta; solo se audita a posteriori.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" y="534924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595959"/>
                </a:solidFill>
                <a:latin typeface="Montserrat"/>
              </a:rPr>
              <a:t>La autonomía se gana con datos y se pierde con datos: </a:t>
            </a:r>
            <a:r>
              <a:rPr sz="1300" b="1" i="0">
                <a:solidFill>
                  <a:srgbClr val="194BFF"/>
                </a:solidFill>
                <a:latin typeface="Montserrat"/>
              </a:rPr>
              <a:t>el agente de Reglas bajó de L3 a L2 al superar el 3 % de overrides.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3458" cy="429768"/>
          </a:xfrm>
        </p:spPr>
        <p:txBody>
          <a:bodyPr wrap="none"/>
          <a:lstStyle/>
          <a:p>
            <a:r>
              <a:rPr sz="2600"/>
              <a:t>Seis pilares, cada uno con su prueba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13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0" y="1590598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Seguro por diseño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kill switch, identidad y permisos por agente. Se puede parar un agente sin perder ningún mensaje.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2761488"/>
            <a:ext cx="176021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 · AI Act art. 15</a:t>
            </a:r>
          </a:p>
        </p:txBody>
      </p:sp>
      <p:pic>
        <p:nvPicPr>
          <p:cNvPr id="20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3108960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Guardrails, Resumen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2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file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0790" y="1590598"/>
            <a:ext cx="311810" cy="31181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0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Compliance por defecto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Cada decisión deja una traza completa: qué pasó, quién decidió y cuánto costó.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3232" y="2761488"/>
            <a:ext cx="23088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AI Act art. 12 · RGPD art. 30</a:t>
            </a:r>
          </a:p>
        </p:txBody>
      </p:sp>
      <p:pic>
        <p:nvPicPr>
          <p:cNvPr id="29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3108960"/>
            <a:ext cx="182880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5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Trazabilidad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0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833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book-open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0790" y="1590598"/>
            <a:ext cx="311810" cy="31181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1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Auditable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Libro de registro con quién, qué y cuándo. Se rellena solo, sin trabajo extra.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3232" y="276148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EIOPA · AI Act art. 12</a:t>
            </a:r>
          </a:p>
        </p:txBody>
      </p:sp>
      <p:pic>
        <p:nvPicPr>
          <p:cNvPr id="38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3108960"/>
            <a:ext cx="18288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6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Histórico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pic>
        <p:nvPicPr>
          <p:cNvPr id="43" name="Icono lightbulb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90" y="3922318"/>
            <a:ext cx="311810" cy="31181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9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Explicable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Regla + evidencia textual y Reasoning replay: si el cliente pregunta por qué, está su propia frase.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09320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RGPD art. 15 y 22 · AI Act art. 13</a:t>
            </a:r>
          </a:p>
        </p:txBody>
      </p:sp>
      <p:pic>
        <p:nvPicPr>
          <p:cNvPr id="47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5440680"/>
            <a:ext cx="182880" cy="1828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4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Ficha del mensaje · Reasoning &amp; Replay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9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Oval 50"/>
          <p:cNvSpPr/>
          <p:nvPr/>
        </p:nvSpPr>
        <p:spPr>
          <a:xfrm>
            <a:off x="452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refresh-cw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50790" y="3922318"/>
            <a:ext cx="311810" cy="31181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0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Resiliente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Reintentos, fallback a motor local y degradación de modelo: si la IA falla, el mensaje no se pierde.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23232" y="5093208"/>
            <a:ext cx="59435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pic>
        <p:nvPicPr>
          <p:cNvPr id="56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5440680"/>
            <a:ext cx="182880" cy="1828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75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Triaje (origen «fallback»), G-07, G-08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0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10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Oval 59"/>
          <p:cNvSpPr/>
          <p:nvPr/>
        </p:nvSpPr>
        <p:spPr>
          <a:xfrm>
            <a:off x="833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1" name="Icono piggy-ban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0790" y="3922318"/>
            <a:ext cx="311810" cy="31181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1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FinOps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Caps, coste por decisión y comparativa de modelos: el más barato que mantiene la calidad.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333232" y="5093208"/>
            <a:ext cx="189737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Solvencia II (gobierno)</a:t>
            </a:r>
          </a:p>
        </p:txBody>
      </p:sp>
      <p:pic>
        <p:nvPicPr>
          <p:cNvPr id="65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5440680"/>
            <a:ext cx="182880" cy="1828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6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FinOps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32968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La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ve el tramitador y lo que ven riesgos, auditoría y finanzas.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69388" cy="429768"/>
          </a:xfrm>
        </p:spPr>
        <p:txBody>
          <a:bodyPr wrap="none"/>
          <a:lstStyle/>
          <a:p>
            <a:r>
              <a:rPr sz="2600"/>
              <a:t>Vamos a verlo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34440"/>
            <a:ext cx="5477255" cy="499491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5" name="Oval 14"/>
          <p:cNvSpPr/>
          <p:nvPr/>
        </p:nvSpPr>
        <p:spPr>
          <a:xfrm>
            <a:off x="667512" y="414720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heads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070" y="4274760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11062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Triaje FNOL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 el tramitador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80556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¿Qué hace el sistema con cada aviso?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134753"/>
            <a:ext cx="51114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Un lote en vivo: ramo, datos y decisión en segundos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El criterio que falla y la frase del cliente que lo prueba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Reglas de negocio que se cambian sin programar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1234439"/>
            <a:ext cx="5477255" cy="4994909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58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2" name="Oval 21"/>
          <p:cNvSpPr/>
          <p:nvPr/>
        </p:nvSpPr>
        <p:spPr>
          <a:xfrm>
            <a:off x="6419088" y="418149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6646" y="4309050"/>
            <a:ext cx="311810" cy="31181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04888" y="414491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Gobierno de Agentes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ven riesgos, auditoría y finanzas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83985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¿Podemos fiarnos, controlarlo y pagarlo?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5169043"/>
            <a:ext cx="5111495" cy="914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Autonomía, overrides y kill switch por agente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Trazas y Reasoning &amp; Replay: por qué decidió y qué pasaría con otro modelo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caps de coste e histórico de cambios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Props1.xml><?xml version="1.0" encoding="utf-8"?>
<ds:datastoreItem xmlns:ds="http://schemas.openxmlformats.org/officeDocument/2006/customXml" ds:itemID="{A3107499-3C28-4C3E-9EDE-1BEF22709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1a385b-e1fe-4f98-ade6-787642576ba7"/>
    <ds:schemaRef ds:uri="ec24e197-8a67-4a13-a14c-425853cf5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51A99C-5D78-4D91-A271-C92583798633}">
  <ds:schemaRefs>
    <ds:schemaRef ds:uri="http://purl.org/dc/elements/1.1/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ec24e197-8a67-4a13-a14c-425853cf5e9f"/>
    <ds:schemaRef ds:uri="bc1a385b-e1fe-4f98-ade6-787642576ba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2177</Words>
  <Application>Microsoft Office PowerPoint</Application>
  <PresentationFormat>Widescreen</PresentationFormat>
  <Paragraphs>207</Paragraphs>
  <Slides>16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PPT Logicalis Template March 2026</vt:lpstr>
      <vt:lpstr>FNOL con agentes</vt:lpstr>
      <vt:lpstr>Agenda</vt:lpstr>
      <vt:lpstr>PowerPoint Presentation</vt:lpstr>
      <vt:lpstr>La avalancha de avisos</vt:lpstr>
      <vt:lpstr>Clasificar y extraer datos ya está resuelto…</vt:lpstr>
      <vt:lpstr>El problema real: pasar un piloto a producción</vt:lpstr>
      <vt:lpstr>El marco</vt:lpstr>
      <vt:lpstr>Lo que exige la regulación</vt:lpstr>
      <vt:lpstr>PowerPoint Presentation</vt:lpstr>
      <vt:lpstr>Lo que no existe en el mercado</vt:lpstr>
      <vt:lpstr>La solución: agentes pequeños y gobernados</vt:lpstr>
      <vt:lpstr>Capa de gobierno: cada agente tiene</vt:lpstr>
      <vt:lpstr>Seis pilares, cada uno con su prueba</vt:lpstr>
      <vt:lpstr>La demo</vt:lpstr>
      <vt:lpstr>Vamos a verlo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con agentes gobernados</dc:title>
  <dc:creator>Ignacio Sánchez</dc:creator>
  <cp:lastModifiedBy>Ignacio Sánchez Enjuto</cp:lastModifiedBy>
  <cp:revision>5</cp:revision>
  <dcterms:created xsi:type="dcterms:W3CDTF">2023-07-20T13:22:40Z</dcterms:created>
  <dcterms:modified xsi:type="dcterms:W3CDTF">2026-10-07T14:08:39Z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