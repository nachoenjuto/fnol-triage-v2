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1"/>
  </p:notesMasterIdLst>
  <p:sldIdLst>
    <p:sldId id="346" r:id="rId5"/>
    <p:sldId id="347" r:id="rId6"/>
    <p:sldId id="348" r:id="rId7"/>
    <p:sldId id="349" r:id="rId8"/>
    <p:sldId id="350" r:id="rId9"/>
    <p:sldId id="351" r:id="rId10"/>
    <p:sldId id="352" r:id="rId11"/>
    <p:sldId id="353" r:id="rId12"/>
    <p:sldId id="354" r:id="rId13"/>
    <p:sldId id="355" r:id="rId14"/>
    <p:sldId id="356" r:id="rId15"/>
    <p:sldId id="357" r:id="rId16"/>
    <p:sldId id="358" r:id="rId17"/>
    <p:sldId id="359" r:id="rId18"/>
    <p:sldId id="360" r:id="rId19"/>
    <p:sldId id="361" r:id="rId20"/>
  </p:sldIdLst>
  <p:sldSz cx="12192000" cy="6858000"/>
  <p:notesSz cx="6858000" cy="9144000"/>
  <p:defaultTextStyle>
    <a:defPPr>
      <a:defRPr lang="en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cons" id="{E57AE0B5-2D22-3B4E-900D-32E0443C9C6A}">
          <p14:sldIdLst>
            <p14:sldId id="346"/>
            <p14:sldId id="347"/>
          </p14:sldIdLst>
        </p14:section>
        <p14:section name="Covers" id="{89C6FF98-81ED-034E-9588-A48C8AA225D9}">
          <p14:sldIdLst/>
        </p14:section>
        <p14:section name="Dividers" id="{24B111D2-AE71-F24D-8B77-253923057E62}">
          <p14:sldIdLst/>
        </p14:section>
        <p14:section name="Text with icons" id="{F9C27FBD-AE21-4240-B0EB-4EB98191871A}">
          <p14:sldIdLst/>
        </p14:section>
        <p14:section name="Color background examples" id="{0DB13114-5B30-C94F-BB34-DD1C36B9759A}">
          <p14:sldIdLst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DFF"/>
    <a:srgbClr val="82C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88239"/>
  </p:normalViewPr>
  <p:slideViewPr>
    <p:cSldViewPr snapToGrid="0">
      <p:cViewPr>
        <p:scale>
          <a:sx n="112" d="100"/>
          <a:sy n="112" d="100"/>
        </p:scale>
        <p:origin x="600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gnacio Sánchez Enjuto" userId="c691bf97-6f4a-46de-97c8-063fd3f20c17" providerId="ADAL" clId="{2691E216-BC80-53A0-9A71-853C30BFFE25}"/>
    <pc:docChg chg="undo redo custSel modSld">
      <pc:chgData name="Ignacio Sánchez Enjuto" userId="c691bf97-6f4a-46de-97c8-063fd3f20c17" providerId="ADAL" clId="{2691E216-BC80-53A0-9A71-853C30BFFE25}" dt="2026-10-02T07:04:19.897" v="400" actId="14100"/>
      <pc:docMkLst>
        <pc:docMk/>
      </pc:docMkLst>
      <pc:sldChg chg="modSp mod">
        <pc:chgData name="Ignacio Sánchez Enjuto" userId="c691bf97-6f4a-46de-97c8-063fd3f20c17" providerId="ADAL" clId="{2691E216-BC80-53A0-9A71-853C30BFFE25}" dt="2026-10-02T06:50:21.727" v="21" actId="20577"/>
        <pc:sldMkLst>
          <pc:docMk/>
          <pc:sldMk cId="0" sldId="348"/>
        </pc:sldMkLst>
        <pc:spChg chg="mod">
          <ac:chgData name="Ignacio Sánchez Enjuto" userId="c691bf97-6f4a-46de-97c8-063fd3f20c17" providerId="ADAL" clId="{2691E216-BC80-53A0-9A71-853C30BFFE25}" dt="2026-10-02T06:50:21.727" v="21" actId="20577"/>
          <ac:spMkLst>
            <pc:docMk/>
            <pc:sldMk cId="0" sldId="348"/>
            <ac:spMk id="5" creationId="{00000000-0000-0000-0000-000000000000}"/>
          </ac:spMkLst>
        </pc:spChg>
      </pc:sldChg>
      <pc:sldChg chg="modSp mod">
        <pc:chgData name="Ignacio Sánchez Enjuto" userId="c691bf97-6f4a-46de-97c8-063fd3f20c17" providerId="ADAL" clId="{2691E216-BC80-53A0-9A71-853C30BFFE25}" dt="2026-10-02T06:55:33.049" v="144" actId="108"/>
        <pc:sldMkLst>
          <pc:docMk/>
          <pc:sldMk cId="0" sldId="349"/>
        </pc:sldMkLst>
        <pc:spChg chg="mod">
          <ac:chgData name="Ignacio Sánchez Enjuto" userId="c691bf97-6f4a-46de-97c8-063fd3f20c17" providerId="ADAL" clId="{2691E216-BC80-53A0-9A71-853C30BFFE25}" dt="2026-10-02T06:54:30.832" v="125" actId="692"/>
          <ac:spMkLst>
            <pc:docMk/>
            <pc:sldMk cId="0" sldId="349"/>
            <ac:spMk id="1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1:43.818" v="105" actId="14100"/>
          <ac:spMkLst>
            <pc:docMk/>
            <pc:sldMk cId="0" sldId="349"/>
            <ac:spMk id="1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4:30.832" v="125" actId="692"/>
          <ac:spMkLst>
            <pc:docMk/>
            <pc:sldMk cId="0" sldId="349"/>
            <ac:spMk id="1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1:47.668" v="106" actId="14100"/>
          <ac:spMkLst>
            <pc:docMk/>
            <pc:sldMk cId="0" sldId="349"/>
            <ac:spMk id="2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4:30.832" v="125" actId="692"/>
          <ac:spMkLst>
            <pc:docMk/>
            <pc:sldMk cId="0" sldId="349"/>
            <ac:spMk id="2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1:50.252" v="107" actId="14100"/>
          <ac:spMkLst>
            <pc:docMk/>
            <pc:sldMk cId="0" sldId="349"/>
            <ac:spMk id="2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4:30.832" v="125" actId="692"/>
          <ac:spMkLst>
            <pc:docMk/>
            <pc:sldMk cId="0" sldId="349"/>
            <ac:spMk id="30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2:01.051" v="110" actId="14100"/>
          <ac:spMkLst>
            <pc:docMk/>
            <pc:sldMk cId="0" sldId="349"/>
            <ac:spMk id="3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4:30.832" v="125" actId="692"/>
          <ac:spMkLst>
            <pc:docMk/>
            <pc:sldMk cId="0" sldId="349"/>
            <ac:spMk id="3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1:57.466" v="109" actId="14100"/>
          <ac:spMkLst>
            <pc:docMk/>
            <pc:sldMk cId="0" sldId="349"/>
            <ac:spMk id="40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06:54:21.892" v="124" actId="2085"/>
          <ac:picMkLst>
            <pc:docMk/>
            <pc:sldMk cId="0" sldId="349"/>
            <ac:picMk id="14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06:54:21.892" v="124" actId="2085"/>
          <ac:picMkLst>
            <pc:docMk/>
            <pc:sldMk cId="0" sldId="349"/>
            <ac:picMk id="19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06:54:21.892" v="124" actId="2085"/>
          <ac:picMkLst>
            <pc:docMk/>
            <pc:sldMk cId="0" sldId="349"/>
            <ac:picMk id="25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06:54:21.892" v="124" actId="2085"/>
          <ac:picMkLst>
            <pc:docMk/>
            <pc:sldMk cId="0" sldId="349"/>
            <ac:picMk id="31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06:54:21.892" v="124" actId="2085"/>
          <ac:picMkLst>
            <pc:docMk/>
            <pc:sldMk cId="0" sldId="349"/>
            <ac:picMk id="37" creationId="{00000000-0000-0000-0000-000000000000}"/>
          </ac:picMkLst>
        </pc:picChg>
        <pc:cxnChg chg="mod">
          <ac:chgData name="Ignacio Sánchez Enjuto" userId="c691bf97-6f4a-46de-97c8-063fd3f20c17" providerId="ADAL" clId="{2691E216-BC80-53A0-9A71-853C30BFFE25}" dt="2026-10-02T06:55:24.815" v="141" actId="108"/>
          <ac:cxnSpMkLst>
            <pc:docMk/>
            <pc:sldMk cId="0" sldId="349"/>
            <ac:cxnSpMk id="23" creationId="{00000000-0000-0000-0000-000000000000}"/>
          </ac:cxnSpMkLst>
        </pc:cxnChg>
        <pc:cxnChg chg="mod">
          <ac:chgData name="Ignacio Sánchez Enjuto" userId="c691bf97-6f4a-46de-97c8-063fd3f20c17" providerId="ADAL" clId="{2691E216-BC80-53A0-9A71-853C30BFFE25}" dt="2026-10-02T06:55:27.500" v="142" actId="108"/>
          <ac:cxnSpMkLst>
            <pc:docMk/>
            <pc:sldMk cId="0" sldId="349"/>
            <ac:cxnSpMk id="29" creationId="{00000000-0000-0000-0000-000000000000}"/>
          </ac:cxnSpMkLst>
        </pc:cxnChg>
        <pc:cxnChg chg="mod">
          <ac:chgData name="Ignacio Sánchez Enjuto" userId="c691bf97-6f4a-46de-97c8-063fd3f20c17" providerId="ADAL" clId="{2691E216-BC80-53A0-9A71-853C30BFFE25}" dt="2026-10-02T06:55:30.633" v="143" actId="108"/>
          <ac:cxnSpMkLst>
            <pc:docMk/>
            <pc:sldMk cId="0" sldId="349"/>
            <ac:cxnSpMk id="35" creationId="{00000000-0000-0000-0000-000000000000}"/>
          </ac:cxnSpMkLst>
        </pc:cxnChg>
        <pc:cxnChg chg="mod">
          <ac:chgData name="Ignacio Sánchez Enjuto" userId="c691bf97-6f4a-46de-97c8-063fd3f20c17" providerId="ADAL" clId="{2691E216-BC80-53A0-9A71-853C30BFFE25}" dt="2026-10-02T06:55:33.049" v="144" actId="108"/>
          <ac:cxnSpMkLst>
            <pc:docMk/>
            <pc:sldMk cId="0" sldId="349"/>
            <ac:cxnSpMk id="41" creationId="{00000000-0000-0000-0000-000000000000}"/>
          </ac:cxnSpMkLst>
        </pc:cxnChg>
      </pc:sldChg>
      <pc:sldChg chg="modSp mod">
        <pc:chgData name="Ignacio Sánchez Enjuto" userId="c691bf97-6f4a-46de-97c8-063fd3f20c17" providerId="ADAL" clId="{2691E216-BC80-53A0-9A71-853C30BFFE25}" dt="2026-10-02T06:53:31.081" v="121" actId="14100"/>
        <pc:sldMkLst>
          <pc:docMk/>
          <pc:sldMk cId="0" sldId="350"/>
        </pc:sldMkLst>
        <pc:spChg chg="mod">
          <ac:chgData name="Ignacio Sánchez Enjuto" userId="c691bf97-6f4a-46de-97c8-063fd3f20c17" providerId="ADAL" clId="{2691E216-BC80-53A0-9A71-853C30BFFE25}" dt="2026-10-02T06:52:42.852" v="111" actId="692"/>
          <ac:spMkLst>
            <pc:docMk/>
            <pc:sldMk cId="0" sldId="350"/>
            <ac:spMk id="1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2:59.099" v="112" actId="692"/>
          <ac:spMkLst>
            <pc:docMk/>
            <pc:sldMk cId="0" sldId="350"/>
            <ac:spMk id="1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31.081" v="121" actId="14100"/>
          <ac:spMkLst>
            <pc:docMk/>
            <pc:sldMk cId="0" sldId="350"/>
            <ac:spMk id="1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2:59.099" v="112" actId="692"/>
          <ac:spMkLst>
            <pc:docMk/>
            <pc:sldMk cId="0" sldId="350"/>
            <ac:spMk id="1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14.032" v="113" actId="14100"/>
          <ac:spMkLst>
            <pc:docMk/>
            <pc:sldMk cId="0" sldId="350"/>
            <ac:spMk id="21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23.313" v="119" actId="1038"/>
          <ac:spMkLst>
            <pc:docMk/>
            <pc:sldMk cId="0" sldId="350"/>
            <ac:spMk id="2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23.313" v="119" actId="1038"/>
          <ac:spMkLst>
            <pc:docMk/>
            <pc:sldMk cId="0" sldId="350"/>
            <ac:spMk id="2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23.313" v="119" actId="1038"/>
          <ac:spMkLst>
            <pc:docMk/>
            <pc:sldMk cId="0" sldId="350"/>
            <ac:spMk id="2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23.313" v="119" actId="1038"/>
          <ac:spMkLst>
            <pc:docMk/>
            <pc:sldMk cId="0" sldId="350"/>
            <ac:spMk id="27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06:53:23.313" v="119" actId="1038"/>
          <ac:picMkLst>
            <pc:docMk/>
            <pc:sldMk cId="0" sldId="350"/>
            <ac:picMk id="25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2T06:57:08.863" v="187" actId="20577"/>
        <pc:sldMkLst>
          <pc:docMk/>
          <pc:sldMk cId="0" sldId="351"/>
        </pc:sldMkLst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12" creationId="{F7F5D141-06D9-E279-7706-B8CF2C3BD053}"/>
          </ac:spMkLst>
        </pc:spChg>
        <pc:spChg chg="mod">
          <ac:chgData name="Ignacio Sánchez Enjuto" userId="c691bf97-6f4a-46de-97c8-063fd3f20c17" providerId="ADAL" clId="{2691E216-BC80-53A0-9A71-853C30BFFE25}" dt="2026-10-02T06:55:00.082" v="126" actId="692"/>
          <ac:spMkLst>
            <pc:docMk/>
            <pc:sldMk cId="0" sldId="351"/>
            <ac:spMk id="1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00.082" v="126" actId="692"/>
          <ac:spMkLst>
            <pc:docMk/>
            <pc:sldMk cId="0" sldId="351"/>
            <ac:spMk id="1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00.082" v="126" actId="692"/>
          <ac:spMkLst>
            <pc:docMk/>
            <pc:sldMk cId="0" sldId="351"/>
            <ac:spMk id="2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00.082" v="126" actId="692"/>
          <ac:spMkLst>
            <pc:docMk/>
            <pc:sldMk cId="0" sldId="351"/>
            <ac:spMk id="30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3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6:01.849" v="159" actId="692"/>
          <ac:spMkLst>
            <pc:docMk/>
            <pc:sldMk cId="0" sldId="351"/>
            <ac:spMk id="3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3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6:01.849" v="159" actId="692"/>
          <ac:spMkLst>
            <pc:docMk/>
            <pc:sldMk cId="0" sldId="351"/>
            <ac:spMk id="40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4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6:01.849" v="159" actId="692"/>
          <ac:spMkLst>
            <pc:docMk/>
            <pc:sldMk cId="0" sldId="351"/>
            <ac:spMk id="4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08.863" v="187" actId="20577"/>
          <ac:spMkLst>
            <pc:docMk/>
            <pc:sldMk cId="0" sldId="351"/>
            <ac:spMk id="4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4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47" creationId="{00000000-0000-0000-0000-000000000000}"/>
          </ac:spMkLst>
        </pc:spChg>
        <pc:cxnChg chg="mod">
          <ac:chgData name="Ignacio Sánchez Enjuto" userId="c691bf97-6f4a-46de-97c8-063fd3f20c17" providerId="ADAL" clId="{2691E216-BC80-53A0-9A71-853C30BFFE25}" dt="2026-10-02T06:55:14.318" v="140" actId="692"/>
          <ac:cxnSpMkLst>
            <pc:docMk/>
            <pc:sldMk cId="0" sldId="351"/>
            <ac:cxnSpMk id="23" creationId="{00000000-0000-0000-0000-000000000000}"/>
          </ac:cxnSpMkLst>
        </pc:cxnChg>
        <pc:cxnChg chg="mod">
          <ac:chgData name="Ignacio Sánchez Enjuto" userId="c691bf97-6f4a-46de-97c8-063fd3f20c17" providerId="ADAL" clId="{2691E216-BC80-53A0-9A71-853C30BFFE25}" dt="2026-10-02T06:55:14.318" v="140" actId="692"/>
          <ac:cxnSpMkLst>
            <pc:docMk/>
            <pc:sldMk cId="0" sldId="351"/>
            <ac:cxnSpMk id="29" creationId="{00000000-0000-0000-0000-000000000000}"/>
          </ac:cxnSpMkLst>
        </pc:cxnChg>
        <pc:cxnChg chg="mod">
          <ac:chgData name="Ignacio Sánchez Enjuto" userId="c691bf97-6f4a-46de-97c8-063fd3f20c17" providerId="ADAL" clId="{2691E216-BC80-53A0-9A71-853C30BFFE25}" dt="2026-10-02T06:55:14.318" v="140" actId="692"/>
          <ac:cxnSpMkLst>
            <pc:docMk/>
            <pc:sldMk cId="0" sldId="351"/>
            <ac:cxnSpMk id="35" creationId="{00000000-0000-0000-0000-000000000000}"/>
          </ac:cxnSpMkLst>
        </pc:cxnChg>
      </pc:sldChg>
      <pc:sldChg chg="modSp mod">
        <pc:chgData name="Ignacio Sánchez Enjuto" userId="c691bf97-6f4a-46de-97c8-063fd3f20c17" providerId="ADAL" clId="{2691E216-BC80-53A0-9A71-853C30BFFE25}" dt="2026-10-02T06:58:33.300" v="207" actId="113"/>
        <pc:sldMkLst>
          <pc:docMk/>
          <pc:sldMk cId="0" sldId="353"/>
        </pc:sldMkLst>
        <pc:spChg chg="mod">
          <ac:chgData name="Ignacio Sánchez Enjuto" userId="c691bf97-6f4a-46de-97c8-063fd3f20c17" providerId="ADAL" clId="{2691E216-BC80-53A0-9A71-853C30BFFE25}" dt="2026-10-02T06:57:04.955" v="185" actId="1036"/>
          <ac:spMkLst>
            <pc:docMk/>
            <pc:sldMk cId="0" sldId="353"/>
            <ac:spMk id="12" creationId="{F7F5D141-06D9-E279-7706-B8CF2C3BD053}"/>
          </ac:spMkLst>
        </pc:spChg>
        <pc:spChg chg="mod">
          <ac:chgData name="Ignacio Sánchez Enjuto" userId="c691bf97-6f4a-46de-97c8-063fd3f20c17" providerId="ADAL" clId="{2691E216-BC80-53A0-9A71-853C30BFFE25}" dt="2026-10-02T06:57:42.965" v="201" actId="692"/>
          <ac:spMkLst>
            <pc:docMk/>
            <pc:sldMk cId="0" sldId="353"/>
            <ac:spMk id="1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8:14.965" v="205" actId="20577"/>
          <ac:spMkLst>
            <pc:docMk/>
            <pc:sldMk cId="0" sldId="353"/>
            <ac:spMk id="20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42.965" v="201" actId="692"/>
          <ac:spMkLst>
            <pc:docMk/>
            <pc:sldMk cId="0" sldId="353"/>
            <ac:spMk id="21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8:33.300" v="207" actId="113"/>
          <ac:spMkLst>
            <pc:docMk/>
            <pc:sldMk cId="0" sldId="353"/>
            <ac:spMk id="2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42.965" v="201" actId="692"/>
          <ac:spMkLst>
            <pc:docMk/>
            <pc:sldMk cId="0" sldId="353"/>
            <ac:spMk id="2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42.965" v="201" actId="692"/>
          <ac:spMkLst>
            <pc:docMk/>
            <pc:sldMk cId="0" sldId="353"/>
            <ac:spMk id="3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42.965" v="201" actId="692"/>
          <ac:spMkLst>
            <pc:docMk/>
            <pc:sldMk cId="0" sldId="353"/>
            <ac:spMk id="3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15.430" v="200" actId="1036"/>
          <ac:spMkLst>
            <pc:docMk/>
            <pc:sldMk cId="0" sldId="353"/>
            <ac:spMk id="58" creationId="{00000000-0000-0000-0000-000000000000}"/>
          </ac:spMkLst>
        </pc:spChg>
      </pc:sldChg>
      <pc:sldChg chg="modSp mod">
        <pc:chgData name="Ignacio Sánchez Enjuto" userId="c691bf97-6f4a-46de-97c8-063fd3f20c17" providerId="ADAL" clId="{2691E216-BC80-53A0-9A71-853C30BFFE25}" dt="2026-10-02T07:01:55.861" v="323" actId="1036"/>
        <pc:sldMkLst>
          <pc:docMk/>
          <pc:sldMk cId="0" sldId="355"/>
        </pc:sldMkLst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1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1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1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1:10.672" v="259" actId="20577"/>
          <ac:spMkLst>
            <pc:docMk/>
            <pc:sldMk cId="0" sldId="355"/>
            <ac:spMk id="2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2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1:35.116" v="305" actId="14100"/>
          <ac:spMkLst>
            <pc:docMk/>
            <pc:sldMk cId="0" sldId="355"/>
            <ac:spMk id="2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2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2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3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3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4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1:55.861" v="323" actId="1036"/>
          <ac:spMkLst>
            <pc:docMk/>
            <pc:sldMk cId="0" sldId="355"/>
            <ac:spMk id="4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1:55.861" v="323" actId="1036"/>
          <ac:spMkLst>
            <pc:docMk/>
            <pc:sldMk cId="0" sldId="355"/>
            <ac:spMk id="46" creationId="{00000000-0000-0000-0000-000000000000}"/>
          </ac:spMkLst>
        </pc:spChg>
      </pc:sldChg>
      <pc:sldChg chg="modSp mod">
        <pc:chgData name="Ignacio Sánchez Enjuto" userId="c691bf97-6f4a-46de-97c8-063fd3f20c17" providerId="ADAL" clId="{2691E216-BC80-53A0-9A71-853C30BFFE25}" dt="2026-10-02T07:04:19.897" v="400" actId="14100"/>
        <pc:sldMkLst>
          <pc:docMk/>
          <pc:sldMk cId="0" sldId="356"/>
        </pc:sldMkLst>
        <pc:spChg chg="mod">
          <ac:chgData name="Ignacio Sánchez Enjuto" userId="c691bf97-6f4a-46de-97c8-063fd3f20c17" providerId="ADAL" clId="{2691E216-BC80-53A0-9A71-853C30BFFE25}" dt="2026-10-02T07:03:29.127" v="386" actId="20577"/>
          <ac:spMkLst>
            <pc:docMk/>
            <pc:sldMk cId="0" sldId="356"/>
            <ac:spMk id="3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4:19.897" v="400" actId="14100"/>
          <ac:spMkLst>
            <pc:docMk/>
            <pc:sldMk cId="0" sldId="356"/>
            <ac:spMk id="3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2:32.898" v="324" actId="692"/>
          <ac:spMkLst>
            <pc:docMk/>
            <pc:sldMk cId="0" sldId="356"/>
            <ac:spMk id="3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2:32.898" v="324" actId="692"/>
          <ac:spMkLst>
            <pc:docMk/>
            <pc:sldMk cId="0" sldId="356"/>
            <ac:spMk id="3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2:32.898" v="324" actId="692"/>
          <ac:spMkLst>
            <pc:docMk/>
            <pc:sldMk cId="0" sldId="356"/>
            <ac:spMk id="4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2:32.898" v="324" actId="692"/>
          <ac:spMkLst>
            <pc:docMk/>
            <pc:sldMk cId="0" sldId="356"/>
            <ac:spMk id="4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2:32.898" v="324" actId="692"/>
          <ac:spMkLst>
            <pc:docMk/>
            <pc:sldMk cId="0" sldId="356"/>
            <ac:spMk id="51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2:32.898" v="324" actId="692"/>
          <ac:spMkLst>
            <pc:docMk/>
            <pc:sldMk cId="0" sldId="356"/>
            <ac:spMk id="5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4:15.496" v="399" actId="1036"/>
          <ac:spMkLst>
            <pc:docMk/>
            <pc:sldMk cId="0" sldId="356"/>
            <ac:spMk id="59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52698B-22EF-534E-B63D-BB6C0D4DFEA9}" type="datetimeFigureOut">
              <a:rPr lang="en-PT" smtClean="0"/>
              <a:t>10/1/26</a:t>
            </a:fld>
            <a:endParaRPr lang="en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7252E2-66E6-2846-853C-451ED1419F13}" type="slidenum">
              <a:rPr lang="en-PT" smtClean="0"/>
              <a:t>‹Nº›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895462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(0-3 min) «Hoy no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voy</a:t>
            </a:r>
            <a:r>
              <a:rPr dirty="0"/>
              <a:t> a </a:t>
            </a:r>
            <a:r>
              <a:rPr dirty="0" err="1"/>
              <a:t>enseñar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 IA </a:t>
            </a:r>
            <a:r>
              <a:rPr dirty="0" err="1"/>
              <a:t>clasifica</a:t>
            </a:r>
            <a:r>
              <a:rPr dirty="0"/>
              <a:t> un </a:t>
            </a:r>
            <a:r>
              <a:rPr dirty="0" err="1"/>
              <a:t>siniestro</a:t>
            </a:r>
            <a:r>
              <a:rPr dirty="0"/>
              <a:t>. Eso </a:t>
            </a:r>
            <a:r>
              <a:rPr dirty="0" err="1"/>
              <a:t>ya</a:t>
            </a:r>
            <a:r>
              <a:rPr dirty="0"/>
              <a:t> lo </a:t>
            </a:r>
            <a:r>
              <a:rPr dirty="0" err="1"/>
              <a:t>sabéis</a:t>
            </a:r>
            <a:r>
              <a:rPr dirty="0"/>
              <a:t>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voy</a:t>
            </a:r>
            <a:r>
              <a:rPr dirty="0"/>
              <a:t> a </a:t>
            </a:r>
            <a:r>
              <a:rPr dirty="0" err="1"/>
              <a:t>enseñar</a:t>
            </a:r>
            <a:r>
              <a:rPr dirty="0"/>
              <a:t> </a:t>
            </a:r>
            <a:r>
              <a:rPr dirty="0" err="1"/>
              <a:t>cómo</a:t>
            </a:r>
            <a:r>
              <a:rPr dirty="0"/>
              <a:t> se pone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producción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aseguradora</a:t>
            </a:r>
            <a:r>
              <a:rPr dirty="0"/>
              <a:t>.» — «Cada </a:t>
            </a:r>
            <a:r>
              <a:rPr dirty="0" err="1"/>
              <a:t>mensaje</a:t>
            </a:r>
            <a:r>
              <a:rPr dirty="0"/>
              <a:t> lo lee, lo </a:t>
            </a:r>
            <a:r>
              <a:rPr dirty="0" err="1"/>
              <a:t>clasifica</a:t>
            </a:r>
            <a:r>
              <a:rPr dirty="0"/>
              <a:t> y lo </a:t>
            </a:r>
            <a:r>
              <a:rPr dirty="0" err="1"/>
              <a:t>teclea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persona. Ahí se </a:t>
            </a:r>
            <a:r>
              <a:rPr dirty="0" err="1"/>
              <a:t>va</a:t>
            </a:r>
            <a:r>
              <a:rPr dirty="0"/>
              <a:t> el </a:t>
            </a:r>
            <a:r>
              <a:rPr dirty="0" err="1"/>
              <a:t>tiempo</a:t>
            </a:r>
            <a:r>
              <a:rPr dirty="0"/>
              <a:t> y el dinero. Y el </a:t>
            </a:r>
            <a:r>
              <a:rPr dirty="0" err="1"/>
              <a:t>cliente</a:t>
            </a:r>
            <a:r>
              <a:rPr dirty="0"/>
              <a:t> </a:t>
            </a:r>
            <a:r>
              <a:rPr dirty="0" err="1"/>
              <a:t>espera</a:t>
            </a:r>
            <a:r>
              <a:rPr dirty="0"/>
              <a:t> </a:t>
            </a:r>
            <a:r>
              <a:rPr dirty="0" err="1"/>
              <a:t>respuesta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horas, no </a:t>
            </a:r>
            <a:r>
              <a:rPr dirty="0" err="1"/>
              <a:t>en</a:t>
            </a:r>
            <a:r>
              <a:rPr dirty="0"/>
              <a:t> días.» Fuentes: UNESPA (</a:t>
            </a:r>
            <a:r>
              <a:rPr dirty="0" err="1"/>
              <a:t>siniestros</a:t>
            </a:r>
            <a:r>
              <a:rPr dirty="0"/>
              <a:t> de </a:t>
            </a:r>
            <a:r>
              <a:rPr dirty="0" err="1"/>
              <a:t>automóvil</a:t>
            </a:r>
            <a:r>
              <a:rPr dirty="0"/>
              <a:t>, </a:t>
            </a:r>
            <a:r>
              <a:rPr dirty="0" err="1"/>
              <a:t>datos</a:t>
            </a:r>
            <a:r>
              <a:rPr dirty="0"/>
              <a:t> 2024) para </a:t>
            </a:r>
            <a:r>
              <a:rPr dirty="0" err="1"/>
              <a:t>los</a:t>
            </a:r>
            <a:r>
              <a:rPr dirty="0"/>
              <a:t> ~11 M y el «uno </a:t>
            </a:r>
            <a:r>
              <a:rPr dirty="0" err="1"/>
              <a:t>cada</a:t>
            </a:r>
            <a:r>
              <a:rPr dirty="0"/>
              <a:t> 3 s»; art. 16 de la Ley 50/1980 (BOE) para </a:t>
            </a:r>
            <a:r>
              <a:rPr dirty="0" err="1"/>
              <a:t>los</a:t>
            </a:r>
            <a:r>
              <a:rPr dirty="0"/>
              <a:t> 7 días; Insurance Information Institute con </a:t>
            </a:r>
            <a:r>
              <a:rPr dirty="0" err="1"/>
              <a:t>datos</a:t>
            </a:r>
            <a:r>
              <a:rPr dirty="0"/>
              <a:t> NAIC para el ~10 % (</a:t>
            </a:r>
            <a:r>
              <a:rPr dirty="0" err="1"/>
              <a:t>gastos</a:t>
            </a:r>
            <a:r>
              <a:rPr dirty="0"/>
              <a:t> de </a:t>
            </a:r>
            <a:r>
              <a:rPr dirty="0" err="1"/>
              <a:t>gestión</a:t>
            </a:r>
            <a:r>
              <a:rPr dirty="0"/>
              <a:t> de </a:t>
            </a:r>
            <a:r>
              <a:rPr dirty="0" err="1"/>
              <a:t>siniestros</a:t>
            </a:r>
            <a:r>
              <a:rPr dirty="0"/>
              <a:t> de Auto </a:t>
            </a:r>
            <a:r>
              <a:rPr dirty="0" err="1"/>
              <a:t>particulares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EE. UU., 2023: 2,3 % defensa y </a:t>
            </a:r>
            <a:r>
              <a:rPr dirty="0" err="1"/>
              <a:t>contención</a:t>
            </a:r>
            <a:r>
              <a:rPr dirty="0"/>
              <a:t> de </a:t>
            </a:r>
            <a:r>
              <a:rPr dirty="0" err="1"/>
              <a:t>costes</a:t>
            </a:r>
            <a:r>
              <a:rPr dirty="0"/>
              <a:t> + 7,5 % </a:t>
            </a:r>
            <a:r>
              <a:rPr dirty="0" err="1"/>
              <a:t>tramitación</a:t>
            </a:r>
            <a:r>
              <a:rPr dirty="0"/>
              <a:t>). No hay </a:t>
            </a:r>
            <a:r>
              <a:rPr dirty="0" err="1"/>
              <a:t>dato</a:t>
            </a:r>
            <a:r>
              <a:rPr dirty="0"/>
              <a:t> </a:t>
            </a:r>
            <a:r>
              <a:rPr dirty="0" err="1"/>
              <a:t>público</a:t>
            </a:r>
            <a:r>
              <a:rPr dirty="0"/>
              <a:t> </a:t>
            </a:r>
            <a:r>
              <a:rPr dirty="0" err="1"/>
              <a:t>equivalente</a:t>
            </a:r>
            <a:r>
              <a:rPr dirty="0"/>
              <a:t> para España. Los 5 canales son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cubre</a:t>
            </a:r>
            <a:r>
              <a:rPr dirty="0"/>
              <a:t> la </a:t>
            </a:r>
            <a:r>
              <a:rPr dirty="0" err="1"/>
              <a:t>solución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(3-4 min) </a:t>
            </a:r>
            <a:r>
              <a:rPr dirty="0" err="1"/>
              <a:t>Ir</a:t>
            </a:r>
            <a:r>
              <a:rPr dirty="0"/>
              <a:t> </a:t>
            </a:r>
            <a:r>
              <a:rPr dirty="0" err="1"/>
              <a:t>rápido</a:t>
            </a:r>
            <a:r>
              <a:rPr dirty="0"/>
              <a:t>. La idea es </a:t>
            </a:r>
            <a:r>
              <a:rPr dirty="0" err="1"/>
              <a:t>quitar</a:t>
            </a:r>
            <a:r>
              <a:rPr dirty="0"/>
              <a:t> de la mesa la </a:t>
            </a:r>
            <a:r>
              <a:rPr dirty="0" err="1"/>
              <a:t>pregunta</a:t>
            </a:r>
            <a:r>
              <a:rPr dirty="0"/>
              <a:t> «¿la IA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hacerlo</a:t>
            </a:r>
            <a:r>
              <a:rPr dirty="0"/>
              <a:t>?» para pasar a la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importa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(4-6 min) «Los </a:t>
            </a:r>
            <a:r>
              <a:rPr dirty="0" err="1"/>
              <a:t>proyectos</a:t>
            </a:r>
            <a:r>
              <a:rPr dirty="0"/>
              <a:t> no </a:t>
            </a:r>
            <a:r>
              <a:rPr dirty="0" err="1"/>
              <a:t>mueren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la IA </a:t>
            </a:r>
            <a:r>
              <a:rPr dirty="0" err="1"/>
              <a:t>falle</a:t>
            </a:r>
            <a:r>
              <a:rPr dirty="0"/>
              <a:t>. </a:t>
            </a:r>
            <a:r>
              <a:rPr dirty="0" err="1"/>
              <a:t>Mueren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nadie</a:t>
            </a:r>
            <a:r>
              <a:rPr dirty="0"/>
              <a:t> </a:t>
            </a:r>
            <a:r>
              <a:rPr dirty="0" err="1"/>
              <a:t>puede</a:t>
            </a:r>
            <a:r>
              <a:rPr dirty="0"/>
              <a:t> responder </a:t>
            </a:r>
            <a:r>
              <a:rPr dirty="0" err="1"/>
              <a:t>tres</a:t>
            </a:r>
            <a:r>
              <a:rPr dirty="0"/>
              <a:t> </a:t>
            </a:r>
            <a:r>
              <a:rPr dirty="0" err="1"/>
              <a:t>preguntas</a:t>
            </a:r>
            <a:r>
              <a:rPr dirty="0"/>
              <a:t>: ¿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decidió</a:t>
            </a:r>
            <a:r>
              <a:rPr dirty="0"/>
              <a:t> </a:t>
            </a:r>
            <a:r>
              <a:rPr dirty="0" err="1"/>
              <a:t>eso</a:t>
            </a:r>
            <a:r>
              <a:rPr dirty="0"/>
              <a:t>?, ¿</a:t>
            </a:r>
            <a:r>
              <a:rPr dirty="0" err="1"/>
              <a:t>quién</a:t>
            </a:r>
            <a:r>
              <a:rPr dirty="0"/>
              <a:t> lo </a:t>
            </a:r>
            <a:r>
              <a:rPr dirty="0" err="1"/>
              <a:t>controla</a:t>
            </a:r>
            <a:r>
              <a:rPr dirty="0"/>
              <a:t>?, ¿</a:t>
            </a:r>
            <a:r>
              <a:rPr dirty="0" err="1"/>
              <a:t>cuánto</a:t>
            </a:r>
            <a:r>
              <a:rPr dirty="0"/>
              <a:t> cuesta?» </a:t>
            </a:r>
            <a:r>
              <a:rPr dirty="0" err="1"/>
              <a:t>Estas</a:t>
            </a:r>
            <a:r>
              <a:rPr dirty="0"/>
              <a:t> </a:t>
            </a:r>
            <a:r>
              <a:rPr dirty="0" err="1"/>
              <a:t>tres</a:t>
            </a:r>
            <a:r>
              <a:rPr dirty="0"/>
              <a:t> </a:t>
            </a:r>
            <a:r>
              <a:rPr dirty="0" err="1"/>
              <a:t>preguntas</a:t>
            </a:r>
            <a:r>
              <a:rPr dirty="0"/>
              <a:t> son el </a:t>
            </a:r>
            <a:r>
              <a:rPr dirty="0" err="1"/>
              <a:t>hilo</a:t>
            </a:r>
            <a:r>
              <a:rPr dirty="0"/>
              <a:t> de </a:t>
            </a:r>
            <a:r>
              <a:rPr dirty="0" err="1"/>
              <a:t>toda</a:t>
            </a:r>
            <a:r>
              <a:rPr dirty="0"/>
              <a:t> la </a:t>
            </a:r>
            <a:r>
              <a:rPr dirty="0" err="1"/>
              <a:t>sesión</a:t>
            </a:r>
            <a:r>
              <a:rPr dirty="0"/>
              <a:t>. </a:t>
            </a:r>
            <a:r>
              <a:rPr dirty="0" err="1"/>
              <a:t>Motivos</a:t>
            </a:r>
            <a:r>
              <a:rPr dirty="0"/>
              <a:t> de </a:t>
            </a:r>
            <a:r>
              <a:rPr dirty="0" err="1"/>
              <a:t>cancelación</a:t>
            </a:r>
            <a:r>
              <a:rPr dirty="0"/>
              <a:t> </a:t>
            </a:r>
            <a:r>
              <a:rPr dirty="0" err="1"/>
              <a:t>según</a:t>
            </a:r>
            <a:r>
              <a:rPr dirty="0"/>
              <a:t> Gartner: </a:t>
            </a:r>
            <a:r>
              <a:rPr dirty="0" err="1"/>
              <a:t>costes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 </a:t>
            </a:r>
            <a:r>
              <a:rPr dirty="0" err="1"/>
              <a:t>disparan</a:t>
            </a:r>
            <a:r>
              <a:rPr dirty="0"/>
              <a:t>, valor poco claro, </a:t>
            </a:r>
            <a:r>
              <a:rPr dirty="0" err="1"/>
              <a:t>riesgo</a:t>
            </a:r>
            <a:r>
              <a:rPr dirty="0"/>
              <a:t> sin </a:t>
            </a:r>
            <a:r>
              <a:rPr dirty="0" err="1"/>
              <a:t>controlar</a:t>
            </a:r>
            <a:r>
              <a:rPr dirty="0"/>
              <a:t>. Fuentes: Conning, AI in Insurance 2025 (90 % </a:t>
            </a:r>
            <a:r>
              <a:rPr dirty="0" err="1"/>
              <a:t>evaluando</a:t>
            </a:r>
            <a:r>
              <a:rPr dirty="0"/>
              <a:t> IA </a:t>
            </a:r>
            <a:r>
              <a:rPr dirty="0" err="1"/>
              <a:t>generativa</a:t>
            </a:r>
            <a:r>
              <a:rPr dirty="0"/>
              <a:t>; el 22 %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producción</a:t>
            </a:r>
            <a:r>
              <a:rPr dirty="0"/>
              <a:t>, </a:t>
            </a:r>
            <a:r>
              <a:rPr dirty="0" err="1"/>
              <a:t>citado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Outcome Catalyst); The Insurer, </a:t>
            </a:r>
            <a:r>
              <a:rPr dirty="0" err="1"/>
              <a:t>encuesta</a:t>
            </a:r>
            <a:r>
              <a:rPr dirty="0"/>
              <a:t> de IA Capital 2026 (4 %; </a:t>
            </a:r>
            <a:r>
              <a:rPr dirty="0" err="1"/>
              <a:t>artículo</a:t>
            </a:r>
            <a:r>
              <a:rPr dirty="0"/>
              <a:t> de </a:t>
            </a:r>
            <a:r>
              <a:rPr dirty="0" err="1"/>
              <a:t>pago</a:t>
            </a:r>
            <a:r>
              <a:rPr dirty="0"/>
              <a:t>, </a:t>
            </a:r>
            <a:r>
              <a:rPr dirty="0" err="1"/>
              <a:t>cifra</a:t>
            </a:r>
            <a:r>
              <a:rPr dirty="0"/>
              <a:t> no </a:t>
            </a:r>
            <a:r>
              <a:rPr dirty="0" err="1"/>
              <a:t>verificada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 </a:t>
            </a:r>
            <a:r>
              <a:rPr dirty="0" err="1"/>
              <a:t>fuente</a:t>
            </a:r>
            <a:r>
              <a:rPr dirty="0"/>
              <a:t> original); Gartner, nota de </a:t>
            </a:r>
            <a:r>
              <a:rPr dirty="0" err="1"/>
              <a:t>prensa</a:t>
            </a:r>
            <a:r>
              <a:rPr dirty="0"/>
              <a:t> del 25/06/2025 (40 %).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(6-9 min) «Un </a:t>
            </a:r>
            <a:r>
              <a:rPr dirty="0" err="1"/>
              <a:t>humano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firma</a:t>
            </a:r>
            <a:r>
              <a:rPr dirty="0"/>
              <a:t> sin </a:t>
            </a:r>
            <a:r>
              <a:rPr dirty="0" err="1"/>
              <a:t>mirar</a:t>
            </a:r>
            <a:r>
              <a:rPr dirty="0"/>
              <a:t> no </a:t>
            </a:r>
            <a:r>
              <a:rPr dirty="0" err="1"/>
              <a:t>cuenta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supervisión</a:t>
            </a:r>
            <a:r>
              <a:rPr dirty="0"/>
              <a:t>: lo </a:t>
            </a:r>
            <a:r>
              <a:rPr dirty="0" err="1"/>
              <a:t>dijo</a:t>
            </a:r>
            <a:r>
              <a:rPr dirty="0"/>
              <a:t> el TJUE. Y el </a:t>
            </a:r>
            <a:r>
              <a:rPr dirty="0" err="1"/>
              <a:t>aplazamiento</a:t>
            </a:r>
            <a:r>
              <a:rPr dirty="0"/>
              <a:t> no es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excusa</a:t>
            </a:r>
            <a:r>
              <a:rPr dirty="0"/>
              <a:t>: </a:t>
            </a:r>
            <a:r>
              <a:rPr dirty="0" err="1"/>
              <a:t>quien</a:t>
            </a:r>
            <a:r>
              <a:rPr dirty="0"/>
              <a:t> </a:t>
            </a:r>
            <a:r>
              <a:rPr dirty="0" err="1"/>
              <a:t>construya</a:t>
            </a:r>
            <a:r>
              <a:rPr dirty="0"/>
              <a:t> sin </a:t>
            </a:r>
            <a:r>
              <a:rPr dirty="0" err="1"/>
              <a:t>gobierno</a:t>
            </a:r>
            <a:r>
              <a:rPr dirty="0"/>
              <a:t> </a:t>
            </a:r>
            <a:r>
              <a:rPr dirty="0" err="1"/>
              <a:t>ahora</a:t>
            </a:r>
            <a:r>
              <a:rPr dirty="0"/>
              <a:t> lo </a:t>
            </a:r>
            <a:r>
              <a:rPr dirty="0" err="1"/>
              <a:t>rehará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2027.» Cuidado: el </a:t>
            </a:r>
            <a:r>
              <a:rPr dirty="0" err="1"/>
              <a:t>triaje</a:t>
            </a:r>
            <a:r>
              <a:rPr dirty="0"/>
              <a:t> de </a:t>
            </a:r>
            <a:r>
              <a:rPr dirty="0" err="1"/>
              <a:t>siniestros</a:t>
            </a:r>
            <a:r>
              <a:rPr dirty="0"/>
              <a:t> no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el Anexo III (solo la </a:t>
            </a:r>
            <a:r>
              <a:rPr dirty="0" err="1"/>
              <a:t>tarificación</a:t>
            </a:r>
            <a:r>
              <a:rPr dirty="0"/>
              <a:t> y </a:t>
            </a:r>
            <a:r>
              <a:rPr dirty="0" err="1"/>
              <a:t>evaluación</a:t>
            </a:r>
            <a:r>
              <a:rPr dirty="0"/>
              <a:t> de </a:t>
            </a:r>
            <a:r>
              <a:rPr dirty="0" err="1"/>
              <a:t>riesgo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Vida y Salud). No </a:t>
            </a:r>
            <a:r>
              <a:rPr dirty="0" err="1"/>
              <a:t>decir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el AI Act </a:t>
            </a:r>
            <a:r>
              <a:rPr dirty="0" err="1"/>
              <a:t>obliga</a:t>
            </a:r>
            <a:r>
              <a:rPr dirty="0"/>
              <a:t> hoy a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esto</a:t>
            </a:r>
            <a:r>
              <a:rPr dirty="0"/>
              <a:t>; la </a:t>
            </a:r>
            <a:r>
              <a:rPr dirty="0" err="1"/>
              <a:t>obligación</a:t>
            </a:r>
            <a:r>
              <a:rPr dirty="0"/>
              <a:t> de hoy </a:t>
            </a:r>
            <a:r>
              <a:rPr dirty="0" err="1"/>
              <a:t>viene</a:t>
            </a:r>
            <a:r>
              <a:rPr dirty="0"/>
              <a:t> del RGPD, DORA y EIOPA.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(9-10 min) No </a:t>
            </a:r>
            <a:r>
              <a:rPr dirty="0" err="1"/>
              <a:t>decir</a:t>
            </a:r>
            <a:r>
              <a:rPr dirty="0"/>
              <a:t> «no </a:t>
            </a:r>
            <a:r>
              <a:rPr dirty="0" err="1"/>
              <a:t>existe</a:t>
            </a:r>
            <a:r>
              <a:rPr dirty="0"/>
              <a:t> nada». </a:t>
            </a:r>
            <a:r>
              <a:rPr dirty="0" err="1"/>
              <a:t>Existen</a:t>
            </a:r>
            <a:r>
              <a:rPr dirty="0"/>
              <a:t> </a:t>
            </a:r>
            <a:r>
              <a:rPr dirty="0" err="1"/>
              <a:t>herramientas</a:t>
            </a:r>
            <a:r>
              <a:rPr dirty="0"/>
              <a:t>; 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falta</a:t>
            </a:r>
            <a:r>
              <a:rPr dirty="0"/>
              <a:t> es </a:t>
            </a:r>
            <a:r>
              <a:rPr dirty="0" err="1"/>
              <a:t>integrarlas</a:t>
            </a:r>
            <a:r>
              <a:rPr dirty="0"/>
              <a:t> con el </a:t>
            </a:r>
            <a:r>
              <a:rPr dirty="0" err="1"/>
              <a:t>negocio</a:t>
            </a:r>
            <a:r>
              <a:rPr dirty="0"/>
              <a:t> del </a:t>
            </a:r>
            <a:r>
              <a:rPr dirty="0" err="1"/>
              <a:t>cliente</a:t>
            </a:r>
            <a:r>
              <a:rPr dirty="0"/>
              <a:t>. Si </a:t>
            </a:r>
            <a:r>
              <a:rPr dirty="0" err="1"/>
              <a:t>alguien</a:t>
            </a:r>
            <a:r>
              <a:rPr dirty="0"/>
              <a:t> </a:t>
            </a:r>
            <a:r>
              <a:rPr dirty="0" err="1"/>
              <a:t>pregunta</a:t>
            </a:r>
            <a:r>
              <a:rPr dirty="0"/>
              <a:t> «¿</a:t>
            </a:r>
            <a:r>
              <a:rPr dirty="0" err="1"/>
              <a:t>cuánto</a:t>
            </a:r>
            <a:r>
              <a:rPr dirty="0"/>
              <a:t> cuesta?», la </a:t>
            </a:r>
            <a:r>
              <a:rPr dirty="0" err="1"/>
              <a:t>respuesta</a:t>
            </a:r>
            <a:r>
              <a:rPr dirty="0"/>
              <a:t> es </a:t>
            </a:r>
            <a:r>
              <a:rPr dirty="0" err="1"/>
              <a:t>que</a:t>
            </a:r>
            <a:r>
              <a:rPr dirty="0"/>
              <a:t> es </a:t>
            </a:r>
            <a:r>
              <a:rPr dirty="0" err="1"/>
              <a:t>una</a:t>
            </a:r>
            <a:r>
              <a:rPr dirty="0"/>
              <a:t> forma de </a:t>
            </a:r>
            <a:r>
              <a:rPr dirty="0" err="1"/>
              <a:t>implementar</a:t>
            </a:r>
            <a:r>
              <a:rPr dirty="0"/>
              <a:t>, no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licencia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(10-12 min) «No es </a:t>
            </a:r>
            <a:r>
              <a:rPr dirty="0" err="1"/>
              <a:t>una</a:t>
            </a:r>
            <a:r>
              <a:rPr dirty="0"/>
              <a:t> IA </a:t>
            </a:r>
            <a:r>
              <a:rPr dirty="0" err="1"/>
              <a:t>que</a:t>
            </a:r>
            <a:r>
              <a:rPr dirty="0"/>
              <a:t> lo </a:t>
            </a:r>
            <a:r>
              <a:rPr dirty="0" err="1"/>
              <a:t>hace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. Son cuatro </a:t>
            </a:r>
            <a:r>
              <a:rPr dirty="0" err="1"/>
              <a:t>especialistas</a:t>
            </a:r>
            <a:r>
              <a:rPr dirty="0"/>
              <a:t>, y </a:t>
            </a:r>
            <a:r>
              <a:rPr dirty="0" err="1"/>
              <a:t>cada</a:t>
            </a:r>
            <a:r>
              <a:rPr dirty="0"/>
              <a:t> uno </a:t>
            </a:r>
            <a:r>
              <a:rPr dirty="0" err="1"/>
              <a:t>tiene</a:t>
            </a:r>
            <a:r>
              <a:rPr dirty="0"/>
              <a:t> sus </a:t>
            </a:r>
            <a:r>
              <a:rPr dirty="0" err="1"/>
              <a:t>propios</a:t>
            </a:r>
            <a:r>
              <a:rPr dirty="0"/>
              <a:t> </a:t>
            </a:r>
            <a:r>
              <a:rPr dirty="0" err="1"/>
              <a:t>límites</a:t>
            </a:r>
            <a:r>
              <a:rPr dirty="0"/>
              <a:t>.» Por </a:t>
            </a:r>
            <a:r>
              <a:rPr dirty="0" err="1"/>
              <a:t>debajo</a:t>
            </a:r>
            <a:r>
              <a:rPr dirty="0"/>
              <a:t>, la </a:t>
            </a:r>
            <a:r>
              <a:rPr dirty="0" err="1"/>
              <a:t>capa</a:t>
            </a:r>
            <a:r>
              <a:rPr dirty="0"/>
              <a:t> de </a:t>
            </a:r>
            <a:r>
              <a:rPr dirty="0" err="1"/>
              <a:t>gobierno</a:t>
            </a:r>
            <a:r>
              <a:rPr dirty="0"/>
              <a:t>: </a:t>
            </a:r>
            <a:r>
              <a:rPr dirty="0" err="1"/>
              <a:t>trazas</a:t>
            </a:r>
            <a:r>
              <a:rPr dirty="0"/>
              <a:t>, replay, </a:t>
            </a:r>
            <a:r>
              <a:rPr dirty="0" err="1"/>
              <a:t>autonomía</a:t>
            </a:r>
            <a:r>
              <a:rPr dirty="0"/>
              <a:t>, guardrails, FinOps e histórico.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Al final </a:t>
            </a:r>
            <a:r>
              <a:rPr dirty="0" err="1"/>
              <a:t>siempre</a:t>
            </a:r>
            <a:r>
              <a:rPr dirty="0"/>
              <a:t> hay un </a:t>
            </a:r>
            <a:r>
              <a:rPr dirty="0" err="1"/>
              <a:t>técnico</a:t>
            </a:r>
            <a:r>
              <a:rPr dirty="0"/>
              <a:t> de </a:t>
            </a:r>
            <a:r>
              <a:rPr dirty="0" err="1"/>
              <a:t>seguros</a:t>
            </a:r>
            <a:r>
              <a:rPr dirty="0"/>
              <a:t>: la IA </a:t>
            </a:r>
            <a:r>
              <a:rPr dirty="0" err="1"/>
              <a:t>prepara</a:t>
            </a:r>
            <a:r>
              <a:rPr dirty="0"/>
              <a:t>, la persona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(12-14 min) «Todo 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voy</a:t>
            </a:r>
            <a:r>
              <a:rPr dirty="0"/>
              <a:t> a </a:t>
            </a:r>
            <a:r>
              <a:rPr dirty="0" err="1"/>
              <a:t>decir</a:t>
            </a:r>
            <a:r>
              <a:rPr dirty="0"/>
              <a:t> </a:t>
            </a:r>
            <a:r>
              <a:rPr dirty="0" err="1"/>
              <a:t>ahora</a:t>
            </a:r>
            <a:r>
              <a:rPr dirty="0"/>
              <a:t> lo </a:t>
            </a:r>
            <a:r>
              <a:rPr dirty="0" err="1"/>
              <a:t>vais</a:t>
            </a:r>
            <a:r>
              <a:rPr dirty="0"/>
              <a:t> a </a:t>
            </a:r>
            <a:r>
              <a:rPr dirty="0" err="1"/>
              <a:t>ver</a:t>
            </a:r>
            <a:r>
              <a:rPr dirty="0"/>
              <a:t> </a:t>
            </a:r>
            <a:r>
              <a:rPr dirty="0" err="1"/>
              <a:t>funcionando</a:t>
            </a:r>
            <a:r>
              <a:rPr dirty="0"/>
              <a:t>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(14-15 min) «Primero 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ve</a:t>
            </a:r>
            <a:r>
              <a:rPr dirty="0"/>
              <a:t> el </a:t>
            </a:r>
            <a:r>
              <a:rPr dirty="0" err="1"/>
              <a:t>tramitador</a:t>
            </a:r>
            <a:r>
              <a:rPr dirty="0"/>
              <a:t>. </a:t>
            </a:r>
            <a:r>
              <a:rPr dirty="0" err="1"/>
              <a:t>Después</a:t>
            </a:r>
            <a:r>
              <a:rPr dirty="0"/>
              <a:t> 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ve</a:t>
            </a:r>
            <a:r>
              <a:rPr dirty="0"/>
              <a:t> el auditor y el CFO.» Cambiar a la demo con el motor </a:t>
            </a:r>
            <a:r>
              <a:rPr dirty="0" err="1"/>
              <a:t>en</a:t>
            </a:r>
            <a:r>
              <a:rPr dirty="0"/>
              <a:t> «</a:t>
            </a:r>
            <a:r>
              <a:rPr dirty="0" err="1"/>
              <a:t>Resultados</a:t>
            </a:r>
            <a:r>
              <a:rPr dirty="0"/>
              <a:t> </a:t>
            </a:r>
            <a:r>
              <a:rPr dirty="0" err="1"/>
              <a:t>guardados</a:t>
            </a:r>
            <a:r>
              <a:rPr dirty="0"/>
              <a:t>» y el </a:t>
            </a:r>
            <a:r>
              <a:rPr dirty="0" err="1"/>
              <a:t>Paquete</a:t>
            </a:r>
            <a:r>
              <a:rPr dirty="0"/>
              <a:t> A </a:t>
            </a:r>
            <a:r>
              <a:rPr dirty="0" err="1"/>
              <a:t>seleccionado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0">
            <a:extLst>
              <a:ext uri="{FF2B5EF4-FFF2-40B4-BE49-F238E27FC236}">
                <a16:creationId xmlns:a16="http://schemas.microsoft.com/office/drawing/2014/main" id="{77616D71-A116-9CE5-43D9-8D796F2E894C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CF1E45-A99B-2BE7-01FE-0DA7EBC90F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3599" y="2286000"/>
            <a:ext cx="7709211" cy="720000"/>
          </a:xfrm>
          <a:solidFill>
            <a:srgbClr val="FF1414"/>
          </a:solidFill>
        </p:spPr>
        <p:txBody>
          <a:bodyPr anchor="ctr" anchorCtr="0"/>
          <a:lstStyle>
            <a:lvl1pPr algn="l">
              <a:defRPr sz="4200">
                <a:latin typeface="Roboto Slab" pitchFamily="2" charset="0"/>
                <a:ea typeface="Roboto Slab" pitchFamily="2" charset="0"/>
              </a:defRPr>
            </a:lvl1pPr>
          </a:lstStyle>
          <a:p>
            <a:r>
              <a:rPr lang="en-US"/>
              <a:t>Title here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E9911E9-EAA2-0691-47D0-AB5873D716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3599" y="3099759"/>
            <a:ext cx="8653861" cy="719034"/>
          </a:xfrm>
          <a:prstGeom prst="rect">
            <a:avLst/>
          </a:prstGeom>
          <a:solidFill>
            <a:srgbClr val="FF1414"/>
          </a:solidFill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4200">
                <a:solidFill>
                  <a:schemeClr val="bg1"/>
                </a:solidFill>
                <a:latin typeface="Roboto Slab" pitchFamily="2" charset="0"/>
                <a:ea typeface="Roboto Slab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10327276-C6D2-51DD-7433-FF4EC4409AE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3599" y="5167076"/>
            <a:ext cx="2687411" cy="249847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0">
                <a:solidFill>
                  <a:schemeClr val="bg1"/>
                </a:solidFill>
                <a:latin typeface="+mn-lt"/>
                <a:ea typeface="Roboto Slab" pitchFamily="2" charset="0"/>
              </a:defRPr>
            </a:lvl1pPr>
          </a:lstStyle>
          <a:p>
            <a:fld id="{E453CB44-D933-4174-8CBB-ADEE1E6C3E6E}" type="datetime6">
              <a:rPr lang="en-GB" smtClean="0"/>
              <a:pPr/>
              <a:t>October 26</a:t>
            </a:fld>
            <a:endParaRPr lang="en-GB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BB148E28-3B35-1678-D418-E6DCE4AAAE9F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5436" y="501128"/>
            <a:ext cx="2271188" cy="41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625965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70" cy="362612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358775" indent="-358775" defTabSz="612000">
              <a:lnSpc>
                <a:spcPct val="150000"/>
              </a:lnSpc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lnSpc>
                <a:spcPct val="150000"/>
              </a:lnSpc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70" cy="327654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-358775" defTabSz="612000">
              <a:lnSpc>
                <a:spcPct val="150000"/>
              </a:lnSpc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56C88E4-8019-3498-683D-067216205333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67252227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A50D26C-7346-F0B6-C7A5-89A430AF2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D152480-EA9A-B2B2-0180-83B2EFCF3D7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879876447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Whit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 descr="Background pattern&#10;&#10;Description automatically generated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066629" y="1371600"/>
            <a:ext cx="4641956" cy="46386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A50D26C-7346-F0B6-C7A5-89A430AF2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D152480-EA9A-B2B2-0180-83B2EFCF3D7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281270144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Whit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3657FE-3B2D-84E7-54D1-80F76892BA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74F76A-DAB9-3C0E-7A4B-C660B49908F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60987F2-4C3A-6B51-537F-52E468C110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2DC93F5-2011-58D4-1782-38651928FE4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316352877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1E2588A-F550-C104-3508-8B4A40320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D637E3-F841-2D06-46A2-7A75CFC01286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847329026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A9AF041-7FE4-8E72-16FA-B7B093756F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87BA298-B3A7-D63A-01E6-46BA66A3778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263893062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D60D3F-35DD-669C-4E04-5FD5144AD81A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35328736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6AAC242-D1ED-AF35-63F5-AC46C90D8E3C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079693095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69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69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17748084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25484236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Blu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6527526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Blu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3BCE5D-A113-417B-0442-62C437D955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E3CBB-C3C3-73CD-72CC-C20ACCC1C4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86C2A2F-9EB4-7D4F-CF5E-A747856D4F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633F21E3-CAAA-8747-683A-A96583D3DC51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075560867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E7FA9D4-BEB0-A09E-4298-A0EE819782E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B50FC1-3C88-32C9-AA18-FCB1A15A9DC1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78BE0C6E-1FA3-7528-72A5-BF3F9232E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19E59AD4-27DA-9B84-925A-539F21F0B4C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050221882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23 columns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F81708C-B351-2798-CE06-F68D495AF08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C14BF72-824A-AB1D-B89B-5C07C016946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29B4E89-017D-EA89-D384-CAA21A2803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39975AA-365E-F0F7-B6A4-C86F87AF4A89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813007365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98ED3D-4C1D-18B1-C757-4A8E3551E9C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B9303C-1A66-4748-B626-8DD339D7E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4738501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A95A5A-7EDA-4530-9F96-16A0E2CA69D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8101059-5A5E-E286-B2FB-81E98250C7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8408848-5F14-71C8-95D8-DEEE569318F6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87498778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98ED3D-4C1D-18B1-C757-4A8E3551E9C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49C3E0-83EB-6264-8CDF-22AAF8CAB992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A0576D-B669-167B-03FD-E669ECE0B2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9D6499A-F9B2-E514-8A32-800319EBC15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91146124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9CC49CE-6C20-5F08-A00E-E9DA79B4180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70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70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BAFE8D-50F2-1958-99B8-B3A36E1F5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643B595-F912-FD25-DA9D-463645B2EF8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060100668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6BBB329-3596-B079-5CB2-208E7D9FE81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B91C3F7-4190-5A1D-C32E-4D6E05D1C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7B6CC4C-4A5D-45DA-48BF-A135099D772B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898589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Ligh Blu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6BBB329-3596-B079-5CB2-208E7D9FE81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 descr="Background pattern&#10;&#10;Description automatically generated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066629" y="1371600"/>
            <a:ext cx="4641956" cy="46386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B91C3F7-4190-5A1D-C32E-4D6E05D1C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7B6CC4C-4A5D-45DA-48BF-A135099D772B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23281354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Ligh Blu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EEE180D-E692-5018-47EC-92A6AE18106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3657FE-3B2D-84E7-54D1-80F76892BA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74F76A-DAB9-3C0E-7A4B-C660B49908F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123846-F94B-039B-852B-86D94A8967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FE3C0033-79E8-320F-3EF9-E64D9370CDF0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326456237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8858B7D-70A1-EE68-CD20-71B9B4CA7F7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B83962-E666-AEE5-6202-2B9382F016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D73D27C-AD05-ECB0-DD9B-AE1C2484773E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898089267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F47126E-216D-C391-208D-BB929A71ECB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C5BD8753-EE4F-7BE4-C865-CF6E958356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42F1400-6EE5-0A84-DBBA-24A941E3F24D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95344813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9D53124-B12B-D07C-612C-517D880A54A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9A42FA-125C-22CD-4278-0A67C89344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59A6DC0-D8D5-3EC9-7DBC-E552715DB70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39115519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9D53124-B12B-D07C-612C-517D880A54A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31799FC-469F-580B-48DA-9BC46B48AA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842039-D254-86F5-6E93-608F88B6D00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530437119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10">
            <a:extLst>
              <a:ext uri="{FF2B5EF4-FFF2-40B4-BE49-F238E27FC236}">
                <a16:creationId xmlns:a16="http://schemas.microsoft.com/office/drawing/2014/main" id="{F7C06E8A-CBF1-05D3-A6EB-A7249CFCE251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69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69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999392030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10">
            <a:extLst>
              <a:ext uri="{FF2B5EF4-FFF2-40B4-BE49-F238E27FC236}">
                <a16:creationId xmlns:a16="http://schemas.microsoft.com/office/drawing/2014/main" id="{F4249F5F-9A66-085C-4C2F-724171CD8734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6F99D34-2B6A-C9DB-81AC-AE756887AF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CC1ED71-DC88-C375-59D2-CB2EE11A0390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27120745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Gradient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10">
            <a:extLst>
              <a:ext uri="{FF2B5EF4-FFF2-40B4-BE49-F238E27FC236}">
                <a16:creationId xmlns:a16="http://schemas.microsoft.com/office/drawing/2014/main" id="{F4249F5F-9A66-085C-4C2F-724171CD8734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6F99D34-2B6A-C9DB-81AC-AE756887AF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CC1ED71-DC88-C375-59D2-CB2EE11A0390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091103896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Gradi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10">
            <a:extLst>
              <a:ext uri="{FF2B5EF4-FFF2-40B4-BE49-F238E27FC236}">
                <a16:creationId xmlns:a16="http://schemas.microsoft.com/office/drawing/2014/main" id="{56ABECD5-69C2-01F6-AA6E-D98E25B0FE61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3BCE5D-A113-417B-0442-62C437D955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E3CBB-C3C3-73CD-72CC-C20ACCC1C4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56B11-2672-9B16-AFAE-2027CDA4F7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51362F1-4717-4465-7E09-063D89E8059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993950483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10">
            <a:extLst>
              <a:ext uri="{FF2B5EF4-FFF2-40B4-BE49-F238E27FC236}">
                <a16:creationId xmlns:a16="http://schemas.microsoft.com/office/drawing/2014/main" id="{0EF485AE-CDCF-333F-BBE8-EF458BC86918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B50FC1-3C88-32C9-AA18-FCB1A15A9DC1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F14C0AB-8FCF-2FCA-039B-DE0760D46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F263407-8A16-1A30-C969-918D44E0F7B3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620834198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0">
            <a:extLst>
              <a:ext uri="{FF2B5EF4-FFF2-40B4-BE49-F238E27FC236}">
                <a16:creationId xmlns:a16="http://schemas.microsoft.com/office/drawing/2014/main" id="{6F8BAC4A-9084-01CA-B106-3AB00C0DFD3E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4D9F112-C12E-FFC8-DF18-B903D7627877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D57B3A-1189-DEAE-9184-DD769F03CB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C28850C5-5D11-343B-27A2-07C114CCF2E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52110081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-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10">
            <a:extLst>
              <a:ext uri="{FF2B5EF4-FFF2-40B4-BE49-F238E27FC236}">
                <a16:creationId xmlns:a16="http://schemas.microsoft.com/office/drawing/2014/main" id="{92D475C8-E86F-9AAF-1527-5F7C298407F1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B9303C-1A66-4748-B626-8DD339D7E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4738501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A95A5A-7EDA-4530-9F96-16A0E2CA69D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8101059-5A5E-E286-B2FB-81E98250C7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8408848-5F14-71C8-95D8-DEEE569318F6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833244300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10">
            <a:extLst>
              <a:ext uri="{FF2B5EF4-FFF2-40B4-BE49-F238E27FC236}">
                <a16:creationId xmlns:a16="http://schemas.microsoft.com/office/drawing/2014/main" id="{6A574E42-9543-D779-8EB7-2C538C77731B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CCF1B8-EB8B-F36D-1158-90FE4F528D9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CAE4310-0013-FF05-48A7-F65D1DD9E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6A1621DE-885A-25FD-387C-E6916A70151C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997497794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821E75C-54D2-1EC4-58CA-F69BEE5292E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69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69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631875266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BE6C5A6-4932-0AD5-691C-BDB6EEBE3D8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868DE7DC-B94E-3D8A-2B93-5080203FE5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838747CC-4D62-35A2-BC1F-7BF3F7B0B46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738868597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Dark Blu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BE6C5A6-4932-0AD5-691C-BDB6EEBE3D8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868DE7DC-B94E-3D8A-2B93-5080203FE5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838747CC-4D62-35A2-BC1F-7BF3F7B0B46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134096766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Dark Blu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2B58DC8-5901-7B11-5F4B-21F3E1EE91A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3BCE5D-A113-417B-0442-62C437D955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E3CBB-C3C3-73CD-72CC-C20ACCC1C4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25965D87-A8FC-34AE-DC28-6CC329F496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E4FEC87-C30A-FD9E-CBE3-D7ED86D6D84A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587663873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DB37B4F-A21E-7D41-08AF-8E0768389EA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B50FC1-3C88-32C9-AA18-FCB1A15A9DC1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0990115-D860-EEA0-F01D-766963A53E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817ED54-318F-5696-DEBF-15214F782329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761813845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6530C6C-8E37-041B-074C-63EDA20F186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4D9F112-C12E-FFC8-DF18-B903D7627877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6A373795-3254-679C-59E2-782654991E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B9B85E77-736B-2725-053E-8F07217C4BDC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584421133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Dark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98362EC-5BF8-8DD6-8B43-5DF9FD194A2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39EBBF-FF78-466E-2EE5-04BB33BCC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P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FA70BC-2B24-3B04-F6B0-C104E7DED06A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A00C6F3-88A1-CAF2-BE79-B535F3EDB5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5339B7A-057A-1605-D614-26906536782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20220416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98362EC-5BF8-8DD6-8B43-5DF9FD194A2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FA70BC-2B24-3B04-F6B0-C104E7DED06A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A455A05-7234-2683-78DA-B2B18F90AB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6496F57-92C5-2726-5037-7C5661E2FF99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141808678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0">
            <a:extLst>
              <a:ext uri="{FF2B5EF4-FFF2-40B4-BE49-F238E27FC236}">
                <a16:creationId xmlns:a16="http://schemas.microsoft.com/office/drawing/2014/main" id="{77616D71-A116-9CE5-43D9-8D796F2E894C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CF1E45-A99B-2BE7-01FE-0DA7EBC90F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3599" y="2286000"/>
            <a:ext cx="4482687" cy="720000"/>
          </a:xfrm>
          <a:solidFill>
            <a:srgbClr val="FF1414"/>
          </a:solidFill>
        </p:spPr>
        <p:txBody>
          <a:bodyPr anchor="ctr" anchorCtr="0"/>
          <a:lstStyle>
            <a:lvl1pPr algn="l">
              <a:defRPr sz="4200">
                <a:latin typeface="Roboto Slab" pitchFamily="2" charset="0"/>
                <a:ea typeface="Roboto Slab" pitchFamily="2" charset="0"/>
              </a:defRPr>
            </a:lvl1pPr>
          </a:lstStyle>
          <a:p>
            <a:r>
              <a:rPr lang="en-US"/>
              <a:t>Title here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E9911E9-EAA2-0691-47D0-AB5873D716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3599" y="3099759"/>
            <a:ext cx="4482687" cy="719034"/>
          </a:xfrm>
          <a:prstGeom prst="rect">
            <a:avLst/>
          </a:prstGeom>
          <a:solidFill>
            <a:srgbClr val="FF1414"/>
          </a:solidFill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4200">
                <a:solidFill>
                  <a:schemeClr val="bg1"/>
                </a:solidFill>
                <a:latin typeface="Roboto Slab" pitchFamily="2" charset="0"/>
                <a:ea typeface="Roboto Slab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To edit</a:t>
            </a:r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399047-3BA6-1228-99FC-3B406BF2F0D9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7161626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ack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10">
            <a:extLst>
              <a:ext uri="{FF2B5EF4-FFF2-40B4-BE49-F238E27FC236}">
                <a16:creationId xmlns:a16="http://schemas.microsoft.com/office/drawing/2014/main" id="{19C2A041-55EE-50E0-6893-655ACB93D4D5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6D897F45-4856-0508-472A-A886A70DD882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5436" y="501128"/>
            <a:ext cx="2271188" cy="4173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AAE017B-85BA-45CF-9E93-A6B67CF242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3599" y="2286000"/>
            <a:ext cx="7186697" cy="648000"/>
          </a:xfrm>
        </p:spPr>
        <p:txBody>
          <a:bodyPr anchor="ctr" anchorCtr="0"/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21C17C7-87A8-4096-AA87-B54E1020D4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4600" y="3166877"/>
            <a:ext cx="3095625" cy="1041400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Aft>
                <a:spcPts val="0"/>
              </a:spcAft>
              <a:defRPr sz="1500" b="0">
                <a:solidFill>
                  <a:schemeClr val="bg1"/>
                </a:solidFill>
                <a:latin typeface="+mn-lt"/>
              </a:defRPr>
            </a:lvl1pPr>
            <a:lvl2pPr>
              <a:spcAft>
                <a:spcPts val="0"/>
              </a:spcAft>
              <a:defRPr sz="1500" b="0">
                <a:solidFill>
                  <a:schemeClr val="bg1"/>
                </a:solidFill>
                <a:latin typeface="+mn-lt"/>
              </a:defRPr>
            </a:lvl2pPr>
            <a:lvl3pPr marL="0" indent="0">
              <a:spcAft>
                <a:spcPts val="0"/>
              </a:spcAft>
              <a:buNone/>
              <a:defRPr sz="1500" b="0">
                <a:solidFill>
                  <a:schemeClr val="bg1"/>
                </a:solidFill>
                <a:latin typeface="+mn-lt"/>
              </a:defRPr>
            </a:lvl3pPr>
            <a:lvl4pPr>
              <a:spcAft>
                <a:spcPts val="0"/>
              </a:spcAft>
              <a:defRPr sz="1500"/>
            </a:lvl4pPr>
            <a:lvl5pPr>
              <a:spcAft>
                <a:spcPts val="0"/>
              </a:spcAft>
              <a:defRPr sz="15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99616B-69D4-FF49-A2CC-47F9D9FE5395}"/>
              </a:ext>
            </a:extLst>
          </p:cNvPr>
          <p:cNvSpPr txBox="1"/>
          <p:nvPr userDrawn="1"/>
        </p:nvSpPr>
        <p:spPr>
          <a:xfrm>
            <a:off x="633600" y="6213687"/>
            <a:ext cx="1569552" cy="184666"/>
          </a:xfrm>
          <a:prstGeom prst="rect">
            <a:avLst/>
          </a:prstGeom>
          <a:solidFill>
            <a:schemeClr val="accent3"/>
          </a:solidFill>
        </p:spPr>
        <p:txBody>
          <a:bodyPr wrap="square" lIns="72000" tIns="0" rIns="72000" bIns="0" rtlCol="0" anchor="ctr" anchorCtr="0">
            <a:spAutoFit/>
          </a:bodyPr>
          <a:lstStyle/>
          <a:p>
            <a:pPr algn="l"/>
            <a:r>
              <a:rPr lang="en-US" sz="1200" b="0" i="0">
                <a:solidFill>
                  <a:schemeClr val="bg1"/>
                </a:solidFill>
                <a:latin typeface="+mn-lt"/>
                <a:cs typeface="Times New Roman" panose="02020603050405020304" pitchFamily="18" charset="0"/>
              </a:rPr>
              <a:t>www.logicalis.com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C86C905-64BE-4506-8C3E-41AF052ACC23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647176111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Black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4371707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3FD339-BB19-4043-A166-4FFEA6AB4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4751202" cy="432000"/>
          </a:xfrm>
          <a:prstGeom prst="rect">
            <a:avLst/>
          </a:prstGeom>
          <a:solidFill>
            <a:srgbClr val="FF1414"/>
          </a:solidFill>
        </p:spPr>
        <p:txBody>
          <a:bodyPr vert="horz" wrap="square" lIns="72000" tIns="36000" rIns="72000" bIns="3600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8FAE61-913B-4243-9F6F-41F836C740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3417" y="1308944"/>
            <a:ext cx="11225167" cy="360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0"/>
            <a:endParaRPr lang="en-US"/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EED1DBC-3E6C-A386-4841-19F228B628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04ACAE-EE43-8A60-F34C-23DD4D038152}"/>
              </a:ext>
            </a:extLst>
          </p:cNvPr>
          <p:cNvPicPr/>
          <p:nvPr userDrawn="1"/>
        </p:nvPicPr>
        <p:blipFill>
          <a:blip r:embed="rId45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DAE6ED0-2B14-2B0D-C9F0-EB643D210B43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086366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29" r:id="rId2"/>
    <p:sldLayoutId id="2147483730" r:id="rId3"/>
    <p:sldLayoutId id="2147483765" r:id="rId4"/>
    <p:sldLayoutId id="2147483731" r:id="rId5"/>
    <p:sldLayoutId id="2147483732" r:id="rId6"/>
    <p:sldLayoutId id="2147483733" r:id="rId7"/>
    <p:sldLayoutId id="2147483697" r:id="rId8"/>
    <p:sldLayoutId id="2147483734" r:id="rId9"/>
    <p:sldLayoutId id="2147483735" r:id="rId10"/>
    <p:sldLayoutId id="2147483736" r:id="rId11"/>
    <p:sldLayoutId id="2147483737" r:id="rId12"/>
    <p:sldLayoutId id="2147483738" r:id="rId13"/>
    <p:sldLayoutId id="2147483739" r:id="rId14"/>
    <p:sldLayoutId id="2147483740" r:id="rId15"/>
    <p:sldLayoutId id="2147483677" r:id="rId16"/>
    <p:sldLayoutId id="2147483741" r:id="rId17"/>
    <p:sldLayoutId id="2147483742" r:id="rId18"/>
    <p:sldLayoutId id="2147483743" r:id="rId19"/>
    <p:sldLayoutId id="2147483744" r:id="rId20"/>
    <p:sldLayoutId id="2147483745" r:id="rId21"/>
    <p:sldLayoutId id="2147483746" r:id="rId22"/>
    <p:sldLayoutId id="2147483747" r:id="rId23"/>
    <p:sldLayoutId id="2147483704" r:id="rId24"/>
    <p:sldLayoutId id="2147483749" r:id="rId25"/>
    <p:sldLayoutId id="2147483750" r:id="rId26"/>
    <p:sldLayoutId id="2147483751" r:id="rId27"/>
    <p:sldLayoutId id="2147483752" r:id="rId28"/>
    <p:sldLayoutId id="2147483753" r:id="rId29"/>
    <p:sldLayoutId id="2147483754" r:id="rId30"/>
    <p:sldLayoutId id="2147483755" r:id="rId31"/>
    <p:sldLayoutId id="2147483726" r:id="rId32"/>
    <p:sldLayoutId id="2147483756" r:id="rId33"/>
    <p:sldLayoutId id="2147483757" r:id="rId34"/>
    <p:sldLayoutId id="2147483758" r:id="rId35"/>
    <p:sldLayoutId id="2147483759" r:id="rId36"/>
    <p:sldLayoutId id="2147483760" r:id="rId37"/>
    <p:sldLayoutId id="2147483761" r:id="rId38"/>
    <p:sldLayoutId id="2147483762" r:id="rId39"/>
    <p:sldLayoutId id="2147483684" r:id="rId40"/>
    <p:sldLayoutId id="2147483764" r:id="rId41"/>
    <p:sldLayoutId id="2147483727" r:id="rId42"/>
    <p:sldLayoutId id="2147483672" r:id="rId43"/>
  </p:sldLayoutIdLst>
  <p:transition>
    <p:fade/>
  </p:transition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bg1"/>
          </a:solidFill>
          <a:latin typeface="Roboto Slab" pitchFamily="2" charset="0"/>
          <a:ea typeface="Roboto Slab" pitchFamily="2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b="0" i="0" kern="1200">
          <a:solidFill>
            <a:srgbClr val="595959"/>
          </a:solidFill>
          <a:latin typeface="Montserrat Medium" pitchFamily="2" charset="77"/>
          <a:ea typeface="+mn-ea"/>
          <a:cs typeface="+mn-cs"/>
        </a:defRPr>
      </a:lvl1pPr>
      <a:lvl2pPr marL="0" indent="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accent1"/>
        </a:buClr>
        <a:buSzPct val="90000"/>
        <a:buFont typeface="Arial" panose="020B0604020202020204" pitchFamily="34" charset="0"/>
        <a:buNone/>
        <a:defRPr sz="2000" b="0" i="0" kern="1200">
          <a:solidFill>
            <a:schemeClr val="accent1"/>
          </a:solidFill>
          <a:latin typeface="Roboto Slab" pitchFamily="2" charset="0"/>
          <a:ea typeface="Roboto Slab" pitchFamily="2" charset="0"/>
          <a:cs typeface="Times New Roman" panose="02020603050405020304" pitchFamily="18" charset="0"/>
        </a:defRPr>
      </a:lvl2pPr>
      <a:lvl3pPr marL="252000" indent="-25200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accent1"/>
        </a:buClr>
        <a:buSzPct val="80000"/>
        <a:buFont typeface=".Lucida Grande UI Regular"/>
        <a:buChar char="►"/>
        <a:defRPr sz="1400" b="0" i="0" kern="1200">
          <a:solidFill>
            <a:srgbClr val="595959"/>
          </a:solidFill>
          <a:latin typeface="Montserrat Medium" pitchFamily="2" charset="77"/>
          <a:ea typeface="+mn-ea"/>
          <a:cs typeface="+mn-cs"/>
        </a:defRPr>
      </a:lvl3pPr>
      <a:lvl4pPr marL="540000" indent="-25200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tx2"/>
        </a:buClr>
        <a:buSzPct val="80000"/>
        <a:buFont typeface=".Lucida Grande UI Regular"/>
        <a:buChar char="►"/>
        <a:defRPr sz="1400" b="0" i="0" kern="1200">
          <a:solidFill>
            <a:srgbClr val="595959"/>
          </a:solidFill>
          <a:latin typeface="Montserrat" pitchFamily="2" charset="77"/>
          <a:ea typeface="+mn-ea"/>
          <a:cs typeface="+mn-cs"/>
        </a:defRPr>
      </a:lvl4pPr>
      <a:lvl5pPr marL="792000" indent="-25200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tx2"/>
        </a:buClr>
        <a:buSzPct val="90000"/>
        <a:buFont typeface="Monaco" pitchFamily="2" charset="77"/>
        <a:buChar char="⎻"/>
        <a:defRPr sz="1400" b="0" i="0" kern="1200">
          <a:solidFill>
            <a:srgbClr val="595959"/>
          </a:solidFill>
          <a:latin typeface="Montserrat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pos="398">
          <p15:clr>
            <a:srgbClr val="F26B43"/>
          </p15:clr>
        </p15:guide>
        <p15:guide id="4" pos="7197">
          <p15:clr>
            <a:srgbClr val="F26B43"/>
          </p15:clr>
        </p15:guide>
        <p15:guide id="5" orient="horz" pos="1132">
          <p15:clr>
            <a:srgbClr val="F26B43"/>
          </p15:clr>
        </p15:guide>
        <p15:guide id="6" orient="horz" pos="3401">
          <p15:clr>
            <a:srgbClr val="F26B43"/>
          </p15:clr>
        </p15:guide>
        <p15:guide id="7" orient="horz" pos="489">
          <p15:clr>
            <a:srgbClr val="F26B43"/>
          </p15:clr>
        </p15:guide>
        <p15:guide id="8" orient="horz" pos="125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unespa.es/notasdeprensa/siniestros-automovil-datos-2024/" TargetMode="External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15.svg"/><Relationship Id="rId10" Type="http://schemas.openxmlformats.org/officeDocument/2006/relationships/hyperlink" Target="https://www.iii.org/table-archive/23229" TargetMode="External"/><Relationship Id="rId4" Type="http://schemas.openxmlformats.org/officeDocument/2006/relationships/image" Target="../media/image14.svg"/><Relationship Id="rId9" Type="http://schemas.openxmlformats.org/officeDocument/2006/relationships/hyperlink" Target="https://www.boe.es/buscar/act.php?id=BOE-A-1980-22501#a16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13" Type="http://schemas.openxmlformats.org/officeDocument/2006/relationships/hyperlink" Target="https://www.gartner.com/en/newsroom/press-releases/2025-06-25-gartner-predicts-over-40-percent-of-agentic-ai-projects-will-be-canceled-by-end-of-2027" TargetMode="External"/><Relationship Id="rId3" Type="http://schemas.openxmlformats.org/officeDocument/2006/relationships/image" Target="../media/image22.svg"/><Relationship Id="rId7" Type="http://schemas.openxmlformats.org/officeDocument/2006/relationships/image" Target="../media/image26.svg"/><Relationship Id="rId12" Type="http://schemas.openxmlformats.org/officeDocument/2006/relationships/hyperlink" Target="https://www.theinsurer.com/ti/news/openai-dominates-ai-stacks-as-insurance-industry-moves-from-pilot-to-production-2026-05-06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svg"/><Relationship Id="rId11" Type="http://schemas.openxmlformats.org/officeDocument/2006/relationships/hyperlink" Target="https://www.outcomecatalyst.com/blog/insurance-ai-data-trends-2026" TargetMode="External"/><Relationship Id="rId5" Type="http://schemas.openxmlformats.org/officeDocument/2006/relationships/image" Target="../media/image24.svg"/><Relationship Id="rId10" Type="http://schemas.openxmlformats.org/officeDocument/2006/relationships/hyperlink" Target="https://conning.com/about-us/news/ir-pr---ai-survey-2025" TargetMode="External"/><Relationship Id="rId4" Type="http://schemas.openxmlformats.org/officeDocument/2006/relationships/image" Target="../media/image23.svg"/><Relationship Id="rId9" Type="http://schemas.openxmlformats.org/officeDocument/2006/relationships/image" Target="../media/image28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svg"/><Relationship Id="rId13" Type="http://schemas.openxmlformats.org/officeDocument/2006/relationships/hyperlink" Target="https://curia.europa.eu/juris/liste.jsf?num=C-634/21" TargetMode="External"/><Relationship Id="rId18" Type="http://schemas.openxmlformats.org/officeDocument/2006/relationships/hyperlink" Target="https://www.gibsondunn.com/eu-ai-act-omnibus-agreement-postponed-high-risk-deadlines-and-other-key-changes/" TargetMode="External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12" Type="http://schemas.openxmlformats.org/officeDocument/2006/relationships/hyperlink" Target="https://eur-lex.europa.eu/eli/reg/2016/679/oj" TargetMode="External"/><Relationship Id="rId17" Type="http://schemas.openxmlformats.org/officeDocument/2006/relationships/hyperlink" Target="https://eur-lex.europa.eu/eli/reg/2024/1689/oj" TargetMode="External"/><Relationship Id="rId2" Type="http://schemas.openxmlformats.org/officeDocument/2006/relationships/notesSlide" Target="../notesSlides/notesSlide4.xml"/><Relationship Id="rId16" Type="http://schemas.openxmlformats.org/officeDocument/2006/relationships/hyperlink" Target="https://www.eiopa.europa.eu/eiopa-publishes-opinion-ai-governance-and-risk-management-2025-08-06_en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svg"/><Relationship Id="rId11" Type="http://schemas.openxmlformats.org/officeDocument/2006/relationships/image" Target="../media/image38.svg"/><Relationship Id="rId5" Type="http://schemas.openxmlformats.org/officeDocument/2006/relationships/image" Target="../media/image32.svg"/><Relationship Id="rId15" Type="http://schemas.openxmlformats.org/officeDocument/2006/relationships/hyperlink" Target="https://eur-lex.europa.eu/eli/reg/2022/2554/oj" TargetMode="External"/><Relationship Id="rId10" Type="http://schemas.openxmlformats.org/officeDocument/2006/relationships/image" Target="../media/image37.svg"/><Relationship Id="rId19" Type="http://schemas.openxmlformats.org/officeDocument/2006/relationships/hyperlink" Target="https://www.economistjurist.es/zbloque-1/ley-organica-de-ia-espana-aterriza-el-ai-act-con-aesia-sanciones-y-sandboxes/" TargetMode="External"/><Relationship Id="rId4" Type="http://schemas.openxmlformats.org/officeDocument/2006/relationships/image" Target="../media/image31.svg"/><Relationship Id="rId9" Type="http://schemas.openxmlformats.org/officeDocument/2006/relationships/image" Target="../media/image36.svg"/><Relationship Id="rId14" Type="http://schemas.openxmlformats.org/officeDocument/2006/relationships/hyperlink" Target="https://curia.europa.eu/juris/liste.jsf?num=C-203/22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svg"/><Relationship Id="rId5" Type="http://schemas.openxmlformats.org/officeDocument/2006/relationships/image" Target="../media/image42.svg"/><Relationship Id="rId4" Type="http://schemas.openxmlformats.org/officeDocument/2006/relationships/image" Target="../media/image41.svg"/><Relationship Id="rId9" Type="http://schemas.openxmlformats.org/officeDocument/2006/relationships/image" Target="../media/image46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svg"/><Relationship Id="rId13" Type="http://schemas.openxmlformats.org/officeDocument/2006/relationships/image" Target="../media/image57.svg"/><Relationship Id="rId3" Type="http://schemas.openxmlformats.org/officeDocument/2006/relationships/image" Target="../media/image47.svg"/><Relationship Id="rId7" Type="http://schemas.openxmlformats.org/officeDocument/2006/relationships/image" Target="../media/image51.svg"/><Relationship Id="rId12" Type="http://schemas.openxmlformats.org/officeDocument/2006/relationships/image" Target="../media/image56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svg"/><Relationship Id="rId11" Type="http://schemas.openxmlformats.org/officeDocument/2006/relationships/image" Target="../media/image55.svg"/><Relationship Id="rId5" Type="http://schemas.openxmlformats.org/officeDocument/2006/relationships/image" Target="../media/image49.svg"/><Relationship Id="rId10" Type="http://schemas.openxmlformats.org/officeDocument/2006/relationships/image" Target="../media/image54.svg"/><Relationship Id="rId4" Type="http://schemas.openxmlformats.org/officeDocument/2006/relationships/image" Target="../media/image48.svg"/><Relationship Id="rId9" Type="http://schemas.openxmlformats.org/officeDocument/2006/relationships/image" Target="../media/image53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svg"/><Relationship Id="rId5" Type="http://schemas.openxmlformats.org/officeDocument/2006/relationships/image" Target="../media/image60.svg"/><Relationship Id="rId4" Type="http://schemas.openxmlformats.org/officeDocument/2006/relationships/image" Target="../media/image59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41.svg"/><Relationship Id="rId7" Type="http://schemas.openxmlformats.org/officeDocument/2006/relationships/image" Target="../media/image64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svg"/><Relationship Id="rId5" Type="http://schemas.openxmlformats.org/officeDocument/2006/relationships/image" Target="../media/image62.svg"/><Relationship Id="rId4" Type="http://schemas.openxmlformats.org/officeDocument/2006/relationships/image" Target="../media/image21.svg"/><Relationship Id="rId9" Type="http://schemas.openxmlformats.org/officeDocument/2006/relationships/image" Target="../media/image66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svg"/><Relationship Id="rId5" Type="http://schemas.openxmlformats.org/officeDocument/2006/relationships/image" Target="../media/image70.png"/><Relationship Id="rId4" Type="http://schemas.openxmlformats.org/officeDocument/2006/relationships/image" Target="../media/image69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921E48-B7DB-6CFD-42FD-BACF049CF6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2286000"/>
            <a:ext cx="4837938" cy="688848"/>
          </a:xfrm>
        </p:spPr>
        <p:txBody>
          <a:bodyPr wrap="none" anchor="ctr">
            <a:noAutofit/>
          </a:bodyPr>
          <a:lstStyle/>
          <a:p>
            <a:r>
              <a:rPr lang="en-PT" sz="4200"/>
              <a:t>FNOL con agentes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839338-4607-518B-5A15-89D10D8B7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0936" y="3066288"/>
            <a:ext cx="3202178" cy="688848"/>
          </a:xfrm>
        </p:spPr>
        <p:txBody>
          <a:bodyPr wrap="none" anchor="ctr">
            <a:noAutofit/>
          </a:bodyPr>
          <a:lstStyle/>
          <a:p>
            <a:r>
              <a:rPr lang="pt-PT" sz="4200" err="1"/>
              <a:t>gobernados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84D23A1D-92A7-B8F8-A6A5-CA7C51F45A8F}"/>
              </a:ext>
            </a:extLst>
          </p:cNvPr>
          <p:cNvSpPr txBox="1">
            <a:spLocks/>
          </p:cNvSpPr>
          <p:nvPr/>
        </p:nvSpPr>
        <p:spPr>
          <a:xfrm>
            <a:off x="630936" y="4797552"/>
            <a:ext cx="4572000" cy="356616"/>
          </a:xfrm>
          <a:prstGeom prst="rect">
            <a:avLst/>
          </a:prstGeom>
          <a:noFill/>
        </p:spPr>
        <p:txBody>
          <a:bodyPr vert="horz" wrap="square" lIns="72000" tIns="36000" rIns="72000" bIns="3600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200" kern="120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+mj-cs"/>
              </a:defRPr>
            </a:lvl1pPr>
          </a:lstStyle>
          <a:p>
            <a:r>
              <a:rPr lang="en-PT" sz="1200">
                <a:latin typeface="Montserrat" pitchFamily="2" charset="77"/>
              </a:rPr>
              <a:t>Octubre 2026</a:t>
            </a:r>
          </a:p>
        </p:txBody>
      </p:sp>
      <p:pic>
        <p:nvPicPr>
          <p:cNvPr id="7" name="Picture 6" descr="A person with her arms crossed&#10;&#10;Description automatically generated">
            <a:extLst>
              <a:ext uri="{FF2B5EF4-FFF2-40B4-BE49-F238E27FC236}">
                <a16:creationId xmlns:a16="http://schemas.microsoft.com/office/drawing/2014/main" id="{B28B268F-CE6A-5453-5C27-75301FD49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5778" y="1346330"/>
            <a:ext cx="8553692" cy="55116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" y="3983736"/>
            <a:ext cx="5303520" cy="6766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600">
                <a:solidFill>
                  <a:srgbClr val="FFFFFF"/>
                </a:solidFill>
                <a:latin typeface="Montserrat Medium"/>
              </a:rPr>
              <a:t>De la IA que clasifica a la IA que se puede poner en producción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5181600"/>
            <a:ext cx="2574289" cy="292608"/>
          </a:xfrm>
          <a:prstGeom prst="rect">
            <a:avLst/>
          </a:prstGeom>
          <a:solidFill>
            <a:srgbClr val="194BFF"/>
          </a:solidFill>
        </p:spPr>
        <p:txBody>
          <a:bodyPr wrap="none" lIns="73152" tIns="18288" rIns="73152" bIns="18288" anchor="ctr">
            <a:noAutofit/>
          </a:bodyPr>
          <a:lstStyle/>
          <a:p>
            <a:r>
              <a:rPr sz="1100">
                <a:solidFill>
                  <a:srgbClr val="FFFFFF"/>
                </a:solidFill>
                <a:latin typeface="Montserrat Medium"/>
              </a:rPr>
              <a:t>Presentado por Ignacio Sánchez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1445768" cy="429768"/>
          </a:xfrm>
        </p:spPr>
        <p:txBody>
          <a:bodyPr wrap="none"/>
          <a:lstStyle/>
          <a:p>
            <a:r>
              <a:rPr sz="2600"/>
              <a:t>Agenda</a:t>
            </a:r>
          </a:p>
        </p:txBody>
      </p:sp>
      <p:pic>
        <p:nvPicPr>
          <p:cNvPr id="3" name="Picture 2" descr="wave_symbol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920240"/>
            <a:ext cx="5303520" cy="2515857"/>
          </a:xfrm>
          <a:prstGeom prst="rect">
            <a:avLst/>
          </a:prstGeom>
        </p:spPr>
      </p:pic>
      <p:sp>
        <p:nvSpPr>
          <p:cNvPr id="4" name="AGENDA_ITEMS"/>
          <p:cNvSpPr txBox="1"/>
          <p:nvPr/>
        </p:nvSpPr>
        <p:spPr>
          <a:xfrm>
            <a:off x="484632" y="1600200"/>
            <a:ext cx="6949440" cy="4572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noAutofit/>
          </a:bodyPr>
          <a:lstStyle/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01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El problema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02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El marco normativo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03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La solución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04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La demo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2</a:t>
            </a:fld>
            <a:endParaRPr lang="es-E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hex_photo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6928"/>
            <a:ext cx="6035040" cy="5683392"/>
          </a:xfrm>
          <a:prstGeom prst="rect">
            <a:avLst/>
          </a:prstGeom>
        </p:spPr>
      </p:pic>
      <p:sp>
        <p:nvSpPr>
          <p:cNvPr id="3" name="NUM"/>
          <p:cNvSpPr txBox="1"/>
          <p:nvPr/>
        </p:nvSpPr>
        <p:spPr>
          <a:xfrm>
            <a:off x="6720840" y="2331720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lIns="72000" tIns="36000" rIns="72000" bIns="36000" anchor="ctr">
            <a:noAutofit/>
          </a:bodyPr>
          <a:lstStyle/>
          <a:p>
            <a:r>
              <a:rPr sz="1400" b="0">
                <a:solidFill>
                  <a:srgbClr val="FFFFFF"/>
                </a:solidFill>
                <a:latin typeface="Roboto Slab"/>
              </a:rPr>
              <a:t>01</a:t>
            </a:r>
          </a:p>
        </p:txBody>
      </p:sp>
      <p:sp>
        <p:nvSpPr>
          <p:cNvPr id="4" name="REDTITLE"/>
          <p:cNvSpPr txBox="1"/>
          <p:nvPr/>
        </p:nvSpPr>
        <p:spPr>
          <a:xfrm>
            <a:off x="6720840" y="2788920"/>
            <a:ext cx="2595118" cy="546608"/>
          </a:xfrm>
          <a:prstGeom prst="rect">
            <a:avLst/>
          </a:prstGeom>
          <a:solidFill>
            <a:srgbClr val="FF1414"/>
          </a:solidFill>
        </p:spPr>
        <p:txBody>
          <a:bodyPr wrap="none" lIns="72000" tIns="36000" rIns="72000" bIns="36000" anchor="ctr">
            <a:noAutofit/>
          </a:bodyPr>
          <a:lstStyle/>
          <a:p>
            <a:r>
              <a:rPr sz="3200" b="0">
                <a:solidFill>
                  <a:srgbClr val="FFFFFF"/>
                </a:solidFill>
                <a:latin typeface="Roboto Slab"/>
              </a:rPr>
              <a:t>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3609848"/>
            <a:ext cx="512064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dirty="0" err="1">
                <a:solidFill>
                  <a:srgbClr val="FFFFFF"/>
                </a:solidFill>
                <a:latin typeface="Montserrat Medium"/>
              </a:rPr>
              <a:t>Millones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de </a:t>
            </a:r>
            <a:r>
              <a:rPr lang="es-ES" sz="1400" dirty="0">
                <a:solidFill>
                  <a:srgbClr val="FFFFFF"/>
                </a:solidFill>
                <a:latin typeface="Montserrat Medium"/>
              </a:rPr>
              <a:t>mensajes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que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lee y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teclea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una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persona, y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una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IA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que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no sale del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piloto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3851147" cy="429768"/>
          </a:xfrm>
        </p:spPr>
        <p:txBody>
          <a:bodyPr wrap="none"/>
          <a:lstStyle/>
          <a:p>
            <a:r>
              <a:rPr sz="2600"/>
              <a:t>La avalancha de avisos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4</a:t>
            </a:fld>
            <a:endParaRPr lang="es-ES"/>
          </a:p>
        </p:txBody>
      </p:sp>
      <p:sp>
        <p:nvSpPr>
          <p:cNvPr id="13" name="Oval 12"/>
          <p:cNvSpPr/>
          <p:nvPr/>
        </p:nvSpPr>
        <p:spPr>
          <a:xfrm>
            <a:off x="548640" y="1459360"/>
            <a:ext cx="822960" cy="822960"/>
          </a:xfrm>
          <a:prstGeom prst="ellipse">
            <a:avLst/>
          </a:prstGeom>
          <a:solidFill>
            <a:srgbClr val="E8EE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Icono car-fron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3806" y="1644526"/>
            <a:ext cx="452628" cy="4526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4632" y="2331720"/>
            <a:ext cx="2062886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000" b="0" i="0">
                <a:solidFill>
                  <a:srgbClr val="194BFF"/>
                </a:solidFill>
                <a:latin typeface="Roboto Slab"/>
              </a:rPr>
              <a:t>~11 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15468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84632" y="3246120"/>
            <a:ext cx="1620506" cy="51353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siniestros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de Auto al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año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en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España</a:t>
            </a:r>
            <a:r>
              <a:rPr sz="1200" b="1" i="0" baseline="30000" dirty="0">
                <a:solidFill>
                  <a:srgbClr val="194BFF"/>
                </a:solidFill>
                <a:latin typeface="Montserrat Medium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2840126" y="1459360"/>
            <a:ext cx="822960" cy="822960"/>
          </a:xfrm>
          <a:prstGeom prst="ellipse">
            <a:avLst/>
          </a:prstGeom>
          <a:solidFill>
            <a:srgbClr val="E8EE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9" name="Icono time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25292" y="1644526"/>
            <a:ext cx="452628" cy="4526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776118" y="2331720"/>
            <a:ext cx="2062886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000" b="0" i="0">
                <a:solidFill>
                  <a:srgbClr val="194BFF"/>
                </a:solidFill>
                <a:latin typeface="Roboto Slab"/>
              </a:rPr>
              <a:t>1 cada 3 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840126" y="315468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776118" y="3246120"/>
            <a:ext cx="1837922" cy="75360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ritmo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al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que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el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seguro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atiende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un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percance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en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carretera</a:t>
            </a:r>
            <a:r>
              <a:rPr sz="1200" b="1" i="0" baseline="30000" dirty="0">
                <a:solidFill>
                  <a:srgbClr val="194BFF"/>
                </a:solidFill>
                <a:latin typeface="Montserrat Medium"/>
              </a:rPr>
              <a:t>1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72633" y="1417320"/>
            <a:ext cx="0" cy="283464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131612" y="1459360"/>
            <a:ext cx="822960" cy="822960"/>
          </a:xfrm>
          <a:prstGeom prst="ellipse">
            <a:avLst/>
          </a:prstGeom>
          <a:solidFill>
            <a:srgbClr val="E8EE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Icono messages-squar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6778" y="1644526"/>
            <a:ext cx="452628" cy="4526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67604" y="2331720"/>
            <a:ext cx="2062886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000" b="0" i="0">
                <a:solidFill>
                  <a:srgbClr val="194BFF"/>
                </a:solidFill>
                <a:latin typeface="Roboto Slab"/>
              </a:rPr>
              <a:t>5 canales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131612" y="315468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67604" y="3246120"/>
            <a:ext cx="1913116" cy="75360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 dirty="0">
                <a:solidFill>
                  <a:srgbClr val="595959"/>
                </a:solidFill>
                <a:latin typeface="Montserrat Medium"/>
              </a:rPr>
              <a:t>email, WhatsApp, chat,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formulario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web y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teléfono</a:t>
            </a:r>
            <a:endParaRPr sz="1200" b="0" i="0" dirty="0">
              <a:solidFill>
                <a:srgbClr val="595959"/>
              </a:solidFill>
              <a:latin typeface="Montserrat Medium"/>
            </a:endParaRPr>
          </a:p>
        </p:txBody>
      </p:sp>
      <p:cxnSp>
        <p:nvCxnSpPr>
          <p:cNvPr id="29" name="Connector 28"/>
          <p:cNvCxnSpPr/>
          <p:nvPr/>
        </p:nvCxnSpPr>
        <p:spPr>
          <a:xfrm>
            <a:off x="4764119" y="1417320"/>
            <a:ext cx="0" cy="283464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7423099" y="1459360"/>
            <a:ext cx="822960" cy="822960"/>
          </a:xfrm>
          <a:prstGeom prst="ellipse">
            <a:avLst/>
          </a:prstGeom>
          <a:solidFill>
            <a:srgbClr val="E8EE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1" name="Icono calendar-clo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265" y="1644526"/>
            <a:ext cx="452628" cy="4526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359091" y="2331720"/>
            <a:ext cx="2062886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000" b="0" i="0">
                <a:solidFill>
                  <a:srgbClr val="194BFF"/>
                </a:solidFill>
                <a:latin typeface="Roboto Slab"/>
              </a:rPr>
              <a:t>7 días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23099" y="315468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59090" y="3246120"/>
            <a:ext cx="1987989" cy="51353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plazo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para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comunicar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el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siniestro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(art. 16 LCS)</a:t>
            </a:r>
            <a:r>
              <a:rPr sz="1200" b="1" i="0" baseline="30000" dirty="0">
                <a:solidFill>
                  <a:srgbClr val="194BFF"/>
                </a:solidFill>
                <a:latin typeface="Montserrat Medium"/>
              </a:rPr>
              <a:t>2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055606" y="1417320"/>
            <a:ext cx="0" cy="283464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9714585" y="1459360"/>
            <a:ext cx="822960" cy="822960"/>
          </a:xfrm>
          <a:prstGeom prst="ellipse">
            <a:avLst/>
          </a:prstGeom>
          <a:solidFill>
            <a:srgbClr val="E8EE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7" name="Icono coins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899751" y="1644526"/>
            <a:ext cx="452628" cy="4526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650577" y="2331720"/>
            <a:ext cx="2062886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000" b="0" i="0">
                <a:solidFill>
                  <a:srgbClr val="194BFF"/>
                </a:solidFill>
                <a:latin typeface="Roboto Slab"/>
              </a:rPr>
              <a:t>~10 %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14585" y="315468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650577" y="3246120"/>
            <a:ext cx="2056785" cy="75360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 dirty="0">
                <a:solidFill>
                  <a:srgbClr val="595959"/>
                </a:solidFill>
                <a:latin typeface="Montserrat Medium"/>
              </a:rPr>
              <a:t>de la prima de Auto se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va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en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gestionar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siniestros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(EE. UU., 2023)</a:t>
            </a:r>
            <a:r>
              <a:rPr sz="1200" b="1" i="0" baseline="30000" dirty="0">
                <a:solidFill>
                  <a:srgbClr val="194BFF"/>
                </a:solidFill>
                <a:latin typeface="Montserrat Medium"/>
              </a:rPr>
              <a:t>3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347092" y="1417320"/>
            <a:ext cx="0" cy="283464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84632" y="4572000"/>
            <a:ext cx="11228832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600" b="1" i="0">
                <a:solidFill>
                  <a:srgbClr val="194BFF"/>
                </a:solidFill>
                <a:latin typeface="Montserrat"/>
              </a:rPr>
              <a:t>Cada aviso hay que leerlo, clasificarlo por ramo, extraer los datos y aplicar las reglas de la póliza.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" y="5532120"/>
            <a:ext cx="11228832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850" b="1" i="0">
                <a:solidFill>
                  <a:srgbClr val="595959"/>
                </a:solidFill>
                <a:latin typeface="Montserrat Medium"/>
              </a:rPr>
              <a:t>Fuentes: 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¹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8"/>
              </a:rPr>
              <a:t>UNESPA, siniestros de automóvil (datos 2024)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  ·  ²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9"/>
              </a:rPr>
              <a:t>Ley 50/1980 de Contrato de Seguro, art. 16 (BOE)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  ·  ³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10"/>
              </a:rPr>
              <a:t>Insurance Information Institute, Private Passenger Auto Underwriting Expenses (NAIC, 2023)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221988" cy="429768"/>
          </a:xfrm>
        </p:spPr>
        <p:txBody>
          <a:bodyPr wrap="none"/>
          <a:lstStyle/>
          <a:p>
            <a:r>
              <a:rPr sz="2600"/>
              <a:t>Clasificar ya está resuelto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5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1371600"/>
            <a:ext cx="3560064" cy="242316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758952" y="1645920"/>
            <a:ext cx="777240" cy="7772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Icono targe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3831" y="1820799"/>
            <a:ext cx="427482" cy="4274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13232" y="2560320"/>
            <a:ext cx="3102864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194BFF"/>
                </a:solidFill>
                <a:latin typeface="Montserrat"/>
              </a:rPr>
              <a:t>Más de un 90 % de acierto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2944368"/>
            <a:ext cx="3102864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Un prompt bien escrito clasifica por ramo y extrae los datos del aviso.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9016" y="1371600"/>
            <a:ext cx="3690191" cy="242316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4593336" y="1645920"/>
            <a:ext cx="777240" cy="7772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Icono languages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68215" y="1820799"/>
            <a:ext cx="427482" cy="42748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47615" y="2560320"/>
            <a:ext cx="3377183" cy="30200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 dirty="0">
                <a:solidFill>
                  <a:srgbClr val="194BFF"/>
                </a:solidFill>
                <a:latin typeface="Montserrat"/>
              </a:rPr>
              <a:t>Con </a:t>
            </a:r>
            <a:r>
              <a:rPr sz="1500" b="1" i="0" dirty="0" err="1">
                <a:solidFill>
                  <a:srgbClr val="194BFF"/>
                </a:solidFill>
                <a:latin typeface="Montserrat"/>
              </a:rPr>
              <a:t>texto</a:t>
            </a:r>
            <a:r>
              <a:rPr sz="1500" b="1" i="0" dirty="0">
                <a:solidFill>
                  <a:srgbClr val="194BFF"/>
                </a:solidFill>
                <a:latin typeface="Montserrat"/>
              </a:rPr>
              <a:t> real, no de </a:t>
            </a:r>
            <a:r>
              <a:rPr sz="1500" b="1" i="0" dirty="0" err="1">
                <a:solidFill>
                  <a:srgbClr val="194BFF"/>
                </a:solidFill>
                <a:latin typeface="Montserrat"/>
              </a:rPr>
              <a:t>laboratorio</a:t>
            </a:r>
            <a:endParaRPr sz="1500" b="1" i="0" dirty="0">
              <a:solidFill>
                <a:srgbClr val="194BFF"/>
              </a:solidFill>
              <a:latin typeface="Montserra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547616" y="2944368"/>
            <a:ext cx="3102864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Entiende texto informal, faltas de ortografía y transcripciones telefónicas.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37807" y="1371600"/>
            <a:ext cx="3560064" cy="242316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8512128" y="1645920"/>
            <a:ext cx="777240" cy="7772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Icono clo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87007" y="1820799"/>
            <a:ext cx="427482" cy="42748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66407" y="2560320"/>
            <a:ext cx="3102864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194BFF"/>
                </a:solidFill>
                <a:latin typeface="Montserrat"/>
              </a:rPr>
              <a:t>Se monta en una tarde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66407" y="2944368"/>
            <a:ext cx="3102864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Un prompt base y un bloque de reglas por ramo. No hace falta entrenar ningún modelo.</a:t>
            </a:r>
          </a:p>
        </p:txBody>
      </p:sp>
      <p:pic>
        <p:nvPicPr>
          <p:cNvPr id="28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0352" y="4050791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6112" y="3977639"/>
            <a:ext cx="10817352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0" i="1">
                <a:solidFill>
                  <a:srgbClr val="7F7F7F"/>
                </a:solidFill>
                <a:latin typeface="Montserrat Medium"/>
              </a:rPr>
              <a:t>En la demo: 51 mensajes de ejemplo de cinco canales (email, formulario web, chat, teléfono y WhatsApp) y tres ramos (Auto, Hogar y Salud).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" y="4663440"/>
            <a:ext cx="11228832" cy="1051560"/>
          </a:xfrm>
          <a:prstGeom prst="rect">
            <a:avLst/>
          </a:prstGeom>
          <a:solidFill>
            <a:srgbClr val="FF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8952" y="4663440"/>
            <a:ext cx="10680192" cy="10515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Montserrat"/>
              </a:rPr>
              <a:t>Esto ya no diferencia a nadie.</a:t>
            </a:r>
          </a:p>
          <a:p>
            <a:pPr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Montserrat Medium"/>
              </a:rPr>
              <a:t>La pregunta ya no es si la IA puede hacerlo, sino cómo se pone en producción en una aseguradora.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6373367" cy="429768"/>
          </a:xfrm>
        </p:spPr>
        <p:txBody>
          <a:bodyPr wrap="none"/>
          <a:lstStyle/>
          <a:p>
            <a:r>
              <a:rPr sz="2600"/>
              <a:t>El problema real: de piloto a producción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908741"/>
            <a:ext cx="658800" cy="123111"/>
          </a:xfr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6</a:t>
            </a:fld>
            <a:endParaRPr lang="es-ES"/>
          </a:p>
        </p:txBody>
      </p:sp>
      <p:sp>
        <p:nvSpPr>
          <p:cNvPr id="13" name="Oval 12"/>
          <p:cNvSpPr/>
          <p:nvPr/>
        </p:nvSpPr>
        <p:spPr>
          <a:xfrm>
            <a:off x="548640" y="1280160"/>
            <a:ext cx="822960" cy="822960"/>
          </a:xfrm>
          <a:prstGeom prst="ellipse">
            <a:avLst/>
          </a:prstGeom>
          <a:solidFill>
            <a:srgbClr val="E8EE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Icono flask-conical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3806" y="1465325"/>
            <a:ext cx="452628" cy="4526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4632" y="2194560"/>
            <a:ext cx="2601468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600" b="0" i="0">
                <a:solidFill>
                  <a:srgbClr val="194BFF"/>
                </a:solidFill>
                <a:latin typeface="Roboto Slab"/>
              </a:rPr>
              <a:t>&gt;90 %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01752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84632" y="3108960"/>
            <a:ext cx="2601468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de las aseguradoras evalúa ya IA generativa</a:t>
            </a:r>
            <a:r>
              <a:rPr sz="1200" b="1" i="0" baseline="30000">
                <a:solidFill>
                  <a:srgbClr val="194BFF"/>
                </a:solidFill>
                <a:latin typeface="Montserrat Medium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3424427" y="1280160"/>
            <a:ext cx="822960" cy="822960"/>
          </a:xfrm>
          <a:prstGeom prst="ellipse">
            <a:avLst/>
          </a:prstGeom>
          <a:solidFill>
            <a:srgbClr val="E8EE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9" name="Icono rocke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09594" y="1465325"/>
            <a:ext cx="452628" cy="4526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360420" y="2194560"/>
            <a:ext cx="2601468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600" b="0" i="0">
                <a:solidFill>
                  <a:srgbClr val="194BFF"/>
                </a:solidFill>
                <a:latin typeface="Roboto Slab"/>
              </a:rPr>
              <a:t>22 %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424427" y="3017520"/>
            <a:ext cx="548641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360420" y="3108960"/>
            <a:ext cx="2601468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la tiene en producción</a:t>
            </a:r>
            <a:r>
              <a:rPr sz="1200" b="1" i="0" baseline="30000">
                <a:solidFill>
                  <a:srgbClr val="194BFF"/>
                </a:solidFill>
                <a:latin typeface="Montserrat Medium"/>
              </a:rPr>
              <a:t>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784" y="1280160"/>
            <a:ext cx="0" cy="251460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300216" y="1280160"/>
            <a:ext cx="822960" cy="822960"/>
          </a:xfrm>
          <a:prstGeom prst="ellipse">
            <a:avLst/>
          </a:prstGeom>
          <a:solidFill>
            <a:srgbClr val="E8EE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Icono bo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85381" y="1465325"/>
            <a:ext cx="452628" cy="4526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236207" y="2194560"/>
            <a:ext cx="2601468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600" b="0" i="0">
                <a:solidFill>
                  <a:srgbClr val="194BFF"/>
                </a:solidFill>
                <a:latin typeface="Roboto Slab"/>
              </a:rPr>
              <a:t>4 %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00216" y="3017520"/>
            <a:ext cx="548639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236207" y="3108960"/>
            <a:ext cx="2601468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tiene agentes en producción</a:t>
            </a:r>
            <a:r>
              <a:rPr sz="1200" b="1" i="0" baseline="30000">
                <a:solidFill>
                  <a:srgbClr val="194BFF"/>
                </a:solidFill>
                <a:latin typeface="Montserrat Medium"/>
              </a:rPr>
              <a:t>3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00571" y="1280160"/>
            <a:ext cx="0" cy="251460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9176003" y="1280160"/>
            <a:ext cx="822960" cy="822960"/>
          </a:xfrm>
          <a:prstGeom prst="ellipse">
            <a:avLst/>
          </a:prstGeom>
          <a:solidFill>
            <a:srgbClr val="E8EE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1" name="Icono circle-x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61169" y="1465325"/>
            <a:ext cx="452628" cy="4526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111995" y="2194560"/>
            <a:ext cx="2601468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600" b="0" i="0">
                <a:solidFill>
                  <a:srgbClr val="194BFF"/>
                </a:solidFill>
                <a:latin typeface="Roboto Slab"/>
              </a:rPr>
              <a:t>&gt;40 %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76003" y="301752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111995" y="3108960"/>
            <a:ext cx="2601468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de los proyectos agénticos se cancelarán antes de finales de 2027</a:t>
            </a:r>
            <a:r>
              <a:rPr sz="1200" b="1" i="0" baseline="30000">
                <a:solidFill>
                  <a:srgbClr val="194BFF"/>
                </a:solidFill>
                <a:latin typeface="Montserrat Medium"/>
              </a:rPr>
              <a:t>4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876359" y="1280160"/>
            <a:ext cx="0" cy="251460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84632" y="4241923"/>
            <a:ext cx="112288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194BFF"/>
                </a:solidFill>
                <a:latin typeface="Montserrat"/>
              </a:rPr>
              <a:t>Por qué se cancelan, según Gartner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4632" y="4589395"/>
            <a:ext cx="3560064" cy="685800"/>
          </a:xfrm>
          <a:prstGeom prst="roundRect">
            <a:avLst>
              <a:gd name="adj" fmla="val 12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8" name="Icono trending-up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85800" y="4726555"/>
            <a:ext cx="411480" cy="4114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261872" y="4589395"/>
            <a:ext cx="2691384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0B1F5B"/>
                </a:solidFill>
                <a:latin typeface="Montserrat"/>
              </a:rPr>
              <a:t>Costes que se disparan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19016" y="4589395"/>
            <a:ext cx="3560064" cy="685800"/>
          </a:xfrm>
          <a:prstGeom prst="roundRect">
            <a:avLst>
              <a:gd name="adj" fmla="val 12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1" name="Icono circle-help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520184" y="4726555"/>
            <a:ext cx="411480" cy="4114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096256" y="4589395"/>
            <a:ext cx="2691384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0B1F5B"/>
                </a:solidFill>
                <a:latin typeface="Montserrat"/>
              </a:rPr>
              <a:t>Valor de negocio poco claro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3399" y="4589395"/>
            <a:ext cx="3560064" cy="685800"/>
          </a:xfrm>
          <a:prstGeom prst="roundRect">
            <a:avLst>
              <a:gd name="adj" fmla="val 12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4" name="Icono shield-aler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354568" y="4726555"/>
            <a:ext cx="411480" cy="41148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30640" y="4682675"/>
            <a:ext cx="2691384" cy="499239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 dirty="0" err="1">
                <a:solidFill>
                  <a:srgbClr val="0B1F5B"/>
                </a:solidFill>
                <a:latin typeface="Montserrat"/>
              </a:rPr>
              <a:t>Controles</a:t>
            </a:r>
            <a:r>
              <a:rPr sz="1300" b="1" i="0" dirty="0">
                <a:solidFill>
                  <a:srgbClr val="0B1F5B"/>
                </a:solidFill>
                <a:latin typeface="Montserrat"/>
              </a:rPr>
              <a:t> de </a:t>
            </a:r>
            <a:r>
              <a:rPr sz="1300" b="1" i="0" dirty="0" err="1">
                <a:solidFill>
                  <a:srgbClr val="0B1F5B"/>
                </a:solidFill>
                <a:latin typeface="Montserrat"/>
              </a:rPr>
              <a:t>riesgo</a:t>
            </a:r>
            <a:r>
              <a:rPr lang="es-ES" sz="1300" b="1" i="0" dirty="0">
                <a:solidFill>
                  <a:srgbClr val="0B1F5B"/>
                </a:solidFill>
                <a:latin typeface="Montserrat"/>
              </a:rPr>
              <a:t> y gobernanza </a:t>
            </a:r>
            <a:r>
              <a:rPr sz="1300" b="1" i="0" dirty="0">
                <a:solidFill>
                  <a:srgbClr val="0B1F5B"/>
                </a:solidFill>
                <a:latin typeface="Montserrat"/>
              </a:rPr>
              <a:t> </a:t>
            </a:r>
            <a:r>
              <a:rPr sz="1300" b="1" i="0" dirty="0" err="1">
                <a:solidFill>
                  <a:srgbClr val="0B1F5B"/>
                </a:solidFill>
                <a:latin typeface="Montserrat"/>
              </a:rPr>
              <a:t>insuficientes</a:t>
            </a:r>
            <a:endParaRPr sz="1300" b="1" i="0" dirty="0">
              <a:solidFill>
                <a:srgbClr val="0B1F5B"/>
              </a:solidFill>
              <a:latin typeface="Montserrat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84632" y="5384923"/>
            <a:ext cx="11228832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595959"/>
                </a:solidFill>
                <a:latin typeface="Montserrat"/>
              </a:rPr>
              <a:t>Tres preguntas sin respuesta: </a:t>
            </a:r>
            <a:r>
              <a:rPr sz="1500" b="1" i="0">
                <a:solidFill>
                  <a:srgbClr val="194BFF"/>
                </a:solidFill>
                <a:latin typeface="Montserrat"/>
              </a:rPr>
              <a:t>¿por qué decidió eso? ¿Quién lo controla? ¿Cuánto cuesta?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4632" y="5979283"/>
            <a:ext cx="11228832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850" b="1" i="0">
                <a:solidFill>
                  <a:srgbClr val="595959"/>
                </a:solidFill>
                <a:latin typeface="Montserrat Medium"/>
              </a:rPr>
              <a:t>Fuentes: 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¹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10"/>
              </a:rPr>
              <a:t>Conning, AI in Insurance 2025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  ·  ²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11"/>
              </a:rPr>
              <a:t>Outcome Catalyst, tendencias de IA en seguros 2026 (datos de Conning)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  ·  ³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12"/>
              </a:rPr>
              <a:t>The Insurer, encuesta de IA Capital (2026)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  ·  ⁴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13"/>
              </a:rPr>
              <a:t>Gartner, nota de prensa del 25/06/2025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7E73E-630D-5F6F-93A1-C692F05CA3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2377440"/>
            <a:ext cx="2427478" cy="660400"/>
          </a:xfrm>
        </p:spPr>
        <p:txBody>
          <a:bodyPr wrap="none" anchor="ctr">
            <a:noAutofit/>
          </a:bodyPr>
          <a:lstStyle/>
          <a:p>
            <a:r>
              <a:rPr sz="4000"/>
              <a:t>El marco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A97B2C3-B154-9FFE-9972-3B3059C111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0936" y="3129280"/>
            <a:ext cx="2803397" cy="660400"/>
          </a:xfrm>
        </p:spPr>
        <p:txBody>
          <a:bodyPr wrap="none" anchor="ctr">
            <a:noAutofit/>
          </a:bodyPr>
          <a:lstStyle/>
          <a:p>
            <a:r>
              <a:rPr sz="4000"/>
              <a:t>normativo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04A87-2D05-B819-27E2-B433509BD95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33188" y="6408738"/>
            <a:ext cx="658812" cy="230187"/>
          </a:xfrm>
        </p:spPr>
        <p:txBody>
          <a:bodyPr/>
          <a:lstStyle/>
          <a:p>
            <a:fld id="{4C86EB02-3AF8-4C19-B0D1-31A9E52C2F89}" type="slidenum">
              <a:rPr lang="en-GB" smtClean="0"/>
              <a:pPr/>
              <a:t>7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DC48BB-F5E1-0E62-8FFB-51749D3BA6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30186" y="1847900"/>
            <a:ext cx="7772396" cy="50100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" y="1874519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lIns="73152" tIns="18288" rIns="73152" bIns="18288" anchor="ctr">
            <a:noAutofit/>
          </a:bodyPr>
          <a:lstStyle/>
          <a:p>
            <a:r>
              <a:rPr sz="1400">
                <a:solidFill>
                  <a:srgbClr val="FFFFFF"/>
                </a:solidFill>
                <a:latin typeface="Roboto Slab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4155440"/>
            <a:ext cx="420624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Lo que ya obliga hoy (RGPD, DORA y EIOPA) y lo que llega con el AI Act.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271517" cy="429768"/>
          </a:xfrm>
        </p:spPr>
        <p:txBody>
          <a:bodyPr wrap="none"/>
          <a:lstStyle/>
          <a:p>
            <a:r>
              <a:rPr sz="2600"/>
              <a:t>Lo que exige la regulación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8</a:t>
            </a:fld>
            <a:endParaRPr lang="es-ES"/>
          </a:p>
        </p:txBody>
      </p:sp>
      <p:sp>
        <p:nvSpPr>
          <p:cNvPr id="13" name="TextBox 12"/>
          <p:cNvSpPr txBox="1"/>
          <p:nvPr/>
        </p:nvSpPr>
        <p:spPr>
          <a:xfrm>
            <a:off x="484632" y="1188720"/>
            <a:ext cx="726948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0B1F5B"/>
                </a:solidFill>
                <a:latin typeface="Montserrat"/>
              </a:rPr>
              <a:t>Ya en vigor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0352" y="1536192"/>
            <a:ext cx="45720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82711" y="1188720"/>
            <a:ext cx="373075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0B1F5B"/>
                </a:solidFill>
                <a:latin typeface="Montserrat"/>
              </a:rPr>
              <a:t>Lo que llega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28431" y="1536192"/>
            <a:ext cx="457201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84632" y="1691640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Icono user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0080" y="1847088"/>
            <a:ext cx="347472" cy="3474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78992" y="1783080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RGPD art. 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2057400"/>
            <a:ext cx="2971800" cy="5679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>
                <a:solidFill>
                  <a:srgbClr val="595959"/>
                </a:solidFill>
                <a:latin typeface="Montserrat Medium"/>
              </a:rPr>
              <a:t>Derecho a no ser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objeto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de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decisiones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solo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automatizadas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.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Según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el TJUE (SCHUFA),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firmar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sin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revisar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no </a:t>
            </a:r>
            <a:r>
              <a:rPr lang="es-ES" sz="950" b="0" i="0" dirty="0">
                <a:solidFill>
                  <a:srgbClr val="595959"/>
                </a:solidFill>
                <a:latin typeface="Montserrat Medium"/>
              </a:rPr>
              <a:t>es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intervención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humana.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87952" y="1691640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2" name="Icono message-square-tex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847088"/>
            <a:ext cx="347472" cy="34747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782312" y="1783080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RGPD art. 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82312" y="2057400"/>
            <a:ext cx="288036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Derecho a una explicación con sentido de la lógica aplicada (TJUE, Dun &amp; Bradstreet).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4632" y="2770632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6" name="Icono heart-puls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0080" y="2926080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78992" y="2862072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RGPD art. 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" y="3136392"/>
            <a:ext cx="2880360" cy="3925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>
                <a:solidFill>
                  <a:srgbClr val="595959"/>
                </a:solidFill>
                <a:latin typeface="Montserrat Medium"/>
              </a:rPr>
              <a:t>Los </a:t>
            </a:r>
            <a:r>
              <a:rPr sz="950" b="1" i="0" dirty="0" err="1">
                <a:solidFill>
                  <a:srgbClr val="595959"/>
                </a:solidFill>
                <a:latin typeface="Montserrat Medium"/>
              </a:rPr>
              <a:t>datos</a:t>
            </a:r>
            <a:r>
              <a:rPr sz="950" b="1" i="0" dirty="0">
                <a:solidFill>
                  <a:srgbClr val="595959"/>
                </a:solidFill>
                <a:latin typeface="Montserrat Medium"/>
              </a:rPr>
              <a:t> de </a:t>
            </a:r>
            <a:r>
              <a:rPr sz="950" b="1" i="0" dirty="0" err="1">
                <a:solidFill>
                  <a:srgbClr val="595959"/>
                </a:solidFill>
                <a:latin typeface="Montserrat Medium"/>
              </a:rPr>
              <a:t>salud</a:t>
            </a:r>
            <a:r>
              <a:rPr sz="950" b="1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son </a:t>
            </a:r>
            <a:r>
              <a:rPr sz="950" b="1" i="0" dirty="0" err="1">
                <a:solidFill>
                  <a:srgbClr val="595959"/>
                </a:solidFill>
                <a:latin typeface="Montserrat Medium"/>
              </a:rPr>
              <a:t>categoría</a:t>
            </a:r>
            <a:r>
              <a:rPr sz="950" b="1" i="0" dirty="0">
                <a:solidFill>
                  <a:srgbClr val="595959"/>
                </a:solidFill>
                <a:latin typeface="Montserrat Medium"/>
              </a:rPr>
              <a:t> especial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: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afecta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de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lleno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al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ramo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Salud.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87952" y="2770632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0" name="Icono serve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43400" y="2926080"/>
            <a:ext cx="347472" cy="3474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782312" y="2862072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DORA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82312" y="3136392"/>
            <a:ext cx="288036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Los proveedores de LLM son terceros TIC: registro, riesgo de concentración y contratos.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4632" y="3849624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4" name="Icono landmar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080" y="4005072"/>
            <a:ext cx="347472" cy="34747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78992" y="3941064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EIOPA (ago. 2025)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" y="4215384"/>
            <a:ext cx="288036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Gobierno de la IA proporcional al riesgo para todo uso de IA en seguros.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87952" y="3849624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8" name="Icono graduation-cap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43400" y="4005072"/>
            <a:ext cx="347472" cy="34747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782312" y="3941064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AI Act art. 4 y art. 50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82312" y="4215384"/>
            <a:ext cx="288036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Alfabetización en IA del personal y transparencia con quien interactúa con la IA.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982711" y="1691640"/>
            <a:ext cx="3730752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94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2" name="Icono scal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138159" y="1847088"/>
            <a:ext cx="347472" cy="3474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577072" y="1783080"/>
            <a:ext cx="3044952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AI Act · alto riesgo (Anexo III)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77072" y="2057400"/>
            <a:ext cx="3044952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Obligaciones aplazadas al 2/12/2027 por el Digital Omnibus. El triaje de siniestros no está en el Anexo III.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82711" y="2770632"/>
            <a:ext cx="3730752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94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6" name="Icono gavel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38159" y="2926080"/>
            <a:ext cx="347472" cy="34747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577072" y="2862072"/>
            <a:ext cx="3044952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Ley Orgánica española de IA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7072" y="3136392"/>
            <a:ext cx="3044952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En el Congreso, con AESIA y la DGSFP como supervisoras.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982711" y="3849624"/>
            <a:ext cx="3730752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94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0" name="Icono badge-euro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138159" y="4005072"/>
            <a:ext cx="347472" cy="34747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577072" y="3941064"/>
            <a:ext cx="3044952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Sanciones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77072" y="4215384"/>
            <a:ext cx="3044952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Hasta 35 M€ o el 7 % de la facturación global.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76072" y="5074920"/>
            <a:ext cx="11045952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76072" y="4992624"/>
            <a:ext cx="164592" cy="164592"/>
          </a:xfrm>
          <a:prstGeom prst="ellipse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30352" y="5184648"/>
            <a:ext cx="64008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>
                <a:solidFill>
                  <a:srgbClr val="194BFF"/>
                </a:solidFill>
                <a:latin typeface="Montserrat"/>
              </a:rPr>
              <a:t>Hoy: </a:t>
            </a:r>
            <a:r>
              <a:rPr sz="1100" b="0" i="0">
                <a:solidFill>
                  <a:srgbClr val="595959"/>
                </a:solidFill>
                <a:latin typeface="Montserrat Medium"/>
              </a:rPr>
              <a:t>ya obligan el RGPD, DORA, EIOPA y los art. 4 y 50 del AI Act</a:t>
            </a:r>
          </a:p>
        </p:txBody>
      </p:sp>
      <p:sp>
        <p:nvSpPr>
          <p:cNvPr id="56" name="Oval 55"/>
          <p:cNvSpPr/>
          <p:nvPr/>
        </p:nvSpPr>
        <p:spPr>
          <a:xfrm>
            <a:off x="7982711" y="4992624"/>
            <a:ext cx="164592" cy="164592"/>
          </a:xfrm>
          <a:prstGeom prst="ellipse">
            <a:avLst/>
          </a:prstGeom>
          <a:solidFill>
            <a:srgbClr val="FF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936991" y="5184648"/>
            <a:ext cx="64008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>
                <a:solidFill>
                  <a:srgbClr val="FF1414"/>
                </a:solidFill>
                <a:latin typeface="Montserrat"/>
              </a:rPr>
              <a:t>2/12/2027: </a:t>
            </a:r>
            <a:r>
              <a:rPr sz="1100" b="0" i="0">
                <a:solidFill>
                  <a:srgbClr val="595959"/>
                </a:solidFill>
                <a:latin typeface="Montserrat Medium"/>
              </a:rPr>
              <a:t>obligaciones de alto riesgo del AI Act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4632" y="6014967"/>
            <a:ext cx="11228832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800" b="1" i="0">
                <a:solidFill>
                  <a:srgbClr val="595959"/>
                </a:solidFill>
                <a:latin typeface="Montserrat Medium"/>
              </a:rPr>
              <a:t>Fuentes: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2"/>
              </a:rPr>
              <a:t>RGPD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3"/>
              </a:rPr>
              <a:t>TJUE C-634/21 (SCHUFA)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4"/>
              </a:rPr>
              <a:t>TJUE C-203/22 (Dun &amp; Bradstreet)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5"/>
              </a:rPr>
              <a:t>DORA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6"/>
              </a:rPr>
              <a:t>EIOPA, Opinion on AI governance (2025)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7"/>
              </a:rPr>
              <a:t>AI Act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8"/>
              </a:rPr>
              <a:t>Digital Omnibus (Gibson Dunn)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9"/>
              </a:rPr>
              <a:t>Ley Orgánica de IA (Economist &amp; Jurist)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ve_big.png"/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3611880" y="2185416"/>
            <a:ext cx="9418320" cy="5297805"/>
          </a:xfrm>
          <a:prstGeom prst="rect">
            <a:avLst/>
          </a:prstGeom>
        </p:spPr>
      </p:pic>
      <p:sp>
        <p:nvSpPr>
          <p:cNvPr id="3" name="NUM"/>
          <p:cNvSpPr txBox="1"/>
          <p:nvPr/>
        </p:nvSpPr>
        <p:spPr>
          <a:xfrm>
            <a:off x="731520" y="1417319"/>
            <a:ext cx="566928" cy="329184"/>
          </a:xfrm>
          <a:prstGeom prst="rect">
            <a:avLst/>
          </a:prstGeom>
          <a:solidFill>
            <a:srgbClr val="0A2592"/>
          </a:solidFill>
        </p:spPr>
        <p:txBody>
          <a:bodyPr wrap="none" lIns="72000" tIns="36000" rIns="72000" bIns="36000" anchor="ctr">
            <a:noAutofit/>
          </a:bodyPr>
          <a:lstStyle/>
          <a:p>
            <a:r>
              <a:rPr sz="1400" b="0">
                <a:solidFill>
                  <a:srgbClr val="FFFFFF"/>
                </a:solidFill>
                <a:latin typeface="Roboto Slab"/>
              </a:rPr>
              <a:t>03</a:t>
            </a:r>
          </a:p>
        </p:txBody>
      </p:sp>
      <p:sp>
        <p:nvSpPr>
          <p:cNvPr id="4" name="REDTITLE"/>
          <p:cNvSpPr txBox="1"/>
          <p:nvPr/>
        </p:nvSpPr>
        <p:spPr>
          <a:xfrm>
            <a:off x="731520" y="1874519"/>
            <a:ext cx="2489707" cy="546608"/>
          </a:xfrm>
          <a:prstGeom prst="rect">
            <a:avLst/>
          </a:prstGeom>
          <a:solidFill>
            <a:srgbClr val="FF1414"/>
          </a:solidFill>
        </p:spPr>
        <p:txBody>
          <a:bodyPr wrap="none" lIns="72000" tIns="36000" rIns="72000" bIns="36000" anchor="ctr">
            <a:noAutofit/>
          </a:bodyPr>
          <a:lstStyle/>
          <a:p>
            <a:r>
              <a:rPr sz="3200" b="0">
                <a:solidFill>
                  <a:srgbClr val="FFFFFF"/>
                </a:solidFill>
                <a:latin typeface="Roboto Slab"/>
              </a:rPr>
              <a:t>La solución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5447"/>
            <a:ext cx="731520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Agentes pequeños, cada uno con sus límites, sobre una capa de gobierno común.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A0576D-B669-167B-03FD-E669ECE0B2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9</a:t>
            </a:fld>
            <a:endParaRPr lang="es-E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008117" cy="429768"/>
          </a:xfrm>
        </p:spPr>
        <p:txBody>
          <a:bodyPr wrap="none"/>
          <a:lstStyle/>
          <a:p>
            <a:r>
              <a:rPr sz="2600"/>
              <a:t>Lo que no existe en el mercado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10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1325880"/>
            <a:ext cx="4846320" cy="315468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8952" y="1463040"/>
            <a:ext cx="429768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595959"/>
                </a:solidFill>
                <a:latin typeface="Montserrat"/>
              </a:rPr>
              <a:t>Hay piezas sueltas</a:t>
            </a:r>
          </a:p>
        </p:txBody>
      </p:sp>
      <p:sp>
        <p:nvSpPr>
          <p:cNvPr id="15" name="Oval 14"/>
          <p:cNvSpPr/>
          <p:nvPr/>
        </p:nvSpPr>
        <p:spPr>
          <a:xfrm>
            <a:off x="758952" y="2011680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Icono activity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2396" y="2135124"/>
            <a:ext cx="301752" cy="3017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444752" y="1965960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Observabilidad de LLM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4752" y="2267712"/>
            <a:ext cx="36576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Langfuse, Arize o Datadog: trazas, latencia y tokens.</a:t>
            </a:r>
          </a:p>
        </p:txBody>
      </p:sp>
      <p:sp>
        <p:nvSpPr>
          <p:cNvPr id="19" name="Oval 18"/>
          <p:cNvSpPr/>
          <p:nvPr/>
        </p:nvSpPr>
        <p:spPr>
          <a:xfrm>
            <a:off x="758952" y="2816352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Icono shield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2396" y="2939796"/>
            <a:ext cx="301752" cy="3017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444752" y="2770632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Plataformas de gobierno y riesgo de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4752" y="3072384"/>
            <a:ext cx="3657600" cy="4138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s-ES" sz="1050" dirty="0">
                <a:solidFill>
                  <a:srgbClr val="595959"/>
                </a:solidFill>
                <a:latin typeface="Montserrat Medium"/>
              </a:rPr>
              <a:t>Soluciones de </a:t>
            </a:r>
            <a:r>
              <a:rPr lang="es-ES" sz="1050" b="0" i="0" dirty="0">
                <a:solidFill>
                  <a:srgbClr val="595959"/>
                </a:solidFill>
                <a:latin typeface="Montserrat Medium"/>
              </a:rPr>
              <a:t>G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overnance</a:t>
            </a:r>
            <a:r>
              <a:rPr lang="es-ES" sz="1050" b="0" i="0" dirty="0">
                <a:solidFill>
                  <a:srgbClr val="595959"/>
                </a:solidFill>
                <a:latin typeface="Montserrat Medium"/>
              </a:rPr>
              <a:t> (Credo AI)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: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inventario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 y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políticas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.</a:t>
            </a:r>
          </a:p>
        </p:txBody>
      </p:sp>
      <p:sp>
        <p:nvSpPr>
          <p:cNvPr id="23" name="Oval 22"/>
          <p:cNvSpPr/>
          <p:nvPr/>
        </p:nvSpPr>
        <p:spPr>
          <a:xfrm>
            <a:off x="758952" y="3621024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4" name="Icono waypoints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2396" y="3744468"/>
            <a:ext cx="301752" cy="3017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44752" y="3575304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Estándar OpenTelemetry GenAI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3877056"/>
            <a:ext cx="3801618" cy="4138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Convenciones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comunes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 para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trazar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llamadas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 a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modelos</a:t>
            </a:r>
            <a:r>
              <a:rPr lang="es-ES" sz="1050" b="0" i="0" dirty="0">
                <a:solidFill>
                  <a:srgbClr val="595959"/>
                </a:solidFill>
                <a:latin typeface="Montserrat Medium"/>
              </a:rPr>
              <a:t> y todo lo que hace una plataforma </a:t>
            </a:r>
            <a:r>
              <a:rPr lang="es-ES" sz="1050" b="0" i="0" dirty="0" err="1">
                <a:solidFill>
                  <a:srgbClr val="595959"/>
                </a:solidFill>
                <a:latin typeface="Montserrat Medium"/>
              </a:rPr>
              <a:t>agéntica</a:t>
            </a:r>
            <a:r>
              <a:rPr lang="es-ES" sz="1050" b="0" i="0" dirty="0">
                <a:solidFill>
                  <a:srgbClr val="595959"/>
                </a:solidFill>
                <a:latin typeface="Montserrat Medium"/>
              </a:rPr>
              <a:t>.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67143" y="1325880"/>
            <a:ext cx="4846320" cy="3154680"/>
          </a:xfrm>
          <a:prstGeom prst="roundRect">
            <a:avLst>
              <a:gd name="adj" fmla="val 5000"/>
            </a:avLst>
          </a:prstGeom>
          <a:solidFill>
            <a:srgbClr val="E8EE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28" name="TextBox 27"/>
          <p:cNvSpPr txBox="1"/>
          <p:nvPr/>
        </p:nvSpPr>
        <p:spPr>
          <a:xfrm>
            <a:off x="7141463" y="1463040"/>
            <a:ext cx="429768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194BFF"/>
                </a:solidFill>
                <a:latin typeface="Montserrat"/>
              </a:rPr>
              <a:t>Nadie las une a tu negocio</a:t>
            </a:r>
          </a:p>
        </p:txBody>
      </p:sp>
      <p:sp>
        <p:nvSpPr>
          <p:cNvPr id="29" name="Oval 28"/>
          <p:cNvSpPr/>
          <p:nvPr/>
        </p:nvSpPr>
        <p:spPr>
          <a:xfrm>
            <a:off x="7141463" y="2011680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0" name="Icono file-tex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64907" y="2135124"/>
            <a:ext cx="301752" cy="30175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827263" y="1965960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Tu proceso de siniestros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27263" y="2267712"/>
            <a:ext cx="36576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Multicanalidad, clasificación, extracción y reglas, de punta a punta.</a:t>
            </a:r>
          </a:p>
        </p:txBody>
      </p:sp>
      <p:sp>
        <p:nvSpPr>
          <p:cNvPr id="33" name="Oval 32"/>
          <p:cNvSpPr/>
          <p:nvPr/>
        </p:nvSpPr>
        <p:spPr>
          <a:xfrm>
            <a:off x="7141463" y="2816352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4" name="Icono list-checks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64907" y="2939796"/>
            <a:ext cx="301752" cy="30175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27263" y="2770632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Tus reglas de negocio por ramo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27263" y="3072384"/>
            <a:ext cx="36576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Auto, Hogar y Salud, con la evidencia de cada criterio.</a:t>
            </a:r>
          </a:p>
        </p:txBody>
      </p:sp>
      <p:sp>
        <p:nvSpPr>
          <p:cNvPr id="37" name="Oval 36"/>
          <p:cNvSpPr/>
          <p:nvPr/>
        </p:nvSpPr>
        <p:spPr>
          <a:xfrm>
            <a:off x="7141463" y="3621024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8" name="Icono calcula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64907" y="3744468"/>
            <a:ext cx="301752" cy="30175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827263" y="3575304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Tu contabilidad de costes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27263" y="3877056"/>
            <a:ext cx="36576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Coste por decisión y límites de gasto por agente.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422392" y="2880360"/>
            <a:ext cx="1353311" cy="0"/>
          </a:xfrm>
          <a:prstGeom prst="line">
            <a:avLst/>
          </a:prstGeom>
          <a:ln w="2540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5641848" y="2423160"/>
            <a:ext cx="914400" cy="914400"/>
          </a:xfrm>
          <a:prstGeom prst="ellipse">
            <a:avLst/>
          </a:prstGeom>
          <a:solidFill>
            <a:srgbClr val="194B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3" name="Icono plug-zap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52160" y="2633472"/>
            <a:ext cx="493776" cy="49377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367528" y="3383280"/>
            <a:ext cx="146304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94BFF"/>
                </a:solidFill>
                <a:latin typeface="Montserrat"/>
              </a:rPr>
              <a:t>Integración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4632" y="4789170"/>
            <a:ext cx="11228832" cy="105156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58952" y="4789170"/>
            <a:ext cx="10680192" cy="10515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Montserrat"/>
              </a:rPr>
              <a:t>Esto no es un producto. Es cómo se trabaja hoy con IA en una empresa regulada.</a:t>
            </a:r>
          </a:p>
          <a:p>
            <a:pPr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Montserrat Medium"/>
              </a:rPr>
              <a:t>No es una licencia: es una forma de implementar, integrada con el proceso, las reglas y los costes del cliente.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7104888" cy="429768"/>
          </a:xfrm>
        </p:spPr>
        <p:txBody>
          <a:bodyPr wrap="none"/>
          <a:lstStyle/>
          <a:p>
            <a:r>
              <a:rPr sz="2600"/>
              <a:t>La solución: agentes pequeños y gobernados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11</a:t>
            </a:fld>
            <a:endParaRPr lang="es-ES"/>
          </a:p>
        </p:txBody>
      </p:sp>
      <p:sp>
        <p:nvSpPr>
          <p:cNvPr id="13" name="Pentagon 12"/>
          <p:cNvSpPr/>
          <p:nvPr/>
        </p:nvSpPr>
        <p:spPr>
          <a:xfrm>
            <a:off x="484632" y="1325880"/>
            <a:ext cx="2331720" cy="1097280"/>
          </a:xfrm>
          <a:prstGeom prst="homePlate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Icono inbox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99032" y="1444752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3232" y="1847088"/>
            <a:ext cx="17373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Montserrat"/>
              </a:rPr>
              <a:t>Multicanalidad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2542032"/>
            <a:ext cx="1783079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Recibe y normaliza email, web, chat, teléfono y WhatsApp</a:t>
            </a:r>
          </a:p>
        </p:txBody>
      </p:sp>
      <p:sp>
        <p:nvSpPr>
          <p:cNvPr id="17" name="Chevron 16"/>
          <p:cNvSpPr/>
          <p:nvPr/>
        </p:nvSpPr>
        <p:spPr>
          <a:xfrm>
            <a:off x="2708910" y="1325880"/>
            <a:ext cx="2331720" cy="1097280"/>
          </a:xfrm>
          <a:prstGeom prst="chevron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Icono tags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37610" y="1444752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66110" y="1847088"/>
            <a:ext cx="15087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Montserrat"/>
              </a:rPr>
              <a:t>Clasificación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3230" y="2542032"/>
            <a:ext cx="1783079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Asigna Auto, Hogar o Salud citando los indicios del texto</a:t>
            </a:r>
          </a:p>
        </p:txBody>
      </p:sp>
      <p:sp>
        <p:nvSpPr>
          <p:cNvPr id="21" name="Chevron 20"/>
          <p:cNvSpPr/>
          <p:nvPr/>
        </p:nvSpPr>
        <p:spPr>
          <a:xfrm>
            <a:off x="4933188" y="1325880"/>
            <a:ext cx="2331720" cy="1097280"/>
          </a:xfrm>
          <a:prstGeom prst="chevron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2" name="Icono scan-tex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61888" y="1444752"/>
            <a:ext cx="365760" cy="365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390388" y="1847088"/>
            <a:ext cx="15087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Montserrat"/>
              </a:rPr>
              <a:t>Extracción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7508" y="2542032"/>
            <a:ext cx="1783079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Convierte el texto libre en datos estructurados; nunca inventa</a:t>
            </a:r>
          </a:p>
        </p:txBody>
      </p:sp>
      <p:sp>
        <p:nvSpPr>
          <p:cNvPr id="25" name="Chevron 24"/>
          <p:cNvSpPr/>
          <p:nvPr/>
        </p:nvSpPr>
        <p:spPr>
          <a:xfrm>
            <a:off x="7157466" y="1325880"/>
            <a:ext cx="2331720" cy="1097280"/>
          </a:xfrm>
          <a:prstGeom prst="chevron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6" name="Icono scal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86166" y="1444752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14666" y="1847088"/>
            <a:ext cx="15087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Montserrat"/>
              </a:rPr>
              <a:t>Reglas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1786" y="2542032"/>
            <a:ext cx="1783079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Evalúa el bloque de reglas del ramo y propone la decisión</a:t>
            </a:r>
          </a:p>
        </p:txBody>
      </p:sp>
      <p:sp>
        <p:nvSpPr>
          <p:cNvPr id="29" name="Chevron 28"/>
          <p:cNvSpPr/>
          <p:nvPr/>
        </p:nvSpPr>
        <p:spPr>
          <a:xfrm>
            <a:off x="9381744" y="1325880"/>
            <a:ext cx="2331720" cy="1097280"/>
          </a:xfrm>
          <a:prstGeom prst="chevron">
            <a:avLst/>
          </a:prstGeom>
          <a:solidFill>
            <a:srgbClr val="0B1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0" name="Icono user-round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10444" y="1444752"/>
            <a:ext cx="365760" cy="3657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38944" y="1847088"/>
            <a:ext cx="15087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Montserrat"/>
              </a:rPr>
              <a:t>Aprobado / A revisar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56064" y="2542032"/>
            <a:ext cx="1783079" cy="81580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 dirty="0">
                <a:solidFill>
                  <a:srgbClr val="595959"/>
                </a:solidFill>
                <a:latin typeface="Montserrat Medium"/>
              </a:rPr>
              <a:t>La IA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prepara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; la persona decide</a:t>
            </a:r>
            <a:r>
              <a:rPr lang="es-ES" sz="1050" dirty="0">
                <a:solidFill>
                  <a:srgbClr val="595959"/>
                </a:solidFill>
                <a:latin typeface="Montserrat Medium"/>
              </a:rPr>
              <a:t> o se automatiza si se cumplen reglas y la confianza es alta</a:t>
            </a:r>
            <a:endParaRPr sz="1050" b="0" i="0" dirty="0">
              <a:solidFill>
                <a:srgbClr val="595959"/>
              </a:solidFill>
              <a:latin typeface="Montserrat Medium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484632" y="3520440"/>
            <a:ext cx="11228832" cy="2011680"/>
          </a:xfrm>
          <a:prstGeom prst="roundRect">
            <a:avLst>
              <a:gd name="adj" fmla="val 6000"/>
            </a:avLst>
          </a:prstGeom>
          <a:solidFill>
            <a:srgbClr val="E8EE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34" name="TextBox 33"/>
          <p:cNvSpPr txBox="1"/>
          <p:nvPr/>
        </p:nvSpPr>
        <p:spPr>
          <a:xfrm>
            <a:off x="758952" y="3611880"/>
            <a:ext cx="10680192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 dirty="0">
                <a:solidFill>
                  <a:srgbClr val="194BFF"/>
                </a:solidFill>
                <a:latin typeface="Montserrat"/>
              </a:rPr>
              <a:t>Capa de </a:t>
            </a:r>
            <a:r>
              <a:rPr sz="1400" b="1" i="0" dirty="0" err="1">
                <a:solidFill>
                  <a:srgbClr val="194BFF"/>
                </a:solidFill>
                <a:latin typeface="Montserrat"/>
              </a:rPr>
              <a:t>gobierno</a:t>
            </a:r>
            <a:r>
              <a:rPr sz="1200" b="0" i="0" dirty="0">
                <a:solidFill>
                  <a:srgbClr val="7F7F7F"/>
                </a:solidFill>
                <a:latin typeface="Montserrat Medium"/>
              </a:rPr>
              <a:t>   </a:t>
            </a:r>
            <a:r>
              <a:rPr sz="1200" b="0" i="0" dirty="0" err="1">
                <a:solidFill>
                  <a:srgbClr val="7F7F7F"/>
                </a:solidFill>
                <a:latin typeface="Montserrat Medium"/>
              </a:rPr>
              <a:t>común</a:t>
            </a:r>
            <a:r>
              <a:rPr sz="1200" b="0" i="0" dirty="0">
                <a:solidFill>
                  <a:srgbClr val="7F7F7F"/>
                </a:solidFill>
                <a:latin typeface="Montserrat Medium"/>
              </a:rPr>
              <a:t> a </a:t>
            </a:r>
            <a:r>
              <a:rPr sz="1200" b="0" i="0" dirty="0" err="1">
                <a:solidFill>
                  <a:srgbClr val="7F7F7F"/>
                </a:solidFill>
                <a:latin typeface="Montserrat Medium"/>
              </a:rPr>
              <a:t>todos</a:t>
            </a:r>
            <a:r>
              <a:rPr sz="1200" b="0" i="0" dirty="0">
                <a:solidFill>
                  <a:srgbClr val="7F7F7F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7F7F7F"/>
                </a:solidFill>
                <a:latin typeface="Montserrat Medium"/>
              </a:rPr>
              <a:t>los</a:t>
            </a:r>
            <a:r>
              <a:rPr sz="1200" b="0" i="0" dirty="0">
                <a:solidFill>
                  <a:srgbClr val="7F7F7F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7F7F7F"/>
                </a:solidFill>
                <a:latin typeface="Montserrat Medium"/>
              </a:rPr>
              <a:t>agentes</a:t>
            </a:r>
            <a:endParaRPr sz="1200" b="0" i="0" dirty="0">
              <a:solidFill>
                <a:srgbClr val="7F7F7F"/>
              </a:solidFill>
              <a:latin typeface="Montserrat Medium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1356359" y="4041648"/>
            <a:ext cx="585216" cy="585216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6" name="Icono rout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88033" y="4173321"/>
            <a:ext cx="321868" cy="3218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58952" y="4663440"/>
            <a:ext cx="178003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Trazas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" y="4919472"/>
            <a:ext cx="17800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cada paso, registrado</a:t>
            </a:r>
          </a:p>
        </p:txBody>
      </p:sp>
      <p:sp>
        <p:nvSpPr>
          <p:cNvPr id="39" name="Oval 38"/>
          <p:cNvSpPr/>
          <p:nvPr/>
        </p:nvSpPr>
        <p:spPr>
          <a:xfrm>
            <a:off x="3136391" y="4041648"/>
            <a:ext cx="585216" cy="585216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0" name="Icono history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68065" y="4173321"/>
            <a:ext cx="321868" cy="32186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538983" y="4663440"/>
            <a:ext cx="178003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Replay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38983" y="4919472"/>
            <a:ext cx="17800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reproducir y comparar</a:t>
            </a:r>
          </a:p>
        </p:txBody>
      </p:sp>
      <p:sp>
        <p:nvSpPr>
          <p:cNvPr id="43" name="Oval 42"/>
          <p:cNvSpPr/>
          <p:nvPr/>
        </p:nvSpPr>
        <p:spPr>
          <a:xfrm>
            <a:off x="4916423" y="4041648"/>
            <a:ext cx="585216" cy="585216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4" name="Icono sliders-horizontal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048097" y="4173321"/>
            <a:ext cx="321868" cy="3218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319015" y="4663440"/>
            <a:ext cx="178003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Autonomía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9015" y="4919472"/>
            <a:ext cx="17800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de L0 Manual a L3 Autónomo</a:t>
            </a:r>
          </a:p>
        </p:txBody>
      </p:sp>
      <p:sp>
        <p:nvSpPr>
          <p:cNvPr id="47" name="Oval 46"/>
          <p:cNvSpPr/>
          <p:nvPr/>
        </p:nvSpPr>
        <p:spPr>
          <a:xfrm>
            <a:off x="6696456" y="4041648"/>
            <a:ext cx="585216" cy="585216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8" name="Icono shield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828129" y="4173321"/>
            <a:ext cx="321868" cy="32186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099048" y="4663440"/>
            <a:ext cx="178003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Guardrails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9048" y="4919472"/>
            <a:ext cx="17800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límites que escalan a humano</a:t>
            </a:r>
          </a:p>
        </p:txBody>
      </p:sp>
      <p:sp>
        <p:nvSpPr>
          <p:cNvPr id="51" name="Oval 50"/>
          <p:cNvSpPr/>
          <p:nvPr/>
        </p:nvSpPr>
        <p:spPr>
          <a:xfrm>
            <a:off x="8476488" y="4041648"/>
            <a:ext cx="585216" cy="585216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2" name="Icono walle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608161" y="4173321"/>
            <a:ext cx="321868" cy="3218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7879080" y="4663440"/>
            <a:ext cx="178003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FinOps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79080" y="4919472"/>
            <a:ext cx="17800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coste por decisión y caps</a:t>
            </a:r>
          </a:p>
        </p:txBody>
      </p:sp>
      <p:sp>
        <p:nvSpPr>
          <p:cNvPr id="55" name="Oval 54"/>
          <p:cNvSpPr/>
          <p:nvPr/>
        </p:nvSpPr>
        <p:spPr>
          <a:xfrm>
            <a:off x="10256519" y="4041648"/>
            <a:ext cx="585216" cy="585216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6" name="Icono book-open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388193" y="4173321"/>
            <a:ext cx="321868" cy="32186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659112" y="4663440"/>
            <a:ext cx="178003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Histórico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59112" y="4919472"/>
            <a:ext cx="17800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libro de registro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4632" y="5840730"/>
            <a:ext cx="11228832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595959"/>
                </a:solidFill>
                <a:latin typeface="Montserrat"/>
              </a:rPr>
              <a:t>No es una IA que lo hace todo: </a:t>
            </a:r>
            <a:r>
              <a:rPr sz="1400" b="1" i="0">
                <a:solidFill>
                  <a:srgbClr val="194BFF"/>
                </a:solidFill>
                <a:latin typeface="Montserrat"/>
              </a:rPr>
              <a:t>son cuatro especialistas, y cada uno tiene sus propios límites.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772658" cy="429768"/>
          </a:xfrm>
        </p:spPr>
        <p:txBody>
          <a:bodyPr wrap="none"/>
          <a:lstStyle/>
          <a:p>
            <a:r>
              <a:rPr sz="2600"/>
              <a:t>Capa de gobierno: cada agente tiene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12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1280160"/>
            <a:ext cx="2635758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713232" y="1481328"/>
            <a:ext cx="658368" cy="6583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Icono crosshai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1364" y="1629460"/>
            <a:ext cx="362102" cy="36210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7512" y="2240280"/>
            <a:ext cx="2269998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 i="0">
                <a:solidFill>
                  <a:srgbClr val="194BFF"/>
                </a:solidFill>
                <a:latin typeface="Montserrat"/>
              </a:rPr>
              <a:t>Una sola función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2743200"/>
            <a:ext cx="2269998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Recibir, clasificar, extraer o aplicar reglas: cada agente hace una cosa.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48989" y="1280160"/>
            <a:ext cx="2635758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3577589" y="1481328"/>
            <a:ext cx="658368" cy="6583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Icono cpu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5722" y="1629460"/>
            <a:ext cx="362102" cy="36210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531870" y="2240280"/>
            <a:ext cx="2269998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 i="0">
                <a:solidFill>
                  <a:srgbClr val="194BFF"/>
                </a:solidFill>
                <a:latin typeface="Montserrat"/>
              </a:rPr>
              <a:t>Su modelo y su versión de prompt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1870" y="2743200"/>
            <a:ext cx="2269998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Por ejemplo, gpt-5-nano con el prompt v3.1 en Clasificación. Cada cambio queda registrado.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3348" y="1280160"/>
            <a:ext cx="2635758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6441948" y="1481328"/>
            <a:ext cx="658368" cy="6583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Icono gaug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90080" y="1629460"/>
            <a:ext cx="362102" cy="36210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96228" y="2240280"/>
            <a:ext cx="2269998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 i="0">
                <a:solidFill>
                  <a:srgbClr val="194BFF"/>
                </a:solidFill>
                <a:latin typeface="Montserrat"/>
              </a:rPr>
              <a:t>Su nivel de autonomía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6228" y="2743200"/>
            <a:ext cx="2269998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De L0 Manual a L3 Autónomo, ajustado agente a agente según sus resultados.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77705" y="1280160"/>
            <a:ext cx="2635758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Oval 28"/>
          <p:cNvSpPr/>
          <p:nvPr/>
        </p:nvSpPr>
        <p:spPr>
          <a:xfrm>
            <a:off x="9306305" y="1481328"/>
            <a:ext cx="658368" cy="6583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0" name="Icono user-cog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54438" y="1629460"/>
            <a:ext cx="362102" cy="36210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60585" y="2240280"/>
            <a:ext cx="2269998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 i="0">
                <a:solidFill>
                  <a:srgbClr val="194BFF"/>
                </a:solidFill>
                <a:latin typeface="Montserrat"/>
              </a:rPr>
              <a:t>Un responsable y unos permisos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0585" y="2743200"/>
            <a:ext cx="2269998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El agente de Reglas puede proponer, pero no puede pagar ni rechazar.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" y="3794760"/>
            <a:ext cx="112288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0B1F5B"/>
                </a:solidFill>
                <a:latin typeface="Montserrat"/>
              </a:rPr>
              <a:t>Niveles de autonomía</a:t>
            </a:r>
          </a:p>
        </p:txBody>
      </p:sp>
      <p:sp>
        <p:nvSpPr>
          <p:cNvPr id="34" name="Pentagon 33"/>
          <p:cNvSpPr/>
          <p:nvPr/>
        </p:nvSpPr>
        <p:spPr>
          <a:xfrm>
            <a:off x="484632" y="4160520"/>
            <a:ext cx="2926080" cy="1051560"/>
          </a:xfrm>
          <a:prstGeom prst="homePlate">
            <a:avLst/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7512" y="4206240"/>
            <a:ext cx="2240280" cy="9601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L0 · Manual</a:t>
            </a:r>
          </a:p>
          <a:p>
            <a:pPr>
              <a:lnSpc>
                <a:spcPct val="115000"/>
              </a:lnSpc>
            </a:pPr>
            <a:r>
              <a:rPr sz="950" b="0" i="0">
                <a:solidFill>
                  <a:srgbClr val="0B1F5B"/>
                </a:solidFill>
                <a:latin typeface="Montserrat Medium"/>
              </a:rPr>
              <a:t>El agente solo sugiere; una persona decide y ejecuta.</a:t>
            </a:r>
          </a:p>
        </p:txBody>
      </p:sp>
      <p:sp>
        <p:nvSpPr>
          <p:cNvPr id="36" name="Chevron 35"/>
          <p:cNvSpPr/>
          <p:nvPr/>
        </p:nvSpPr>
        <p:spPr>
          <a:xfrm>
            <a:off x="3250691" y="4160520"/>
            <a:ext cx="2926080" cy="1051560"/>
          </a:xfrm>
          <a:prstGeom prst="chevron">
            <a:avLst/>
          </a:prstGeom>
          <a:solidFill>
            <a:srgbClr val="BFD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872483" y="4206240"/>
            <a:ext cx="1783080" cy="9601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L1 · Asistido</a:t>
            </a:r>
          </a:p>
          <a:p>
            <a:pPr>
              <a:lnSpc>
                <a:spcPct val="115000"/>
              </a:lnSpc>
            </a:pPr>
            <a:r>
              <a:rPr sz="950" b="0" i="0">
                <a:solidFill>
                  <a:srgbClr val="0B1F5B"/>
                </a:solidFill>
                <a:latin typeface="Montserrat Medium"/>
              </a:rPr>
              <a:t>El agente propone; una persona confirma cada caso.</a:t>
            </a:r>
          </a:p>
        </p:txBody>
      </p:sp>
      <p:sp>
        <p:nvSpPr>
          <p:cNvPr id="38" name="Chevron 37"/>
          <p:cNvSpPr/>
          <p:nvPr/>
        </p:nvSpPr>
        <p:spPr>
          <a:xfrm>
            <a:off x="6016752" y="4160520"/>
            <a:ext cx="2926080" cy="1051560"/>
          </a:xfrm>
          <a:prstGeom prst="chevron">
            <a:avLst/>
          </a:prstGeom>
          <a:solidFill>
            <a:srgbClr val="6F8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38544" y="4206240"/>
            <a:ext cx="1783080" cy="9601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L2 · Supervisado</a:t>
            </a:r>
          </a:p>
          <a:p>
            <a:pPr>
              <a:lnSpc>
                <a:spcPct val="115000"/>
              </a:lnSpc>
            </a:pPr>
            <a:r>
              <a:rPr sz="950" b="0" i="0">
                <a:solidFill>
                  <a:srgbClr val="FFFFFF"/>
                </a:solidFill>
                <a:latin typeface="Montserrat Medium"/>
              </a:rPr>
              <a:t>Decide dentro de los guardrails; fuera de ellos escala a humano.</a:t>
            </a:r>
          </a:p>
        </p:txBody>
      </p:sp>
      <p:sp>
        <p:nvSpPr>
          <p:cNvPr id="40" name="Chevron 39"/>
          <p:cNvSpPr/>
          <p:nvPr/>
        </p:nvSpPr>
        <p:spPr>
          <a:xfrm>
            <a:off x="8782811" y="4160520"/>
            <a:ext cx="2926080" cy="1051560"/>
          </a:xfrm>
          <a:prstGeom prst="chevron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404603" y="4206240"/>
            <a:ext cx="1783080" cy="9601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L3 · Autónomo</a:t>
            </a:r>
          </a:p>
          <a:p>
            <a:pPr>
              <a:lnSpc>
                <a:spcPct val="115000"/>
              </a:lnSpc>
            </a:pPr>
            <a:r>
              <a:rPr sz="950" b="0" i="0">
                <a:solidFill>
                  <a:srgbClr val="FFFFFF"/>
                </a:solidFill>
                <a:latin typeface="Montserrat Medium"/>
              </a:rPr>
              <a:t>Decide y ejecuta; solo se audita a posteriori.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" y="5349240"/>
            <a:ext cx="11228832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595959"/>
                </a:solidFill>
                <a:latin typeface="Montserrat"/>
              </a:rPr>
              <a:t>La autonomía se gana con datos y se pierde con datos: </a:t>
            </a:r>
            <a:r>
              <a:rPr sz="1300" b="1" i="0">
                <a:solidFill>
                  <a:srgbClr val="194BFF"/>
                </a:solidFill>
                <a:latin typeface="Montserrat"/>
              </a:rPr>
              <a:t>el agente de Reglas bajó de L3 a L2 al superar el 3 % de overrides.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823458" cy="429768"/>
          </a:xfrm>
        </p:spPr>
        <p:txBody>
          <a:bodyPr wrap="none"/>
          <a:lstStyle/>
          <a:p>
            <a:r>
              <a:rPr sz="2600"/>
              <a:t>Seis pilares, cada uno con su prueba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13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128016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84632" y="128016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Oval 14"/>
          <p:cNvSpPr/>
          <p:nvPr/>
        </p:nvSpPr>
        <p:spPr>
          <a:xfrm>
            <a:off x="713232" y="1463039"/>
            <a:ext cx="566928" cy="566928"/>
          </a:xfrm>
          <a:prstGeom prst="ellipse">
            <a:avLst/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Icono shield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790" y="1590598"/>
            <a:ext cx="311810" cy="31181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2" y="1463039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Seguro por diseño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212140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Guardrails, kill switch, identidad y permisos por agente. Se puede parar un agente sin perder ningún mensaje.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2761488"/>
            <a:ext cx="1760219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DORA · AI Act art. 15</a:t>
            </a:r>
          </a:p>
        </p:txBody>
      </p:sp>
      <p:pic>
        <p:nvPicPr>
          <p:cNvPr id="20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" y="3108960"/>
            <a:ext cx="182880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1832" y="3063239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Gobierno › Guardrails, Resumen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4632" y="128016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94632" y="128016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4523232" y="1463039"/>
            <a:ext cx="566928" cy="566928"/>
          </a:xfrm>
          <a:prstGeom prst="ellipse">
            <a:avLst/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Icono file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50790" y="1590598"/>
            <a:ext cx="311810" cy="31181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209032" y="1463039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Compliance por defecto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3232" y="212140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Cada decisión deja una traza completa: qué pasó, quién decidió y cuánto costó.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23232" y="2761488"/>
            <a:ext cx="2308860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AI Act art. 12 · RGPD art. 30</a:t>
            </a:r>
          </a:p>
        </p:txBody>
      </p:sp>
      <p:pic>
        <p:nvPicPr>
          <p:cNvPr id="29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41520" y="3108960"/>
            <a:ext cx="182880" cy="1828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751832" y="3063239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Gobierno › Trazabilidad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4632" y="128016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04632" y="128016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Oval 32"/>
          <p:cNvSpPr/>
          <p:nvPr/>
        </p:nvSpPr>
        <p:spPr>
          <a:xfrm>
            <a:off x="8333232" y="1463039"/>
            <a:ext cx="566928" cy="566928"/>
          </a:xfrm>
          <a:prstGeom prst="ellipse">
            <a:avLst/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4" name="Icono book-open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60790" y="1590598"/>
            <a:ext cx="311810" cy="31181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019032" y="1463039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Auditable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3232" y="212140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Libro de registro con quién, qué y cuándo. Se rellena solo, sin trabajo extra.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33232" y="2761488"/>
            <a:ext cx="1828800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EIOPA · AI Act art. 12</a:t>
            </a:r>
          </a:p>
        </p:txBody>
      </p:sp>
      <p:pic>
        <p:nvPicPr>
          <p:cNvPr id="38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1520" y="3108960"/>
            <a:ext cx="182880" cy="18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61832" y="3063239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Gobierno › Histórico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84632" y="361188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84632" y="361188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Oval 41"/>
          <p:cNvSpPr/>
          <p:nvPr/>
        </p:nvSpPr>
        <p:spPr>
          <a:xfrm>
            <a:off x="713232" y="3794760"/>
            <a:ext cx="566928" cy="566928"/>
          </a:xfrm>
          <a:prstGeom prst="ellipse">
            <a:avLst/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3" name="Icono lightbulb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790" y="3922318"/>
            <a:ext cx="311810" cy="31181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399032" y="3794760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Explicable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" y="445312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Regla + evidencia textual y Reasoning replay: si el cliente pregunta por qué, está su propia frase.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3232" y="5093208"/>
            <a:ext cx="2651760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RGPD art. 15 y 22 · AI Act art. 13</a:t>
            </a:r>
          </a:p>
        </p:txBody>
      </p:sp>
      <p:pic>
        <p:nvPicPr>
          <p:cNvPr id="47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" y="5440680"/>
            <a:ext cx="182880" cy="18288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41832" y="5394960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Ficha del mensaje · Reasoning &amp; Replay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94632" y="361188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4294632" y="361188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Oval 50"/>
          <p:cNvSpPr/>
          <p:nvPr/>
        </p:nvSpPr>
        <p:spPr>
          <a:xfrm>
            <a:off x="4523232" y="3794760"/>
            <a:ext cx="566928" cy="566928"/>
          </a:xfrm>
          <a:prstGeom prst="ellipse">
            <a:avLst/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2" name="Icono refresh-cw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50790" y="3922318"/>
            <a:ext cx="311810" cy="31181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209032" y="3794760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Resiliente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3232" y="445312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Reintentos, fallback a motor local y degradación de modelo: si la IA falla, el mensaje no se pierde.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23232" y="5093208"/>
            <a:ext cx="594359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DORA</a:t>
            </a:r>
          </a:p>
        </p:txBody>
      </p:sp>
      <p:pic>
        <p:nvPicPr>
          <p:cNvPr id="56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41520" y="5440680"/>
            <a:ext cx="182880" cy="18288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4751832" y="5394960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Triaje (origen «fallback»), G-07, G-08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104632" y="361188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8104632" y="361188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Oval 59"/>
          <p:cNvSpPr/>
          <p:nvPr/>
        </p:nvSpPr>
        <p:spPr>
          <a:xfrm>
            <a:off x="8333232" y="3794760"/>
            <a:ext cx="566928" cy="566928"/>
          </a:xfrm>
          <a:prstGeom prst="ellipse">
            <a:avLst/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1" name="Icono piggy-ban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60790" y="3922318"/>
            <a:ext cx="311810" cy="31181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019032" y="3794760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FinOps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33232" y="445312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Caps, coste por decisión y comparativa de modelos: el más barato que mantiene la calidad.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333232" y="5093208"/>
            <a:ext cx="1897379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Solvencia II (gobierno)</a:t>
            </a:r>
          </a:p>
        </p:txBody>
      </p:sp>
      <p:pic>
        <p:nvPicPr>
          <p:cNvPr id="65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1520" y="5440680"/>
            <a:ext cx="182880" cy="18288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8561832" y="5394960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Gobierno › FinOps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5C404-1198-B987-A55F-98A884133C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2377440"/>
            <a:ext cx="2329688" cy="660400"/>
          </a:xfrm>
        </p:spPr>
        <p:txBody>
          <a:bodyPr wrap="none" anchor="ctr">
            <a:noAutofit/>
          </a:bodyPr>
          <a:lstStyle/>
          <a:p>
            <a:r>
              <a:rPr sz="4000"/>
              <a:t>La demo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04A87-2D05-B819-27E2-B433509BD95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33188" y="6408738"/>
            <a:ext cx="658812" cy="230187"/>
          </a:xfrm>
        </p:spPr>
        <p:txBody>
          <a:bodyPr/>
          <a:lstStyle/>
          <a:p>
            <a:fld id="{4C86EB02-3AF8-4C19-B0D1-31A9E52C2F89}" type="slidenum">
              <a:rPr lang="en-GB" smtClean="0"/>
              <a:pPr/>
              <a:t>14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DC48BB-F5E1-0E62-8FFB-51749D3BA6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34056" y="1850395"/>
            <a:ext cx="7764655" cy="50051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" y="1874519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lIns="73152" tIns="18288" rIns="73152" bIns="18288" anchor="ctr">
            <a:noAutofit/>
          </a:bodyPr>
          <a:lstStyle/>
          <a:p>
            <a:r>
              <a:rPr sz="1400">
                <a:solidFill>
                  <a:srgbClr val="FFFFFF"/>
                </a:solidFill>
                <a:latin typeface="Roboto Slab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3403600"/>
            <a:ext cx="420624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Lo que ve el tramitador y lo que ven riesgos, auditoría y finanzas.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2469388" cy="429768"/>
          </a:xfrm>
        </p:spPr>
        <p:txBody>
          <a:bodyPr wrap="none"/>
          <a:lstStyle/>
          <a:p>
            <a:r>
              <a:rPr sz="2600"/>
              <a:t>Vamos a verlo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15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1234440"/>
            <a:ext cx="5477255" cy="466344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417320"/>
            <a:ext cx="5111495" cy="2222389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5" name="Oval 14"/>
          <p:cNvSpPr/>
          <p:nvPr/>
        </p:nvSpPr>
        <p:spPr>
          <a:xfrm>
            <a:off x="667512" y="3804301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Icono headse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5070" y="3931860"/>
            <a:ext cx="311810" cy="31181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53312" y="3767725"/>
            <a:ext cx="4379975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194BFF"/>
                </a:solidFill>
                <a:latin typeface="Montserrat"/>
              </a:rPr>
              <a:t>Triaje FNOL</a:t>
            </a:r>
          </a:p>
          <a:p>
            <a:pPr>
              <a:lnSpc>
                <a:spcPct val="110000"/>
              </a:lnSpc>
            </a:pPr>
            <a:r>
              <a:rPr sz="1050" b="0" i="0">
                <a:solidFill>
                  <a:srgbClr val="7F7F7F"/>
                </a:solidFill>
                <a:latin typeface="Montserrat Medium"/>
              </a:rPr>
              <a:t>Lo que ve el tramitador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4462669"/>
            <a:ext cx="5111495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¿Qué hace el sistema con cada aviso?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4791853"/>
            <a:ext cx="5111495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Un lote en vivo: ramo, datos y decisión en segundos</a:t>
            </a:r>
          </a:p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El criterio que falla y la frase del cliente que lo prueba</a:t>
            </a:r>
          </a:p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Reglas de negocio que se cambian sin programar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1234440"/>
            <a:ext cx="5477255" cy="466344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9088" y="1417320"/>
            <a:ext cx="5111495" cy="2222389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22" name="Oval 21"/>
          <p:cNvSpPr/>
          <p:nvPr/>
        </p:nvSpPr>
        <p:spPr>
          <a:xfrm>
            <a:off x="6419088" y="3804301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3" name="Icono landmar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46646" y="3931860"/>
            <a:ext cx="311810" cy="31181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104888" y="3767725"/>
            <a:ext cx="4379975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194BFF"/>
                </a:solidFill>
                <a:latin typeface="Montserrat"/>
              </a:rPr>
              <a:t>Gobierno de Agentes</a:t>
            </a:r>
          </a:p>
          <a:p>
            <a:pPr>
              <a:lnSpc>
                <a:spcPct val="110000"/>
              </a:lnSpc>
            </a:pPr>
            <a:r>
              <a:rPr sz="1050" b="0" i="0">
                <a:solidFill>
                  <a:srgbClr val="7F7F7F"/>
                </a:solidFill>
                <a:latin typeface="Montserrat Medium"/>
              </a:rPr>
              <a:t>Lo que ven riesgos, auditoría y finanzas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462669"/>
            <a:ext cx="5111495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¿Podemos fiarnos, controlarlo y pagarlo?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4791853"/>
            <a:ext cx="5111495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Autonomía, overrides y kill switch por agente</a:t>
            </a:r>
          </a:p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Trazas y Reasoning &amp; Replay: por qué decidió y qué pasaría con otro modelo</a:t>
            </a:r>
          </a:p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Guardrails, caps de coste e histórico de cambios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3599" y="2286000"/>
            <a:ext cx="2104390" cy="648000"/>
          </a:xfrm>
        </p:spPr>
        <p:txBody>
          <a:bodyPr wrap="none"/>
          <a:lstStyle/>
          <a:p>
            <a:r>
              <a:t>Gracias</a:t>
            </a:r>
          </a:p>
        </p:txBody>
      </p:sp>
      <p:pic>
        <p:nvPicPr>
          <p:cNvPr id="4" name="Picture 3" descr="hex_photo_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850392"/>
            <a:ext cx="5230368" cy="521127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PT Logicalis Template March 2026">
  <a:themeElements>
    <a:clrScheme name="TDL New">
      <a:dk1>
        <a:srgbClr val="595959"/>
      </a:dk1>
      <a:lt1>
        <a:srgbClr val="FFFFFF"/>
      </a:lt1>
      <a:dk2>
        <a:srgbClr val="595959"/>
      </a:dk2>
      <a:lt2>
        <a:srgbClr val="E7E6E6"/>
      </a:lt2>
      <a:accent1>
        <a:srgbClr val="FF1414"/>
      </a:accent1>
      <a:accent2>
        <a:srgbClr val="595959"/>
      </a:accent2>
      <a:accent3>
        <a:srgbClr val="194BFF"/>
      </a:accent3>
      <a:accent4>
        <a:srgbClr val="00FFCD"/>
      </a:accent4>
      <a:accent5>
        <a:srgbClr val="E6E6E6"/>
      </a:accent5>
      <a:accent6>
        <a:srgbClr val="FF1414"/>
      </a:accent6>
      <a:hlink>
        <a:srgbClr val="595959"/>
      </a:hlink>
      <a:folHlink>
        <a:srgbClr val="A29791"/>
      </a:folHlink>
    </a:clrScheme>
    <a:fontScheme name="TDL NEW Font">
      <a:majorFont>
        <a:latin typeface="Roboto Slab"/>
        <a:ea typeface=""/>
        <a:cs typeface=""/>
      </a:majorFont>
      <a:minorFont>
        <a:latin typeface="Montserra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sp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DL Template.pptx" id="{49FD070F-6C74-4054-BC33-4F4E7F43F796}" vid="{6D854CFD-DB59-4F78-BD86-5C43773322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c1a385b-e1fe-4f98-ade6-787642576ba7">
      <Terms xmlns="http://schemas.microsoft.com/office/infopath/2007/PartnerControls"/>
    </lcf76f155ced4ddcb4097134ff3c332f>
    <TaxCatchAll xmlns="ec24e197-8a67-4a13-a14c-425853cf5e9f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69F901A49CB064A9C4B1D391D24583D" ma:contentTypeVersion="15" ma:contentTypeDescription="Crear nuevo documento." ma:contentTypeScope="" ma:versionID="c01ca280964f438bf2e2e8c57f041e78">
  <xsd:schema xmlns:xsd="http://www.w3.org/2001/XMLSchema" xmlns:xs="http://www.w3.org/2001/XMLSchema" xmlns:p="http://schemas.microsoft.com/office/2006/metadata/properties" xmlns:ns2="bc1a385b-e1fe-4f98-ade6-787642576ba7" xmlns:ns3="ec24e197-8a67-4a13-a14c-425853cf5e9f" targetNamespace="http://schemas.microsoft.com/office/2006/metadata/properties" ma:root="true" ma:fieldsID="002b4cf6722f3fad18b0e6f8ed65e6e2" ns2:_="" ns3:_="">
    <xsd:import namespace="bc1a385b-e1fe-4f98-ade6-787642576ba7"/>
    <xsd:import namespace="ec24e197-8a67-4a13-a14c-425853cf5e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1a385b-e1fe-4f98-ade6-787642576ba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10fce5ab-aaf9-49f9-a6ce-ac3a074a46a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24e197-8a67-4a13-a14c-425853cf5e9f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fef96e38-1bbd-4d0a-8955-62bde1cd75dc}" ma:internalName="TaxCatchAll" ma:showField="CatchAllData" ma:web="ec24e197-8a67-4a13-a14c-425853cf5e9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F53B6D5-302C-4812-BDB4-23286F7EBC3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251A99C-5D78-4D91-A271-C92583798633}">
  <ds:schemaRefs>
    <ds:schemaRef ds:uri="http://www.w3.org/XML/1998/namespace"/>
    <ds:schemaRef ds:uri="http://purl.org/dc/dcmitype/"/>
    <ds:schemaRef ds:uri="http://schemas.microsoft.com/office/2006/documentManagement/types"/>
    <ds:schemaRef ds:uri="http://purl.org/dc/terms/"/>
    <ds:schemaRef ds:uri="bc1a385b-e1fe-4f98-ade6-787642576ba7"/>
    <ds:schemaRef ds:uri="http://purl.org/dc/elements/1.1/"/>
    <ds:schemaRef ds:uri="http://schemas.openxmlformats.org/package/2006/metadata/core-properties"/>
    <ds:schemaRef ds:uri="http://schemas.microsoft.com/office/infopath/2007/PartnerControls"/>
    <ds:schemaRef ds:uri="ec24e197-8a67-4a13-a14c-425853cf5e9f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A3107499-3C28-4C3E-9EDE-1BEF227098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c1a385b-e1fe-4f98-ade6-787642576ba7"/>
    <ds:schemaRef ds:uri="ec24e197-8a67-4a13-a14c-425853cf5e9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2202</Words>
  <Application>Microsoft Macintosh PowerPoint</Application>
  <PresentationFormat>Panorámica</PresentationFormat>
  <Paragraphs>208</Paragraphs>
  <Slides>16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6" baseType="lpstr">
      <vt:lpstr>.Lucida Grande UI Regular</vt:lpstr>
      <vt:lpstr>Arial</vt:lpstr>
      <vt:lpstr>Calibri</vt:lpstr>
      <vt:lpstr>Monaco</vt:lpstr>
      <vt:lpstr>Montserrat</vt:lpstr>
      <vt:lpstr>Montserrat Light</vt:lpstr>
      <vt:lpstr>Montserrat Medium</vt:lpstr>
      <vt:lpstr>Roboto Slab</vt:lpstr>
      <vt:lpstr>Wingdings</vt:lpstr>
      <vt:lpstr>PPT Logicalis Template March 2026</vt:lpstr>
      <vt:lpstr>FNOL con agentes</vt:lpstr>
      <vt:lpstr>Agenda</vt:lpstr>
      <vt:lpstr>Presentación de PowerPoint</vt:lpstr>
      <vt:lpstr>La avalancha de avisos</vt:lpstr>
      <vt:lpstr>Clasificar ya está resuelto</vt:lpstr>
      <vt:lpstr>El problema real: de piloto a producción</vt:lpstr>
      <vt:lpstr>El marco</vt:lpstr>
      <vt:lpstr>Lo que exige la regulación</vt:lpstr>
      <vt:lpstr>Presentación de PowerPoint</vt:lpstr>
      <vt:lpstr>Lo que no existe en el mercado</vt:lpstr>
      <vt:lpstr>La solución: agentes pequeños y gobernados</vt:lpstr>
      <vt:lpstr>Capa de gobierno: cada agente tiene</vt:lpstr>
      <vt:lpstr>Seis pilares, cada uno con su prueba</vt:lpstr>
      <vt:lpstr>La demo</vt:lpstr>
      <vt:lpstr>Vamos a verlo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con agentes gobernados</dc:title>
  <dc:creator>Ignacio Sánchez</dc:creator>
  <cp:lastModifiedBy>Ignacio Sánchez Enjuto</cp:lastModifiedBy>
  <cp:revision>2</cp:revision>
  <dcterms:created xsi:type="dcterms:W3CDTF">2023-07-20T13:22:40Z</dcterms:created>
  <dcterms:modified xsi:type="dcterms:W3CDTF">2026-10-02T07:04:22Z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ensitivity">
    <vt:lpwstr>Sensible</vt:lpwstr>
  </property>
  <property fmtid="{D5CDD505-2E9C-101B-9397-08002B2CF9AE}" pid="3" name="MSIP_Label_71e2662a-0625-4560-92a8-8decd38b51d5_Extended_MSFT_Method">
    <vt:lpwstr>Standard</vt:lpwstr>
  </property>
  <property fmtid="{D5CDD505-2E9C-101B-9397-08002B2CF9AE}" pid="4" name="ContentTypeId">
    <vt:lpwstr>0x010100C69F901A49CB064A9C4B1D391D24583D</vt:lpwstr>
  </property>
  <property fmtid="{D5CDD505-2E9C-101B-9397-08002B2CF9AE}" pid="5" name="MediaServiceImageTags">
    <vt:lpwstr/>
  </property>
  <property fmtid="{D5CDD505-2E9C-101B-9397-08002B2CF9AE}" pid="6" name="MSIP_Label_71e2662a-0625-4560-92a8-8decd38b51d5_Removed">
    <vt:lpwstr>False</vt:lpwstr>
  </property>
  <property fmtid="{D5CDD505-2E9C-101B-9397-08002B2CF9AE}" pid="7" name="MSIP_Label_71e2662a-0625-4560-92a8-8decd38b51d5_ActionId">
    <vt:lpwstr>1f16ca72-26c2-402d-98b3-c2cfda3bf25e</vt:lpwstr>
  </property>
  <property fmtid="{D5CDD505-2E9C-101B-9397-08002B2CF9AE}" pid="8" name="MSIP_Label_71e2662a-0625-4560-92a8-8decd38b51d5_Name">
    <vt:lpwstr>Sensible</vt:lpwstr>
  </property>
  <property fmtid="{D5CDD505-2E9C-101B-9397-08002B2CF9AE}" pid="9" name="MSIP_Label_71e2662a-0625-4560-92a8-8decd38b51d5_SetDate">
    <vt:lpwstr>2026-03-19T18:17:36Z</vt:lpwstr>
  </property>
  <property fmtid="{D5CDD505-2E9C-101B-9397-08002B2CF9AE}" pid="10" name="MSIP_Label_71e2662a-0625-4560-92a8-8decd38b51d5_SiteId">
    <vt:lpwstr>4b51496e-4cf2-4728-b551-2bdc71444141</vt:lpwstr>
  </property>
  <property fmtid="{D5CDD505-2E9C-101B-9397-08002B2CF9AE}" pid="11" name="MSIP_Label_71e2662a-0625-4560-92a8-8decd38b51d5_Enabled">
    <vt:lpwstr>True</vt:lpwstr>
  </property>
</Properties>
</file>