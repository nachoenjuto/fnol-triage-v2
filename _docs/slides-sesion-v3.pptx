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70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1"/>
  </p:notesMasterIdLst>
  <p:sldIdLst>
    <p:sldId id="346" r:id="rId5"/>
    <p:sldId id="347" r:id="rId6"/>
    <p:sldId id="348" r:id="rId7"/>
    <p:sldId id="349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57" r:id="rId16"/>
    <p:sldId id="358" r:id="rId17"/>
    <p:sldId id="359" r:id="rId18"/>
    <p:sldId id="360" r:id="rId19"/>
    <p:sldId id="361" r:id="rId20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cons" id="{E57AE0B5-2D22-3B4E-900D-32E0443C9C6A}">
          <p14:sldIdLst>
            <p14:sldId id="346"/>
            <p14:sldId id="347"/>
          </p14:sldIdLst>
        </p14:section>
        <p14:section name="Color background examples" id="{0DB13114-5B30-C94F-BB34-DD1C36B9759A}">
          <p14:sldIdLst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DFF"/>
    <a:srgbClr val="82C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B38D15-ABBF-2BAC-2E94-22F937B48579}" v="4" dt="2026-10-07T14:08:33.3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4"/>
    <p:restoredTop sz="85408"/>
  </p:normalViewPr>
  <p:slideViewPr>
    <p:cSldViewPr snapToGrid="0">
      <p:cViewPr varScale="1">
        <p:scale>
          <a:sx n="83" d="100"/>
          <a:sy n="83" d="100"/>
        </p:scale>
        <p:origin x="232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Sánchez Enjuto" userId="c691bf97-6f4a-46de-97c8-063fd3f20c17" providerId="ADAL" clId="{2691E216-BC80-53A0-9A71-853C30BFFE25}"/>
    <pc:docChg chg="undo redo custSel modSld">
      <pc:chgData name="Ignacio Sánchez Enjuto" userId="c691bf97-6f4a-46de-97c8-063fd3f20c17" providerId="ADAL" clId="{2691E216-BC80-53A0-9A71-853C30BFFE25}" dt="2026-10-02T15:18:24.635" v="601" actId="692"/>
      <pc:docMkLst>
        <pc:docMk/>
      </pc:docMkLst>
      <pc:sldChg chg="modSp mod">
        <pc:chgData name="Ignacio Sánchez Enjuto" userId="c691bf97-6f4a-46de-97c8-063fd3f20c17" providerId="ADAL" clId="{2691E216-BC80-53A0-9A71-853C30BFFE25}" dt="2026-10-02T06:50:21.727" v="21" actId="20577"/>
        <pc:sldMkLst>
          <pc:docMk/>
          <pc:sldMk cId="0" sldId="348"/>
        </pc:sldMkLst>
        <pc:spChg chg="mod">
          <ac:chgData name="Ignacio Sánchez Enjuto" userId="c691bf97-6f4a-46de-97c8-063fd3f20c17" providerId="ADAL" clId="{2691E216-BC80-53A0-9A71-853C30BFFE25}" dt="2026-10-02T06:50:21.727" v="21" actId="20577"/>
          <ac:spMkLst>
            <pc:docMk/>
            <pc:sldMk cId="0" sldId="348"/>
            <ac:spMk id="5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15:06:32.378" v="465" actId="207"/>
        <pc:sldMkLst>
          <pc:docMk/>
          <pc:sldMk cId="0" sldId="349"/>
        </pc:sldMkLst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3.818" v="105" actId="14100"/>
          <ac:spMkLst>
            <pc:docMk/>
            <pc:sldMk cId="0" sldId="349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7.668" v="106" actId="14100"/>
          <ac:spMkLst>
            <pc:docMk/>
            <pc:sldMk cId="0" sldId="349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4:34.432" v="450" actId="20577"/>
          <ac:spMkLst>
            <pc:docMk/>
            <pc:sldMk cId="0" sldId="349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4:50.070" v="461" actId="5793"/>
          <ac:spMkLst>
            <pc:docMk/>
            <pc:sldMk cId="0" sldId="349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01.051" v="110" actId="14100"/>
          <ac:spMkLst>
            <pc:docMk/>
            <pc:sldMk cId="0" sldId="349"/>
            <ac:spMk id="3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57.466" v="109" actId="14100"/>
          <ac:spMkLst>
            <pc:docMk/>
            <pc:sldMk cId="0" sldId="349"/>
            <ac:spMk id="40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19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31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37" creationId="{00000000-0000-0000-0000-000000000000}"/>
          </ac:picMkLst>
        </pc:picChg>
        <pc:cxnChg chg="mod">
          <ac:chgData name="Ignacio Sánchez Enjuto" userId="c691bf97-6f4a-46de-97c8-063fd3f20c17" providerId="ADAL" clId="{2691E216-BC80-53A0-9A71-853C30BFFE25}" dt="2026-10-02T06:55:24.815" v="141" actId="108"/>
          <ac:cxnSpMkLst>
            <pc:docMk/>
            <pc:sldMk cId="0" sldId="349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27.500" v="142" actId="108"/>
          <ac:cxnSpMkLst>
            <pc:docMk/>
            <pc:sldMk cId="0" sldId="349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15:04:38.981" v="455" actId="1038"/>
          <ac:cxnSpMkLst>
            <pc:docMk/>
            <pc:sldMk cId="0" sldId="349"/>
            <ac:cxnSpMk id="35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33.049" v="144" actId="108"/>
          <ac:cxnSpMkLst>
            <pc:docMk/>
            <pc:sldMk cId="0" sldId="349"/>
            <ac:cxnSpMk id="41" creationId="{00000000-0000-0000-0000-000000000000}"/>
          </ac:cxnSpMkLst>
        </pc:cxnChg>
      </pc:sldChg>
      <pc:sldChg chg="delSp modSp mod">
        <pc:chgData name="Ignacio Sánchez Enjuto" userId="c691bf97-6f4a-46de-97c8-063fd3f20c17" providerId="ADAL" clId="{2691E216-BC80-53A0-9A71-853C30BFFE25}" dt="2026-10-02T15:12:11.916" v="519" actId="14100"/>
        <pc:sldMkLst>
          <pc:docMk/>
          <pc:sldMk cId="0" sldId="350"/>
        </pc:sldMkLst>
        <pc:spChg chg="mod">
          <ac:chgData name="Ignacio Sánchez Enjuto" userId="c691bf97-6f4a-46de-97c8-063fd3f20c17" providerId="ADAL" clId="{2691E216-BC80-53A0-9A71-853C30BFFE25}" dt="2026-10-02T15:12:11.916" v="519" actId="14100"/>
          <ac:spMkLst>
            <pc:docMk/>
            <pc:sldMk cId="0" sldId="350"/>
            <ac:spMk id="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42.852" v="111" actId="692"/>
          <ac:spMkLst>
            <pc:docMk/>
            <pc:sldMk cId="0" sldId="350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31.081" v="121" actId="14100"/>
          <ac:spMkLst>
            <pc:docMk/>
            <pc:sldMk cId="0" sldId="350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14.032" v="113" actId="14100"/>
          <ac:spMkLst>
            <pc:docMk/>
            <pc:sldMk cId="0" sldId="350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1:48.177" v="495" actId="1035"/>
          <ac:spMkLst>
            <pc:docMk/>
            <pc:sldMk cId="0" sldId="350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1:48.177" v="495" actId="1035"/>
          <ac:spMkLst>
            <pc:docMk/>
            <pc:sldMk cId="0" sldId="350"/>
            <ac:spMk id="31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06:53:23.313" v="119" actId="1038"/>
          <ac:picMkLst>
            <pc:docMk/>
            <pc:sldMk cId="0" sldId="350"/>
            <ac:picMk id="25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3:11.403" v="575" actId="1037"/>
        <pc:sldMkLst>
          <pc:docMk/>
          <pc:sldMk cId="0" sldId="351"/>
        </pc:sldMkLst>
        <pc:spChg chg="mod">
          <ac:chgData name="Ignacio Sánchez Enjuto" userId="c691bf97-6f4a-46de-97c8-063fd3f20c17" providerId="ADAL" clId="{2691E216-BC80-53A0-9A71-853C30BFFE25}" dt="2026-10-02T15:12:34.299" v="567" actId="14100"/>
          <ac:spMkLst>
            <pc:docMk/>
            <pc:sldMk cId="0" sldId="351"/>
            <ac:spMk id="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08.863" v="187" actId="20577"/>
          <ac:spMkLst>
            <pc:docMk/>
            <pc:sldMk cId="0" sldId="351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7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19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31" creationId="{00000000-0000-0000-0000-000000000000}"/>
          </ac:picMkLst>
        </pc:pic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35" creationId="{00000000-0000-0000-0000-000000000000}"/>
          </ac:cxnSpMkLst>
        </pc:cxnChg>
      </pc:sldChg>
      <pc:sldChg chg="modSp mod">
        <pc:chgData name="Ignacio Sánchez Enjuto" userId="c691bf97-6f4a-46de-97c8-063fd3f20c17" providerId="ADAL" clId="{2691E216-BC80-53A0-9A71-853C30BFFE25}" dt="2026-10-02T15:15:53.178" v="589" actId="1035"/>
        <pc:sldMkLst>
          <pc:docMk/>
          <pc:sldMk cId="0" sldId="353"/>
        </pc:sldMkLst>
        <pc:spChg chg="mod">
          <ac:chgData name="Ignacio Sánchez Enjuto" userId="c691bf97-6f4a-46de-97c8-063fd3f20c17" providerId="ADAL" clId="{2691E216-BC80-53A0-9A71-853C30BFFE25}" dt="2026-10-02T06:57:04.955" v="185" actId="1036"/>
          <ac:spMkLst>
            <pc:docMk/>
            <pc:sldMk cId="0" sldId="353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14.965" v="205" actId="20577"/>
          <ac:spMkLst>
            <pc:docMk/>
            <pc:sldMk cId="0" sldId="353"/>
            <ac:spMk id="2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33.300" v="207" actId="113"/>
          <ac:spMkLst>
            <pc:docMk/>
            <pc:sldMk cId="0" sldId="353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15.430" v="200" actId="1036"/>
          <ac:spMkLst>
            <pc:docMk/>
            <pc:sldMk cId="0" sldId="353"/>
            <ac:spMk id="58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18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2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2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30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3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38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4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4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50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07:01:55.861" v="323" actId="1036"/>
        <pc:sldMkLst>
          <pc:docMk/>
          <pc:sldMk cId="0" sldId="355"/>
        </pc:sldMkLst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10.672" v="259" actId="20577"/>
          <ac:spMkLst>
            <pc:docMk/>
            <pc:sldMk cId="0" sldId="355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35.116" v="305" actId="14100"/>
          <ac:spMkLst>
            <pc:docMk/>
            <pc:sldMk cId="0" sldId="355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6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07:04:19.897" v="400" actId="14100"/>
        <pc:sldMkLst>
          <pc:docMk/>
          <pc:sldMk cId="0" sldId="356"/>
        </pc:sldMkLst>
        <pc:spChg chg="mod">
          <ac:chgData name="Ignacio Sánchez Enjuto" userId="c691bf97-6f4a-46de-97c8-063fd3f20c17" providerId="ADAL" clId="{2691E216-BC80-53A0-9A71-853C30BFFE25}" dt="2026-10-02T07:03:29.127" v="386" actId="20577"/>
          <ac:spMkLst>
            <pc:docMk/>
            <pc:sldMk cId="0" sldId="356"/>
            <ac:spMk id="3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4:19.897" v="400" actId="14100"/>
          <ac:spMkLst>
            <pc:docMk/>
            <pc:sldMk cId="0" sldId="356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3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3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4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4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5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2:32.898" v="324" actId="692"/>
          <ac:spMkLst>
            <pc:docMk/>
            <pc:sldMk cId="0" sldId="356"/>
            <ac:spMk id="5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4:15.496" v="399" actId="1036"/>
          <ac:spMkLst>
            <pc:docMk/>
            <pc:sldMk cId="0" sldId="356"/>
            <ac:spMk id="59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15:10:06.723" v="476" actId="1037"/>
        <pc:sldMkLst>
          <pc:docMk/>
          <pc:sldMk cId="0" sldId="357"/>
        </pc:sldMkLst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1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8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1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20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30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8:03.357" v="597" actId="692"/>
        <pc:sldMkLst>
          <pc:docMk/>
          <pc:sldMk cId="0" sldId="358"/>
        </pc:sldMkLst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41.335" v="596" actId="1076"/>
          <ac:spMkLst>
            <pc:docMk/>
            <pc:sldMk cId="0" sldId="358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5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60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1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3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43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5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61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8:24.635" v="601" actId="692"/>
        <pc:sldMkLst>
          <pc:docMk/>
          <pc:sldMk cId="0" sldId="360"/>
        </pc:sldMkLst>
        <pc:spChg chg="mod">
          <ac:chgData name="Ignacio Sánchez Enjuto" userId="c691bf97-6f4a-46de-97c8-063fd3f20c17" providerId="ADAL" clId="{2691E216-BC80-53A0-9A71-853C30BFFE25}" dt="2026-10-02T15:18:24.635" v="601" actId="692"/>
          <ac:spMkLst>
            <pc:docMk/>
            <pc:sldMk cId="0" sldId="360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8:24.635" v="601" actId="692"/>
          <ac:spMkLst>
            <pc:docMk/>
            <pc:sldMk cId="0" sldId="360"/>
            <ac:spMk id="2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8:16.130" v="598" actId="692"/>
          <ac:spMkLst>
            <pc:docMk/>
            <pc:sldMk cId="0" sldId="360"/>
            <ac:spMk id="26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08:07:01.926" v="443" actId="1036"/>
          <ac:picMkLst>
            <pc:docMk/>
            <pc:sldMk cId="0" sldId="360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6:54.555" v="438" actId="1035"/>
          <ac:picMkLst>
            <pc:docMk/>
            <pc:sldMk cId="0" sldId="360"/>
            <ac:picMk id="1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7:05.477" v="449" actId="1037"/>
          <ac:picMkLst>
            <pc:docMk/>
            <pc:sldMk cId="0" sldId="360"/>
            <ac:picMk id="21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6:38.100" v="430" actId="1036"/>
          <ac:picMkLst>
            <pc:docMk/>
            <pc:sldMk cId="0" sldId="360"/>
            <ac:picMk id="23" creationId="{00000000-0000-0000-0000-000000000000}"/>
          </ac:picMkLst>
        </pc:picChg>
      </pc:sldChg>
    </pc:docChg>
  </pc:docChgLst>
  <pc:docChgLst>
    <pc:chgData name="Ignacio Sánchez Enjuto" userId="S::ignacio.sancheze@es.logicalis.com::c691bf97-6f4a-46de-97c8-063fd3f20c17" providerId="AD" clId="Web-{85B38D15-ABBF-2BAC-2E94-22F937B48579}"/>
    <pc:docChg chg="sldOrd delSection">
      <pc:chgData name="Ignacio Sánchez Enjuto" userId="S::ignacio.sancheze@es.logicalis.com::c691bf97-6f4a-46de-97c8-063fd3f20c17" providerId="AD" clId="Web-{85B38D15-ABBF-2BAC-2E94-22F937B48579}" dt="2026-10-07T14:08:33.342" v="4"/>
      <pc:docMkLst>
        <pc:docMk/>
      </pc:docMkLst>
      <pc:sldChg chg="ord">
        <pc:chgData name="Ignacio Sánchez Enjuto" userId="S::ignacio.sancheze@es.logicalis.com::c691bf97-6f4a-46de-97c8-063fd3f20c17" providerId="AD" clId="Web-{85B38D15-ABBF-2BAC-2E94-22F937B48579}" dt="2026-10-07T14:08:33.342" v="4"/>
        <pc:sldMkLst>
          <pc:docMk/>
          <pc:sldMk cId="0" sldId="346"/>
        </pc:sldMkLst>
      </pc:sldChg>
      <pc:sldChg chg="ord">
        <pc:chgData name="Ignacio Sánchez Enjuto" userId="S::ignacio.sancheze@es.logicalis.com::c691bf97-6f4a-46de-97c8-063fd3f20c17" providerId="AD" clId="Web-{85B38D15-ABBF-2BAC-2E94-22F937B48579}" dt="2026-10-07T14:08:33.342" v="3"/>
        <pc:sldMkLst>
          <pc:docMk/>
          <pc:sldMk cId="0" sldId="347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2698B-22EF-534E-B63D-BB6C0D4DFEA9}" type="datetimeFigureOut">
              <a:rPr lang="en-PT" smtClean="0"/>
              <a:t>10/07/2026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252E2-66E6-2846-853C-451ED1419F13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95462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(0-3 min) «Hoy no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IA </a:t>
            </a:r>
            <a:r>
              <a:rPr dirty="0" err="1"/>
              <a:t>clasifica</a:t>
            </a:r>
            <a:r>
              <a:rPr dirty="0"/>
              <a:t> un </a:t>
            </a:r>
            <a:r>
              <a:rPr dirty="0" err="1"/>
              <a:t>siniestro</a:t>
            </a:r>
            <a:r>
              <a:rPr dirty="0"/>
              <a:t>. Eso </a:t>
            </a:r>
            <a:r>
              <a:rPr dirty="0" err="1"/>
              <a:t>ya</a:t>
            </a:r>
            <a:r>
              <a:rPr dirty="0"/>
              <a:t> lo </a:t>
            </a:r>
            <a:r>
              <a:rPr dirty="0" err="1"/>
              <a:t>sabéis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se pone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aseguradora</a:t>
            </a:r>
            <a:r>
              <a:rPr dirty="0"/>
              <a:t>.» — «Cada </a:t>
            </a:r>
            <a:r>
              <a:rPr dirty="0" err="1"/>
              <a:t>mensaje</a:t>
            </a:r>
            <a:r>
              <a:rPr dirty="0"/>
              <a:t> lo lee, lo </a:t>
            </a:r>
            <a:r>
              <a:rPr dirty="0" err="1"/>
              <a:t>clasifica</a:t>
            </a:r>
            <a:r>
              <a:rPr dirty="0"/>
              <a:t> y lo </a:t>
            </a:r>
            <a:r>
              <a:rPr dirty="0" err="1"/>
              <a:t>teclea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persona. Ahí se </a:t>
            </a:r>
            <a:r>
              <a:rPr dirty="0" err="1"/>
              <a:t>va</a:t>
            </a:r>
            <a:r>
              <a:rPr dirty="0"/>
              <a:t> el </a:t>
            </a:r>
            <a:r>
              <a:rPr dirty="0" err="1"/>
              <a:t>tiempo</a:t>
            </a:r>
            <a:r>
              <a:rPr dirty="0"/>
              <a:t> y el dinero. Y el </a:t>
            </a:r>
            <a:r>
              <a:rPr dirty="0" err="1"/>
              <a:t>cliente</a:t>
            </a:r>
            <a:r>
              <a:rPr dirty="0"/>
              <a:t> </a:t>
            </a:r>
            <a:r>
              <a:rPr dirty="0" err="1"/>
              <a:t>espera</a:t>
            </a:r>
            <a:r>
              <a:rPr dirty="0"/>
              <a:t> </a:t>
            </a:r>
            <a:r>
              <a:rPr dirty="0" err="1"/>
              <a:t>respuesta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horas, no </a:t>
            </a:r>
            <a:r>
              <a:rPr dirty="0" err="1"/>
              <a:t>en</a:t>
            </a:r>
            <a:r>
              <a:rPr dirty="0"/>
              <a:t> días.» Fuentes: UNESPA (</a:t>
            </a:r>
            <a:r>
              <a:rPr dirty="0" err="1"/>
              <a:t>siniestros</a:t>
            </a:r>
            <a:r>
              <a:rPr dirty="0"/>
              <a:t> de </a:t>
            </a:r>
            <a:r>
              <a:rPr dirty="0" err="1"/>
              <a:t>automóvil</a:t>
            </a:r>
            <a:r>
              <a:rPr dirty="0"/>
              <a:t>, </a:t>
            </a:r>
            <a:r>
              <a:rPr dirty="0" err="1"/>
              <a:t>datos</a:t>
            </a:r>
            <a:r>
              <a:rPr dirty="0"/>
              <a:t> 2024) para </a:t>
            </a:r>
            <a:r>
              <a:rPr dirty="0" err="1"/>
              <a:t>los</a:t>
            </a:r>
            <a:r>
              <a:rPr dirty="0"/>
              <a:t> ~11 M y el «uno </a:t>
            </a:r>
            <a:r>
              <a:rPr dirty="0" err="1"/>
              <a:t>cada</a:t>
            </a:r>
            <a:r>
              <a:rPr dirty="0"/>
              <a:t> 3 s»; art. 16 de la Ley 50/1980 (BOE) para </a:t>
            </a:r>
            <a:r>
              <a:rPr dirty="0" err="1"/>
              <a:t>los</a:t>
            </a:r>
            <a:r>
              <a:rPr dirty="0"/>
              <a:t> 7 días; Insurance Information Institute con </a:t>
            </a:r>
            <a:r>
              <a:rPr dirty="0" err="1"/>
              <a:t>datos</a:t>
            </a:r>
            <a:r>
              <a:rPr dirty="0"/>
              <a:t> NAIC para el ~10 % (</a:t>
            </a:r>
            <a:r>
              <a:rPr dirty="0" err="1"/>
              <a:t>gastos</a:t>
            </a:r>
            <a:r>
              <a:rPr dirty="0"/>
              <a:t> de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de Auto </a:t>
            </a:r>
            <a:r>
              <a:rPr dirty="0" err="1"/>
              <a:t>particulares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EE. UU., 2023: 2,3 % defensa y </a:t>
            </a:r>
            <a:r>
              <a:rPr dirty="0" err="1"/>
              <a:t>contención</a:t>
            </a:r>
            <a:r>
              <a:rPr dirty="0"/>
              <a:t> de </a:t>
            </a:r>
            <a:r>
              <a:rPr dirty="0" err="1"/>
              <a:t>costes</a:t>
            </a:r>
            <a:r>
              <a:rPr dirty="0"/>
              <a:t> + 7,5 % </a:t>
            </a:r>
            <a:r>
              <a:rPr dirty="0" err="1"/>
              <a:t>tramitación</a:t>
            </a:r>
            <a:r>
              <a:rPr dirty="0"/>
              <a:t>). No hay </a:t>
            </a:r>
            <a:r>
              <a:rPr dirty="0" err="1"/>
              <a:t>dato</a:t>
            </a:r>
            <a:r>
              <a:rPr dirty="0"/>
              <a:t> </a:t>
            </a:r>
            <a:r>
              <a:rPr dirty="0" err="1"/>
              <a:t>público</a:t>
            </a:r>
            <a:r>
              <a:rPr dirty="0"/>
              <a:t> </a:t>
            </a:r>
            <a:r>
              <a:rPr dirty="0" err="1"/>
              <a:t>equivalente</a:t>
            </a:r>
            <a:r>
              <a:rPr dirty="0"/>
              <a:t> para España. Los 5 canales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cubre</a:t>
            </a:r>
            <a:r>
              <a:rPr dirty="0"/>
              <a:t> la </a:t>
            </a:r>
            <a:r>
              <a:rPr dirty="0" err="1"/>
              <a:t>solución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(3-4 min) </a:t>
            </a:r>
            <a:r>
              <a:rPr dirty="0" err="1"/>
              <a:t>Ir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. La idea es </a:t>
            </a:r>
            <a:r>
              <a:rPr dirty="0" err="1"/>
              <a:t>quitar</a:t>
            </a:r>
            <a:r>
              <a:rPr dirty="0"/>
              <a:t> de la mesa la </a:t>
            </a:r>
            <a:r>
              <a:rPr dirty="0" err="1"/>
              <a:t>pregunta</a:t>
            </a:r>
            <a:r>
              <a:rPr dirty="0"/>
              <a:t> «¿la IA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hacerlo</a:t>
            </a:r>
            <a:r>
              <a:rPr dirty="0"/>
              <a:t>?» para pasar a la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(4-6 min) «Los </a:t>
            </a:r>
            <a:r>
              <a:rPr dirty="0" err="1"/>
              <a:t>proyectos</a:t>
            </a:r>
            <a:r>
              <a:rPr dirty="0"/>
              <a:t> no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la IA </a:t>
            </a:r>
            <a:r>
              <a:rPr dirty="0" err="1"/>
              <a:t>falle</a:t>
            </a:r>
            <a:r>
              <a:rPr dirty="0"/>
              <a:t>.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nadie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responder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: ¿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decidió</a:t>
            </a:r>
            <a:r>
              <a:rPr dirty="0"/>
              <a:t> </a:t>
            </a:r>
            <a:r>
              <a:rPr dirty="0" err="1"/>
              <a:t>eso</a:t>
            </a:r>
            <a:r>
              <a:rPr dirty="0"/>
              <a:t>?, ¿</a:t>
            </a:r>
            <a:r>
              <a:rPr dirty="0" err="1"/>
              <a:t>quién</a:t>
            </a:r>
            <a:r>
              <a:rPr dirty="0"/>
              <a:t> lo </a:t>
            </a:r>
            <a:r>
              <a:rPr dirty="0" err="1"/>
              <a:t>controla</a:t>
            </a:r>
            <a:r>
              <a:rPr dirty="0"/>
              <a:t>?, ¿</a:t>
            </a:r>
            <a:r>
              <a:rPr dirty="0" err="1"/>
              <a:t>cuánto</a:t>
            </a:r>
            <a:r>
              <a:rPr dirty="0"/>
              <a:t> cuesta?» </a:t>
            </a:r>
            <a:r>
              <a:rPr dirty="0" err="1"/>
              <a:t>Estas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 son el </a:t>
            </a:r>
            <a:r>
              <a:rPr dirty="0" err="1"/>
              <a:t>hilo</a:t>
            </a:r>
            <a:r>
              <a:rPr dirty="0"/>
              <a:t> de </a:t>
            </a:r>
            <a:r>
              <a:rPr dirty="0" err="1"/>
              <a:t>toda</a:t>
            </a:r>
            <a:r>
              <a:rPr dirty="0"/>
              <a:t> la </a:t>
            </a:r>
            <a:r>
              <a:rPr dirty="0" err="1"/>
              <a:t>sesión</a:t>
            </a:r>
            <a:r>
              <a:rPr dirty="0"/>
              <a:t>. </a:t>
            </a:r>
            <a:r>
              <a:rPr dirty="0" err="1"/>
              <a:t>Motivos</a:t>
            </a:r>
            <a:r>
              <a:rPr dirty="0"/>
              <a:t> de </a:t>
            </a:r>
            <a:r>
              <a:rPr dirty="0" err="1"/>
              <a:t>cancelación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Gartner: </a:t>
            </a:r>
            <a:r>
              <a:rPr dirty="0" err="1"/>
              <a:t>costes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disparan</a:t>
            </a:r>
            <a:r>
              <a:rPr dirty="0"/>
              <a:t>, valor poco claro, </a:t>
            </a:r>
            <a:r>
              <a:rPr dirty="0" err="1"/>
              <a:t>riesgo</a:t>
            </a:r>
            <a:r>
              <a:rPr dirty="0"/>
              <a:t> sin </a:t>
            </a:r>
            <a:r>
              <a:rPr dirty="0" err="1"/>
              <a:t>controlar</a:t>
            </a:r>
            <a:r>
              <a:rPr dirty="0"/>
              <a:t>. Fuentes: Conning, AI in Insurance 2025 (90 % </a:t>
            </a:r>
            <a:r>
              <a:rPr dirty="0" err="1"/>
              <a:t>evaluando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; el 22 %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, </a:t>
            </a:r>
            <a:r>
              <a:rPr dirty="0" err="1"/>
              <a:t>citado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Outcome Catalyst); The Insurer, </a:t>
            </a:r>
            <a:r>
              <a:rPr dirty="0" err="1"/>
              <a:t>encuesta</a:t>
            </a:r>
            <a:r>
              <a:rPr dirty="0"/>
              <a:t> de IA Capital 2026 (4 %; </a:t>
            </a:r>
            <a:r>
              <a:rPr dirty="0" err="1"/>
              <a:t>artículo</a:t>
            </a:r>
            <a:r>
              <a:rPr dirty="0"/>
              <a:t> de </a:t>
            </a:r>
            <a:r>
              <a:rPr dirty="0" err="1"/>
              <a:t>pago</a:t>
            </a:r>
            <a:r>
              <a:rPr dirty="0"/>
              <a:t>, </a:t>
            </a:r>
            <a:r>
              <a:rPr dirty="0" err="1"/>
              <a:t>cifra</a:t>
            </a:r>
            <a:r>
              <a:rPr dirty="0"/>
              <a:t> no </a:t>
            </a:r>
            <a:r>
              <a:rPr dirty="0" err="1"/>
              <a:t>verificada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fuente</a:t>
            </a:r>
            <a:r>
              <a:rPr dirty="0"/>
              <a:t> original); Gartner, nota de </a:t>
            </a:r>
            <a:r>
              <a:rPr dirty="0" err="1"/>
              <a:t>prensa</a:t>
            </a:r>
            <a:r>
              <a:rPr dirty="0"/>
              <a:t> del 25/06/2025 (40 %).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(6-9 min) «Un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firma</a:t>
            </a:r>
            <a:r>
              <a:rPr dirty="0"/>
              <a:t> sin </a:t>
            </a:r>
            <a:r>
              <a:rPr dirty="0" err="1"/>
              <a:t>mirar</a:t>
            </a:r>
            <a:r>
              <a:rPr dirty="0"/>
              <a:t> no </a:t>
            </a:r>
            <a:r>
              <a:rPr dirty="0" err="1"/>
              <a:t>cuenta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supervisión</a:t>
            </a:r>
            <a:r>
              <a:rPr dirty="0"/>
              <a:t>: lo </a:t>
            </a:r>
            <a:r>
              <a:rPr dirty="0" err="1"/>
              <a:t>dijo</a:t>
            </a:r>
            <a:r>
              <a:rPr dirty="0"/>
              <a:t> el TJUE. Y el </a:t>
            </a:r>
            <a:r>
              <a:rPr dirty="0" err="1"/>
              <a:t>aplazamiento</a:t>
            </a:r>
            <a:r>
              <a:rPr dirty="0"/>
              <a:t> no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excusa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construya</a:t>
            </a:r>
            <a:r>
              <a:rPr dirty="0"/>
              <a:t> sin </a:t>
            </a:r>
            <a:r>
              <a:rPr dirty="0" err="1"/>
              <a:t>gobierno</a:t>
            </a:r>
            <a:r>
              <a:rPr dirty="0"/>
              <a:t> </a:t>
            </a:r>
            <a:r>
              <a:rPr dirty="0" err="1"/>
              <a:t>ahora</a:t>
            </a:r>
            <a:r>
              <a:rPr dirty="0"/>
              <a:t> lo </a:t>
            </a:r>
            <a:r>
              <a:rPr dirty="0" err="1"/>
              <a:t>rehará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2027.» Cuidado: el </a:t>
            </a:r>
            <a:r>
              <a:rPr dirty="0" err="1"/>
              <a:t>triaje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Anexo III (solo la </a:t>
            </a:r>
            <a:r>
              <a:rPr dirty="0" err="1"/>
              <a:t>tarificación</a:t>
            </a:r>
            <a:r>
              <a:rPr dirty="0"/>
              <a:t> y </a:t>
            </a:r>
            <a:r>
              <a:rPr dirty="0" err="1"/>
              <a:t>evaluación</a:t>
            </a:r>
            <a:r>
              <a:rPr dirty="0"/>
              <a:t> de </a:t>
            </a:r>
            <a:r>
              <a:rPr dirty="0" err="1"/>
              <a:t>riesgo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Vida y Salud). No </a:t>
            </a:r>
            <a:r>
              <a:rPr dirty="0" err="1"/>
              <a:t>decir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el AI Act </a:t>
            </a:r>
            <a:r>
              <a:rPr dirty="0" err="1"/>
              <a:t>obliga</a:t>
            </a:r>
            <a:r>
              <a:rPr dirty="0"/>
              <a:t> hoy a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esto</a:t>
            </a:r>
            <a:r>
              <a:rPr dirty="0"/>
              <a:t>; la </a:t>
            </a:r>
            <a:r>
              <a:rPr dirty="0" err="1"/>
              <a:t>obligación</a:t>
            </a:r>
            <a:r>
              <a:rPr dirty="0"/>
              <a:t> de hoy </a:t>
            </a:r>
            <a:r>
              <a:rPr dirty="0" err="1"/>
              <a:t>viene</a:t>
            </a:r>
            <a:r>
              <a:rPr dirty="0"/>
              <a:t> del RGPD, DORA y EIOPA.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(9-10 min) No </a:t>
            </a:r>
            <a:r>
              <a:rPr dirty="0" err="1"/>
              <a:t>decir</a:t>
            </a:r>
            <a:r>
              <a:rPr dirty="0"/>
              <a:t> «no </a:t>
            </a:r>
            <a:r>
              <a:rPr dirty="0" err="1"/>
              <a:t>existe</a:t>
            </a:r>
            <a:r>
              <a:rPr dirty="0"/>
              <a:t> nada». </a:t>
            </a:r>
            <a:r>
              <a:rPr dirty="0" err="1"/>
              <a:t>Existen</a:t>
            </a:r>
            <a:r>
              <a:rPr dirty="0"/>
              <a:t> </a:t>
            </a:r>
            <a:r>
              <a:rPr dirty="0" err="1"/>
              <a:t>herramientas</a:t>
            </a:r>
            <a:r>
              <a:rPr dirty="0"/>
              <a:t>;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falta</a:t>
            </a:r>
            <a:r>
              <a:rPr dirty="0"/>
              <a:t> es </a:t>
            </a:r>
            <a:r>
              <a:rPr dirty="0" err="1"/>
              <a:t>integrarlas</a:t>
            </a:r>
            <a:r>
              <a:rPr dirty="0"/>
              <a:t> con el </a:t>
            </a:r>
            <a:r>
              <a:rPr dirty="0" err="1"/>
              <a:t>negocio</a:t>
            </a:r>
            <a:r>
              <a:rPr dirty="0"/>
              <a:t> del </a:t>
            </a:r>
            <a:r>
              <a:rPr dirty="0" err="1"/>
              <a:t>cliente</a:t>
            </a:r>
            <a:r>
              <a:rPr dirty="0"/>
              <a:t>. Si </a:t>
            </a:r>
            <a:r>
              <a:rPr dirty="0" err="1"/>
              <a:t>alguien</a:t>
            </a:r>
            <a:r>
              <a:rPr dirty="0"/>
              <a:t> </a:t>
            </a:r>
            <a:r>
              <a:rPr dirty="0" err="1"/>
              <a:t>pregunta</a:t>
            </a:r>
            <a:r>
              <a:rPr dirty="0"/>
              <a:t> «¿</a:t>
            </a:r>
            <a:r>
              <a:rPr dirty="0" err="1"/>
              <a:t>cuánto</a:t>
            </a:r>
            <a:r>
              <a:rPr dirty="0"/>
              <a:t> cuesta?», la </a:t>
            </a:r>
            <a:r>
              <a:rPr dirty="0" err="1"/>
              <a:t>respuesta</a:t>
            </a:r>
            <a:r>
              <a:rPr dirty="0"/>
              <a:t> es </a:t>
            </a:r>
            <a:r>
              <a:rPr dirty="0" err="1"/>
              <a:t>que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forma de </a:t>
            </a:r>
            <a:r>
              <a:rPr dirty="0" err="1"/>
              <a:t>implementar</a:t>
            </a:r>
            <a:r>
              <a:rPr dirty="0"/>
              <a:t>, no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licencia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(10-12 min) «No es </a:t>
            </a:r>
            <a:r>
              <a:rPr dirty="0" err="1"/>
              <a:t>una</a:t>
            </a:r>
            <a:r>
              <a:rPr dirty="0"/>
              <a:t> IA </a:t>
            </a:r>
            <a:r>
              <a:rPr dirty="0" err="1"/>
              <a:t>que</a:t>
            </a:r>
            <a:r>
              <a:rPr dirty="0"/>
              <a:t> lo </a:t>
            </a:r>
            <a:r>
              <a:rPr dirty="0" err="1"/>
              <a:t>hace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. Son cuatro </a:t>
            </a:r>
            <a:r>
              <a:rPr dirty="0" err="1"/>
              <a:t>especialistas</a:t>
            </a:r>
            <a:r>
              <a:rPr dirty="0"/>
              <a:t>, y </a:t>
            </a:r>
            <a:r>
              <a:rPr dirty="0" err="1"/>
              <a:t>cada</a:t>
            </a:r>
            <a:r>
              <a:rPr dirty="0"/>
              <a:t> uno </a:t>
            </a:r>
            <a:r>
              <a:rPr dirty="0" err="1"/>
              <a:t>tiene</a:t>
            </a:r>
            <a:r>
              <a:rPr dirty="0"/>
              <a:t> sus </a:t>
            </a:r>
            <a:r>
              <a:rPr dirty="0" err="1"/>
              <a:t>propios</a:t>
            </a:r>
            <a:r>
              <a:rPr dirty="0"/>
              <a:t> </a:t>
            </a:r>
            <a:r>
              <a:rPr dirty="0" err="1"/>
              <a:t>límites</a:t>
            </a:r>
            <a:r>
              <a:rPr dirty="0"/>
              <a:t>.» Por </a:t>
            </a:r>
            <a:r>
              <a:rPr dirty="0" err="1"/>
              <a:t>debajo</a:t>
            </a:r>
            <a:r>
              <a:rPr dirty="0"/>
              <a:t>, la </a:t>
            </a:r>
            <a:r>
              <a:rPr dirty="0" err="1"/>
              <a:t>capa</a:t>
            </a:r>
            <a:r>
              <a:rPr dirty="0"/>
              <a:t> de </a:t>
            </a:r>
            <a:r>
              <a:rPr dirty="0" err="1"/>
              <a:t>gobierno</a:t>
            </a:r>
            <a:r>
              <a:rPr dirty="0"/>
              <a:t>: </a:t>
            </a:r>
            <a:r>
              <a:rPr dirty="0" err="1"/>
              <a:t>trazas</a:t>
            </a:r>
            <a:r>
              <a:rPr dirty="0"/>
              <a:t>, replay, </a:t>
            </a:r>
            <a:r>
              <a:rPr dirty="0" err="1"/>
              <a:t>autonomía</a:t>
            </a:r>
            <a:r>
              <a:rPr dirty="0"/>
              <a:t>, guardrails, FinOps e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Al final </a:t>
            </a:r>
            <a:r>
              <a:rPr dirty="0" err="1"/>
              <a:t>siempre</a:t>
            </a:r>
            <a:r>
              <a:rPr dirty="0"/>
              <a:t> hay un </a:t>
            </a:r>
            <a:r>
              <a:rPr dirty="0" err="1"/>
              <a:t>técnico</a:t>
            </a:r>
            <a:r>
              <a:rPr dirty="0"/>
              <a:t> de </a:t>
            </a:r>
            <a:r>
              <a:rPr dirty="0" err="1"/>
              <a:t>seguros</a:t>
            </a:r>
            <a:r>
              <a:rPr dirty="0"/>
              <a:t>: la IA </a:t>
            </a:r>
            <a:r>
              <a:rPr dirty="0" err="1"/>
              <a:t>prepara</a:t>
            </a:r>
            <a:r>
              <a:rPr dirty="0"/>
              <a:t>, la persona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(12-14 min) «Todo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decir</a:t>
            </a:r>
            <a:r>
              <a:rPr dirty="0"/>
              <a:t> </a:t>
            </a:r>
            <a:r>
              <a:rPr dirty="0" err="1"/>
              <a:t>ahora</a:t>
            </a:r>
            <a:r>
              <a:rPr dirty="0"/>
              <a:t> lo </a:t>
            </a:r>
            <a:r>
              <a:rPr dirty="0" err="1"/>
              <a:t>vais</a:t>
            </a:r>
            <a:r>
              <a:rPr dirty="0"/>
              <a:t> a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funcionando</a:t>
            </a:r>
            <a:r>
              <a:rPr dirty="0"/>
              <a:t>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(14-15 min) «Primero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</a:t>
            </a:r>
            <a:r>
              <a:rPr dirty="0" err="1"/>
              <a:t>tramitador</a:t>
            </a:r>
            <a:r>
              <a:rPr dirty="0"/>
              <a:t>. </a:t>
            </a:r>
            <a:r>
              <a:rPr dirty="0" err="1"/>
              <a:t>Después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auditor y el CFO.» Cambiar a la demo con el motor </a:t>
            </a:r>
            <a:r>
              <a:rPr dirty="0" err="1"/>
              <a:t>en</a:t>
            </a:r>
            <a:r>
              <a:rPr dirty="0"/>
              <a:t> «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guardados</a:t>
            </a:r>
            <a:r>
              <a:rPr dirty="0"/>
              <a:t>» y el </a:t>
            </a:r>
            <a:r>
              <a:rPr dirty="0" err="1"/>
              <a:t>Paquete</a:t>
            </a:r>
            <a:r>
              <a:rPr dirty="0"/>
              <a:t> A </a:t>
            </a:r>
            <a:r>
              <a:rPr dirty="0" err="1"/>
              <a:t>seleccionado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7709211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599" y="3099759"/>
            <a:ext cx="8653861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0327276-C6D2-51DD-7433-FF4EC440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3599" y="5167076"/>
            <a:ext cx="2687411" cy="249847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>
                <a:solidFill>
                  <a:schemeClr val="bg1"/>
                </a:solidFill>
                <a:latin typeface="+mn-lt"/>
                <a:ea typeface="Roboto Slab" pitchFamily="2" charset="0"/>
              </a:defRPr>
            </a:lvl1pPr>
          </a:lstStyle>
          <a:p>
            <a:fld id="{E453CB44-D933-4174-8CBB-ADEE1E6C3E6E}" type="datetime6">
              <a:rPr lang="en-GB" smtClean="0"/>
              <a:pPr/>
              <a:t>October 26</a:t>
            </a:fld>
            <a:endParaRPr lang="en-GB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BB148E28-3B35-1678-D418-E6DCE4AAAE9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2596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362612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358775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lnSpc>
                <a:spcPct val="150000"/>
              </a:lnSpc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56C88E4-8019-3498-683D-06721620533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67252227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98764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28127014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60987F2-4C3A-6B51-537F-52E468C1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2DC93F5-2011-58D4-1782-38651928FE4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31635287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D637E3-F841-2D06-46A2-7A75CFC0128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4732902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87BA298-B3A7-D63A-01E6-46BA66A3778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26389306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0D3F-35DD-669C-4E04-5FD5144AD81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35328736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6AAC242-D1ED-AF35-63F5-AC46C90D8E3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7969309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177480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25484236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6527526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86C2A2F-9EB4-7D4F-CF5E-A747856D4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33F21E3-CAAA-8747-683A-A96583D3DC51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755608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7FA9D4-BEB0-A09E-4298-A0EE819782E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8BE0C6E-1FA3-7528-72A5-BF3F9232E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9E59AD4-27DA-9B84-925A-539F21F0B4C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5022188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3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1708C-B351-2798-CE06-F68D495AF0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14BF72-824A-AB1D-B89B-5C07C016946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29B4E89-017D-EA89-D384-CAA21A280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39975AA-365E-F0F7-B6A4-C86F87AF4A8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1300736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4987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9C3E0-83EB-6264-8CDF-22AAF8CAB992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D6499A-F9B2-E514-8A32-800319EBC15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114612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CC49CE-6C20-5F08-A00E-E9DA79B4180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FE8D-50F2-1958-99B8-B3A36E1F5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643B595-F912-FD25-DA9D-463645B2EF8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60100668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98589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3281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EE180D-E692-5018-47EC-92A6AE18106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23846-F94B-039B-852B-86D94A896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E3C0033-79E8-320F-3EF9-E64D9370CDF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3264562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858B7D-70A1-EE68-CD20-71B9B4CA7F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83962-E666-AEE5-6202-2B9382F01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D73D27C-AD05-ECB0-DD9B-AE1C2484773E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98089267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47126E-216D-C391-208D-BB929A71ECB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5BD8753-EE4F-7BE4-C865-CF6E95835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42F1400-6EE5-0A84-DBBA-24A941E3F24D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9534481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A42FA-125C-22CD-4278-0A67C8934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59A6DC0-D8D5-3EC9-7DBC-E552715DB7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391155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1799FC-469F-580B-48DA-9BC46B48A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842039-D254-86F5-6E93-608F88B6D0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53043711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F7C06E8A-CBF1-05D3-A6EB-A7249CFCE25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9939203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712074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9110389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56ABECD5-69C2-01F6-AA6E-D98E25B0FE6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56B11-2672-9B16-AFAE-2027CDA4F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51362F1-4717-4465-7E09-063D89E8059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99395048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0">
            <a:extLst>
              <a:ext uri="{FF2B5EF4-FFF2-40B4-BE49-F238E27FC236}">
                <a16:creationId xmlns:a16="http://schemas.microsoft.com/office/drawing/2014/main" id="{0EF485AE-CDCF-333F-BBE8-EF458BC8691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F14C0AB-8FCF-2FCA-039B-DE0760D46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F263407-8A16-1A30-C969-918D44E0F7B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62083419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0">
            <a:extLst>
              <a:ext uri="{FF2B5EF4-FFF2-40B4-BE49-F238E27FC236}">
                <a16:creationId xmlns:a16="http://schemas.microsoft.com/office/drawing/2014/main" id="{6F8BAC4A-9084-01CA-B106-3AB00C0DFD3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D57B3A-1189-DEAE-9184-DD769F03C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28850C5-5D11-343B-27A2-07C114CCF2E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5211008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92D475C8-E86F-9AAF-1527-5F7C298407F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3324430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6A574E42-9543-D779-8EB7-2C538C77731B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CCF1B8-EB8B-F36D-1158-90FE4F528D9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CAE4310-0013-FF05-48A7-F65D1DD9E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A1621DE-885A-25FD-387C-E6916A70151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997497794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21E75C-54D2-1EC4-58CA-F69BEE5292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63187526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73886859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340967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B58DC8-5901-7B11-5F4B-21F3E1EE91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5965D87-A8FC-34AE-DC28-6CC329F49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4FEC87-C30A-FD9E-CBE3-D7ED86D6D84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7663873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DB37B4F-A21E-7D41-08AF-8E0768389EA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0990115-D860-EEA0-F01D-766963A53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817ED54-318F-5696-DEBF-15214F78232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76181384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6530C6C-8E37-041B-074C-63EDA20F18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A373795-3254-679C-59E2-782654991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9B85E77-736B-2725-053E-8F07217C4BD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442113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9EBBF-FF78-466E-2EE5-04BB33BC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A00C6F3-88A1-CAF2-BE79-B535F3ED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5339B7A-057A-1605-D614-26906536782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022041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A455A05-7234-2683-78DA-B2B18F90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6496F57-92C5-2726-5037-7C5661E2FF9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41808678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4482687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3599" y="3099759"/>
            <a:ext cx="4482687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To edit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9047-3BA6-1228-99FC-3B406BF2F0D9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61626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10">
            <a:extLst>
              <a:ext uri="{FF2B5EF4-FFF2-40B4-BE49-F238E27FC236}">
                <a16:creationId xmlns:a16="http://schemas.microsoft.com/office/drawing/2014/main" id="{19C2A041-55EE-50E0-6893-655ACB93D4D5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D897F45-4856-0508-472A-A886A70DD882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AE017B-85BA-45CF-9E93-A6B67CF24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7186697" cy="648000"/>
          </a:xfrm>
        </p:spPr>
        <p:txBody>
          <a:bodyPr anchor="ctr" anchorCtr="0"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1C17C7-87A8-4096-AA87-B54E1020D4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600" y="3166877"/>
            <a:ext cx="3095625" cy="1041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500" b="0">
                <a:solidFill>
                  <a:schemeClr val="bg1"/>
                </a:solidFill>
                <a:latin typeface="+mn-lt"/>
              </a:defRPr>
            </a:lvl3pPr>
            <a:lvl4pPr>
              <a:spcAft>
                <a:spcPts val="0"/>
              </a:spcAft>
              <a:defRPr sz="1500"/>
            </a:lvl4pPr>
            <a:lvl5pPr>
              <a:spcAft>
                <a:spcPts val="0"/>
              </a:spcAft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9616B-69D4-FF49-A2CC-47F9D9FE5395}"/>
              </a:ext>
            </a:extLst>
          </p:cNvPr>
          <p:cNvSpPr txBox="1"/>
          <p:nvPr userDrawn="1"/>
        </p:nvSpPr>
        <p:spPr>
          <a:xfrm>
            <a:off x="633600" y="6213687"/>
            <a:ext cx="1569552" cy="184666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0" rIns="72000" bIns="0" rtlCol="0" anchor="ctr" anchorCtr="0">
            <a:spAutoFit/>
          </a:bodyPr>
          <a:lstStyle/>
          <a:p>
            <a:pPr algn="l"/>
            <a:r>
              <a:rPr lang="en-US" sz="1200" b="0" i="0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rPr>
              <a:t>www.logicalis.com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86C905-64BE-4506-8C3E-41AF052ACC2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47176111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Black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371707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theme" Target="../theme/theme1.xml"/><Relationship Id="rId4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D339-BB19-4043-A166-4FFEA6AB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51202" cy="432000"/>
          </a:xfrm>
          <a:prstGeom prst="rect">
            <a:avLst/>
          </a:prstGeom>
          <a:solidFill>
            <a:srgbClr val="FF1414"/>
          </a:solidFill>
        </p:spPr>
        <p:txBody>
          <a:bodyPr vert="horz" wrap="square" lIns="72000" tIns="36000" rIns="72000" bIns="3600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FAE61-913B-4243-9F6F-41F836C7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417" y="1308944"/>
            <a:ext cx="11225167" cy="360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0"/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EED1DBC-3E6C-A386-4841-19F228B6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04ACAE-EE43-8A60-F34C-23DD4D038152}"/>
              </a:ext>
            </a:extLst>
          </p:cNvPr>
          <p:cNvPicPr/>
          <p:nvPr userDrawn="1"/>
        </p:nvPicPr>
        <p:blipFill>
          <a:blip r:embed="rId45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DAE6ED0-2B14-2B0D-C9F0-EB643D210B4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8636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9" r:id="rId2"/>
    <p:sldLayoutId id="2147483730" r:id="rId3"/>
    <p:sldLayoutId id="2147483765" r:id="rId4"/>
    <p:sldLayoutId id="2147483731" r:id="rId5"/>
    <p:sldLayoutId id="2147483732" r:id="rId6"/>
    <p:sldLayoutId id="2147483733" r:id="rId7"/>
    <p:sldLayoutId id="2147483697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677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04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  <p:sldLayoutId id="2147483726" r:id="rId32"/>
    <p:sldLayoutId id="2147483756" r:id="rId33"/>
    <p:sldLayoutId id="2147483757" r:id="rId34"/>
    <p:sldLayoutId id="2147483758" r:id="rId35"/>
    <p:sldLayoutId id="2147483759" r:id="rId36"/>
    <p:sldLayoutId id="2147483760" r:id="rId37"/>
    <p:sldLayoutId id="2147483761" r:id="rId38"/>
    <p:sldLayoutId id="2147483762" r:id="rId39"/>
    <p:sldLayoutId id="2147483684" r:id="rId40"/>
    <p:sldLayoutId id="2147483764" r:id="rId41"/>
    <p:sldLayoutId id="2147483727" r:id="rId42"/>
    <p:sldLayoutId id="2147483672" r:id="rId4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bg1"/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90000"/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Roboto Slab" pitchFamily="2" charset="0"/>
          <a:ea typeface="Roboto Slab" pitchFamily="2" charset="0"/>
          <a:cs typeface="Times New Roman" panose="02020603050405020304" pitchFamily="18" charset="0"/>
        </a:defRPr>
      </a:lvl2pPr>
      <a:lvl3pPr marL="25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3pPr>
      <a:lvl4pPr marL="540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4pPr>
      <a:lvl5pPr marL="79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90000"/>
        <a:buFont typeface="Monaco" pitchFamily="2" charset="77"/>
        <a:buChar char="⎻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398">
          <p15:clr>
            <a:srgbClr val="F26B43"/>
          </p15:clr>
        </p15:guide>
        <p15:guide id="4" pos="7197">
          <p15:clr>
            <a:srgbClr val="F26B43"/>
          </p15:clr>
        </p15:guide>
        <p15:guide id="5" orient="horz" pos="1132">
          <p15:clr>
            <a:srgbClr val="F26B43"/>
          </p15:clr>
        </p15:guide>
        <p15:guide id="6" orient="horz" pos="3401">
          <p15:clr>
            <a:srgbClr val="F26B43"/>
          </p15:clr>
        </p15:guide>
        <p15:guide id="7" orient="horz" pos="489">
          <p15:clr>
            <a:srgbClr val="F26B43"/>
          </p15:clr>
        </p15:guide>
        <p15:guide id="8" orient="horz" pos="125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svg"/><Relationship Id="rId4" Type="http://schemas.openxmlformats.org/officeDocument/2006/relationships/image" Target="../media/image14.svg"/><Relationship Id="rId5" Type="http://schemas.openxmlformats.org/officeDocument/2006/relationships/image" Target="../media/image15.svg"/><Relationship Id="rId6" Type="http://schemas.openxmlformats.org/officeDocument/2006/relationships/image" Target="../media/image16.svg"/><Relationship Id="rId7" Type="http://schemas.openxmlformats.org/officeDocument/2006/relationships/image" Target="../media/image17.svg"/><Relationship Id="rId8" Type="http://schemas.openxmlformats.org/officeDocument/2006/relationships/hyperlink" Target="https://www.unespa.es/notasdeprensa/siniestros-automovil-datos-2024/" TargetMode="External"/><Relationship Id="rId9" Type="http://schemas.openxmlformats.org/officeDocument/2006/relationships/hyperlink" Target="https://www.boe.es/buscar/act.php?id=BOE-A-1980-22501#a16" TargetMode="External"/><Relationship Id="rId10" Type="http://schemas.openxmlformats.org/officeDocument/2006/relationships/hyperlink" Target="https://www.iii.org/table-archive/23229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svg"/><Relationship Id="rId4" Type="http://schemas.openxmlformats.org/officeDocument/2006/relationships/image" Target="../media/image22.svg"/><Relationship Id="rId5" Type="http://schemas.openxmlformats.org/officeDocument/2006/relationships/image" Target="../media/image23.svg"/><Relationship Id="rId6" Type="http://schemas.openxmlformats.org/officeDocument/2006/relationships/image" Target="../media/image24.sv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7.svg"/><Relationship Id="rId10" Type="http://schemas.openxmlformats.org/officeDocument/2006/relationships/hyperlink" Target="https://conning.com/about-us/news/ir-pr---ai-survey-2025" TargetMode="External"/><Relationship Id="rId11" Type="http://schemas.openxmlformats.org/officeDocument/2006/relationships/hyperlink" Target="https://www.outcomecatalyst.com/blog/insurance-ai-data-trends-2026" TargetMode="External"/><Relationship Id="rId12" Type="http://schemas.openxmlformats.org/officeDocument/2006/relationships/hyperlink" Target="https://www.theinsurer.com/ti/news/openai-dominates-ai-stacks-as-insurance-industry-moves-from-pilot-to-production-2026-05-06/" TargetMode="External"/><Relationship Id="rId13" Type="http://schemas.openxmlformats.org/officeDocument/2006/relationships/hyperlink" Target="https://www.gartner.com/en/newsroom/press-releases/2025-06-25-gartner-predicts-over-40-percent-of-agentic-ai-projects-will-be-canceled-by-end-of-202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9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Relationship Id="rId8" Type="http://schemas.openxmlformats.org/officeDocument/2006/relationships/image" Target="../media/image34.svg"/><Relationship Id="rId9" Type="http://schemas.openxmlformats.org/officeDocument/2006/relationships/image" Target="../media/image35.svg"/><Relationship Id="rId10" Type="http://schemas.openxmlformats.org/officeDocument/2006/relationships/image" Target="../media/image36.svg"/><Relationship Id="rId11" Type="http://schemas.openxmlformats.org/officeDocument/2006/relationships/image" Target="../media/image37.svg"/><Relationship Id="rId12" Type="http://schemas.openxmlformats.org/officeDocument/2006/relationships/hyperlink" Target="https://eur-lex.europa.eu/eli/reg/2016/679/oj" TargetMode="External"/><Relationship Id="rId13" Type="http://schemas.openxmlformats.org/officeDocument/2006/relationships/hyperlink" Target="https://curia.europa.eu/juris/liste.jsf?num=C-634/21" TargetMode="External"/><Relationship Id="rId14" Type="http://schemas.openxmlformats.org/officeDocument/2006/relationships/hyperlink" Target="https://curia.europa.eu/juris/liste.jsf?num=C-203/22" TargetMode="External"/><Relationship Id="rId15" Type="http://schemas.openxmlformats.org/officeDocument/2006/relationships/hyperlink" Target="https://eur-lex.europa.eu/eli/reg/2022/2554/oj" TargetMode="External"/><Relationship Id="rId16" Type="http://schemas.openxmlformats.org/officeDocument/2006/relationships/hyperlink" Target="https://www.eiopa.europa.eu/eiopa-publishes-opinion-ai-governance-and-risk-management-2025-08-06_en" TargetMode="External"/><Relationship Id="rId17" Type="http://schemas.openxmlformats.org/officeDocument/2006/relationships/hyperlink" Target="https://eur-lex.europa.eu/eli/reg/2024/1689/oj" TargetMode="External"/><Relationship Id="rId18" Type="http://schemas.openxmlformats.org/officeDocument/2006/relationships/hyperlink" Target="https://www.gibsondunn.com/eu-ai-act-omnibus-agreement-postponed-high-risk-deadlines-and-other-key-changes/" TargetMode="External"/><Relationship Id="rId19" Type="http://schemas.openxmlformats.org/officeDocument/2006/relationships/hyperlink" Target="https://www.economistjurist.es/zbloque-1/ley-organica-de-ia-espana-aterriza-el-ai-act-con-aesia-sanciones-y-sandboxe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9.svg"/><Relationship Id="rId4" Type="http://schemas.openxmlformats.org/officeDocument/2006/relationships/image" Target="../media/image40.svg"/><Relationship Id="rId5" Type="http://schemas.openxmlformats.org/officeDocument/2006/relationships/image" Target="../media/image41.svg"/><Relationship Id="rId6" Type="http://schemas.openxmlformats.org/officeDocument/2006/relationships/image" Target="../media/image42.svg"/><Relationship Id="rId7" Type="http://schemas.openxmlformats.org/officeDocument/2006/relationships/image" Target="../media/image43.svg"/><Relationship Id="rId8" Type="http://schemas.openxmlformats.org/officeDocument/2006/relationships/image" Target="../media/image44.svg"/><Relationship Id="rId9" Type="http://schemas.openxmlformats.org/officeDocument/2006/relationships/image" Target="../media/image45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6.svg"/><Relationship Id="rId4" Type="http://schemas.openxmlformats.org/officeDocument/2006/relationships/image" Target="../media/image47.svg"/><Relationship Id="rId5" Type="http://schemas.openxmlformats.org/officeDocument/2006/relationships/image" Target="../media/image48.svg"/><Relationship Id="rId6" Type="http://schemas.openxmlformats.org/officeDocument/2006/relationships/image" Target="../media/image49.svg"/><Relationship Id="rId7" Type="http://schemas.openxmlformats.org/officeDocument/2006/relationships/image" Target="../media/image50.svg"/><Relationship Id="rId8" Type="http://schemas.openxmlformats.org/officeDocument/2006/relationships/image" Target="../media/image51.svg"/><Relationship Id="rId9" Type="http://schemas.openxmlformats.org/officeDocument/2006/relationships/image" Target="../media/image52.svg"/><Relationship Id="rId10" Type="http://schemas.openxmlformats.org/officeDocument/2006/relationships/image" Target="../media/image53.svg"/><Relationship Id="rId11" Type="http://schemas.openxmlformats.org/officeDocument/2006/relationships/image" Target="../media/image54.svg"/><Relationship Id="rId12" Type="http://schemas.openxmlformats.org/officeDocument/2006/relationships/image" Target="../media/image55.svg"/><Relationship Id="rId13" Type="http://schemas.openxmlformats.org/officeDocument/2006/relationships/image" Target="../media/image56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7.svg"/><Relationship Id="rId4" Type="http://schemas.openxmlformats.org/officeDocument/2006/relationships/image" Target="../media/image58.svg"/><Relationship Id="rId5" Type="http://schemas.openxmlformats.org/officeDocument/2006/relationships/image" Target="../media/image59.svg"/><Relationship Id="rId6" Type="http://schemas.openxmlformats.org/officeDocument/2006/relationships/image" Target="../media/image60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1.svg"/><Relationship Id="rId4" Type="http://schemas.openxmlformats.org/officeDocument/2006/relationships/image" Target="../media/image62.svg"/><Relationship Id="rId5" Type="http://schemas.openxmlformats.org/officeDocument/2006/relationships/image" Target="../media/image63.svg"/><Relationship Id="rId6" Type="http://schemas.openxmlformats.org/officeDocument/2006/relationships/image" Target="../media/image64.svg"/><Relationship Id="rId7" Type="http://schemas.openxmlformats.org/officeDocument/2006/relationships/image" Target="../media/image65.svg"/><Relationship Id="rId8" Type="http://schemas.openxmlformats.org/officeDocument/2006/relationships/image" Target="../media/image66.svg"/><Relationship Id="rId9" Type="http://schemas.openxmlformats.org/officeDocument/2006/relationships/image" Target="../media/image6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6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9.png"/><Relationship Id="rId4" Type="http://schemas.openxmlformats.org/officeDocument/2006/relationships/image" Target="../media/image70.svg"/><Relationship Id="rId5" Type="http://schemas.openxmlformats.org/officeDocument/2006/relationships/image" Target="../media/image71.png"/><Relationship Id="rId6" Type="http://schemas.openxmlformats.org/officeDocument/2006/relationships/image" Target="../media/image33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921E48-B7DB-6CFD-42FD-BACF049CF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286000"/>
            <a:ext cx="4837938" cy="688848"/>
          </a:xfrm>
        </p:spPr>
        <p:txBody>
          <a:bodyPr wrap="none" anchor="ctr">
            <a:noAutofit/>
          </a:bodyPr>
          <a:lstStyle/>
          <a:p>
            <a:r>
              <a:rPr lang="en-PT" sz="4200"/>
              <a:t>FNOL con agentes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066288"/>
            <a:ext cx="3202178" cy="688848"/>
          </a:xfrm>
        </p:spPr>
        <p:txBody>
          <a:bodyPr wrap="none" anchor="ctr">
            <a:noAutofit/>
          </a:bodyPr>
          <a:lstStyle/>
          <a:p>
            <a:r>
              <a:rPr lang="pt-PT" sz="4200" err="1"/>
              <a:t>gobernados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4D23A1D-92A7-B8F8-A6A5-CA7C51F45A8F}"/>
              </a:ext>
            </a:extLst>
          </p:cNvPr>
          <p:cNvSpPr txBox="1">
            <a:spLocks/>
          </p:cNvSpPr>
          <p:nvPr/>
        </p:nvSpPr>
        <p:spPr>
          <a:xfrm>
            <a:off x="630936" y="4797552"/>
            <a:ext cx="4572000" cy="356616"/>
          </a:xfrm>
          <a:prstGeom prst="rect">
            <a:avLst/>
          </a:prstGeom>
          <a:noFill/>
        </p:spPr>
        <p:txBody>
          <a:bodyPr vert="horz" wrap="square" lIns="72000" tIns="36000" rIns="72000" bIns="360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PT" sz="1200">
                <a:latin typeface="Montserrat" pitchFamily="2" charset="77"/>
              </a:rPr>
              <a:t>Octubre 2026</a:t>
            </a:r>
          </a:p>
        </p:txBody>
      </p:sp>
      <p:pic>
        <p:nvPicPr>
          <p:cNvPr id="7" name="Picture 6" descr="A person with her arms crossed&#10;&#10;Description automatically generated">
            <a:extLst>
              <a:ext uri="{FF2B5EF4-FFF2-40B4-BE49-F238E27FC236}">
                <a16:creationId xmlns:a16="http://schemas.microsoft.com/office/drawing/2014/main" id="{B28B268F-CE6A-5453-5C27-75301FD4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778" y="1346330"/>
            <a:ext cx="8553692" cy="5511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3983736"/>
            <a:ext cx="5303520" cy="6766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dirty="0">
                <a:solidFill>
                  <a:srgbClr val="FFFFFF"/>
                </a:solidFill>
                <a:latin typeface="Montserrat Medium"/>
              </a:rPr>
              <a:t>De la IA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clasifica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a la IA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se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puede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poner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en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producción</a:t>
            </a:r>
            <a:endParaRPr sz="1600" dirty="0">
              <a:solidFill>
                <a:srgbClr val="FFFFFF"/>
              </a:solidFill>
              <a:latin typeface="Montserrat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" y="5181600"/>
            <a:ext cx="2574289" cy="292608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100">
                <a:solidFill>
                  <a:srgbClr val="FFFFFF"/>
                </a:solidFill>
                <a:latin typeface="Montserrat Medium"/>
              </a:rPr>
              <a:t>Presentado por Ignacio Sánchez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45768" cy="429768"/>
          </a:xfrm>
        </p:spPr>
        <p:txBody>
          <a:bodyPr wrap="none"/>
          <a:lstStyle/>
          <a:p>
            <a:r>
              <a:rPr sz="2600"/>
              <a:t>Agenda</a:t>
            </a:r>
          </a:p>
        </p:txBody>
      </p:sp>
      <p:pic>
        <p:nvPicPr>
          <p:cNvPr id="3" name="Picture 2" descr="wave_symbo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303520" cy="2515857"/>
          </a:xfrm>
          <a:prstGeom prst="rect">
            <a:avLst/>
          </a:prstGeom>
        </p:spPr>
      </p:pic>
      <p:sp>
        <p:nvSpPr>
          <p:cNvPr id="4" name="AGENDA_ITEMS"/>
          <p:cNvSpPr txBox="1"/>
          <p:nvPr/>
        </p:nvSpPr>
        <p:spPr>
          <a:xfrm>
            <a:off x="484632" y="1600200"/>
            <a:ext cx="6949440" cy="4572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noAutofit/>
          </a:bodyPr>
          <a:lstStyle/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01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problema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02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marco normativo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03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solución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04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demo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</a:t>
            </a:fld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595118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dirty="0" err="1">
                <a:solidFill>
                  <a:srgbClr val="FFFFFF"/>
                </a:solidFill>
                <a:latin typeface="Montserrat Medium"/>
              </a:rPr>
              <a:t>Millones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de </a:t>
            </a:r>
            <a:r>
              <a:rPr lang="es-ES" sz="1400" dirty="0">
                <a:solidFill>
                  <a:srgbClr val="FFFFFF"/>
                </a:solidFill>
                <a:latin typeface="Montserrat Medium"/>
              </a:rPr>
              <a:t>mensajes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lee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teclea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persona,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IA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no sale del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piloto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851147" cy="429768"/>
          </a:xfrm>
        </p:spPr>
        <p:txBody>
          <a:bodyPr wrap="none"/>
          <a:lstStyle/>
          <a:p>
            <a:r>
              <a:rPr sz="2600"/>
              <a:t>La avalancha de avisos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548640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car-fron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806" y="1644526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~11 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246120"/>
            <a:ext cx="1620506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de Auto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año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España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2840126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tim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25292" y="1644526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76118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1 cada 3 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40126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76118" y="3246120"/>
            <a:ext cx="1837922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ritmo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que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seguro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atiende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un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percance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carretera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72633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131612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messages-squar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6778" y="1644526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7604" y="2514820"/>
            <a:ext cx="1999906" cy="5484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lang="es-ES" sz="3000" b="0" i="0" dirty="0">
                <a:solidFill>
                  <a:srgbClr val="194BFF"/>
                </a:solidFill>
                <a:latin typeface="Roboto Slab"/>
              </a:rPr>
              <a:t>+</a:t>
            </a:r>
            <a:r>
              <a:rPr sz="3000" b="0" i="0" dirty="0">
                <a:solidFill>
                  <a:srgbClr val="194BFF"/>
                </a:solidFill>
                <a:latin typeface="Roboto Slab"/>
              </a:rPr>
              <a:t>5 canales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31612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67604" y="3246120"/>
            <a:ext cx="1913116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email, WhatsApp, chat,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formulario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web y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teléfono</a:t>
            </a:r>
            <a:r>
              <a:rPr lang="es-ES" sz="1200" b="0" i="0" dirty="0">
                <a:solidFill>
                  <a:srgbClr val="595959"/>
                </a:solidFill>
                <a:latin typeface="Montserrat Medium"/>
              </a:rPr>
              <a:t>, …</a:t>
            </a:r>
            <a:endParaRPr sz="1200" b="0" i="0" dirty="0">
              <a:solidFill>
                <a:srgbClr val="595959"/>
              </a:solidFill>
              <a:latin typeface="Montserrat Medium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4764119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423099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alendar-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265" y="1644526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59091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7 días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23099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59090" y="3246120"/>
            <a:ext cx="1987989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plazo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comunicar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(art. 16 LCS)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25055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714585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Icono coin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99751" y="1644526"/>
            <a:ext cx="452628" cy="4526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650577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~10 %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14585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50577" y="3246120"/>
            <a:ext cx="2056785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de la prima de Auto se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va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gestionar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(EE. UU., 2023)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47092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84632" y="4572000"/>
            <a:ext cx="11228832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600" b="1" i="0">
                <a:solidFill>
                  <a:srgbClr val="194BFF"/>
                </a:solidFill>
                <a:latin typeface="Montserrat"/>
              </a:rPr>
              <a:t>Cada aviso hay que leerlo, clasificarlo por ramo, extraer los datos y aplicar las reglas de la póliza.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" y="553212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8"/>
              </a:rPr>
              <a:t>UNESPA, siniestros de automóvil (datos 2024)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9"/>
              </a:rPr>
              <a:t>Ley 50/1980 de Contrato de Seguro, art. 16 (BOE)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Insurance Information Institute, Private Passenger Auto Underwriting Expenses (NAIC, 2023)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8" y="349200"/>
            <a:ext cx="6987785" cy="429768"/>
          </a:xfrm>
        </p:spPr>
        <p:txBody>
          <a:bodyPr wrap="none"/>
          <a:lstStyle/>
          <a:p>
            <a:r>
              <a:rPr sz="2600" dirty="0" err="1"/>
              <a:t>Clasificar</a:t>
            </a:r>
            <a:r>
              <a:rPr lang="es-ES" sz="2600" dirty="0"/>
              <a:t> y extraer datos</a:t>
            </a:r>
            <a:r>
              <a:rPr sz="2600" dirty="0"/>
              <a:t> </a:t>
            </a:r>
            <a:r>
              <a:rPr sz="2600" dirty="0" err="1"/>
              <a:t>ya</a:t>
            </a:r>
            <a:r>
              <a:rPr sz="2600" dirty="0"/>
              <a:t> </a:t>
            </a:r>
            <a:r>
              <a:rPr sz="2600" dirty="0" err="1"/>
              <a:t>está</a:t>
            </a:r>
            <a:r>
              <a:rPr sz="2600" dirty="0"/>
              <a:t> </a:t>
            </a:r>
            <a:r>
              <a:rPr sz="2600" dirty="0" err="1"/>
              <a:t>resuelto</a:t>
            </a:r>
            <a:r>
              <a:rPr lang="es-ES" dirty="0"/>
              <a:t>…</a:t>
            </a:r>
            <a:endParaRPr sz="2600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758952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targ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831" y="1820799"/>
            <a:ext cx="427482" cy="427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Más de un 90 % de acierto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bien escrito clasifica por ramo y extrae los datos del aviso.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1371600"/>
            <a:ext cx="3690191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4593336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language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68215" y="1820799"/>
            <a:ext cx="427482" cy="42748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47615" y="2560320"/>
            <a:ext cx="3377183" cy="30200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 dirty="0">
                <a:solidFill>
                  <a:srgbClr val="194BFF"/>
                </a:solidFill>
                <a:latin typeface="Montserrat"/>
              </a:rPr>
              <a:t>Con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texto</a:t>
            </a:r>
            <a:r>
              <a:rPr sz="1500" b="1" i="0" dirty="0">
                <a:solidFill>
                  <a:srgbClr val="194BFF"/>
                </a:solidFill>
                <a:latin typeface="Montserrat"/>
              </a:rPr>
              <a:t> real, no de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laboratorio</a:t>
            </a:r>
            <a:endParaRPr sz="1500" b="1" i="0" dirty="0">
              <a:solidFill>
                <a:srgbClr val="194BFF"/>
              </a:solidFill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47616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Entiende texto informal, faltas de ortografía y transcripciones telefónicas.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37807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12128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87007" y="1820799"/>
            <a:ext cx="427482" cy="42748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66407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Se monta en una tarde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6407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base y un bloque de reglas por ramo. No hace falta entrenar ningún modelo.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1" y="5112891"/>
            <a:ext cx="11313239" cy="1051560"/>
          </a:xfrm>
          <a:prstGeom prst="rect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5112891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ya no diferencia a nadie.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La pregunta ya no es si la IA puede hacerlo, sino cómo se pone en producción en una aseguradora.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670994" cy="429768"/>
          </a:xfrm>
        </p:spPr>
        <p:txBody>
          <a:bodyPr wrap="none"/>
          <a:lstStyle/>
          <a:p>
            <a:r>
              <a:rPr sz="2600" dirty="0"/>
              <a:t>El </a:t>
            </a:r>
            <a:r>
              <a:rPr sz="2600" dirty="0" err="1"/>
              <a:t>problema</a:t>
            </a:r>
            <a:r>
              <a:rPr sz="2600" dirty="0"/>
              <a:t> real: </a:t>
            </a:r>
            <a:r>
              <a:rPr lang="es-ES" dirty="0"/>
              <a:t>pasar un piloto </a:t>
            </a:r>
            <a:r>
              <a:rPr sz="2600" dirty="0"/>
              <a:t>a </a:t>
            </a:r>
            <a:r>
              <a:rPr sz="2600" dirty="0" err="1"/>
              <a:t>producción</a:t>
            </a:r>
            <a:endParaRPr sz="2600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908741"/>
            <a:ext cx="658800" cy="123111"/>
          </a:xfr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6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455652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flask-conica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818" y="1465325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&gt;90 %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las aseguradoras evalúa ya IA generativa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3331439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rock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606" y="1465325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60420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22 %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24427" y="3017520"/>
            <a:ext cx="54864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60420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la tiene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784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207228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bo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2393" y="1465325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36207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4 %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00216" y="3017520"/>
            <a:ext cx="548639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36207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tiene agentes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00571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083015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ircle-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8181" y="1465325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11995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&gt;40 %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76003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11995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los proyectos agénticos se cancelarán antes de finales de 2027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76359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84632" y="4241923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Por qué se cancelan, según Gartner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trending-u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800" y="4726555"/>
            <a:ext cx="411480" cy="4114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61872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Costes que se disparan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19016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1" name="Icono circle-hel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0184" y="4726555"/>
            <a:ext cx="411480" cy="4114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96256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Valor de negocio poco claro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3399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Icono shield-aler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54568" y="4726555"/>
            <a:ext cx="411480" cy="4114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30640" y="4682675"/>
            <a:ext cx="2691384" cy="49923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 dirty="0" err="1">
                <a:solidFill>
                  <a:srgbClr val="0B1F5B"/>
                </a:solidFill>
                <a:latin typeface="Montserrat"/>
              </a:rPr>
              <a:t>Controles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de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riesgo</a:t>
            </a:r>
            <a:r>
              <a:rPr lang="es-ES" sz="1300" b="1" i="0" dirty="0">
                <a:solidFill>
                  <a:srgbClr val="0B1F5B"/>
                </a:solidFill>
                <a:latin typeface="Montserrat"/>
              </a:rPr>
              <a:t> y gobernanza 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insuficientes</a:t>
            </a:r>
            <a:endParaRPr sz="1300" b="1" i="0" dirty="0">
              <a:solidFill>
                <a:srgbClr val="0B1F5B"/>
              </a:solidFill>
              <a:latin typeface="Montserrat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84632" y="538492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Tres preguntas sin respuesta: </a:t>
            </a:r>
            <a:r>
              <a:rPr sz="1500" b="1" i="0">
                <a:solidFill>
                  <a:srgbClr val="194BFF"/>
                </a:solidFill>
                <a:latin typeface="Montserrat"/>
              </a:rPr>
              <a:t>¿por qué decidió eso? ¿Quién lo controla? ¿Cuánto cuesta?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" y="597928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Conning, AI in Insurance 2025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1"/>
              </a:rPr>
              <a:t>Outcome Catalyst, tendencias de IA en seguros 2026 (datos de Conning)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2"/>
              </a:rPr>
              <a:t>The Insurer, encuesta de IA Capital (2026)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⁴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3"/>
              </a:rPr>
              <a:t>Gartner, nota de prensa del 25/06/2025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E73E-630D-5F6F-93A1-C692F05CA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427478" cy="660400"/>
          </a:xfrm>
        </p:spPr>
        <p:txBody>
          <a:bodyPr wrap="none" anchor="ctr">
            <a:noAutofit/>
          </a:bodyPr>
          <a:lstStyle/>
          <a:p>
            <a:r>
              <a:rPr sz="4000"/>
              <a:t>El marco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A97B2C3-B154-9FFE-9972-3B3059C11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129280"/>
            <a:ext cx="2803397" cy="660400"/>
          </a:xfrm>
        </p:spPr>
        <p:txBody>
          <a:bodyPr wrap="none" anchor="ctr">
            <a:noAutofit/>
          </a:bodyPr>
          <a:lstStyle/>
          <a:p>
            <a:r>
              <a:rPr sz="4000"/>
              <a:t>normativo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0186" y="1847900"/>
            <a:ext cx="7772396" cy="50100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15544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ya obliga hoy (RGPD, DORA y EIOPA) y lo que llega con el AI 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71517" cy="429768"/>
          </a:xfrm>
        </p:spPr>
        <p:txBody>
          <a:bodyPr wrap="none"/>
          <a:lstStyle/>
          <a:p>
            <a:r>
              <a:rPr sz="2600"/>
              <a:t>Lo que exige la regulación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8</a:t>
            </a:fld>
            <a:endParaRPr lang="es-ES"/>
          </a:p>
        </p:txBody>
      </p:sp>
      <p:sp>
        <p:nvSpPr>
          <p:cNvPr id="13" name="TextBox 12"/>
          <p:cNvSpPr txBox="1"/>
          <p:nvPr/>
        </p:nvSpPr>
        <p:spPr>
          <a:xfrm>
            <a:off x="484632" y="1188720"/>
            <a:ext cx="726948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Ya en vigor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" y="1536192"/>
            <a:ext cx="45720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82711" y="1188720"/>
            <a:ext cx="373075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Lo que llega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28431" y="1536192"/>
            <a:ext cx="45720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8463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user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823024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899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2057400"/>
            <a:ext cx="2971800" cy="5679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Derecho a no ser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objeto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decisiones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solo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automatizadas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.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Según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el TJUE (SCHUFA),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firmar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sin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revisar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no </a:t>
            </a:r>
            <a:r>
              <a:rPr lang="es-ES" sz="950" b="0" i="0" dirty="0">
                <a:solidFill>
                  <a:srgbClr val="595959"/>
                </a:solidFill>
                <a:latin typeface="Montserrat Medium"/>
              </a:rPr>
              <a:t>es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intervención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humana.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8795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message-squar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823024"/>
            <a:ext cx="347472" cy="3474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8231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2057400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Derecho a una explicación con sentido de la lógica aplicada (TJUE, Dun &amp; Bradstreet).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heart-puls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080" y="2902016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7899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3136392"/>
            <a:ext cx="2880360" cy="3925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Los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datos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salud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son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categoría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especial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afecta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lleno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ramo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Salud.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8795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serv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3400" y="2902016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78231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3136392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Los proveedores de LLM son terceros TIC: registro, riesgo de concentración y contratos.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463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080" y="3981008"/>
            <a:ext cx="347472" cy="3474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7899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EIOPA (ago.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Gobierno de la IA proporcional al riesgo para todo uso de IA en seguros.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8795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graduation-c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43400" y="398100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8231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art. 4 y art. 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231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Alfabetización en IA del personal y transparencia con quien interactúa con la IA.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82711" y="1691640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38159" y="1847088"/>
            <a:ext cx="347472" cy="3474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577072" y="1783080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· alto riesgo (Anexo III)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7072" y="2057400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Obligaciones aplazadas al 2/12/2027 por el Digital Omnibus. El triaje de siniestros no está en el Anexo III.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2711" y="2770632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6" name="Icono gave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8159" y="2926080"/>
            <a:ext cx="347472" cy="3474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577072" y="2862072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Ley Orgánica española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7072" y="3136392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En el Congreso, con AESIA y la DGSFP como supervisoras.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82711" y="3849624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0" name="Icono badge-euro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38159" y="4005072"/>
            <a:ext cx="347472" cy="3474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77072" y="3941064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Sanciones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77072" y="4215384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Hasta 35 M€ o el 7 % de la facturación global.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76072" y="5074920"/>
            <a:ext cx="11045952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76072" y="4992624"/>
            <a:ext cx="164592" cy="164592"/>
          </a:xfrm>
          <a:prstGeom prst="ellips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30352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194BFF"/>
                </a:solidFill>
                <a:latin typeface="Montserrat"/>
              </a:rPr>
              <a:t>Hoy: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ya obligan el RGPD, DORA, EIOPA y los art. 4 y 50 del AI Act</a:t>
            </a:r>
          </a:p>
        </p:txBody>
      </p:sp>
      <p:sp>
        <p:nvSpPr>
          <p:cNvPr id="56" name="Oval 55"/>
          <p:cNvSpPr/>
          <p:nvPr/>
        </p:nvSpPr>
        <p:spPr>
          <a:xfrm>
            <a:off x="7982711" y="4992624"/>
            <a:ext cx="164592" cy="164592"/>
          </a:xfrm>
          <a:prstGeom prst="ellipse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936991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FF1414"/>
                </a:solidFill>
                <a:latin typeface="Montserrat"/>
              </a:rPr>
              <a:t>2/12/2027: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obligaciones de alto riesgo del AI Act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" y="6014967"/>
            <a:ext cx="11228832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2"/>
              </a:rPr>
              <a:t>RGPD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3"/>
              </a:rPr>
              <a:t>TJUE C-634/21 (SCHUFA)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4"/>
              </a:rPr>
              <a:t>TJUE C-203/22 (Dun &amp; Bradstreet)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5"/>
              </a:rPr>
              <a:t>DORA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6"/>
              </a:rPr>
              <a:t>EIOPA, Opinion on AI governance (2025)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7"/>
              </a:rPr>
              <a:t>AI Act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8"/>
              </a:rPr>
              <a:t>Digital Omnibus (Gibson Dunn)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9"/>
              </a:rPr>
              <a:t>Ley Orgánica de IA (Economist &amp; Jurist)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ve_big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3611880" y="2185416"/>
            <a:ext cx="9418320" cy="5297805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731520" y="1417319"/>
            <a:ext cx="566928" cy="329184"/>
          </a:xfrm>
          <a:prstGeom prst="rect">
            <a:avLst/>
          </a:prstGeom>
          <a:solidFill>
            <a:srgbClr val="0A2592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731520" y="1874519"/>
            <a:ext cx="2489707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5447"/>
            <a:ext cx="73152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Agentes pequeños, cada uno con sus límites, sobre una capa de gobierno común.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9</a:t>
            </a:fld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08117" cy="429768"/>
          </a:xfrm>
        </p:spPr>
        <p:txBody>
          <a:bodyPr wrap="none"/>
          <a:lstStyle/>
          <a:p>
            <a:r>
              <a:rPr sz="2600" dirty="0"/>
              <a:t>Lo </a:t>
            </a:r>
            <a:r>
              <a:rPr sz="2600" dirty="0" err="1"/>
              <a:t>que</a:t>
            </a:r>
            <a:r>
              <a:rPr sz="2600" dirty="0"/>
              <a:t> no </a:t>
            </a:r>
            <a:r>
              <a:rPr sz="2600" dirty="0" err="1"/>
              <a:t>existe</a:t>
            </a:r>
            <a:r>
              <a:rPr sz="2600" dirty="0"/>
              <a:t> </a:t>
            </a:r>
            <a:r>
              <a:rPr sz="2600" dirty="0" err="1"/>
              <a:t>en</a:t>
            </a:r>
            <a:r>
              <a:rPr sz="2600" dirty="0"/>
              <a:t> el mercado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10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Hay piezas sueltas</a:t>
            </a:r>
          </a:p>
        </p:txBody>
      </p:sp>
      <p:sp>
        <p:nvSpPr>
          <p:cNvPr id="15" name="Oval 14"/>
          <p:cNvSpPr/>
          <p:nvPr/>
        </p:nvSpPr>
        <p:spPr>
          <a:xfrm>
            <a:off x="758952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activity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396" y="2135124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44752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Observabilidad de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Langfuse, Arize o Datadog: trazas, latencia y tokens.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396" y="2939796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44752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Plataformas de gobierno y riesgo de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3072384"/>
            <a:ext cx="3657600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050" dirty="0">
                <a:solidFill>
                  <a:srgbClr val="595959"/>
                </a:solidFill>
                <a:latin typeface="Montserrat Medium"/>
              </a:rPr>
              <a:t>Soluciones de 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G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overnance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(Credo AI)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inventario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y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políticas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Icono waypoint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2396" y="3744468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44752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Estándar OpenTelemetry GenAI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877056"/>
            <a:ext cx="3801618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Convenciones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comunes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trazar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llamadas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modelos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y todo lo que hace una plataforma </a:t>
            </a:r>
            <a:r>
              <a:rPr lang="es-ES" sz="1050" b="0" i="0" dirty="0" err="1">
                <a:solidFill>
                  <a:srgbClr val="595959"/>
                </a:solidFill>
                <a:latin typeface="Montserrat Medium"/>
              </a:rPr>
              <a:t>agéntica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.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67143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7141463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Nadie las une a tu negocio</a:t>
            </a:r>
          </a:p>
        </p:txBody>
      </p:sp>
      <p:sp>
        <p:nvSpPr>
          <p:cNvPr id="29" name="Oval 28"/>
          <p:cNvSpPr/>
          <p:nvPr/>
        </p:nvSpPr>
        <p:spPr>
          <a:xfrm>
            <a:off x="7141463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fil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64907" y="2135124"/>
            <a:ext cx="301752" cy="3017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27263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proceso de siniestros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3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Multicanalidad, clasificación, extracción y reglas, de punta a punta.</a:t>
            </a:r>
          </a:p>
        </p:txBody>
      </p:sp>
      <p:sp>
        <p:nvSpPr>
          <p:cNvPr id="33" name="Oval 32"/>
          <p:cNvSpPr/>
          <p:nvPr/>
        </p:nvSpPr>
        <p:spPr>
          <a:xfrm>
            <a:off x="7141463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ist-check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64907" y="2939796"/>
            <a:ext cx="301752" cy="30175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27263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Tus reglas de negocio por ramo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3" y="3072384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Auto, Hogar y Salud, con la evidencia de cada criterio.</a:t>
            </a:r>
          </a:p>
        </p:txBody>
      </p:sp>
      <p:sp>
        <p:nvSpPr>
          <p:cNvPr id="37" name="Oval 36"/>
          <p:cNvSpPr/>
          <p:nvPr/>
        </p:nvSpPr>
        <p:spPr>
          <a:xfrm>
            <a:off x="7141463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calcula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64907" y="3744468"/>
            <a:ext cx="301752" cy="3017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27263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contabilidad de costes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7263" y="3877056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Coste por decisión y límites de gasto por agente.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22392" y="2880360"/>
            <a:ext cx="1353311" cy="0"/>
          </a:xfrm>
          <a:prstGeom prst="line">
            <a:avLst/>
          </a:prstGeom>
          <a:ln w="254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641848" y="2423160"/>
            <a:ext cx="914400" cy="914400"/>
          </a:xfrm>
          <a:prstGeom prst="ellipse">
            <a:avLst/>
          </a:prstGeom>
          <a:solidFill>
            <a:srgbClr val="194B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Icono plug-z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52160" y="2633472"/>
            <a:ext cx="493776" cy="4937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367528" y="3383280"/>
            <a:ext cx="146304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94BFF"/>
                </a:solidFill>
                <a:latin typeface="Montserrat"/>
              </a:rPr>
              <a:t>Integración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" y="4789170"/>
            <a:ext cx="11228832" cy="105156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58952" y="4789170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no es un producto. Es cómo se trabaja hoy con IA en una empresa regulada.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No es una licencia: es una forma de implementar, integrada con el proceso, las reglas y los costes del cliente.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104888" cy="429768"/>
          </a:xfrm>
        </p:spPr>
        <p:txBody>
          <a:bodyPr wrap="none"/>
          <a:lstStyle/>
          <a:p>
            <a:r>
              <a:rPr sz="2600"/>
              <a:t>La solución: agentes pequeños y gobernados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11</a:t>
            </a:fld>
            <a:endParaRPr lang="es-ES"/>
          </a:p>
        </p:txBody>
      </p:sp>
      <p:sp>
        <p:nvSpPr>
          <p:cNvPr id="13" name="Pentagon 12"/>
          <p:cNvSpPr/>
          <p:nvPr/>
        </p:nvSpPr>
        <p:spPr>
          <a:xfrm>
            <a:off x="484632" y="1325880"/>
            <a:ext cx="2331720" cy="1097280"/>
          </a:xfrm>
          <a:prstGeom prst="homePlat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inbo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032" y="1444752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1847088"/>
            <a:ext cx="17373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Multicanalidad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Recibe y normaliza email, web, chat, teléfono y WhatsApp</a:t>
            </a:r>
          </a:p>
        </p:txBody>
      </p:sp>
      <p:sp>
        <p:nvSpPr>
          <p:cNvPr id="17" name="Chevron 16"/>
          <p:cNvSpPr/>
          <p:nvPr/>
        </p:nvSpPr>
        <p:spPr>
          <a:xfrm>
            <a:off x="2708910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tag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37610" y="144475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66110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Clasificación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230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Asigna Auto, Hogar o Salud citando los indicios del texto</a:t>
            </a:r>
          </a:p>
        </p:txBody>
      </p:sp>
      <p:sp>
        <p:nvSpPr>
          <p:cNvPr id="21" name="Chevron 20"/>
          <p:cNvSpPr/>
          <p:nvPr/>
        </p:nvSpPr>
        <p:spPr>
          <a:xfrm>
            <a:off x="4933188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scan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61888" y="1444752"/>
            <a:ext cx="365760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90388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Extracción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7508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Convierte el texto libre en datos estructurados; nunca inventa</a:t>
            </a:r>
          </a:p>
        </p:txBody>
      </p:sp>
      <p:sp>
        <p:nvSpPr>
          <p:cNvPr id="25" name="Chevron 24"/>
          <p:cNvSpPr/>
          <p:nvPr/>
        </p:nvSpPr>
        <p:spPr>
          <a:xfrm>
            <a:off x="7157466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86166" y="1444752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14666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Reglas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1786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Evalúa el bloque de reglas del ramo y propone la decisión</a:t>
            </a:r>
          </a:p>
        </p:txBody>
      </p:sp>
      <p:sp>
        <p:nvSpPr>
          <p:cNvPr id="29" name="Chevron 28"/>
          <p:cNvSpPr/>
          <p:nvPr/>
        </p:nvSpPr>
        <p:spPr>
          <a:xfrm>
            <a:off x="9381744" y="1325880"/>
            <a:ext cx="2331720" cy="1097280"/>
          </a:xfrm>
          <a:prstGeom prst="chevron">
            <a:avLst/>
          </a:prstGeom>
          <a:solidFill>
            <a:srgbClr val="0B1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roun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0444" y="1444752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38944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Aprobado / A revisar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6064" y="2542032"/>
            <a:ext cx="1783079" cy="81580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 dirty="0">
                <a:solidFill>
                  <a:srgbClr val="595959"/>
                </a:solidFill>
                <a:latin typeface="Montserrat Medium"/>
              </a:rPr>
              <a:t>La IA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prepara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; la persona decide</a:t>
            </a:r>
            <a:r>
              <a:rPr lang="es-ES" sz="1050" dirty="0">
                <a:solidFill>
                  <a:srgbClr val="595959"/>
                </a:solidFill>
                <a:latin typeface="Montserrat Medium"/>
              </a:rPr>
              <a:t> o se automatiza si se cumplen reglas y la confianza es alta</a:t>
            </a:r>
            <a:endParaRPr sz="1050" b="0" i="0" dirty="0">
              <a:solidFill>
                <a:srgbClr val="595959"/>
              </a:solidFill>
              <a:latin typeface="Montserrat Medium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84632" y="3520440"/>
            <a:ext cx="11228832" cy="2011680"/>
          </a:xfrm>
          <a:prstGeom prst="roundRect">
            <a:avLst>
              <a:gd name="adj" fmla="val 6000"/>
            </a:avLst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758952" y="3611880"/>
            <a:ext cx="10680192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 dirty="0">
                <a:solidFill>
                  <a:srgbClr val="194BFF"/>
                </a:solidFill>
                <a:latin typeface="Montserrat"/>
              </a:rPr>
              <a:t>Capa de </a:t>
            </a:r>
            <a:r>
              <a:rPr sz="1400" b="1" i="0" dirty="0" err="1">
                <a:solidFill>
                  <a:srgbClr val="194BFF"/>
                </a:solidFill>
                <a:latin typeface="Montserrat"/>
              </a:rPr>
              <a:t>gobierno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 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común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a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todos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los</a:t>
            </a:r>
            <a:r>
              <a:rPr sz="1200" b="0" i="0" dirty="0">
                <a:solidFill>
                  <a:srgbClr val="7F7F7F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7F7F7F"/>
                </a:solidFill>
                <a:latin typeface="Montserrat Medium"/>
              </a:rPr>
              <a:t>agentes</a:t>
            </a:r>
            <a:endParaRPr sz="1200" b="0" i="0" dirty="0">
              <a:solidFill>
                <a:srgbClr val="7F7F7F"/>
              </a:solidFill>
              <a:latin typeface="Montserrat Medium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1356359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Icono rout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033" y="4173321"/>
            <a:ext cx="321868" cy="3218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58952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Trazas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cada paso, registrado</a:t>
            </a:r>
          </a:p>
        </p:txBody>
      </p:sp>
      <p:sp>
        <p:nvSpPr>
          <p:cNvPr id="39" name="Oval 38"/>
          <p:cNvSpPr/>
          <p:nvPr/>
        </p:nvSpPr>
        <p:spPr>
          <a:xfrm>
            <a:off x="3136391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0" name="Icono history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68065" y="4173321"/>
            <a:ext cx="321868" cy="32186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538983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Replay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38983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reproducir y comparar</a:t>
            </a:r>
          </a:p>
        </p:txBody>
      </p:sp>
      <p:sp>
        <p:nvSpPr>
          <p:cNvPr id="43" name="Oval 42"/>
          <p:cNvSpPr/>
          <p:nvPr/>
        </p:nvSpPr>
        <p:spPr>
          <a:xfrm>
            <a:off x="4916423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Icono sliders-horizonta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48097" y="4173321"/>
            <a:ext cx="321868" cy="3218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319015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Autonomía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9015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de L0 Manual a L3 Autónomo</a:t>
            </a:r>
          </a:p>
        </p:txBody>
      </p:sp>
      <p:sp>
        <p:nvSpPr>
          <p:cNvPr id="47" name="Oval 46"/>
          <p:cNvSpPr/>
          <p:nvPr/>
        </p:nvSpPr>
        <p:spPr>
          <a:xfrm>
            <a:off x="6696456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Icono shield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28129" y="4173321"/>
            <a:ext cx="321868" cy="32186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099048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Guardrails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9048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límites que escalan a humano</a:t>
            </a:r>
          </a:p>
        </p:txBody>
      </p:sp>
      <p:sp>
        <p:nvSpPr>
          <p:cNvPr id="51" name="Oval 50"/>
          <p:cNvSpPr/>
          <p:nvPr/>
        </p:nvSpPr>
        <p:spPr>
          <a:xfrm>
            <a:off x="8476488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2" name="Icono wall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08161" y="4173321"/>
            <a:ext cx="321868" cy="3218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879080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FinOps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9080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coste por decisión y caps</a:t>
            </a:r>
          </a:p>
        </p:txBody>
      </p:sp>
      <p:sp>
        <p:nvSpPr>
          <p:cNvPr id="55" name="Oval 54"/>
          <p:cNvSpPr/>
          <p:nvPr/>
        </p:nvSpPr>
        <p:spPr>
          <a:xfrm>
            <a:off x="10256519" y="4041648"/>
            <a:ext cx="585216" cy="585216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6" name="Icono book-open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388193" y="4173321"/>
            <a:ext cx="321868" cy="3218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659112" y="4663440"/>
            <a:ext cx="178003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Histórico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59112" y="4919472"/>
            <a:ext cx="17800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libro de registro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2" y="5840730"/>
            <a:ext cx="1122883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595959"/>
                </a:solidFill>
                <a:latin typeface="Montserrat"/>
              </a:rPr>
              <a:t>No es una IA que lo hace todo: </a:t>
            </a:r>
            <a:r>
              <a:rPr sz="1400" b="1" i="0">
                <a:solidFill>
                  <a:srgbClr val="194BFF"/>
                </a:solidFill>
                <a:latin typeface="Montserrat"/>
              </a:rPr>
              <a:t>son cuatro especialistas, y cada uno tiene sus propios límites.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772658" cy="429768"/>
          </a:xfrm>
        </p:spPr>
        <p:txBody>
          <a:bodyPr wrap="none"/>
          <a:lstStyle/>
          <a:p>
            <a:r>
              <a:rPr sz="2600"/>
              <a:t>Capa de gobierno: cada agente tiene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12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651240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crosshai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9372" y="1629460"/>
            <a:ext cx="362102" cy="3621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7512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Una sola función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Recibir, clasificar, extraer o aplicar reglas: cada agente hace una cosa.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8989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3515597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cpu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3730" y="1629460"/>
            <a:ext cx="362102" cy="3621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31870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modelo y su versión de prompt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1870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Por ejemplo, gpt-5-nano con el prompt v3.1 en Clasificación. Cada cambio queda registrado.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3348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6379956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gaug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8088" y="1629460"/>
            <a:ext cx="362102" cy="36210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96228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nivel de autonomía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6228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De L0 Manual a L3 Autónomo, ajustado agente a agente según sus resultados.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7705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244313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cog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2446" y="1629460"/>
            <a:ext cx="362102" cy="3621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60585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 responsable y unos permisos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0585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El agente de Reglas puede proponer, pero no puede pagar ni rechazar.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" y="3794760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Niveles de autonomía</a:t>
            </a:r>
          </a:p>
        </p:txBody>
      </p:sp>
      <p:sp>
        <p:nvSpPr>
          <p:cNvPr id="34" name="Pentagon 33"/>
          <p:cNvSpPr/>
          <p:nvPr/>
        </p:nvSpPr>
        <p:spPr>
          <a:xfrm>
            <a:off x="484632" y="4160520"/>
            <a:ext cx="2926080" cy="1051560"/>
          </a:xfrm>
          <a:prstGeom prst="homePlat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" y="4206240"/>
            <a:ext cx="22402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L0 · Manual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solo sugiere; una persona decide y ejecuta.</a:t>
            </a:r>
          </a:p>
        </p:txBody>
      </p:sp>
      <p:sp>
        <p:nvSpPr>
          <p:cNvPr id="36" name="Chevron 35"/>
          <p:cNvSpPr/>
          <p:nvPr/>
        </p:nvSpPr>
        <p:spPr>
          <a:xfrm>
            <a:off x="3250691" y="4160520"/>
            <a:ext cx="2926080" cy="1051560"/>
          </a:xfrm>
          <a:prstGeom prst="chevron">
            <a:avLst/>
          </a:prstGeom>
          <a:solidFill>
            <a:srgbClr val="BFD0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7248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L1 · Asistido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propone; una persona confirma cada caso.</a:t>
            </a:r>
          </a:p>
        </p:txBody>
      </p:sp>
      <p:sp>
        <p:nvSpPr>
          <p:cNvPr id="38" name="Chevron 37"/>
          <p:cNvSpPr/>
          <p:nvPr/>
        </p:nvSpPr>
        <p:spPr>
          <a:xfrm>
            <a:off x="6016752" y="4160520"/>
            <a:ext cx="2926080" cy="1051560"/>
          </a:xfrm>
          <a:prstGeom prst="chevron">
            <a:avLst/>
          </a:prstGeom>
          <a:solidFill>
            <a:srgbClr val="6F8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38544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L2 · Supervisado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dentro de los guardrails; fuera de ellos escala a humano.</a:t>
            </a:r>
          </a:p>
        </p:txBody>
      </p:sp>
      <p:sp>
        <p:nvSpPr>
          <p:cNvPr id="40" name="Chevron 39"/>
          <p:cNvSpPr/>
          <p:nvPr/>
        </p:nvSpPr>
        <p:spPr>
          <a:xfrm>
            <a:off x="8782811" y="4160520"/>
            <a:ext cx="2926080" cy="1051560"/>
          </a:xfrm>
          <a:prstGeom prst="chevron">
            <a:avLst/>
          </a:prstGeom>
          <a:solidFill>
            <a:srgbClr val="194B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0460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L3 · Autónomo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y ejecuta; solo se audita a posteriori.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" y="534924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595959"/>
                </a:solidFill>
                <a:latin typeface="Montserrat"/>
              </a:rPr>
              <a:t>La autonomía se gana con datos y se pierde con datos: </a:t>
            </a:r>
            <a:r>
              <a:rPr sz="1300" b="1" i="0">
                <a:solidFill>
                  <a:srgbClr val="194BFF"/>
                </a:solidFill>
                <a:latin typeface="Montserrat"/>
              </a:rPr>
              <a:t>el agente de Reglas bajó de L3 a L2 al superar el 3 % de overrides.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823458" cy="429768"/>
          </a:xfrm>
        </p:spPr>
        <p:txBody>
          <a:bodyPr wrap="none"/>
          <a:lstStyle/>
          <a:p>
            <a:r>
              <a:rPr sz="2600"/>
              <a:t>Seis pilares, cada uno con su prueba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13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790" y="1590598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Seguro por diseño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Guardrails, kill switch, identidad y permisos por agente. Se puede parar un agente sin perder ningún mensaje.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2761488"/>
            <a:ext cx="176021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 · AI Act art. 15</a:t>
            </a:r>
          </a:p>
        </p:txBody>
      </p:sp>
      <p:pic>
        <p:nvPicPr>
          <p:cNvPr id="20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3108960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Guardrails, Resumen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452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file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50790" y="1590598"/>
            <a:ext cx="311810" cy="31181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0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Compliance por defecto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Cada decisión deja una traza completa: qué pasó, quién decidió y cuánto costó.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3232" y="2761488"/>
            <a:ext cx="23088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AI Act art. 12 · RGPD art. 30</a:t>
            </a:r>
          </a:p>
        </p:txBody>
      </p:sp>
      <p:pic>
        <p:nvPicPr>
          <p:cNvPr id="29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3108960"/>
            <a:ext cx="182880" cy="182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5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Trazabilidad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0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833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book-open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60790" y="1590598"/>
            <a:ext cx="311810" cy="31181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1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Auditable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Libro de registro con quién, qué y cuándo. Se rellena solo, sin trabajo extra.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3232" y="2761488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EIOPA · AI Act art. 12</a:t>
            </a:r>
          </a:p>
        </p:txBody>
      </p:sp>
      <p:pic>
        <p:nvPicPr>
          <p:cNvPr id="38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3108960"/>
            <a:ext cx="182880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6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Histórico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Oval 41"/>
          <p:cNvSpPr/>
          <p:nvPr/>
        </p:nvSpPr>
        <p:spPr>
          <a:xfrm>
            <a:off x="71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pic>
        <p:nvPicPr>
          <p:cNvPr id="43" name="Icono lightbulb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790" y="3922318"/>
            <a:ext cx="311810" cy="31181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39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Explicable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Regla + evidencia textual y Reasoning replay: si el cliente pregunta por qué, está su propia frase.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09320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RGPD art. 15 y 22 · AI Act art. 13</a:t>
            </a:r>
          </a:p>
        </p:txBody>
      </p:sp>
      <p:pic>
        <p:nvPicPr>
          <p:cNvPr id="47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5440680"/>
            <a:ext cx="182880" cy="1828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4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Ficha del mensaje · Reasoning &amp; Replay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9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29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Oval 50"/>
          <p:cNvSpPr/>
          <p:nvPr/>
        </p:nvSpPr>
        <p:spPr>
          <a:xfrm>
            <a:off x="452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2" name="Icono refresh-cw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50790" y="3922318"/>
            <a:ext cx="311810" cy="31181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20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Resiliente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Reintentos, fallback a motor local y degradación de modelo: si la IA falla, el mensaje no se pierde.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23232" y="5093208"/>
            <a:ext cx="59435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pic>
        <p:nvPicPr>
          <p:cNvPr id="56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5440680"/>
            <a:ext cx="182880" cy="1828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75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Triaje (origen «fallback»), G-07, G-08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0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10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Oval 59"/>
          <p:cNvSpPr/>
          <p:nvPr/>
        </p:nvSpPr>
        <p:spPr>
          <a:xfrm>
            <a:off x="833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1" name="Icono piggy-ban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0790" y="3922318"/>
            <a:ext cx="311810" cy="31181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1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FinOps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Caps, coste por decisión y comparativa de modelos: el más barato que mantiene la calidad.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333232" y="5093208"/>
            <a:ext cx="189737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Solvencia II (gobierno)</a:t>
            </a:r>
          </a:p>
        </p:txBody>
      </p:sp>
      <p:pic>
        <p:nvPicPr>
          <p:cNvPr id="65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5440680"/>
            <a:ext cx="182880" cy="1828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56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FinOps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C404-1198-B987-A55F-98A884133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329688" cy="660400"/>
          </a:xfrm>
        </p:spPr>
        <p:txBody>
          <a:bodyPr wrap="none" anchor="ctr">
            <a:noAutofit/>
          </a:bodyPr>
          <a:lstStyle/>
          <a:p>
            <a:r>
              <a:rPr sz="4000"/>
              <a:t>La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14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4056" y="1850395"/>
            <a:ext cx="7764655" cy="50051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40360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ve el tramitador y lo que ven riesgos, auditoría y finanzas.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469388" cy="429768"/>
          </a:xfrm>
        </p:spPr>
        <p:txBody>
          <a:bodyPr wrap="none"/>
          <a:lstStyle/>
          <a:p>
            <a:r>
              <a:rPr sz="2600"/>
              <a:t>Vamos a verlo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34440"/>
            <a:ext cx="5477255" cy="499491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7447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5" name="Oval 14"/>
          <p:cNvSpPr/>
          <p:nvPr/>
        </p:nvSpPr>
        <p:spPr>
          <a:xfrm>
            <a:off x="667512" y="414720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heads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070" y="4274760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11062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Triaje FNOL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 el tramitador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80556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¿Qué hace el sistema con cada aviso?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134753"/>
            <a:ext cx="5111495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Un lote en vivo: ramo, datos y decisión en segundos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El criterio que falla y la frase del cliente que lo prueba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Reglas de negocio que se cambian sin programar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1234439"/>
            <a:ext cx="5477255" cy="4994909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58" y="147447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2" name="Oval 21"/>
          <p:cNvSpPr/>
          <p:nvPr/>
        </p:nvSpPr>
        <p:spPr>
          <a:xfrm>
            <a:off x="6419088" y="418149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46646" y="4309050"/>
            <a:ext cx="311810" cy="31181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04888" y="414491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Gobierno de Agentes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ven riesgos, auditoría y finanzas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83985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¿Podemos fiarnos, controlarlo y pagarlo?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5169043"/>
            <a:ext cx="5111495" cy="914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Autonomía, overrides y kill switch por agente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Trazas y Reasoning &amp; Replay: por qué decidió y qué pasaría con otro modelo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Guardrails, caps de coste e histórico de cambios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2104390" cy="648000"/>
          </a:xfrm>
        </p:spPr>
        <p:txBody>
          <a:bodyPr wrap="none"/>
          <a:lstStyle/>
          <a:p>
            <a:r>
              <a:t>Gracias</a:t>
            </a:r>
          </a:p>
        </p:txBody>
      </p:sp>
      <p:pic>
        <p:nvPicPr>
          <p:cNvPr id="4" name="Picture 3" descr="hex_photo_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850392"/>
            <a:ext cx="5230368" cy="52112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 Logicalis Template March 2026">
  <a:themeElements>
    <a:clrScheme name="TDL New">
      <a:dk1>
        <a:srgbClr val="595959"/>
      </a:dk1>
      <a:lt1>
        <a:srgbClr val="FFFFFF"/>
      </a:lt1>
      <a:dk2>
        <a:srgbClr val="595959"/>
      </a:dk2>
      <a:lt2>
        <a:srgbClr val="E7E6E6"/>
      </a:lt2>
      <a:accent1>
        <a:srgbClr val="FF1414"/>
      </a:accent1>
      <a:accent2>
        <a:srgbClr val="595959"/>
      </a:accent2>
      <a:accent3>
        <a:srgbClr val="194BFF"/>
      </a:accent3>
      <a:accent4>
        <a:srgbClr val="00FFCD"/>
      </a:accent4>
      <a:accent5>
        <a:srgbClr val="E6E6E6"/>
      </a:accent5>
      <a:accent6>
        <a:srgbClr val="FF1414"/>
      </a:accent6>
      <a:hlink>
        <a:srgbClr val="595959"/>
      </a:hlink>
      <a:folHlink>
        <a:srgbClr val="A29791"/>
      </a:folHlink>
    </a:clrScheme>
    <a:fontScheme name="TDL NEW Font">
      <a:majorFont>
        <a:latin typeface="Roboto Slab"/>
        <a:ea typeface=""/>
        <a:cs typeface=""/>
      </a:majorFont>
      <a:minorFont>
        <a:latin typeface="Montserra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DL Template.pptx" id="{49FD070F-6C74-4054-BC33-4F4E7F43F796}" vid="{6D854CFD-DB59-4F78-BD86-5C43773322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69F901A49CB064A9C4B1D391D24583D" ma:contentTypeVersion="15" ma:contentTypeDescription="Crear nuevo documento." ma:contentTypeScope="" ma:versionID="c01ca280964f438bf2e2e8c57f041e78">
  <xsd:schema xmlns:xsd="http://www.w3.org/2001/XMLSchema" xmlns:xs="http://www.w3.org/2001/XMLSchema" xmlns:p="http://schemas.microsoft.com/office/2006/metadata/properties" xmlns:ns2="bc1a385b-e1fe-4f98-ade6-787642576ba7" xmlns:ns3="ec24e197-8a67-4a13-a14c-425853cf5e9f" targetNamespace="http://schemas.microsoft.com/office/2006/metadata/properties" ma:root="true" ma:fieldsID="002b4cf6722f3fad18b0e6f8ed65e6e2" ns2:_="" ns3:_="">
    <xsd:import namespace="bc1a385b-e1fe-4f98-ade6-787642576ba7"/>
    <xsd:import namespace="ec24e197-8a67-4a13-a14c-425853cf5e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1a385b-e1fe-4f98-ade6-787642576b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10fce5ab-aaf9-49f9-a6ce-ac3a074a46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24e197-8a67-4a13-a14c-425853cf5e9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fef96e38-1bbd-4d0a-8955-62bde1cd75dc}" ma:internalName="TaxCatchAll" ma:showField="CatchAllData" ma:web="ec24e197-8a67-4a13-a14c-425853cf5e9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1a385b-e1fe-4f98-ade6-787642576ba7">
      <Terms xmlns="http://schemas.microsoft.com/office/infopath/2007/PartnerControls"/>
    </lcf76f155ced4ddcb4097134ff3c332f>
    <TaxCatchAll xmlns="ec24e197-8a67-4a13-a14c-425853cf5e9f" xsi:nil="true"/>
  </documentManagement>
</p:properties>
</file>

<file path=customXml/itemProps1.xml><?xml version="1.0" encoding="utf-8"?>
<ds:datastoreItem xmlns:ds="http://schemas.openxmlformats.org/officeDocument/2006/customXml" ds:itemID="{A3107499-3C28-4C3E-9EDE-1BEF227098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1a385b-e1fe-4f98-ade6-787642576ba7"/>
    <ds:schemaRef ds:uri="ec24e197-8a67-4a13-a14c-425853cf5e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F53B6D5-302C-4812-BDB4-23286F7EBC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51A99C-5D78-4D91-A271-C92583798633}">
  <ds:schemaRefs>
    <ds:schemaRef ds:uri="http://purl.org/dc/elements/1.1/"/>
    <ds:schemaRef ds:uri="http://purl.org/dc/terms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ec24e197-8a67-4a13-a14c-425853cf5e9f"/>
    <ds:schemaRef ds:uri="bc1a385b-e1fe-4f98-ade6-787642576ba7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Words>2177</Words>
  <Application>Microsoft Office PowerPoint</Application>
  <PresentationFormat>Widescreen</PresentationFormat>
  <Paragraphs>207</Paragraphs>
  <Slides>16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PPT Logicalis Template March 2026</vt:lpstr>
      <vt:lpstr>FNOL con agentes</vt:lpstr>
      <vt:lpstr>Agenda</vt:lpstr>
      <vt:lpstr>PowerPoint Presentation</vt:lpstr>
      <vt:lpstr>La avalancha de avisos</vt:lpstr>
      <vt:lpstr>Clasificar y extraer datos ya está resuelto…</vt:lpstr>
      <vt:lpstr>El problema real: pasar un piloto a producción</vt:lpstr>
      <vt:lpstr>El marco</vt:lpstr>
      <vt:lpstr>Lo que exige la regulación</vt:lpstr>
      <vt:lpstr>PowerPoint Presentation</vt:lpstr>
      <vt:lpstr>Lo que no existe en el mercado</vt:lpstr>
      <vt:lpstr>La solución: agentes pequeños y gobernados</vt:lpstr>
      <vt:lpstr>Capa de gobierno: cada agente tiene</vt:lpstr>
      <vt:lpstr>Seis pilares, cada uno con su prueba</vt:lpstr>
      <vt:lpstr>La demo</vt:lpstr>
      <vt:lpstr>Vamos a verlo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con agentes gobernados</dc:title>
  <dc:creator>Ignacio Sánchez</dc:creator>
  <cp:lastModifiedBy>Ignacio Sánchez Enjuto</cp:lastModifiedBy>
  <cp:revision>5</cp:revision>
  <dcterms:created xsi:type="dcterms:W3CDTF">2023-07-20T13:22:40Z</dcterms:created>
  <dcterms:modified xsi:type="dcterms:W3CDTF">2026-10-07T14:08:39Z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ensitivity">
    <vt:lpwstr>Sensible</vt:lpwstr>
  </property>
  <property fmtid="{D5CDD505-2E9C-101B-9397-08002B2CF9AE}" pid="3" name="MSIP_Label_71e2662a-0625-4560-92a8-8decd38b51d5_Extended_MSFT_Method">
    <vt:lpwstr>Standard</vt:lpwstr>
  </property>
  <property fmtid="{D5CDD505-2E9C-101B-9397-08002B2CF9AE}" pid="4" name="ContentTypeId">
    <vt:lpwstr>0x010100C69F901A49CB064A9C4B1D391D24583D</vt:lpwstr>
  </property>
  <property fmtid="{D5CDD505-2E9C-101B-9397-08002B2CF9AE}" pid="5" name="MediaServiceImageTags">
    <vt:lpwstr/>
  </property>
  <property fmtid="{D5CDD505-2E9C-101B-9397-08002B2CF9AE}" pid="6" name="MSIP_Label_71e2662a-0625-4560-92a8-8decd38b51d5_Removed">
    <vt:lpwstr>False</vt:lpwstr>
  </property>
  <property fmtid="{D5CDD505-2E9C-101B-9397-08002B2CF9AE}" pid="7" name="MSIP_Label_71e2662a-0625-4560-92a8-8decd38b51d5_ActionId">
    <vt:lpwstr>1f16ca72-26c2-402d-98b3-c2cfda3bf25e</vt:lpwstr>
  </property>
  <property fmtid="{D5CDD505-2E9C-101B-9397-08002B2CF9AE}" pid="8" name="MSIP_Label_71e2662a-0625-4560-92a8-8decd38b51d5_Name">
    <vt:lpwstr>Sensible</vt:lpwstr>
  </property>
  <property fmtid="{D5CDD505-2E9C-101B-9397-08002B2CF9AE}" pid="9" name="MSIP_Label_71e2662a-0625-4560-92a8-8decd38b51d5_SetDate">
    <vt:lpwstr>2026-03-19T18:17:36Z</vt:lpwstr>
  </property>
  <property fmtid="{D5CDD505-2E9C-101B-9397-08002B2CF9AE}" pid="10" name="MSIP_Label_71e2662a-0625-4560-92a8-8decd38b51d5_SiteId">
    <vt:lpwstr>4b51496e-4cf2-4728-b551-2bdc71444141</vt:lpwstr>
  </property>
  <property fmtid="{D5CDD505-2E9C-101B-9397-08002B2CF9AE}" pid="11" name="MSIP_Label_71e2662a-0625-4560-92a8-8decd38b51d5_Enabled">
    <vt:lpwstr>True</vt:lpwstr>
  </property>
</Properties>
</file>