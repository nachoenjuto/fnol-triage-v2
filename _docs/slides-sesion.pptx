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cons" id="{E57AE0B5-2D22-3B4E-900D-32E0443C9C6A}">
          <p14:sldIdLst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FF"/>
    <a:srgbClr val="82C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7" d="100"/>
          <a:sy n="117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Sánchez Enjuto" userId="c691bf97-6f4a-46de-97c8-063fd3f20c17" providerId="ADAL" clId="{2691E216-BC80-53A0-9A71-853C30BFFE25}"/>
    <pc:docChg chg="undo custSel sldOrd addSection delSection modSection">
      <pc:chgData name="Ignacio Sánchez Enjuto" userId="c691bf97-6f4a-46de-97c8-063fd3f20c17" providerId="ADAL" clId="{2691E216-BC80-53A0-9A71-853C30BFFE25}" dt="2026-10-01T16:03:08.394" v="10" actId="17851"/>
      <pc:docMkLst>
        <pc:docMk/>
      </pc:docMkLst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48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49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0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1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2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3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4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5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6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7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8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59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60"/>
        </pc:sldMkLst>
      </pc:sldChg>
      <pc:sldChg chg="ord">
        <pc:chgData name="Ignacio Sánchez Enjuto" userId="c691bf97-6f4a-46de-97c8-063fd3f20c17" providerId="ADAL" clId="{2691E216-BC80-53A0-9A71-853C30BFFE25}" dt="2026-10-01T16:03:01.675" v="9" actId="20578"/>
        <pc:sldMkLst>
          <pc:docMk/>
          <pc:sldMk cId="0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2698B-22EF-534E-B63D-BB6C0D4DFEA9}" type="datetimeFigureOut">
              <a:rPr lang="en-PT" smtClean="0"/>
              <a:t>10/1/26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252E2-66E6-2846-853C-451ED1419F13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9546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(0-3 min) «Hoy no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enseñar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IA </a:t>
            </a:r>
            <a:r>
              <a:rPr dirty="0" err="1"/>
              <a:t>clasifica</a:t>
            </a:r>
            <a:r>
              <a:rPr dirty="0"/>
              <a:t> un </a:t>
            </a:r>
            <a:r>
              <a:rPr dirty="0" err="1"/>
              <a:t>siniestro</a:t>
            </a:r>
            <a:r>
              <a:rPr dirty="0"/>
              <a:t>. Eso </a:t>
            </a:r>
            <a:r>
              <a:rPr dirty="0" err="1"/>
              <a:t>ya</a:t>
            </a:r>
            <a:r>
              <a:rPr dirty="0"/>
              <a:t> lo </a:t>
            </a:r>
            <a:r>
              <a:rPr dirty="0" err="1"/>
              <a:t>sabéis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enseñar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se pone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aseguradora</a:t>
            </a:r>
            <a:r>
              <a:rPr dirty="0"/>
              <a:t>.» — «Cada </a:t>
            </a:r>
            <a:r>
              <a:rPr dirty="0" err="1"/>
              <a:t>mensaje</a:t>
            </a:r>
            <a:r>
              <a:rPr dirty="0"/>
              <a:t> lo lee, lo </a:t>
            </a:r>
            <a:r>
              <a:rPr dirty="0" err="1"/>
              <a:t>clasifica</a:t>
            </a:r>
            <a:r>
              <a:rPr dirty="0"/>
              <a:t> y lo </a:t>
            </a:r>
            <a:r>
              <a:rPr dirty="0" err="1"/>
              <a:t>teclea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persona. Ahí se </a:t>
            </a:r>
            <a:r>
              <a:rPr dirty="0" err="1"/>
              <a:t>va</a:t>
            </a:r>
            <a:r>
              <a:rPr dirty="0"/>
              <a:t> el </a:t>
            </a:r>
            <a:r>
              <a:rPr dirty="0" err="1"/>
              <a:t>tiempo</a:t>
            </a:r>
            <a:r>
              <a:rPr dirty="0"/>
              <a:t> y el dinero. Y el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espera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horas, no </a:t>
            </a:r>
            <a:r>
              <a:rPr dirty="0" err="1"/>
              <a:t>en</a:t>
            </a:r>
            <a:r>
              <a:rPr dirty="0"/>
              <a:t> días.» Fuente: UNESPA (</a:t>
            </a:r>
            <a:r>
              <a:rPr dirty="0" err="1"/>
              <a:t>siniestros</a:t>
            </a:r>
            <a:r>
              <a:rPr dirty="0"/>
              <a:t> de </a:t>
            </a:r>
            <a:r>
              <a:rPr dirty="0" err="1"/>
              <a:t>automóvil</a:t>
            </a:r>
            <a:r>
              <a:rPr dirty="0"/>
              <a:t>). El 10-12 % </a:t>
            </a:r>
            <a:r>
              <a:rPr dirty="0" err="1"/>
              <a:t>viene</a:t>
            </a:r>
            <a:r>
              <a:rPr dirty="0"/>
              <a:t> de </a:t>
            </a:r>
            <a:r>
              <a:rPr dirty="0" err="1"/>
              <a:t>fuente</a:t>
            </a:r>
            <a:r>
              <a:rPr dirty="0"/>
              <a:t> </a:t>
            </a:r>
            <a:r>
              <a:rPr dirty="0" err="1"/>
              <a:t>secundaria</a:t>
            </a:r>
            <a:r>
              <a:rPr dirty="0"/>
              <a:t>: </a:t>
            </a:r>
            <a:r>
              <a:rPr dirty="0" err="1"/>
              <a:t>verificar</a:t>
            </a:r>
            <a:r>
              <a:rPr dirty="0"/>
              <a:t> antes de </a:t>
            </a:r>
            <a:r>
              <a:rPr dirty="0" err="1"/>
              <a:t>presentar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(3-4 min)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. La idea es </a:t>
            </a:r>
            <a:r>
              <a:rPr dirty="0" err="1"/>
              <a:t>quitar</a:t>
            </a:r>
            <a:r>
              <a:rPr dirty="0"/>
              <a:t> de la mesa la </a:t>
            </a:r>
            <a:r>
              <a:rPr dirty="0" err="1"/>
              <a:t>pregunta</a:t>
            </a:r>
            <a:r>
              <a:rPr dirty="0"/>
              <a:t> «¿la IA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hacerlo</a:t>
            </a:r>
            <a:r>
              <a:rPr dirty="0"/>
              <a:t>?» para pasar a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(4-6 min) «Los </a:t>
            </a:r>
            <a:r>
              <a:rPr dirty="0" err="1"/>
              <a:t>proyectos</a:t>
            </a:r>
            <a:r>
              <a:rPr dirty="0"/>
              <a:t> no </a:t>
            </a:r>
            <a:r>
              <a:rPr dirty="0" err="1"/>
              <a:t>mueren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 IA </a:t>
            </a:r>
            <a:r>
              <a:rPr dirty="0" err="1"/>
              <a:t>falle</a:t>
            </a:r>
            <a:r>
              <a:rPr dirty="0"/>
              <a:t>. </a:t>
            </a:r>
            <a:r>
              <a:rPr dirty="0" err="1"/>
              <a:t>Mueren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responder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: ¿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decidió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?, ¿</a:t>
            </a:r>
            <a:r>
              <a:rPr dirty="0" err="1"/>
              <a:t>quién</a:t>
            </a:r>
            <a:r>
              <a:rPr dirty="0"/>
              <a:t> lo </a:t>
            </a:r>
            <a:r>
              <a:rPr dirty="0" err="1"/>
              <a:t>controla</a:t>
            </a:r>
            <a:r>
              <a:rPr dirty="0"/>
              <a:t>?, ¿</a:t>
            </a:r>
            <a:r>
              <a:rPr dirty="0" err="1"/>
              <a:t>cuánto</a:t>
            </a:r>
            <a:r>
              <a:rPr dirty="0"/>
              <a:t> cuesta?»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 son el </a:t>
            </a:r>
            <a:r>
              <a:rPr dirty="0" err="1"/>
              <a:t>hilo</a:t>
            </a:r>
            <a:r>
              <a:rPr dirty="0"/>
              <a:t> de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sesión</a:t>
            </a:r>
            <a:r>
              <a:rPr dirty="0"/>
              <a:t>. </a:t>
            </a:r>
            <a:r>
              <a:rPr dirty="0" err="1"/>
              <a:t>Motivos</a:t>
            </a:r>
            <a:r>
              <a:rPr dirty="0"/>
              <a:t> de </a:t>
            </a:r>
            <a:r>
              <a:rPr dirty="0" err="1"/>
              <a:t>cancelación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Gartner: </a:t>
            </a:r>
            <a:r>
              <a:rPr dirty="0" err="1"/>
              <a:t>costes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disparan</a:t>
            </a:r>
            <a:r>
              <a:rPr dirty="0"/>
              <a:t>, valor poco claro, </a:t>
            </a:r>
            <a:r>
              <a:rPr dirty="0" err="1"/>
              <a:t>riesgo</a:t>
            </a:r>
            <a:r>
              <a:rPr dirty="0"/>
              <a:t> sin </a:t>
            </a:r>
            <a:r>
              <a:rPr dirty="0" err="1"/>
              <a:t>controlar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(6-9 min) «Un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firma</a:t>
            </a:r>
            <a:r>
              <a:rPr dirty="0"/>
              <a:t> sin </a:t>
            </a:r>
            <a:r>
              <a:rPr dirty="0" err="1"/>
              <a:t>mirar</a:t>
            </a:r>
            <a:r>
              <a:rPr dirty="0"/>
              <a:t> no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supervisión</a:t>
            </a:r>
            <a:r>
              <a:rPr dirty="0"/>
              <a:t>: lo </a:t>
            </a:r>
            <a:r>
              <a:rPr dirty="0" err="1"/>
              <a:t>dijo</a:t>
            </a:r>
            <a:r>
              <a:rPr dirty="0"/>
              <a:t> el TJUE. Y el </a:t>
            </a:r>
            <a:r>
              <a:rPr dirty="0" err="1"/>
              <a:t>aplazamiento</a:t>
            </a:r>
            <a:r>
              <a:rPr dirty="0"/>
              <a:t> no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excusa</a:t>
            </a:r>
            <a:r>
              <a:rPr dirty="0"/>
              <a:t>: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construya</a:t>
            </a:r>
            <a:r>
              <a:rPr dirty="0"/>
              <a:t> sin </a:t>
            </a:r>
            <a:r>
              <a:rPr dirty="0" err="1"/>
              <a:t>gobierno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lo </a:t>
            </a:r>
            <a:r>
              <a:rPr dirty="0" err="1"/>
              <a:t>rehará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2027.» Cuidado: el </a:t>
            </a:r>
            <a:r>
              <a:rPr dirty="0" err="1"/>
              <a:t>triaje</a:t>
            </a:r>
            <a:r>
              <a:rPr dirty="0"/>
              <a:t> de </a:t>
            </a:r>
            <a:r>
              <a:rPr dirty="0" err="1"/>
              <a:t>siniestros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Anexo III (solo la </a:t>
            </a:r>
            <a:r>
              <a:rPr dirty="0" err="1"/>
              <a:t>tarificación</a:t>
            </a:r>
            <a:r>
              <a:rPr dirty="0"/>
              <a:t> y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Vida y Salud). No </a:t>
            </a:r>
            <a:r>
              <a:rPr dirty="0" err="1"/>
              <a:t>decir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AI Act </a:t>
            </a:r>
            <a:r>
              <a:rPr dirty="0" err="1"/>
              <a:t>obliga</a:t>
            </a:r>
            <a:r>
              <a:rPr dirty="0"/>
              <a:t> hoy a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; la </a:t>
            </a:r>
            <a:r>
              <a:rPr dirty="0" err="1"/>
              <a:t>obligación</a:t>
            </a:r>
            <a:r>
              <a:rPr dirty="0"/>
              <a:t> de hoy </a:t>
            </a:r>
            <a:r>
              <a:rPr dirty="0" err="1"/>
              <a:t>viene</a:t>
            </a:r>
            <a:r>
              <a:rPr dirty="0"/>
              <a:t> del RGPD, DORA y EIOPA.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(9-10 min) No </a:t>
            </a:r>
            <a:r>
              <a:rPr dirty="0" err="1"/>
              <a:t>decir</a:t>
            </a:r>
            <a:r>
              <a:rPr dirty="0"/>
              <a:t> «no </a:t>
            </a:r>
            <a:r>
              <a:rPr dirty="0" err="1"/>
              <a:t>existe</a:t>
            </a:r>
            <a:r>
              <a:rPr dirty="0"/>
              <a:t> nada». </a:t>
            </a:r>
            <a:r>
              <a:rPr dirty="0" err="1"/>
              <a:t>Existen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;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es </a:t>
            </a:r>
            <a:r>
              <a:rPr dirty="0" err="1"/>
              <a:t>integrarlas</a:t>
            </a:r>
            <a:r>
              <a:rPr dirty="0"/>
              <a:t> con el </a:t>
            </a:r>
            <a:r>
              <a:rPr dirty="0" err="1"/>
              <a:t>negocio</a:t>
            </a:r>
            <a:r>
              <a:rPr dirty="0"/>
              <a:t> del </a:t>
            </a:r>
            <a:r>
              <a:rPr dirty="0" err="1"/>
              <a:t>cliente</a:t>
            </a:r>
            <a:r>
              <a:rPr dirty="0"/>
              <a:t>. Si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«¿</a:t>
            </a:r>
            <a:r>
              <a:rPr dirty="0" err="1"/>
              <a:t>cuánto</a:t>
            </a:r>
            <a:r>
              <a:rPr dirty="0"/>
              <a:t> cuesta?», la </a:t>
            </a:r>
            <a:r>
              <a:rPr dirty="0" err="1"/>
              <a:t>respuesta</a:t>
            </a:r>
            <a:r>
              <a:rPr dirty="0"/>
              <a:t> es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forma de </a:t>
            </a:r>
            <a:r>
              <a:rPr dirty="0" err="1"/>
              <a:t>implementar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licencia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(10-12 min) «No es </a:t>
            </a:r>
            <a:r>
              <a:rPr dirty="0" err="1"/>
              <a:t>una</a:t>
            </a:r>
            <a:r>
              <a:rPr dirty="0"/>
              <a:t> IA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. Son cuatro </a:t>
            </a:r>
            <a:r>
              <a:rPr dirty="0" err="1"/>
              <a:t>especialistas</a:t>
            </a:r>
            <a:r>
              <a:rPr dirty="0"/>
              <a:t>, y </a:t>
            </a:r>
            <a:r>
              <a:rPr dirty="0" err="1"/>
              <a:t>cada</a:t>
            </a:r>
            <a:r>
              <a:rPr dirty="0"/>
              <a:t> uno </a:t>
            </a:r>
            <a:r>
              <a:rPr dirty="0" err="1"/>
              <a:t>tiene</a:t>
            </a:r>
            <a:r>
              <a:rPr dirty="0"/>
              <a:t> sus </a:t>
            </a:r>
            <a:r>
              <a:rPr dirty="0" err="1"/>
              <a:t>propios</a:t>
            </a:r>
            <a:r>
              <a:rPr dirty="0"/>
              <a:t> </a:t>
            </a:r>
            <a:r>
              <a:rPr dirty="0" err="1"/>
              <a:t>límites</a:t>
            </a:r>
            <a:r>
              <a:rPr dirty="0"/>
              <a:t>.» Por </a:t>
            </a:r>
            <a:r>
              <a:rPr dirty="0" err="1"/>
              <a:t>debajo</a:t>
            </a:r>
            <a:r>
              <a:rPr dirty="0"/>
              <a:t>, la </a:t>
            </a:r>
            <a:r>
              <a:rPr dirty="0" err="1"/>
              <a:t>capa</a:t>
            </a:r>
            <a:r>
              <a:rPr dirty="0"/>
              <a:t> de </a:t>
            </a:r>
            <a:r>
              <a:rPr dirty="0" err="1"/>
              <a:t>gobierno</a:t>
            </a:r>
            <a:r>
              <a:rPr dirty="0"/>
              <a:t>: </a:t>
            </a:r>
            <a:r>
              <a:rPr dirty="0" err="1"/>
              <a:t>trazas</a:t>
            </a:r>
            <a:r>
              <a:rPr dirty="0"/>
              <a:t>, replay, </a:t>
            </a:r>
            <a:r>
              <a:rPr dirty="0" err="1"/>
              <a:t>autonomía</a:t>
            </a:r>
            <a:r>
              <a:rPr dirty="0"/>
              <a:t>, guardrails, FinOps e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Al final </a:t>
            </a:r>
            <a:r>
              <a:rPr dirty="0" err="1"/>
              <a:t>siempre</a:t>
            </a:r>
            <a:r>
              <a:rPr dirty="0"/>
              <a:t> hay un </a:t>
            </a:r>
            <a:r>
              <a:rPr dirty="0" err="1"/>
              <a:t>técnico</a:t>
            </a:r>
            <a:r>
              <a:rPr dirty="0"/>
              <a:t> de </a:t>
            </a:r>
            <a:r>
              <a:rPr dirty="0" err="1"/>
              <a:t>seguros</a:t>
            </a:r>
            <a:r>
              <a:rPr dirty="0"/>
              <a:t>: la IA </a:t>
            </a:r>
            <a:r>
              <a:rPr dirty="0" err="1"/>
              <a:t>prepara</a:t>
            </a:r>
            <a:r>
              <a:rPr dirty="0"/>
              <a:t>, la persona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(12-14 min) «Todo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decir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lo </a:t>
            </a:r>
            <a:r>
              <a:rPr dirty="0" err="1"/>
              <a:t>vais</a:t>
            </a:r>
            <a:r>
              <a:rPr dirty="0"/>
              <a:t> a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funcionando</a:t>
            </a:r>
            <a:r>
              <a:rPr dirty="0"/>
              <a:t>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(14-15 min) «Primero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el </a:t>
            </a:r>
            <a:r>
              <a:rPr dirty="0" err="1"/>
              <a:t>tramitador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el auditor y el CFO.» Cambiar a la demo con el motor </a:t>
            </a:r>
            <a:r>
              <a:rPr dirty="0" err="1"/>
              <a:t>en</a:t>
            </a:r>
            <a:r>
              <a:rPr dirty="0"/>
              <a:t> «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guardados</a:t>
            </a:r>
            <a:r>
              <a:rPr dirty="0"/>
              <a:t>» y el </a:t>
            </a:r>
            <a:r>
              <a:rPr dirty="0" err="1"/>
              <a:t>Paquete</a:t>
            </a:r>
            <a:r>
              <a:rPr dirty="0"/>
              <a:t> A </a:t>
            </a:r>
            <a:r>
              <a:rPr dirty="0" err="1"/>
              <a:t>seleccionado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7709211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9" y="3099759"/>
            <a:ext cx="8653861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327276-C6D2-51DD-7433-FF4EC440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599" y="5167076"/>
            <a:ext cx="2687411" cy="24984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solidFill>
                  <a:schemeClr val="bg1"/>
                </a:solidFill>
                <a:latin typeface="+mn-lt"/>
                <a:ea typeface="Roboto Slab" pitchFamily="2" charset="0"/>
              </a:defRPr>
            </a:lvl1pPr>
          </a:lstStyle>
          <a:p>
            <a:fld id="{E453CB44-D933-4174-8CBB-ADEE1E6C3E6E}" type="datetime6">
              <a:rPr lang="en-GB" smtClean="0"/>
              <a:pPr/>
              <a:t>October 26</a:t>
            </a:fld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B148E28-3B35-1678-D418-E6DCE4AAAE9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2596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362612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358775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6C88E4-8019-3498-683D-06721620533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67252227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98764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2812701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0987F2-4C3A-6B51-537F-52E468C1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DC93F5-2011-58D4-1782-38651928FE4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3163528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D637E3-F841-2D06-46A2-7A75CFC0128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4732902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9AF041-7FE4-8E72-16FA-B7B093756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87BA298-B3A7-D63A-01E6-46BA66A3778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26389306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0D3F-35DD-669C-4E04-5FD5144AD81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35328736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DFFC08-FB73-C885-6B47-6BA28583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AAC242-D1ED-AF35-63F5-AC46C90D8E3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7969309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177480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25484236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6527526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86C2A2F-9EB4-7D4F-CF5E-A747856D4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33F21E3-CAAA-8747-683A-A96583D3DC51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755608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7FA9D4-BEB0-A09E-4298-A0EE819782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8BE0C6E-1FA3-7528-72A5-BF3F9232E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E59AD4-27DA-9B84-925A-539F21F0B4C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5022188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3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81708C-B351-2798-CE06-F68D495AF0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14BF72-824A-AB1D-B89B-5C07C016946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9B4E89-017D-EA89-D384-CAA21A280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9975AA-365E-F0F7-B6A4-C86F87AF4A8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1300736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49877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9C3E0-83EB-6264-8CDF-22AAF8CAB992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D6499A-F9B2-E514-8A32-800319EBC15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114612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C49CE-6C20-5F08-A00E-E9DA79B418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FE8D-50F2-1958-99B8-B3A36E1F5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43B595-F912-FD25-DA9D-463645B2EF8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6010066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98589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328135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EE180D-E692-5018-47EC-92A6AE1810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3846-F94B-039B-852B-86D94A896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E3C0033-79E8-320F-3EF9-E64D9370CDF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32645623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858B7D-70A1-EE68-CD20-71B9B4CA7F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83962-E666-AEE5-6202-2B9382F01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73D27C-AD05-ECB0-DD9B-AE1C2484773E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9808926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47126E-216D-C391-208D-BB929A71EC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5BD8753-EE4F-7BE4-C865-CF6E9583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2F1400-6EE5-0A84-DBBA-24A941E3F24D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9534481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A42FA-125C-22CD-4278-0A67C8934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9A6DC0-D8D5-3EC9-7DBC-E552715DB7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391155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1799FC-469F-580B-48DA-9BC46B48A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842039-D254-86F5-6E93-608F88B6D0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53043711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F7C06E8A-CBF1-05D3-A6EB-A7249CFCE25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9939203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712074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9110389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56ABECD5-69C2-01F6-AA6E-D98E25B0FE6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B11-2672-9B16-AFAE-2027CDA4F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51362F1-4717-4465-7E09-063D89E8059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99395048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0">
            <a:extLst>
              <a:ext uri="{FF2B5EF4-FFF2-40B4-BE49-F238E27FC236}">
                <a16:creationId xmlns:a16="http://schemas.microsoft.com/office/drawing/2014/main" id="{0EF485AE-CDCF-333F-BBE8-EF458BC8691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4C0AB-8FCF-2FCA-039B-DE0760D46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F263407-8A16-1A30-C969-918D44E0F7B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62083419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0">
            <a:extLst>
              <a:ext uri="{FF2B5EF4-FFF2-40B4-BE49-F238E27FC236}">
                <a16:creationId xmlns:a16="http://schemas.microsoft.com/office/drawing/2014/main" id="{6F8BAC4A-9084-01CA-B106-3AB00C0DFD3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ED57B3A-1189-DEAE-9184-DD769F03C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28850C5-5D11-343B-27A2-07C114CCF2E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5211008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92D475C8-E86F-9AAF-1527-5F7C298407F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3324430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6A574E42-9543-D779-8EB7-2C538C77731B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CF1B8-EB8B-F36D-1158-90FE4F528D9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AE4310-0013-FF05-48A7-F65D1DD9E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1621DE-885A-25FD-387C-E6916A70151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99749779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21E75C-54D2-1EC4-58CA-F69BEE5292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63187526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73886859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340967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B58DC8-5901-7B11-5F4B-21F3E1EE9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965D87-A8FC-34AE-DC28-6CC329F49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4FEC87-C30A-FD9E-CBE3-D7ED86D6D84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766387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37B4F-A21E-7D41-08AF-8E0768389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990115-D860-EEA0-F01D-766963A53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817ED54-318F-5696-DEBF-15214F78232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76181384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530C6C-8E37-041B-074C-63EDA20F18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373795-3254-679C-59E2-782654991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85E77-736B-2725-053E-8F07217C4BD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442113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9EBBF-FF78-466E-2EE5-04BB33BC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A00C6F3-88A1-CAF2-BE79-B535F3EDB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339B7A-057A-1605-D614-26906536782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022041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455A05-7234-2683-78DA-B2B18F90A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496F57-92C5-2726-5037-7C5661E2FF9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4180867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4482687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3599" y="3099759"/>
            <a:ext cx="4482687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To edit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9047-3BA6-1228-99FC-3B406BF2F0D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6162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0">
            <a:extLst>
              <a:ext uri="{FF2B5EF4-FFF2-40B4-BE49-F238E27FC236}">
                <a16:creationId xmlns:a16="http://schemas.microsoft.com/office/drawing/2014/main" id="{19C2A041-55EE-50E0-6893-655ACB93D4D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897F45-4856-0508-472A-A886A70DD88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AE017B-85BA-45CF-9E93-A6B67CF24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7186697" cy="648000"/>
          </a:xfrm>
        </p:spPr>
        <p:txBody>
          <a:bodyPr anchor="ctr" anchorCtr="0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1C17C7-87A8-4096-AA87-B54E1020D4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600" y="3166877"/>
            <a:ext cx="3095625" cy="1041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/>
            </a:lvl4pPr>
            <a:lvl5pPr>
              <a:spcAft>
                <a:spcPts val="0"/>
              </a:spcAft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9616B-69D4-FF49-A2CC-47F9D9FE5395}"/>
              </a:ext>
            </a:extLst>
          </p:cNvPr>
          <p:cNvSpPr txBox="1"/>
          <p:nvPr userDrawn="1"/>
        </p:nvSpPr>
        <p:spPr>
          <a:xfrm>
            <a:off x="633600" y="6213687"/>
            <a:ext cx="1569552" cy="184666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pPr algn="l"/>
            <a:r>
              <a:rPr lang="en-US" sz="1200" b="0" i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www.logicalis.com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86C905-64BE-4506-8C3E-41AF052ACC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176111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Black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37170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D339-BB19-4043-A166-4FFEA6AB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51202" cy="432000"/>
          </a:xfrm>
          <a:prstGeom prst="rect">
            <a:avLst/>
          </a:prstGeom>
          <a:solidFill>
            <a:srgbClr val="FF1414"/>
          </a:solidFill>
        </p:spPr>
        <p:txBody>
          <a:bodyPr vert="horz" wrap="square" lIns="72000" tIns="36000" rIns="72000" bIns="360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FAE61-913B-4243-9F6F-41F836C7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417" y="1308944"/>
            <a:ext cx="11225167" cy="36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ED1DBC-3E6C-A386-4841-19F228B62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‹Nº›</a:t>
            </a:fld>
            <a:endParaRPr lang="en-GB" sz="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04ACAE-EE43-8A60-F34C-23DD4D038152}"/>
              </a:ext>
            </a:extLst>
          </p:cNvPr>
          <p:cNvPicPr/>
          <p:nvPr userDrawn="1"/>
        </p:nvPicPr>
        <p:blipFill>
          <a:blip r:embed="rId45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AE6ED0-2B14-2B0D-C9F0-EB643D210B4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8636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9" r:id="rId2"/>
    <p:sldLayoutId id="2147483730" r:id="rId3"/>
    <p:sldLayoutId id="2147483765" r:id="rId4"/>
    <p:sldLayoutId id="2147483731" r:id="rId5"/>
    <p:sldLayoutId id="2147483732" r:id="rId6"/>
    <p:sldLayoutId id="2147483733" r:id="rId7"/>
    <p:sldLayoutId id="2147483697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677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04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26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684" r:id="rId40"/>
    <p:sldLayoutId id="2147483764" r:id="rId41"/>
    <p:sldLayoutId id="2147483727" r:id="rId42"/>
    <p:sldLayoutId id="2147483672" r:id="rId43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bg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90000"/>
        <a:buFont typeface="Arial" panose="020B0604020202020204" pitchFamily="34" charset="0"/>
        <a:buNone/>
        <a:defRPr sz="2000" b="0" i="0" kern="1200">
          <a:solidFill>
            <a:schemeClr val="accent1"/>
          </a:solidFill>
          <a:latin typeface="Roboto Slab" pitchFamily="2" charset="0"/>
          <a:ea typeface="Roboto Slab" pitchFamily="2" charset="0"/>
          <a:cs typeface="Times New Roman" panose="02020603050405020304" pitchFamily="18" charset="0"/>
        </a:defRPr>
      </a:lvl2pPr>
      <a:lvl3pPr marL="25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3pPr>
      <a:lvl4pPr marL="540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4pPr>
      <a:lvl5pPr marL="79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90000"/>
        <a:buFont typeface="Monaco" pitchFamily="2" charset="77"/>
        <a:buChar char="⎻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98">
          <p15:clr>
            <a:srgbClr val="F26B43"/>
          </p15:clr>
        </p15:guide>
        <p15:guide id="4" pos="7197">
          <p15:clr>
            <a:srgbClr val="F26B43"/>
          </p15:clr>
        </p15:guide>
        <p15:guide id="5" orient="horz" pos="1132">
          <p15:clr>
            <a:srgbClr val="F26B43"/>
          </p15:clr>
        </p15:guide>
        <p15:guide id="6" orient="horz" pos="3401">
          <p15:clr>
            <a:srgbClr val="F26B43"/>
          </p15:clr>
        </p15:guide>
        <p15:guide id="7" orient="horz" pos="489">
          <p15:clr>
            <a:srgbClr val="F26B43"/>
          </p15:clr>
        </p15:guide>
        <p15:guide id="8" orient="horz" pos="125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21E48-B7DB-6CFD-42FD-BACF049CF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286000"/>
            <a:ext cx="4837938" cy="688848"/>
          </a:xfrm>
        </p:spPr>
        <p:txBody>
          <a:bodyPr wrap="none" anchor="ctr">
            <a:noAutofit/>
          </a:bodyPr>
          <a:lstStyle/>
          <a:p>
            <a:r>
              <a:rPr lang="en-PT" sz="4200"/>
              <a:t>FNOL con agentes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839338-4607-518B-5A15-89D10D8B7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066288"/>
            <a:ext cx="3202178" cy="688848"/>
          </a:xfrm>
        </p:spPr>
        <p:txBody>
          <a:bodyPr wrap="none" anchor="ctr">
            <a:noAutofit/>
          </a:bodyPr>
          <a:lstStyle/>
          <a:p>
            <a:r>
              <a:rPr lang="pt-PT" sz="4200" err="1"/>
              <a:t>gobernados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4D23A1D-92A7-B8F8-A6A5-CA7C51F45A8F}"/>
              </a:ext>
            </a:extLst>
          </p:cNvPr>
          <p:cNvSpPr txBox="1">
            <a:spLocks/>
          </p:cNvSpPr>
          <p:nvPr/>
        </p:nvSpPr>
        <p:spPr>
          <a:xfrm>
            <a:off x="630936" y="4797552"/>
            <a:ext cx="4572000" cy="356616"/>
          </a:xfrm>
          <a:prstGeom prst="rect">
            <a:avLst/>
          </a:prstGeom>
          <a:noFill/>
        </p:spPr>
        <p:txBody>
          <a:bodyPr vert="horz" wrap="square" lIns="72000" tIns="36000" rIns="72000" bIns="360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r>
              <a:rPr lang="en-PT" sz="1200">
                <a:latin typeface="Montserrat" pitchFamily="2" charset="77"/>
              </a:rPr>
              <a:t>Octubre 2026</a:t>
            </a:r>
          </a:p>
        </p:txBody>
      </p:sp>
      <p:pic>
        <p:nvPicPr>
          <p:cNvPr id="7" name="Picture 6" descr="A person with her arms crossed&#10;&#10;Description automatically generated">
            <a:extLst>
              <a:ext uri="{FF2B5EF4-FFF2-40B4-BE49-F238E27FC236}">
                <a16:creationId xmlns:a16="http://schemas.microsoft.com/office/drawing/2014/main" id="{B28B268F-CE6A-5453-5C27-75301FD4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78" y="1346330"/>
            <a:ext cx="8553692" cy="5511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3983736"/>
            <a:ext cx="5303520" cy="6766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Montserrat Medium"/>
              </a:rPr>
              <a:t>De la IA que clasifica a la IA que se puede poner en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181600"/>
            <a:ext cx="2574289" cy="292608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100">
                <a:solidFill>
                  <a:srgbClr val="FFFFFF"/>
                </a:solidFill>
                <a:latin typeface="Montserrat Medium"/>
              </a:rPr>
              <a:t>Presentado por Ignacio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1445768" cy="429768"/>
          </a:xfrm>
        </p:spPr>
        <p:txBody>
          <a:bodyPr wrap="none"/>
          <a:lstStyle/>
          <a:p>
            <a:r>
              <a:rPr sz="2600"/>
              <a:t>Agenda</a:t>
            </a:r>
          </a:p>
        </p:txBody>
      </p:sp>
      <p:pic>
        <p:nvPicPr>
          <p:cNvPr id="3" name="Picture 2" descr="wave_symbo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303520" cy="2515857"/>
          </a:xfrm>
          <a:prstGeom prst="rect">
            <a:avLst/>
          </a:prstGeom>
        </p:spPr>
      </p:pic>
      <p:sp>
        <p:nvSpPr>
          <p:cNvPr id="4" name="AGENDA_ITEMS"/>
          <p:cNvSpPr txBox="1"/>
          <p:nvPr/>
        </p:nvSpPr>
        <p:spPr>
          <a:xfrm>
            <a:off x="484632" y="1600200"/>
            <a:ext cx="6949440" cy="4572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noAutofit/>
          </a:bodyPr>
          <a:lstStyle/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01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problema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02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marco normativo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03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solución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04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x_photo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6928"/>
            <a:ext cx="6035040" cy="5683392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6720840" y="2331720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01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6720840" y="2788920"/>
            <a:ext cx="2595118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3851147" cy="429768"/>
          </a:xfrm>
        </p:spPr>
        <p:txBody>
          <a:bodyPr wrap="none"/>
          <a:lstStyle/>
          <a:p>
            <a:r>
              <a:rPr sz="2600"/>
              <a:t>La avalancha de avisos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4</a:t>
            </a:fld>
            <a:endParaRPr lang="es-E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" y="1536192"/>
          <a:ext cx="11228831" cy="297941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24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3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69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95959"/>
                          </a:solidFill>
                          <a:latin typeface="Montserrat Medium"/>
                        </a:rPr>
                        <a:t>~11 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95959"/>
                          </a:solidFill>
                          <a:latin typeface="Montserrat Medium"/>
                        </a:rPr>
                        <a:t>siniestros de Auto al año en España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95959"/>
                          </a:solidFill>
                          <a:latin typeface="Montserrat Medium"/>
                        </a:rPr>
                        <a:t>1 cada 3 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95959"/>
                          </a:solidFill>
                          <a:latin typeface="Montserrat Medium"/>
                        </a:rPr>
                        <a:t>ritmo al que el seguro atiende un percance en carretera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95959"/>
                          </a:solidFill>
                          <a:latin typeface="Montserrat Medium"/>
                        </a:rPr>
                        <a:t>5 canales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95959"/>
                          </a:solidFill>
                          <a:latin typeface="Montserrat Medium"/>
                        </a:rPr>
                        <a:t>email, WhatsApp, chat, formulario web y teléfono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95959"/>
                          </a:solidFill>
                          <a:latin typeface="Montserrat Medium"/>
                        </a:rPr>
                        <a:t>7 días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95959"/>
                          </a:solidFill>
                          <a:latin typeface="Montserrat Medium"/>
                        </a:rPr>
                        <a:t>plazo para comunicar el siniestro (art. 16 LCS)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95959"/>
                          </a:solidFill>
                          <a:latin typeface="Montserrat Medium"/>
                        </a:rPr>
                        <a:t>10-12 %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95959"/>
                          </a:solidFill>
                          <a:latin typeface="Montserrat Medium"/>
                        </a:rPr>
                        <a:t>de la prima se va en gestionar siniestros (Auto)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4221988" cy="429768"/>
          </a:xfrm>
        </p:spPr>
        <p:txBody>
          <a:bodyPr wrap="none"/>
          <a:lstStyle/>
          <a:p>
            <a:r>
              <a:rPr sz="2600"/>
              <a:t>Clasificar ya está resuelto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399032"/>
            <a:ext cx="5861304" cy="4864607"/>
          </a:xfrm>
        </p:spPr>
        <p:txBody>
          <a:bodyPr anchor="t">
            <a:no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Un prompt bien escrito clasifica por ramo y extrae datos con más de un 90 % de acierto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Funciona con texto informal, faltas de ortografía y transcripciones telefónicas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Se monta en una tarde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 b="1"/>
              <a:t>Esto ya no diferencia a nadie.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5</a:t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6373367" cy="429768"/>
          </a:xfrm>
        </p:spPr>
        <p:txBody>
          <a:bodyPr wrap="none"/>
          <a:lstStyle/>
          <a:p>
            <a:r>
              <a:rPr sz="2600"/>
              <a:t>El problema real: de piloto a producción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6</a:t>
            </a:fld>
            <a:endParaRPr lang="es-ES"/>
          </a:p>
        </p:txBody>
      </p:sp>
      <p:sp>
        <p:nvSpPr>
          <p:cNvPr id="6" name="TextBox 5"/>
          <p:cNvSpPr txBox="1"/>
          <p:nvPr/>
        </p:nvSpPr>
        <p:spPr>
          <a:xfrm>
            <a:off x="667512" y="2528315"/>
            <a:ext cx="2441448" cy="1097280"/>
          </a:xfrm>
          <a:prstGeom prst="rect">
            <a:avLst/>
          </a:prstGeom>
          <a:noFill/>
        </p:spPr>
        <p:txBody>
          <a:bodyPr wrap="none" lIns="45720" tIns="27432" rIns="45720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&gt;90 %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3899915"/>
            <a:ext cx="2441448" cy="23637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de las aseguradoras prueba 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39" y="2528315"/>
            <a:ext cx="0" cy="265176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0" y="2528315"/>
            <a:ext cx="2441448" cy="1097280"/>
          </a:xfrm>
          <a:prstGeom prst="rect">
            <a:avLst/>
          </a:prstGeom>
          <a:noFill/>
        </p:spPr>
        <p:txBody>
          <a:bodyPr wrap="none" lIns="45720" tIns="27432" rIns="45720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22 %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8727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4720" y="3899915"/>
            <a:ext cx="2441448" cy="23637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la tiene en producción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528315"/>
            <a:ext cx="0" cy="265176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81928" y="2528315"/>
            <a:ext cx="2441448" cy="1097280"/>
          </a:xfrm>
          <a:prstGeom prst="rect">
            <a:avLst/>
          </a:prstGeom>
          <a:noFill/>
        </p:spPr>
        <p:txBody>
          <a:bodyPr wrap="none" lIns="45720" tIns="27432" rIns="45720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4 %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45936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81928" y="3899915"/>
            <a:ext cx="2441448" cy="23637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tiene agentes en producción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06255" y="2528315"/>
            <a:ext cx="0" cy="265176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89135" y="2528315"/>
            <a:ext cx="2441448" cy="1097280"/>
          </a:xfrm>
          <a:prstGeom prst="rect">
            <a:avLst/>
          </a:prstGeom>
          <a:noFill/>
        </p:spPr>
        <p:txBody>
          <a:bodyPr wrap="none" lIns="45720" tIns="27432" rIns="45720" bIns="27432" anchor="b">
            <a:noAutofit/>
          </a:bodyPr>
          <a:lstStyle/>
          <a:p>
            <a:r>
              <a:rPr sz="4400">
                <a:solidFill>
                  <a:srgbClr val="194BFF"/>
                </a:solidFill>
                <a:latin typeface="Roboto Slab"/>
              </a:rPr>
              <a:t>&gt;40 %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53143" y="3762756"/>
            <a:ext cx="758952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89135" y="3899915"/>
            <a:ext cx="2441448" cy="23637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>
                <a:solidFill>
                  <a:srgbClr val="595959"/>
                </a:solidFill>
                <a:latin typeface="Montserrat Medium"/>
              </a:rPr>
              <a:t>de los proyectos agénticos se cancelarán antes de 2027 (Gartner)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E73E-630D-5F6F-93A1-C692F05CA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377440"/>
            <a:ext cx="2427478" cy="660400"/>
          </a:xfrm>
        </p:spPr>
        <p:txBody>
          <a:bodyPr wrap="none" anchor="ctr">
            <a:noAutofit/>
          </a:bodyPr>
          <a:lstStyle/>
          <a:p>
            <a:r>
              <a:rPr sz="4000"/>
              <a:t>El marco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97B2C3-B154-9FFE-9972-3B3059C11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129280"/>
            <a:ext cx="2803397" cy="660400"/>
          </a:xfrm>
        </p:spPr>
        <p:txBody>
          <a:bodyPr wrap="none" anchor="ctr">
            <a:noAutofit/>
          </a:bodyPr>
          <a:lstStyle/>
          <a:p>
            <a:r>
              <a:rPr sz="4000"/>
              <a:t>normativo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4A87-2D05-B819-27E2-B433509BD9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3188" y="6408738"/>
            <a:ext cx="658812" cy="230187"/>
          </a:xfrm>
        </p:spPr>
        <p:txBody>
          <a:bodyPr/>
          <a:lstStyle/>
          <a:p>
            <a:fld id="{4C86EB02-3AF8-4C19-B0D1-31A9E52C2F89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C48BB-F5E1-0E62-8FFB-51749D3B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186" y="1847900"/>
            <a:ext cx="7772396" cy="5010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1874519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400">
                <a:solidFill>
                  <a:srgbClr val="FFFFFF"/>
                </a:solidFill>
                <a:latin typeface="Roboto Slab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4271517" cy="429768"/>
          </a:xfrm>
        </p:spPr>
        <p:txBody>
          <a:bodyPr wrap="none"/>
          <a:lstStyle/>
          <a:p>
            <a:r>
              <a:rPr sz="2600"/>
              <a:t>Lo que exige la regulación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sz="1600" b="1">
                <a:solidFill>
                  <a:srgbClr val="194BFF"/>
                </a:solidFill>
                <a:latin typeface="Montserrat"/>
              </a:rPr>
              <a:t>Ya en vigor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RGPD art. 22</a:t>
            </a:r>
            <a:r>
              <a:rPr sz="1400"/>
              <a:t>: derecho a no ser objeto de decisiones solo automatizadas. Según el TJUE (SCHUFA), firmar sin revisar no cuenta como intervención humana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RGPD art. 15</a:t>
            </a:r>
            <a:r>
              <a:rPr sz="1400"/>
              <a:t>: derecho a una explicación con sentido de la lógica aplicada (Dun &amp; Bradstreet)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RGPD art. 9</a:t>
            </a:r>
            <a:r>
              <a:rPr sz="1400"/>
              <a:t>: datos de salud, categoría especial (ramo Salud)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DORA</a:t>
            </a:r>
            <a:r>
              <a:rPr sz="1400"/>
              <a:t>: los proveedores de LLM son terceros TIC (registro, concentración, contratos)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EIOPA (ago. 2025)</a:t>
            </a:r>
            <a:r>
              <a:rPr sz="1400"/>
              <a:t>: gobierno de la IA proporcional para todo uso en seguros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AI Act art. 4 y art. 50</a:t>
            </a:r>
            <a:r>
              <a:rPr sz="1400"/>
              <a:t>: alfabetización en IA y transparencia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6281928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sz="1600" b="1">
                <a:solidFill>
                  <a:srgbClr val="194BFF"/>
                </a:solidFill>
                <a:latin typeface="Montserrat"/>
              </a:rPr>
              <a:t>Lo que llega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AI Act, alto riesgo</a:t>
            </a:r>
            <a:r>
              <a:rPr sz="1400"/>
              <a:t> (Anexo III): obligaciones aplazadas al 2/12/2027 por el Digital Omnibus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Ley Orgánica española de IA</a:t>
            </a:r>
            <a:r>
              <a:rPr sz="1400"/>
              <a:t>: en el Congreso; AESIA y DGSFP como supervisoras</a:t>
            </a:r>
          </a:p>
          <a:p>
            <a:pPr>
              <a:lnSpc>
                <a:spcPct val="140000"/>
              </a:lnSpc>
              <a:spcAft>
                <a:spcPts val="600"/>
              </a:spcAft>
              <a:buClr>
                <a:srgbClr val="FF1414"/>
              </a:buClr>
              <a:buFont typeface="Arial"/>
              <a:buChar char="►"/>
            </a:pPr>
            <a:r>
              <a:rPr sz="1400" b="1"/>
              <a:t>Sanciones</a:t>
            </a:r>
            <a:r>
              <a:rPr sz="1400"/>
              <a:t>: hasta 35 M€ o el 7 % de la facturación global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8</a:t>
            </a:fld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ve_big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611880" y="2185416"/>
            <a:ext cx="9418320" cy="5297805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731520" y="1417319"/>
            <a:ext cx="566928" cy="329184"/>
          </a:xfrm>
          <a:prstGeom prst="rect">
            <a:avLst/>
          </a:prstGeom>
          <a:solidFill>
            <a:srgbClr val="0A2592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03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731520" y="1874519"/>
            <a:ext cx="2489707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La solución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9</a:t>
            </a:fld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008117" cy="429768"/>
          </a:xfrm>
        </p:spPr>
        <p:txBody>
          <a:bodyPr wrap="none"/>
          <a:lstStyle/>
          <a:p>
            <a:r>
              <a:rPr sz="2600"/>
              <a:t>Lo que no existe en el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932432"/>
            <a:ext cx="5431536" cy="4331208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Hay piezas sueltas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Observabilidad de LLM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Plataformas de gobierno y riesgo (GRC) de IA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Estándar de trazas OpenTelemetry GenAI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84632" y="1307592"/>
            <a:ext cx="11228832" cy="396240"/>
          </a:xfrm>
        </p:spPr>
        <p:txBody>
          <a:bodyPr anchor="t">
            <a:noAutofit/>
          </a:bodyPr>
          <a:lstStyle/>
          <a:p>
            <a:r>
              <a:rPr b="1"/>
              <a:t>Esto no es un producto. Es cómo se trabaja hoy con IA en una empresa regulada.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6281928" y="1932432"/>
            <a:ext cx="5431536" cy="4331208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Nadie las une a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 b="1"/>
              <a:t>tu</a:t>
            </a:r>
            <a:r>
              <a:rPr sz="1800"/>
              <a:t> proceso de siniestros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 b="1"/>
              <a:t>tus</a:t>
            </a:r>
            <a:r>
              <a:rPr sz="1800"/>
              <a:t> reglas de negocio por ramo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 b="1"/>
              <a:t>tu</a:t>
            </a:r>
            <a:r>
              <a:rPr sz="1800"/>
              <a:t> contabilidad de costes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10</a:t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7104888" cy="429768"/>
          </a:xfrm>
        </p:spPr>
        <p:txBody>
          <a:bodyPr wrap="none"/>
          <a:lstStyle/>
          <a:p>
            <a:r>
              <a:rPr sz="2600"/>
              <a:t>La solución: agentes pequeños y gobernados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11</a:t>
            </a:fld>
            <a:endParaRPr lang="es-ES"/>
          </a:p>
        </p:txBody>
      </p:sp>
      <p:sp>
        <p:nvSpPr>
          <p:cNvPr id="6" name="Pentagon 5"/>
          <p:cNvSpPr/>
          <p:nvPr/>
        </p:nvSpPr>
        <p:spPr>
          <a:xfrm>
            <a:off x="484632" y="2665475"/>
            <a:ext cx="2377440" cy="1188720"/>
          </a:xfrm>
          <a:prstGeom prst="homePlate">
            <a:avLst>
              <a:gd name="adj" fmla="val 32000"/>
            </a:avLst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7432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Multicanalidad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128515"/>
            <a:ext cx="1965960" cy="20894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recibe el aviso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4037076"/>
            <a:ext cx="548640" cy="0"/>
          </a:xfrm>
          <a:prstGeom prst="line">
            <a:avLst/>
          </a:prstGeom>
          <a:ln w="3175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2697480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27432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02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Clasificación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128515"/>
            <a:ext cx="1965960" cy="20894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ramo del siniestro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4037076"/>
            <a:ext cx="548640" cy="0"/>
          </a:xfrm>
          <a:prstGeom prst="line">
            <a:avLst/>
          </a:prstGeom>
          <a:ln w="3175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4910328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27432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Extracción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4128515"/>
            <a:ext cx="1965960" cy="20894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datos del aviso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47488" y="4037076"/>
            <a:ext cx="548640" cy="0"/>
          </a:xfrm>
          <a:prstGeom prst="line">
            <a:avLst/>
          </a:prstGeom>
          <a:ln w="3175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7123176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27432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04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Reglas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128515"/>
            <a:ext cx="1965960" cy="20894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aplica la póliza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0336" y="4037076"/>
            <a:ext cx="548639" cy="0"/>
          </a:xfrm>
          <a:prstGeom prst="line">
            <a:avLst/>
          </a:prstGeom>
          <a:ln w="3175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9336024" y="2665475"/>
            <a:ext cx="2377440" cy="1188720"/>
          </a:xfrm>
          <a:prstGeom prst="chevron">
            <a:avLst>
              <a:gd name="adj" fmla="val 32000"/>
            </a:avLst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27432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Roboto Slab"/>
              </a:rPr>
              <a:t>05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Aprobado / A revisar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4128515"/>
            <a:ext cx="1965960" cy="20894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>
                <a:solidFill>
                  <a:srgbClr val="595959"/>
                </a:solidFill>
                <a:latin typeface="Montserrat Medium"/>
              </a:rPr>
              <a:t>siempre decide un técnico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73184" y="4037076"/>
            <a:ext cx="548640" cy="0"/>
          </a:xfrm>
          <a:prstGeom prst="line">
            <a:avLst/>
          </a:prstGeom>
          <a:ln w="3175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772658" cy="429768"/>
          </a:xfrm>
        </p:spPr>
        <p:txBody>
          <a:bodyPr wrap="none"/>
          <a:lstStyle/>
          <a:p>
            <a:r>
              <a:rPr sz="2600"/>
              <a:t>Capa de gobierno: cada agente tiene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2237231"/>
            <a:ext cx="5861304" cy="4026408"/>
          </a:xfrm>
        </p:spPr>
        <p:txBody>
          <a:bodyPr anchor="t">
            <a:no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una sola función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su modelo y su versión de prompt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su nivel de autonomía (L0 Manual → L3 Autónomo)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FF1414"/>
              </a:buClr>
              <a:buFont typeface="Arial"/>
              <a:buChar char="►"/>
            </a:pPr>
            <a:r>
              <a:rPr sz="1800"/>
              <a:t>un responsable y unos permisos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84632" y="1307592"/>
            <a:ext cx="5861304" cy="701040"/>
          </a:xfrm>
        </p:spPr>
        <p:txBody>
          <a:bodyPr anchor="t">
            <a:noAutofit/>
          </a:bodyPr>
          <a:lstStyle/>
          <a:p>
            <a:r>
              <a:rPr b="1"/>
              <a:t>Trazas · replay · autonomía · guardrails · FinOps · histórico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0987F2-4C3A-6B51-537F-52E468C1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823458" cy="429768"/>
          </a:xfrm>
        </p:spPr>
        <p:txBody>
          <a:bodyPr wrap="none"/>
          <a:lstStyle/>
          <a:p>
            <a:r>
              <a:rPr sz="2600"/>
              <a:t>Seis pilares, cada uno con su prueba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13</a:t>
            </a:fld>
            <a:endParaRPr lang="es-E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" y="1536192"/>
          <a:ext cx="11228830" cy="362864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43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0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Pilar</a:t>
                      </a:r>
                    </a:p>
                  </a:txBody>
                  <a:tcPr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Cómo se consigue</a:t>
                      </a:r>
                    </a:p>
                  </a:txBody>
                  <a:tcPr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Norma</a:t>
                      </a:r>
                    </a:p>
                  </a:txBody>
                  <a:tcPr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Dónde se ve en la demo</a:t>
                      </a:r>
                    </a:p>
                  </a:txBody>
                  <a:tcPr anchor="ctr">
                    <a:lnB w="6350">
                      <a:solidFill>
                        <a:srgbClr val="D9D9D9"/>
                      </a:solidFill>
                    </a:lnB>
                    <a:solidFill>
                      <a:srgbClr val="19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Seguro por diseño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Guardrails, kill switch, identidad y permisos por agente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DORA · AI Act art. 15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Guardrails, Resumen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Compliance por defecto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Cada decisión deja una traza completa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AI Act art. 12 · RGPD art. 30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Trazabilidad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Auditable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Libro de registro con quién, qué y cuándo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EIOPA · AI Act art. 12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Histórico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Explicable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Regla + evidencia textual; Reasoning replay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RGPD art. 15 y 22 · AI Act art. 13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Ficha del mensaje · Reasoning &amp; Replay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Resiliente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Reintentos, fallback a motor local, degradación de modelo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DORA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Triaje (origen «fallback»), G-07, G-08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5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95959"/>
                          </a:solidFill>
                          <a:latin typeface="Montserrat Medium"/>
                        </a:rPr>
                        <a:t>FinOps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Caps, coste por decisión, comparativa de modelos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Solvencia II (gobierno)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95959"/>
                          </a:solidFill>
                          <a:latin typeface="Montserrat Medium"/>
                        </a:rPr>
                        <a:t>Gobierno › FinOps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x_photo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6928"/>
            <a:ext cx="6035040" cy="5683392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6720840" y="2331720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04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6720840" y="2788920"/>
            <a:ext cx="1925827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La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2469388" cy="429768"/>
          </a:xfrm>
        </p:spPr>
        <p:txBody>
          <a:bodyPr wrap="none"/>
          <a:lstStyle/>
          <a:p>
            <a:r>
              <a:rPr sz="2600"/>
              <a:t>Vamos a verlo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Triaje FNOL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Lo que ve el tramitador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¿Qué hace el sistema con cada aviso?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6281928" y="1399032"/>
            <a:ext cx="5431536" cy="4864607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194BFF"/>
                </a:solidFill>
                <a:latin typeface="Montserrat"/>
              </a:rPr>
              <a:t>Gobierno de Agentes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Lo que ven riesgos, auditoría y finanzas</a:t>
            </a: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sz="1800"/>
              <a:t>¿Podemos fiarnos, controlarlo y pagarlo?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15</a:t>
            </a:fld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2104390" cy="648000"/>
          </a:xfrm>
        </p:spPr>
        <p:txBody>
          <a:bodyPr wrap="none"/>
          <a:lstStyle/>
          <a:p>
            <a:r>
              <a:t>Gracias</a:t>
            </a:r>
          </a:p>
        </p:txBody>
      </p:sp>
      <p:pic>
        <p:nvPicPr>
          <p:cNvPr id="4" name="Picture 3" descr="hex_photo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50392"/>
            <a:ext cx="5230368" cy="5211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 Logicalis Template March 2026">
  <a:themeElements>
    <a:clrScheme name="TDL New">
      <a:dk1>
        <a:srgbClr val="595959"/>
      </a:dk1>
      <a:lt1>
        <a:srgbClr val="FFFFFF"/>
      </a:lt1>
      <a:dk2>
        <a:srgbClr val="595959"/>
      </a:dk2>
      <a:lt2>
        <a:srgbClr val="E7E6E6"/>
      </a:lt2>
      <a:accent1>
        <a:srgbClr val="FF1414"/>
      </a:accent1>
      <a:accent2>
        <a:srgbClr val="595959"/>
      </a:accent2>
      <a:accent3>
        <a:srgbClr val="194BFF"/>
      </a:accent3>
      <a:accent4>
        <a:srgbClr val="00FFCD"/>
      </a:accent4>
      <a:accent5>
        <a:srgbClr val="E6E6E6"/>
      </a:accent5>
      <a:accent6>
        <a:srgbClr val="FF1414"/>
      </a:accent6>
      <a:hlink>
        <a:srgbClr val="595959"/>
      </a:hlink>
      <a:folHlink>
        <a:srgbClr val="A29791"/>
      </a:folHlink>
    </a:clrScheme>
    <a:fontScheme name="TDL NEW Font">
      <a:majorFont>
        <a:latin typeface="Roboto Slab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DL Template.pptx" id="{49FD070F-6C74-4054-BC33-4F4E7F43F796}" vid="{6D854CFD-DB59-4F78-BD86-5C43773322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1a385b-e1fe-4f98-ade6-787642576ba7">
      <Terms xmlns="http://schemas.microsoft.com/office/infopath/2007/PartnerControls"/>
    </lcf76f155ced4ddcb4097134ff3c332f>
    <TaxCatchAll xmlns="ec24e197-8a67-4a13-a14c-425853cf5e9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9F901A49CB064A9C4B1D391D24583D" ma:contentTypeVersion="15" ma:contentTypeDescription="Crear nuevo documento." ma:contentTypeScope="" ma:versionID="c01ca280964f438bf2e2e8c57f041e78">
  <xsd:schema xmlns:xsd="http://www.w3.org/2001/XMLSchema" xmlns:xs="http://www.w3.org/2001/XMLSchema" xmlns:p="http://schemas.microsoft.com/office/2006/metadata/properties" xmlns:ns2="bc1a385b-e1fe-4f98-ade6-787642576ba7" xmlns:ns3="ec24e197-8a67-4a13-a14c-425853cf5e9f" targetNamespace="http://schemas.microsoft.com/office/2006/metadata/properties" ma:root="true" ma:fieldsID="002b4cf6722f3fad18b0e6f8ed65e6e2" ns2:_="" ns3:_="">
    <xsd:import namespace="bc1a385b-e1fe-4f98-ade6-787642576ba7"/>
    <xsd:import namespace="ec24e197-8a67-4a13-a14c-425853cf5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a385b-e1fe-4f98-ade6-787642576b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10fce5ab-aaf9-49f9-a6ce-ac3a074a46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4e197-8a67-4a13-a14c-425853cf5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ef96e38-1bbd-4d0a-8955-62bde1cd75dc}" ma:internalName="TaxCatchAll" ma:showField="CatchAllData" ma:web="ec24e197-8a67-4a13-a14c-425853cf5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53B6D5-302C-4812-BDB4-23286F7EBC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51A99C-5D78-4D91-A271-C92583798633}">
  <ds:schemaRefs>
    <ds:schemaRef ds:uri="http://schemas.openxmlformats.org/package/2006/metadata/core-properties"/>
    <ds:schemaRef ds:uri="http://www.w3.org/XML/1998/namespace"/>
    <ds:schemaRef ds:uri="bc1a385b-e1fe-4f98-ade6-787642576ba7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ec24e197-8a67-4a13-a14c-425853cf5e9f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3107499-3C28-4C3E-9EDE-1BEF22709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1a385b-e1fe-4f98-ade6-787642576ba7"/>
    <ds:schemaRef ds:uri="ec24e197-8a67-4a13-a14c-425853cf5e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1164</Words>
  <Application>Microsoft Macintosh PowerPoint</Application>
  <PresentationFormat>Panorámica</PresentationFormat>
  <Paragraphs>146</Paragraphs>
  <Slides>16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6" baseType="lpstr">
      <vt:lpstr>.Lucida Grande UI Regular</vt:lpstr>
      <vt:lpstr>Arial</vt:lpstr>
      <vt:lpstr>Calibri</vt:lpstr>
      <vt:lpstr>Monaco</vt:lpstr>
      <vt:lpstr>Montserrat</vt:lpstr>
      <vt:lpstr>Montserrat Light</vt:lpstr>
      <vt:lpstr>Montserrat Medium</vt:lpstr>
      <vt:lpstr>Roboto Slab</vt:lpstr>
      <vt:lpstr>Wingdings</vt:lpstr>
      <vt:lpstr>PPT Logicalis Template March 2026</vt:lpstr>
      <vt:lpstr>FNOL con agentes</vt:lpstr>
      <vt:lpstr>Agenda</vt:lpstr>
      <vt:lpstr>Presentación de PowerPoint</vt:lpstr>
      <vt:lpstr>La avalancha de avisos</vt:lpstr>
      <vt:lpstr>Clasificar ya está resuelto</vt:lpstr>
      <vt:lpstr>El problema real: de piloto a producción</vt:lpstr>
      <vt:lpstr>El marco</vt:lpstr>
      <vt:lpstr>Lo que exige la regulación</vt:lpstr>
      <vt:lpstr>Presentación de PowerPoint</vt:lpstr>
      <vt:lpstr>Lo que no existe en el mercado</vt:lpstr>
      <vt:lpstr>La solución: agentes pequeños y gobernados</vt:lpstr>
      <vt:lpstr>Capa de gobierno: cada agente tiene</vt:lpstr>
      <vt:lpstr>Seis pilares, cada uno con su prueba</vt:lpstr>
      <vt:lpstr>Presentación de PowerPoint</vt:lpstr>
      <vt:lpstr>Vamos a verlo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FNOL con agentes gobernados</dc:title>
  <dc:creator>Ignacio Sánchez</dc:creator>
  <cp:lastModifiedBy>Ignacio Sánchez Enjuto</cp:lastModifiedBy>
  <cp:revision>2</cp:revision>
  <dcterms:created xsi:type="dcterms:W3CDTF">2023-07-20T13:22:40Z</dcterms:created>
  <dcterms:modified xsi:type="dcterms:W3CDTF">2026-10-01T16:03:09Z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nsitivity">
    <vt:lpwstr>Sensible</vt:lpwstr>
  </property>
  <property fmtid="{D5CDD505-2E9C-101B-9397-08002B2CF9AE}" pid="3" name="MSIP_Label_71e2662a-0625-4560-92a8-8decd38b51d5_Extended_MSFT_Method">
    <vt:lpwstr>Standard</vt:lpwstr>
  </property>
  <property fmtid="{D5CDD505-2E9C-101B-9397-08002B2CF9AE}" pid="4" name="ContentTypeId">
    <vt:lpwstr>0x010100C69F901A49CB064A9C4B1D391D24583D</vt:lpwstr>
  </property>
  <property fmtid="{D5CDD505-2E9C-101B-9397-08002B2CF9AE}" pid="5" name="MediaServiceImageTags">
    <vt:lpwstr/>
  </property>
  <property fmtid="{D5CDD505-2E9C-101B-9397-08002B2CF9AE}" pid="6" name="MSIP_Label_71e2662a-0625-4560-92a8-8decd38b51d5_Removed">
    <vt:lpwstr>False</vt:lpwstr>
  </property>
  <property fmtid="{D5CDD505-2E9C-101B-9397-08002B2CF9AE}" pid="7" name="MSIP_Label_71e2662a-0625-4560-92a8-8decd38b51d5_ActionId">
    <vt:lpwstr>1f16ca72-26c2-402d-98b3-c2cfda3bf25e</vt:lpwstr>
  </property>
  <property fmtid="{D5CDD505-2E9C-101B-9397-08002B2CF9AE}" pid="8" name="MSIP_Label_71e2662a-0625-4560-92a8-8decd38b51d5_Name">
    <vt:lpwstr>Sensible</vt:lpwstr>
  </property>
  <property fmtid="{D5CDD505-2E9C-101B-9397-08002B2CF9AE}" pid="9" name="MSIP_Label_71e2662a-0625-4560-92a8-8decd38b51d5_SetDate">
    <vt:lpwstr>2026-03-19T18:17:36Z</vt:lpwstr>
  </property>
  <property fmtid="{D5CDD505-2E9C-101B-9397-08002B2CF9AE}" pid="10" name="MSIP_Label_71e2662a-0625-4560-92a8-8decd38b51d5_SiteId">
    <vt:lpwstr>4b51496e-4cf2-4728-b551-2bdc71444141</vt:lpwstr>
  </property>
  <property fmtid="{D5CDD505-2E9C-101B-9397-08002B2CF9AE}" pid="11" name="MSIP_Label_71e2662a-0625-4560-92a8-8decd38b51d5_Enabled">
    <vt:lpwstr>True</vt:lpwstr>
  </property>
</Properties>
</file>